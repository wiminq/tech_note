
<file path=[Content_Types].xml><?xml version="1.0" encoding="utf-8"?>
<Types xmlns="http://schemas.openxmlformats.org/package/2006/content-types"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94.xml" ContentType="application/vnd.openxmlformats-officedocument.presentationml.slide+xml"/>
  <Override PartName="/ppt/slides/slide14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6.xml" ContentType="application/vnd.openxmlformats-officedocument.presentationml.slide+xml"/>
  <Override PartName="/ppt/slides/slide83.xml" ContentType="application/vnd.openxmlformats-officedocument.presentationml.slide+xml"/>
  <Override PartName="/ppt/slides/slide120.xml" ContentType="application/vnd.openxmlformats-officedocument.presentationml.slide+xml"/>
  <Override PartName="/ppt/slides/slide131.xml" ContentType="application/vnd.openxmlformats-officedocument.presentationml.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slides/slide72.xml" ContentType="application/vnd.openxmlformats-officedocument.presentationml.slide+xml"/>
  <Override PartName="/ppt/slides/slide90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129.xml" ContentType="application/vnd.openxmlformats-officedocument.presentationml.slide+xml"/>
  <Override PartName="/ppt/slides/slide147.xml" ContentType="application/vnd.openxmlformats-officedocument.presentationml.slide+xml"/>
  <Override PartName="/ppt/slides/slide158.xml" ContentType="application/vnd.openxmlformats-officedocument.presentationml.slide+xml"/>
  <Override PartName="/ppt/slides/slide99.xml" ContentType="application/vnd.openxmlformats-officedocument.presentationml.slide+xml"/>
  <Override PartName="/ppt/slides/slide118.xml" ContentType="application/vnd.openxmlformats-officedocument.presentationml.slide+xml"/>
  <Override PartName="/ppt/slides/slide13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77.xml" ContentType="application/vnd.openxmlformats-officedocument.presentationml.slide+xml"/>
  <Override PartName="/ppt/slides/slide88.xml" ContentType="application/vnd.openxmlformats-officedocument.presentationml.slide+xml"/>
  <Override PartName="/ppt/slides/slide107.xml" ContentType="application/vnd.openxmlformats-officedocument.presentationml.slide+xml"/>
  <Override PartName="/ppt/slides/slide125.xml" ContentType="application/vnd.openxmlformats-officedocument.presentationml.slide+xml"/>
  <Override PartName="/ppt/slides/slide143.xml" ContentType="application/vnd.openxmlformats-officedocument.presentationml.slide+xml"/>
  <Override PartName="/ppt/slides/slide154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48.xml" ContentType="application/vnd.openxmlformats-officedocument.presentationml.slide+xml"/>
  <Override PartName="/ppt/slides/slide66.xml" ContentType="application/vnd.openxmlformats-officedocument.presentationml.slide+xml"/>
  <Override PartName="/ppt/slides/slide95.xml" ContentType="application/vnd.openxmlformats-officedocument.presentationml.slide+xml"/>
  <Override PartName="/ppt/slides/slide103.xml" ContentType="application/vnd.openxmlformats-officedocument.presentationml.slide+xml"/>
  <Override PartName="/ppt/slides/slide114.xml" ContentType="application/vnd.openxmlformats-officedocument.presentationml.slide+xml"/>
  <Override PartName="/ppt/slides/slide132.xml" ContentType="application/vnd.openxmlformats-officedocument.presentationml.slide+xml"/>
  <Override PartName="/ppt/slides/slide150.xml" ContentType="application/vnd.openxmlformats-officedocument.presentationml.slide+xml"/>
  <Override PartName="/ppt/slides/slide161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3.xml" ContentType="application/vnd.openxmlformats-officedocument.presentationml.notes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55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slides/slide121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33.xml" ContentType="application/vnd.openxmlformats-officedocument.presentationml.slide+xml"/>
  <Override PartName="/ppt/slides/slide44.xml" ContentType="application/vnd.openxmlformats-officedocument.presentationml.slide+xml"/>
  <Override PartName="/ppt/slides/slide62.xml" ContentType="application/vnd.openxmlformats-officedocument.presentationml.slide+xml"/>
  <Override PartName="/ppt/slides/slide80.xml" ContentType="application/vnd.openxmlformats-officedocument.presentationml.slide+xml"/>
  <Override PartName="/ppt/slides/slide91.xml" ContentType="application/vnd.openxmlformats-officedocument.presentationml.slide+xml"/>
  <Override PartName="/ppt/slides/slide110.xml" ContentType="application/vnd.openxmlformats-officedocument.presentationml.slide+xml"/>
  <Override PartName="/ppt/slideLayouts/slideLayout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slides/slide51.xml" ContentType="application/vnd.openxmlformats-officedocument.presentationml.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40.xml" ContentType="application/vnd.openxmlformats-officedocument.presentationml.slide+xml"/>
  <Override PartName="/ppt/slides/slide159.xml" ContentType="application/vnd.openxmlformats-officedocument.presentationml.slide+xml"/>
  <Override PartName="/ppt/slides/slide119.xml" ContentType="application/vnd.openxmlformats-officedocument.presentationml.slide+xml"/>
  <Override PartName="/ppt/slides/slide148.xml" ContentType="application/vnd.openxmlformats-officedocument.presentationml.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slides/slide89.xml" ContentType="application/vnd.openxmlformats-officedocument.presentationml.slide+xml"/>
  <Override PartName="/ppt/slides/slide108.xml" ContentType="application/vnd.openxmlformats-officedocument.presentationml.slide+xml"/>
  <Override PartName="/ppt/slides/slide126.xml" ContentType="application/vnd.openxmlformats-officedocument.presentationml.slide+xml"/>
  <Override PartName="/ppt/slides/slide137.xml" ContentType="application/vnd.openxmlformats-officedocument.presentationml.slide+xml"/>
  <Override PartName="/ppt/slides/slide155.xml" ContentType="application/vnd.openxmlformats-officedocument.presentationml.slide+xml"/>
  <Override PartName="/ppt/slides/slide49.xml" ContentType="application/vnd.openxmlformats-officedocument.presentationml.slide+xml"/>
  <Override PartName="/ppt/slides/slide78.xml" ContentType="application/vnd.openxmlformats-officedocument.presentationml.slide+xml"/>
  <Override PartName="/ppt/slides/slide96.xml" ContentType="application/vnd.openxmlformats-officedocument.presentationml.slide+xml"/>
  <Override PartName="/ppt/slides/slide115.xml" ContentType="application/vnd.openxmlformats-officedocument.presentationml.slide+xml"/>
  <Override PartName="/ppt/slides/slide144.xml" ContentType="application/vnd.openxmlformats-officedocument.presentationml.slide+xml"/>
  <Override PartName="/ppt/slides/slide162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85.xml" ContentType="application/vnd.openxmlformats-officedocument.presentationml.slide+xml"/>
  <Override PartName="/ppt/slides/slide104.xml" ContentType="application/vnd.openxmlformats-officedocument.presentationml.slide+xml"/>
  <Override PartName="/ppt/slides/slide122.xml" ContentType="application/vnd.openxmlformats-officedocument.presentationml.slide+xml"/>
  <Override PartName="/ppt/slides/slide133.xml" ContentType="application/vnd.openxmlformats-officedocument.presentationml.slide+xml"/>
  <Override PartName="/ppt/slides/slide151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s/slide92.xml" ContentType="application/vnd.openxmlformats-officedocument.presentationml.slide+xml"/>
  <Override PartName="/ppt/slides/slide111.xml" ContentType="application/vnd.openxmlformats-officedocument.presentationml.slide+xml"/>
  <Override PartName="/ppt/slides/slide140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Override PartName="/ppt/slides/slide100.xml" ContentType="application/vnd.openxmlformats-officedocument.presentationml.slide+xml"/>
  <Default Extension="wmf" ContentType="image/x-wmf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s/slide149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138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79.xml" ContentType="application/vnd.openxmlformats-officedocument.presentationml.slide+xml"/>
  <Override PartName="/ppt/slides/slide109.xml" ContentType="application/vnd.openxmlformats-officedocument.presentationml.slide+xml"/>
  <Override PartName="/ppt/slides/slide127.xml" ContentType="application/vnd.openxmlformats-officedocument.presentationml.slide+xml"/>
  <Override PartName="/ppt/slides/slide145.xml" ContentType="application/vnd.openxmlformats-officedocument.presentationml.slide+xml"/>
  <Override PartName="/ppt/slides/slide156.xml" ContentType="application/vnd.openxmlformats-officedocument.presentationml.slide+xml"/>
  <Override PartName="/ppt/slides/slide7.xml" ContentType="application/vnd.openxmlformats-officedocument.presentationml.slide+xml"/>
  <Override PartName="/ppt/slides/slide68.xml" ContentType="application/vnd.openxmlformats-officedocument.presentationml.slide+xml"/>
  <Override PartName="/ppt/slides/slide97.xml" ContentType="application/vnd.openxmlformats-officedocument.presentationml.slide+xml"/>
  <Override PartName="/ppt/slides/slide116.xml" ContentType="application/vnd.openxmlformats-officedocument.presentationml.slide+xml"/>
  <Override PartName="/ppt/slides/slide134.xml" ContentType="application/vnd.openxmlformats-officedocument.presentationml.slide+xml"/>
  <Override PartName="/ppt/slides/slide163.xml" ContentType="application/vnd.openxmlformats-officedocument.presentationml.slide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57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slides/slide105.xml" ContentType="application/vnd.openxmlformats-officedocument.presentationml.slide+xml"/>
  <Override PartName="/ppt/slides/slide123.xml" ContentType="application/vnd.openxmlformats-officedocument.presentationml.slide+xml"/>
  <Override PartName="/ppt/slides/slide141.xml" ContentType="application/vnd.openxmlformats-officedocument.presentationml.slide+xml"/>
  <Override PartName="/ppt/slides/slide152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s/slide64.xml" ContentType="application/vnd.openxmlformats-officedocument.presentationml.slide+xml"/>
  <Override PartName="/ppt/slides/slide93.xml" ContentType="application/vnd.openxmlformats-officedocument.presentationml.slide+xml"/>
  <Override PartName="/ppt/slides/slide101.xml" ContentType="application/vnd.openxmlformats-officedocument.presentationml.slide+xml"/>
  <Override PartName="/ppt/slides/slide112.xml" ContentType="application/vnd.openxmlformats-officedocument.presentationml.slide+xml"/>
  <Override PartName="/ppt/slides/slide130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24.xml" ContentType="application/vnd.openxmlformats-officedocument.presentationml.slide+xml"/>
  <Override PartName="/ppt/slides/slide35.xml" ContentType="application/vnd.openxmlformats-officedocument.presentationml.slide+xml"/>
  <Override PartName="/ppt/slides/slide53.xml" ContentType="application/vnd.openxmlformats-officedocument.presentationml.slide+xml"/>
  <Override PartName="/ppt/slides/slide71.xml" ContentType="application/vnd.openxmlformats-officedocument.presentationml.slide+xml"/>
  <Override PartName="/ppt/slides/slide82.xml" ContentType="application/vnd.openxmlformats-officedocument.presentationml.slide+xml"/>
  <Default Extension="jpeg" ContentType="image/jpeg"/>
  <Override PartName="/ppt/slides/slide13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slides/slide139.xml" ContentType="application/vnd.openxmlformats-officedocument.presentationml.slide+xml"/>
  <Override PartName="/ppt/slides/slide157.xml" ContentType="application/vnd.openxmlformats-officedocument.presentationml.slide+xml"/>
  <Override PartName="/ppt/slides/slide98.xml" ContentType="application/vnd.openxmlformats-officedocument.presentationml.slide+xml"/>
  <Override PartName="/ppt/slides/slide117.xml" ContentType="application/vnd.openxmlformats-officedocument.presentationml.slide+xml"/>
  <Override PartName="/ppt/slides/slide128.xml" ContentType="application/vnd.openxmlformats-officedocument.presentationml.slide+xml"/>
  <Override PartName="/ppt/slides/slide14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69.xml" ContentType="application/vnd.openxmlformats-officedocument.presentationml.slide+xml"/>
  <Override PartName="/ppt/slides/slide87.xml" ContentType="application/vnd.openxmlformats-officedocument.presentationml.slide+xml"/>
  <Override PartName="/ppt/slides/slide106.xml" ContentType="application/vnd.openxmlformats-officedocument.presentationml.slide+xml"/>
  <Override PartName="/ppt/slides/slide124.xml" ContentType="application/vnd.openxmlformats-officedocument.presentationml.slide+xml"/>
  <Override PartName="/ppt/slides/slide135.xml" ContentType="application/vnd.openxmlformats-officedocument.presentationml.slide+xml"/>
  <Override PartName="/ppt/slides/slide153.xml" ContentType="application/vnd.openxmlformats-officedocument.presentationml.slide+xml"/>
  <Override PartName="/ppt/slides/slide29.xml" ContentType="application/vnd.openxmlformats-officedocument.presentationml.slide+xml"/>
  <Override PartName="/ppt/slides/slide76.xml" ContentType="application/vnd.openxmlformats-officedocument.presentationml.slide+xml"/>
  <Override PartName="/ppt/slides/slide113.xml" ContentType="application/vnd.openxmlformats-officedocument.presentationml.slide+xml"/>
  <Override PartName="/ppt/slides/slide160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102.xml" ContentType="application/vnd.openxmlformats-officedocument.presentationml.slide+xml"/>
  <Override PartName="/ppt/slideLayouts/slideLayout6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5"/>
  </p:notesMasterIdLst>
  <p:sldIdLst>
    <p:sldId id="256" r:id="rId2"/>
    <p:sldId id="668" r:id="rId3"/>
    <p:sldId id="467" r:id="rId4"/>
    <p:sldId id="468" r:id="rId5"/>
    <p:sldId id="469" r:id="rId6"/>
    <p:sldId id="328" r:id="rId7"/>
    <p:sldId id="666" r:id="rId8"/>
    <p:sldId id="274" r:id="rId9"/>
    <p:sldId id="275" r:id="rId10"/>
    <p:sldId id="302" r:id="rId11"/>
    <p:sldId id="314" r:id="rId12"/>
    <p:sldId id="304" r:id="rId13"/>
    <p:sldId id="315" r:id="rId14"/>
    <p:sldId id="305" r:id="rId15"/>
    <p:sldId id="306" r:id="rId16"/>
    <p:sldId id="665" r:id="rId17"/>
    <p:sldId id="671" r:id="rId18"/>
    <p:sldId id="486" r:id="rId19"/>
    <p:sldId id="487" r:id="rId20"/>
    <p:sldId id="488" r:id="rId21"/>
    <p:sldId id="489" r:id="rId22"/>
    <p:sldId id="490" r:id="rId23"/>
    <p:sldId id="491" r:id="rId24"/>
    <p:sldId id="492" r:id="rId25"/>
    <p:sldId id="493" r:id="rId26"/>
    <p:sldId id="494" r:id="rId27"/>
    <p:sldId id="495" r:id="rId28"/>
    <p:sldId id="496" r:id="rId29"/>
    <p:sldId id="497" r:id="rId30"/>
    <p:sldId id="500" r:id="rId31"/>
    <p:sldId id="501" r:id="rId32"/>
    <p:sldId id="524" r:id="rId33"/>
    <p:sldId id="526" r:id="rId34"/>
    <p:sldId id="525" r:id="rId35"/>
    <p:sldId id="581" r:id="rId36"/>
    <p:sldId id="582" r:id="rId37"/>
    <p:sldId id="583" r:id="rId38"/>
    <p:sldId id="584" r:id="rId39"/>
    <p:sldId id="585" r:id="rId40"/>
    <p:sldId id="586" r:id="rId41"/>
    <p:sldId id="672" r:id="rId42"/>
    <p:sldId id="529" r:id="rId43"/>
    <p:sldId id="530" r:id="rId44"/>
    <p:sldId id="531" r:id="rId45"/>
    <p:sldId id="533" r:id="rId46"/>
    <p:sldId id="532" r:id="rId47"/>
    <p:sldId id="537" r:id="rId48"/>
    <p:sldId id="539" r:id="rId49"/>
    <p:sldId id="541" r:id="rId50"/>
    <p:sldId id="542" r:id="rId51"/>
    <p:sldId id="534" r:id="rId52"/>
    <p:sldId id="544" r:id="rId53"/>
    <p:sldId id="545" r:id="rId54"/>
    <p:sldId id="546" r:id="rId55"/>
    <p:sldId id="547" r:id="rId56"/>
    <p:sldId id="548" r:id="rId57"/>
    <p:sldId id="549" r:id="rId58"/>
    <p:sldId id="550" r:id="rId59"/>
    <p:sldId id="551" r:id="rId60"/>
    <p:sldId id="552" r:id="rId61"/>
    <p:sldId id="553" r:id="rId62"/>
    <p:sldId id="554" r:id="rId63"/>
    <p:sldId id="555" r:id="rId64"/>
    <p:sldId id="556" r:id="rId65"/>
    <p:sldId id="557" r:id="rId66"/>
    <p:sldId id="558" r:id="rId67"/>
    <p:sldId id="559" r:id="rId68"/>
    <p:sldId id="560" r:id="rId69"/>
    <p:sldId id="561" r:id="rId70"/>
    <p:sldId id="562" r:id="rId71"/>
    <p:sldId id="563" r:id="rId72"/>
    <p:sldId id="564" r:id="rId73"/>
    <p:sldId id="565" r:id="rId74"/>
    <p:sldId id="566" r:id="rId75"/>
    <p:sldId id="575" r:id="rId76"/>
    <p:sldId id="567" r:id="rId77"/>
    <p:sldId id="569" r:id="rId78"/>
    <p:sldId id="568" r:id="rId79"/>
    <p:sldId id="570" r:id="rId80"/>
    <p:sldId id="571" r:id="rId81"/>
    <p:sldId id="572" r:id="rId82"/>
    <p:sldId id="573" r:id="rId83"/>
    <p:sldId id="574" r:id="rId84"/>
    <p:sldId id="649" r:id="rId85"/>
    <p:sldId id="650" r:id="rId86"/>
    <p:sldId id="651" r:id="rId87"/>
    <p:sldId id="652" r:id="rId88"/>
    <p:sldId id="528" r:id="rId89"/>
    <p:sldId id="499" r:id="rId90"/>
    <p:sldId id="579" r:id="rId91"/>
    <p:sldId id="598" r:id="rId92"/>
    <p:sldId id="588" r:id="rId93"/>
    <p:sldId id="589" r:id="rId94"/>
    <p:sldId id="590" r:id="rId95"/>
    <p:sldId id="591" r:id="rId96"/>
    <p:sldId id="592" r:id="rId97"/>
    <p:sldId id="594" r:id="rId98"/>
    <p:sldId id="595" r:id="rId99"/>
    <p:sldId id="599" r:id="rId100"/>
    <p:sldId id="645" r:id="rId101"/>
    <p:sldId id="646" r:id="rId102"/>
    <p:sldId id="647" r:id="rId103"/>
    <p:sldId id="648" r:id="rId104"/>
    <p:sldId id="600" r:id="rId105"/>
    <p:sldId id="605" r:id="rId106"/>
    <p:sldId id="606" r:id="rId107"/>
    <p:sldId id="603" r:id="rId108"/>
    <p:sldId id="607" r:id="rId109"/>
    <p:sldId id="611" r:id="rId110"/>
    <p:sldId id="612" r:id="rId111"/>
    <p:sldId id="613" r:id="rId112"/>
    <p:sldId id="614" r:id="rId113"/>
    <p:sldId id="615" r:id="rId114"/>
    <p:sldId id="616" r:id="rId115"/>
    <p:sldId id="617" r:id="rId116"/>
    <p:sldId id="618" r:id="rId117"/>
    <p:sldId id="619" r:id="rId118"/>
    <p:sldId id="620" r:id="rId119"/>
    <p:sldId id="621" r:id="rId120"/>
    <p:sldId id="622" r:id="rId121"/>
    <p:sldId id="623" r:id="rId122"/>
    <p:sldId id="624" r:id="rId123"/>
    <p:sldId id="625" r:id="rId124"/>
    <p:sldId id="609" r:id="rId125"/>
    <p:sldId id="608" r:id="rId126"/>
    <p:sldId id="610" r:id="rId127"/>
    <p:sldId id="626" r:id="rId128"/>
    <p:sldId id="627" r:id="rId129"/>
    <p:sldId id="643" r:id="rId130"/>
    <p:sldId id="644" r:id="rId131"/>
    <p:sldId id="628" r:id="rId132"/>
    <p:sldId id="629" r:id="rId133"/>
    <p:sldId id="630" r:id="rId134"/>
    <p:sldId id="631" r:id="rId135"/>
    <p:sldId id="632" r:id="rId136"/>
    <p:sldId id="653" r:id="rId137"/>
    <p:sldId id="602" r:id="rId138"/>
    <p:sldId id="675" r:id="rId139"/>
    <p:sldId id="677" r:id="rId140"/>
    <p:sldId id="678" r:id="rId141"/>
    <p:sldId id="679" r:id="rId142"/>
    <p:sldId id="680" r:id="rId143"/>
    <p:sldId id="681" r:id="rId144"/>
    <p:sldId id="682" r:id="rId145"/>
    <p:sldId id="701" r:id="rId146"/>
    <p:sldId id="686" r:id="rId147"/>
    <p:sldId id="687" r:id="rId148"/>
    <p:sldId id="688" r:id="rId149"/>
    <p:sldId id="689" r:id="rId150"/>
    <p:sldId id="690" r:id="rId151"/>
    <p:sldId id="691" r:id="rId152"/>
    <p:sldId id="692" r:id="rId153"/>
    <p:sldId id="693" r:id="rId154"/>
    <p:sldId id="694" r:id="rId155"/>
    <p:sldId id="695" r:id="rId156"/>
    <p:sldId id="696" r:id="rId157"/>
    <p:sldId id="697" r:id="rId158"/>
    <p:sldId id="698" r:id="rId159"/>
    <p:sldId id="699" r:id="rId160"/>
    <p:sldId id="700" r:id="rId161"/>
    <p:sldId id="664" r:id="rId162"/>
    <p:sldId id="702" r:id="rId163"/>
    <p:sldId id="685" r:id="rId164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微软雅黑"/>
        <a:cs typeface="微软雅黑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微软雅黑"/>
        <a:cs typeface="微软雅黑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微软雅黑"/>
        <a:cs typeface="微软雅黑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微软雅黑"/>
        <a:cs typeface="微软雅黑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微软雅黑"/>
        <a:cs typeface="微软雅黑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微软雅黑"/>
        <a:cs typeface="微软雅黑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微软雅黑"/>
        <a:cs typeface="微软雅黑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微软雅黑"/>
        <a:cs typeface="微软雅黑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微软雅黑"/>
        <a:cs typeface="微软雅黑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C0C0"/>
    <a:srgbClr val="808080"/>
    <a:srgbClr val="969696"/>
    <a:srgbClr val="663300"/>
    <a:srgbClr val="00CC00"/>
    <a:srgbClr val="FF0000"/>
    <a:srgbClr val="0000FF"/>
    <a:srgbClr val="FFFFF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98" autoAdjust="0"/>
    <p:restoredTop sz="97304" autoAdjust="0"/>
  </p:normalViewPr>
  <p:slideViewPr>
    <p:cSldViewPr>
      <p:cViewPr>
        <p:scale>
          <a:sx n="75" d="100"/>
          <a:sy n="75" d="100"/>
        </p:scale>
        <p:origin x="-101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69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38" Type="http://schemas.openxmlformats.org/officeDocument/2006/relationships/slide" Target="slides/slide137.xml"/><Relationship Id="rId154" Type="http://schemas.openxmlformats.org/officeDocument/2006/relationships/slide" Target="slides/slide153.xml"/><Relationship Id="rId159" Type="http://schemas.openxmlformats.org/officeDocument/2006/relationships/slide" Target="slides/slide158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144" Type="http://schemas.openxmlformats.org/officeDocument/2006/relationships/slide" Target="slides/slide143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65" Type="http://schemas.openxmlformats.org/officeDocument/2006/relationships/notesMaster" Target="notesMasters/notesMaster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55" Type="http://schemas.openxmlformats.org/officeDocument/2006/relationships/slide" Target="slides/slide15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61" Type="http://schemas.openxmlformats.org/officeDocument/2006/relationships/slide" Target="slides/slide160.xml"/><Relationship Id="rId16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64" Type="http://schemas.openxmlformats.org/officeDocument/2006/relationships/slide" Target="slides/slide163.xml"/><Relationship Id="rId16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81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340" name="Rectangle 4"/>
          <p:cNvSpPr>
            <a:spLocks noGrp="1"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81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1781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81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fld id="{223612F3-BB99-4644-81CA-4A6C0FCBD87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7A18FC3-CEDD-4D6E-9219-065FCB8E8DEF}" type="slidenum">
              <a:rPr lang="en-US" altLang="zh-CN" smtClean="0">
                <a:ea typeface="宋体" charset="-122"/>
                <a:cs typeface="微软雅黑"/>
              </a:rPr>
              <a:pPr/>
              <a:t>2</a:t>
            </a:fld>
            <a:endParaRPr lang="en-US" altLang="zh-CN" smtClean="0">
              <a:ea typeface="宋体" charset="-122"/>
              <a:cs typeface="微软雅黑"/>
            </a:endParaRPr>
          </a:p>
        </p:txBody>
      </p:sp>
      <p:sp>
        <p:nvSpPr>
          <p:cNvPr id="17410" name="Rectangle 2"/>
          <p:cNvSpPr>
            <a:spLocks noGrp="1"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zh-CN" altLang="en-US" smtClean="0">
                <a:ea typeface="宋体" charset="-122"/>
              </a:rPr>
              <a:t>解决数据的性能</a:t>
            </a:r>
            <a:r>
              <a:rPr lang="en-US" altLang="zh-CN" smtClean="0">
                <a:ea typeface="宋体" charset="-122"/>
              </a:rPr>
              <a:t>/</a:t>
            </a:r>
            <a:r>
              <a:rPr lang="zh-CN" altLang="en-US" smtClean="0">
                <a:ea typeface="宋体" charset="-122"/>
              </a:rPr>
              <a:t>容量、可用性、容灾、变更数据消费问题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5E2D5B6-E02A-4ACD-826E-A824D41BB876}" type="slidenum">
              <a:rPr lang="en-US" altLang="zh-CN" smtClean="0">
                <a:ea typeface="宋体" charset="-122"/>
                <a:cs typeface="微软雅黑"/>
              </a:rPr>
              <a:pPr/>
              <a:t>30</a:t>
            </a:fld>
            <a:endParaRPr lang="en-US" altLang="zh-CN" smtClean="0">
              <a:ea typeface="宋体" charset="-122"/>
              <a:cs typeface="微软雅黑"/>
            </a:endParaRPr>
          </a:p>
        </p:txBody>
      </p:sp>
      <p:sp>
        <p:nvSpPr>
          <p:cNvPr id="47106" name="Rectangle 2"/>
          <p:cNvSpPr>
            <a:spLocks noGrp="1"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altLang="zh-CN" smtClean="0">
                <a:ea typeface="宋体" charset="-122"/>
              </a:rPr>
              <a:t>Cobar 1.0</a:t>
            </a:r>
            <a:r>
              <a:rPr lang="zh-CN" altLang="en-US" smtClean="0">
                <a:ea typeface="宋体" charset="-122"/>
              </a:rPr>
              <a:t>只转发</a:t>
            </a:r>
            <a:r>
              <a:rPr lang="en-US" altLang="zh-CN" smtClean="0">
                <a:ea typeface="宋体" charset="-122"/>
              </a:rPr>
              <a:t>SQL</a:t>
            </a:r>
            <a:r>
              <a:rPr lang="zh-CN" altLang="en-US" smtClean="0">
                <a:ea typeface="宋体" charset="-122"/>
              </a:rPr>
              <a:t>，不更改</a:t>
            </a:r>
            <a:r>
              <a:rPr lang="en-US" altLang="zh-CN" smtClean="0">
                <a:ea typeface="宋体" charset="-122"/>
              </a:rPr>
              <a:t>SQL</a:t>
            </a:r>
            <a:r>
              <a:rPr lang="zh-CN" altLang="en-US" smtClean="0">
                <a:ea typeface="宋体" charset="-122"/>
              </a:rPr>
              <a:t>内容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C40E2E0-D027-4E25-A65F-EE1F9A6057A6}" type="slidenum">
              <a:rPr lang="en-US" altLang="zh-CN" smtClean="0">
                <a:ea typeface="宋体" charset="-122"/>
                <a:cs typeface="微软雅黑"/>
              </a:rPr>
              <a:pPr/>
              <a:t>52</a:t>
            </a:fld>
            <a:endParaRPr lang="en-US" altLang="zh-CN" smtClean="0">
              <a:ea typeface="宋体" charset="-122"/>
              <a:cs typeface="微软雅黑"/>
            </a:endParaRPr>
          </a:p>
        </p:txBody>
      </p:sp>
      <p:sp>
        <p:nvSpPr>
          <p:cNvPr id="70658" name="Rectangle 2"/>
          <p:cNvSpPr>
            <a:spLocks noGrp="1"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altLang="zh-CN" smtClean="0">
                <a:ea typeface="宋体" charset="-122"/>
              </a:rPr>
              <a:t>1, 8, 9</a:t>
            </a:r>
          </a:p>
          <a:p>
            <a:pPr eaLnBrk="1" hangingPunct="1"/>
            <a:r>
              <a:rPr lang="en-US" altLang="zh-CN" smtClean="0">
                <a:ea typeface="宋体" charset="-122"/>
              </a:rPr>
              <a:t>2, 3, 4</a:t>
            </a:r>
          </a:p>
          <a:p>
            <a:pPr eaLnBrk="1" hangingPunct="1"/>
            <a:r>
              <a:rPr lang="en-US" altLang="zh-CN" smtClean="0">
                <a:ea typeface="宋体" charset="-122"/>
              </a:rPr>
              <a:t>limit 1,2</a:t>
            </a:r>
          </a:p>
          <a:p>
            <a:pPr eaLnBrk="1" hangingPunct="1"/>
            <a:r>
              <a:rPr lang="en-US" altLang="zh-CN" smtClean="0">
                <a:ea typeface="宋体" charset="-122"/>
              </a:rPr>
              <a:t>2,3,4</a:t>
            </a:r>
          </a:p>
          <a:p>
            <a:pPr eaLnBrk="1" hangingPunct="1"/>
            <a:r>
              <a:rPr lang="en-US" altLang="zh-CN" smtClean="0">
                <a:ea typeface="宋体" charset="-122"/>
              </a:rPr>
              <a:t>5,6,7</a:t>
            </a:r>
          </a:p>
          <a:p>
            <a:pPr eaLnBrk="1" hangingPunct="1"/>
            <a:r>
              <a:rPr lang="en-US" altLang="zh-CN" smtClean="0">
                <a:ea typeface="宋体" charset="-122"/>
              </a:rPr>
              <a:t>limit 1,2</a:t>
            </a:r>
          </a:p>
          <a:p>
            <a:pPr eaLnBrk="1" hangingPunct="1"/>
            <a:endParaRPr lang="en-US" altLang="zh-CN" smtClean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BD1DE9F-9AEF-433F-989F-EFA9F830A126}" type="slidenum">
              <a:rPr lang="en-US" altLang="zh-CN" smtClean="0">
                <a:ea typeface="宋体" charset="-122"/>
                <a:cs typeface="微软雅黑"/>
              </a:rPr>
              <a:pPr/>
              <a:t>83</a:t>
            </a:fld>
            <a:endParaRPr lang="en-US" altLang="zh-CN" smtClean="0">
              <a:ea typeface="宋体" charset="-122"/>
              <a:cs typeface="微软雅黑"/>
            </a:endParaRPr>
          </a:p>
        </p:txBody>
      </p:sp>
      <p:sp>
        <p:nvSpPr>
          <p:cNvPr id="103426" name="Rectangle 2"/>
          <p:cNvSpPr>
            <a:spLocks noGrp="1"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altLang="zh-CN" smtClean="0">
                <a:ea typeface="宋体" charset="-122"/>
              </a:rPr>
              <a:t>Order by </a:t>
            </a:r>
            <a:r>
              <a:rPr lang="zh-CN" altLang="en-US" smtClean="0">
                <a:ea typeface="宋体" charset="-122"/>
              </a:rPr>
              <a:t>下推限制：不能处理此类</a:t>
            </a:r>
            <a:r>
              <a:rPr lang="en-US" altLang="zh-CN" smtClean="0">
                <a:ea typeface="宋体" charset="-122"/>
              </a:rPr>
              <a:t>SQL</a:t>
            </a:r>
            <a:r>
              <a:rPr lang="zh-CN" altLang="en-US" smtClean="0">
                <a:ea typeface="宋体" charset="-122"/>
              </a:rPr>
              <a:t>： </a:t>
            </a:r>
            <a:r>
              <a:rPr lang="en-US" altLang="zh-CN" smtClean="0">
                <a:ea typeface="宋体" charset="-122"/>
              </a:rPr>
              <a:t>SELECT * FROM tb1, tb2 ORDER BY tb2.col2, tb1.col1, tb2.col2</a:t>
            </a:r>
          </a:p>
          <a:p>
            <a:pPr eaLnBrk="1" hangingPunct="1"/>
            <a:endParaRPr lang="en-US" altLang="zh-CN" smtClean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0910167-A2F6-4294-BB23-EC2F0E223CD9}" type="slidenum">
              <a:rPr lang="en-US" altLang="zh-CN" smtClean="0">
                <a:ea typeface="宋体" charset="-122"/>
                <a:cs typeface="微软雅黑"/>
              </a:rPr>
              <a:pPr/>
              <a:t>86</a:t>
            </a:fld>
            <a:endParaRPr lang="en-US" altLang="zh-CN" smtClean="0">
              <a:ea typeface="宋体" charset="-122"/>
              <a:cs typeface="微软雅黑"/>
            </a:endParaRPr>
          </a:p>
        </p:txBody>
      </p:sp>
      <p:sp>
        <p:nvSpPr>
          <p:cNvPr id="107522" name="Rectangle 2"/>
          <p:cNvSpPr>
            <a:spLocks noGrp="1"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altLang="zh-CN" smtClean="0">
                <a:ea typeface="宋体" charset="-122"/>
              </a:rPr>
              <a:t>Sql</a:t>
            </a:r>
            <a:r>
              <a:rPr lang="zh-CN" altLang="en-US" smtClean="0">
                <a:ea typeface="宋体" charset="-122"/>
              </a:rPr>
              <a:t>执行中，有一个分库发生错误，则全部回滚。</a:t>
            </a:r>
          </a:p>
          <a:p>
            <a:pPr eaLnBrk="1" hangingPunct="1"/>
            <a:r>
              <a:rPr lang="zh-CN" altLang="en-US" smtClean="0">
                <a:ea typeface="宋体" charset="-122"/>
              </a:rPr>
              <a:t>前端的</a:t>
            </a:r>
            <a:r>
              <a:rPr lang="en-US" altLang="zh-CN" smtClean="0">
                <a:ea typeface="宋体" charset="-122"/>
              </a:rPr>
              <a:t>commit</a:t>
            </a:r>
            <a:r>
              <a:rPr lang="zh-CN" altLang="en-US" smtClean="0">
                <a:ea typeface="宋体" charset="-122"/>
              </a:rPr>
              <a:t>操作会并发转发至后端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EA8785D-59FA-4BE6-91D8-D07FB30A6F0B}" type="slidenum">
              <a:rPr lang="en-US" altLang="zh-CN" smtClean="0">
                <a:ea typeface="宋体" charset="-122"/>
                <a:cs typeface="微软雅黑"/>
              </a:rPr>
              <a:pPr/>
              <a:t>87</a:t>
            </a:fld>
            <a:endParaRPr lang="en-US" altLang="zh-CN" smtClean="0">
              <a:ea typeface="宋体" charset="-122"/>
              <a:cs typeface="微软雅黑"/>
            </a:endParaRPr>
          </a:p>
        </p:txBody>
      </p:sp>
      <p:sp>
        <p:nvSpPr>
          <p:cNvPr id="109570" name="Rectangle 2"/>
          <p:cNvSpPr>
            <a:spLocks noGrp="1"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altLang="zh-CN" smtClean="0">
                <a:ea typeface="宋体" charset="-122"/>
              </a:rPr>
              <a:t>Sql</a:t>
            </a:r>
            <a:r>
              <a:rPr lang="zh-CN" altLang="en-US" smtClean="0">
                <a:ea typeface="宋体" charset="-122"/>
              </a:rPr>
              <a:t>执行中，有一个分库发生错误，则全部回滚。</a:t>
            </a:r>
          </a:p>
          <a:p>
            <a:pPr eaLnBrk="1" hangingPunct="1"/>
            <a:r>
              <a:rPr lang="zh-CN" altLang="en-US" smtClean="0">
                <a:ea typeface="宋体" charset="-122"/>
              </a:rPr>
              <a:t>前端的</a:t>
            </a:r>
            <a:r>
              <a:rPr lang="en-US" altLang="zh-CN" smtClean="0">
                <a:ea typeface="宋体" charset="-122"/>
              </a:rPr>
              <a:t>commit</a:t>
            </a:r>
            <a:r>
              <a:rPr lang="zh-CN" altLang="en-US" smtClean="0">
                <a:ea typeface="宋体" charset="-122"/>
              </a:rPr>
              <a:t>操作会并发转发至后端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9EA8A58-7855-43AF-9F1A-9F465B5645A5}" type="slidenum">
              <a:rPr lang="en-US" altLang="zh-CN" smtClean="0">
                <a:ea typeface="宋体" charset="-122"/>
                <a:cs typeface="微软雅黑"/>
              </a:rPr>
              <a:pPr/>
              <a:t>108</a:t>
            </a:fld>
            <a:endParaRPr lang="en-US" altLang="zh-CN" smtClean="0">
              <a:ea typeface="宋体" charset="-122"/>
              <a:cs typeface="微软雅黑"/>
            </a:endParaRPr>
          </a:p>
        </p:txBody>
      </p:sp>
      <p:sp>
        <p:nvSpPr>
          <p:cNvPr id="132098" name="Rectangle 2"/>
          <p:cNvSpPr>
            <a:spLocks noGrp="1"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0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zh-CN" altLang="en-US" smtClean="0">
                <a:ea typeface="宋体" charset="-122"/>
              </a:rPr>
              <a:t>版本：</a:t>
            </a:r>
          </a:p>
          <a:p>
            <a:pPr eaLnBrk="1" hangingPunct="1"/>
            <a:r>
              <a:rPr lang="en-US" altLang="zh-CN" smtClean="0">
                <a:ea typeface="宋体" charset="-122"/>
              </a:rPr>
              <a:t>1.0.4: http://svn.alibaba-inc.com/repos/ali_cn/commons/amoeba/tags/cobar-1.0.6-r/ </a:t>
            </a:r>
          </a:p>
          <a:p>
            <a:pPr eaLnBrk="1" hangingPunct="1"/>
            <a:r>
              <a:rPr lang="en-US" altLang="zh-CN" smtClean="0">
                <a:ea typeface="宋体" charset="-122"/>
              </a:rPr>
              <a:t>Druid: http://code.alibabatech.com/svn/druid/trunk -r 262</a:t>
            </a:r>
            <a:br>
              <a:rPr lang="en-US" altLang="zh-CN" smtClean="0">
                <a:ea typeface="宋体" charset="-122"/>
              </a:rPr>
            </a:br>
            <a:r>
              <a:rPr lang="zh-CN" altLang="en-US" smtClean="0">
                <a:ea typeface="宋体" charset="-122"/>
              </a:rPr>
              <a:t>手写</a:t>
            </a:r>
            <a:r>
              <a:rPr lang="en-US" altLang="zh-CN" smtClean="0">
                <a:ea typeface="宋体" charset="-122"/>
              </a:rPr>
              <a:t>v2: http://svn.alibaba-inc.com/repos/ali_platform/cobar/app/branches/20110613_1.2.0-dev/ -r 95254</a:t>
            </a:r>
            <a:br>
              <a:rPr lang="en-US" altLang="zh-CN" smtClean="0">
                <a:ea typeface="宋体" charset="-122"/>
              </a:rPr>
            </a:br>
            <a:endParaRPr lang="en-US" altLang="zh-CN" smtClean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C633FCA-8A38-4E61-8223-06A03B0C275E}" type="slidenum">
              <a:rPr lang="en-US" altLang="zh-CN" smtClean="0">
                <a:ea typeface="宋体" charset="-122"/>
                <a:cs typeface="微软雅黑"/>
              </a:rPr>
              <a:pPr/>
              <a:t>125</a:t>
            </a:fld>
            <a:endParaRPr lang="en-US" altLang="zh-CN" smtClean="0">
              <a:ea typeface="宋体" charset="-122"/>
              <a:cs typeface="微软雅黑"/>
            </a:endParaRPr>
          </a:p>
        </p:txBody>
      </p:sp>
      <p:sp>
        <p:nvSpPr>
          <p:cNvPr id="15053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4307F34C-ADA4-4CE7-BF7B-490015C65460}" type="slidenum">
              <a:rPr lang="en-US" altLang="zh-CN" sz="1200">
                <a:ea typeface="宋体" charset="-122"/>
              </a:rPr>
              <a:pPr algn="r"/>
              <a:t>125</a:t>
            </a:fld>
            <a:endParaRPr lang="en-US" altLang="zh-CN" sz="1200">
              <a:ea typeface="宋体" charset="-122"/>
            </a:endParaRPr>
          </a:p>
        </p:txBody>
      </p:sp>
      <p:sp>
        <p:nvSpPr>
          <p:cNvPr id="150531" name="Rectangle 2"/>
          <p:cNvSpPr>
            <a:spLocks noGrp="1"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0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zh-CN" altLang="en-US" sz="900" smtClean="0">
                <a:ea typeface="宋体" charset="-122"/>
              </a:rPr>
              <a:t>单位微秒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C0910AC-CE84-4404-9974-75335E2E663F}" type="slidenum">
              <a:rPr lang="en-US" altLang="zh-CN" smtClean="0">
                <a:ea typeface="宋体" charset="-122"/>
                <a:cs typeface="微软雅黑"/>
              </a:rPr>
              <a:pPr/>
              <a:t>126</a:t>
            </a:fld>
            <a:endParaRPr lang="en-US" altLang="zh-CN" smtClean="0">
              <a:ea typeface="宋体" charset="-122"/>
              <a:cs typeface="微软雅黑"/>
            </a:endParaRPr>
          </a:p>
        </p:txBody>
      </p:sp>
      <p:sp>
        <p:nvSpPr>
          <p:cNvPr id="152578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668D1D6B-D48A-4A80-9EC9-5814AC461535}" type="slidenum">
              <a:rPr lang="en-US" altLang="zh-CN" sz="1200">
                <a:ea typeface="宋体" charset="-122"/>
              </a:rPr>
              <a:pPr algn="r"/>
              <a:t>126</a:t>
            </a:fld>
            <a:endParaRPr lang="en-US" altLang="zh-CN" sz="1200">
              <a:ea typeface="宋体" charset="-122"/>
            </a:endParaRPr>
          </a:p>
        </p:txBody>
      </p:sp>
      <p:sp>
        <p:nvSpPr>
          <p:cNvPr id="152579" name="Rectangle 2"/>
          <p:cNvSpPr>
            <a:spLocks noGrp="1"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2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lnSpc>
                <a:spcPct val="80000"/>
              </a:lnSpc>
            </a:pPr>
            <a:endParaRPr lang="zh-CN" altLang="zh-CN" sz="900" smtClean="0">
              <a:ea typeface="宋体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0F7DD3-EB3B-4B29-BF04-F4E6A9836CC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BD3856-4383-434D-9D75-CF0B6855B1E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7C6638-20F6-4E86-AF7F-B69F516A689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D816B7-DDC6-4308-BEC8-FB45582E04F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A13B90-E113-4A44-BD00-6A9C457E542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97FB9E-F3DC-48BC-8E67-68CD29554CC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44CE2C-D21C-4819-9CDD-618F5B30716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EC21E2-2BEB-4D93-98A9-7925960CA53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691327-B2C6-4FAF-927C-886F46D5204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B214F3-E0BB-41CD-BB18-54B28345F87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9292F6-9C9A-44C6-8DA0-227E49B28DC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zh-CN" altLang="en-US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45F7F6-EC8F-492E-B0C2-9404601FFA0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a typeface="+mn-ea"/>
                <a:cs typeface="+mn-cs"/>
              </a:defRPr>
            </a:lvl1pPr>
          </a:lstStyle>
          <a:p>
            <a:pPr>
              <a:defRPr/>
            </a:pPr>
            <a:fld id="{60EDDE64-7FE4-4083-A7AA-4E7250FBA85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9" r:id="rId2"/>
    <p:sldLayoutId id="2147483658" r:id="rId3"/>
    <p:sldLayoutId id="2147483657" r:id="rId4"/>
    <p:sldLayoutId id="2147483656" r:id="rId5"/>
    <p:sldLayoutId id="2147483655" r:id="rId6"/>
    <p:sldLayoutId id="2147483654" r:id="rId7"/>
    <p:sldLayoutId id="2147483653" r:id="rId8"/>
    <p:sldLayoutId id="2147483652" r:id="rId9"/>
    <p:sldLayoutId id="2147483651" r:id="rId10"/>
    <p:sldLayoutId id="2147483650" r:id="rId11"/>
    <p:sldLayoutId id="2147483649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hyperlink" Target="mailto:mysqlops@sina.com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1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4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6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124200" y="1520825"/>
            <a:ext cx="5486400" cy="2212975"/>
          </a:xfrm>
        </p:spPr>
        <p:txBody>
          <a:bodyPr/>
          <a:lstStyle/>
          <a:p>
            <a:pPr algn="r" eaLnBrk="1" hangingPunct="1"/>
            <a:r>
              <a:rPr lang="zh-CN" altLang="en-US" sz="4000" b="1" smtClean="0">
                <a:latin typeface="微软雅黑"/>
                <a:ea typeface="微软雅黑"/>
                <a:cs typeface="微软雅黑"/>
              </a:rPr>
              <a:t>阿里巴巴分布式数据库</a:t>
            </a:r>
            <a:r>
              <a:rPr lang="zh-CN" altLang="en-US" b="1" smtClean="0">
                <a:latin typeface="微软雅黑"/>
                <a:ea typeface="微软雅黑"/>
                <a:cs typeface="微软雅黑"/>
              </a:rPr>
              <a:t/>
            </a:r>
            <a:br>
              <a:rPr lang="zh-CN" altLang="en-US" b="1" smtClean="0">
                <a:latin typeface="微软雅黑"/>
                <a:ea typeface="微软雅黑"/>
                <a:cs typeface="微软雅黑"/>
              </a:rPr>
            </a:br>
            <a:endParaRPr lang="zh-CN" altLang="en-US" sz="2400" smtClean="0">
              <a:latin typeface="微软雅黑"/>
              <a:ea typeface="微软雅黑"/>
              <a:cs typeface="微软雅黑"/>
            </a:endParaRPr>
          </a:p>
        </p:txBody>
      </p:sp>
      <p:sp>
        <p:nvSpPr>
          <p:cNvPr id="15363" name="Rectangle 6"/>
          <p:cNvSpPr>
            <a:spLocks/>
          </p:cNvSpPr>
          <p:nvPr/>
        </p:nvSpPr>
        <p:spPr bwMode="auto">
          <a:xfrm>
            <a:off x="4724400" y="2971800"/>
            <a:ext cx="3886200" cy="457200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en-US" altLang="zh-CN" sz="2400">
                <a:solidFill>
                  <a:schemeClr val="tx2"/>
                </a:solidFill>
              </a:rPr>
              <a:t>——</a:t>
            </a:r>
            <a:r>
              <a:rPr lang="zh-CN" altLang="en-US" sz="2400">
                <a:solidFill>
                  <a:schemeClr val="tx2"/>
                </a:solidFill>
              </a:rPr>
              <a:t>原理、实现和应用</a:t>
            </a:r>
          </a:p>
        </p:txBody>
      </p:sp>
      <p:sp>
        <p:nvSpPr>
          <p:cNvPr id="15364" name="Rectangle 8"/>
          <p:cNvSpPr>
            <a:spLocks/>
          </p:cNvSpPr>
          <p:nvPr/>
        </p:nvSpPr>
        <p:spPr bwMode="auto">
          <a:xfrm>
            <a:off x="4724400" y="6096000"/>
            <a:ext cx="3886200" cy="457200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en-US" altLang="zh-CN" sz="2400">
                <a:solidFill>
                  <a:schemeClr val="tx2"/>
                </a:solidFill>
              </a:rPr>
              <a:t>2012.11</a:t>
            </a:r>
          </a:p>
        </p:txBody>
      </p:sp>
      <p:sp>
        <p:nvSpPr>
          <p:cNvPr id="15365" name="Rectangle 9"/>
          <p:cNvSpPr>
            <a:spLocks/>
          </p:cNvSpPr>
          <p:nvPr/>
        </p:nvSpPr>
        <p:spPr bwMode="auto">
          <a:xfrm>
            <a:off x="4572000" y="4860925"/>
            <a:ext cx="3886200" cy="1006475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zh-CN" altLang="en-US" sz="2000">
                <a:solidFill>
                  <a:schemeClr val="tx2"/>
                </a:solidFill>
              </a:rPr>
              <a:t>集团共享技术平台</a:t>
            </a:r>
            <a:br>
              <a:rPr lang="zh-CN" altLang="en-US" sz="2000">
                <a:solidFill>
                  <a:schemeClr val="tx2"/>
                </a:solidFill>
              </a:rPr>
            </a:br>
            <a:r>
              <a:rPr lang="zh-CN" altLang="en-US" sz="2000">
                <a:solidFill>
                  <a:schemeClr val="tx2"/>
                </a:solidFill>
              </a:rPr>
              <a:t>分布式数据库</a:t>
            </a:r>
            <a:br>
              <a:rPr lang="zh-CN" altLang="en-US" sz="2000">
                <a:solidFill>
                  <a:schemeClr val="tx2"/>
                </a:solidFill>
              </a:rPr>
            </a:br>
            <a:r>
              <a:rPr lang="zh-CN" altLang="en-US" sz="2000">
                <a:solidFill>
                  <a:schemeClr val="tx2"/>
                </a:solidFill>
              </a:rPr>
              <a:t>邱硕</a:t>
            </a:r>
          </a:p>
        </p:txBody>
      </p:sp>
      <p:sp>
        <p:nvSpPr>
          <p:cNvPr id="15366" name="Rectangle 6"/>
          <p:cNvSpPr>
            <a:spLocks/>
          </p:cNvSpPr>
          <p:nvPr/>
        </p:nvSpPr>
        <p:spPr bwMode="auto">
          <a:xfrm>
            <a:off x="0" y="0"/>
            <a:ext cx="3352800" cy="457200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>
                <a:solidFill>
                  <a:schemeClr val="tx2"/>
                </a:solidFill>
              </a:rPr>
              <a:t>2012</a:t>
            </a:r>
            <a:r>
              <a:rPr lang="zh-CN" altLang="en-US" sz="2400">
                <a:solidFill>
                  <a:schemeClr val="tx2"/>
                </a:solidFill>
              </a:rPr>
              <a:t>华东架构师大会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ChangeArrowheads="1"/>
          </p:cNvSpPr>
          <p:nvPr/>
        </p:nvSpPr>
        <p:spPr bwMode="auto">
          <a:xfrm>
            <a:off x="5105400" y="3048000"/>
            <a:ext cx="3581400" cy="3429000"/>
          </a:xfrm>
          <a:prstGeom prst="rect">
            <a:avLst/>
          </a:prstGeom>
          <a:solidFill>
            <a:srgbClr val="C0C0C0">
              <a:alpha val="50195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386" name="Rectangle 3"/>
          <p:cNvSpPr>
            <a:spLocks noChangeArrowheads="1"/>
          </p:cNvSpPr>
          <p:nvPr/>
        </p:nvSpPr>
        <p:spPr bwMode="auto">
          <a:xfrm>
            <a:off x="381000" y="1524000"/>
            <a:ext cx="4038600" cy="4953000"/>
          </a:xfrm>
          <a:prstGeom prst="rect">
            <a:avLst/>
          </a:prstGeom>
          <a:solidFill>
            <a:srgbClr val="C0C0C0">
              <a:alpha val="50195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387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ea typeface="微软雅黑"/>
                <a:cs typeface="微软雅黑"/>
              </a:rPr>
              <a:t>分布式数据库中间件</a:t>
            </a:r>
          </a:p>
        </p:txBody>
      </p:sp>
      <p:sp>
        <p:nvSpPr>
          <p:cNvPr id="16388" name="Rectangle 5"/>
          <p:cNvSpPr>
            <a:spLocks noChangeArrowheads="1"/>
          </p:cNvSpPr>
          <p:nvPr/>
        </p:nvSpPr>
        <p:spPr bwMode="auto">
          <a:xfrm>
            <a:off x="609600" y="1752600"/>
            <a:ext cx="838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itchFamily="18" charset="0"/>
                <a:ea typeface="宋体" charset="-122"/>
              </a:rPr>
              <a:t>App</a:t>
            </a:r>
          </a:p>
        </p:txBody>
      </p:sp>
      <p:sp>
        <p:nvSpPr>
          <p:cNvPr id="16389" name="Rectangle 6"/>
          <p:cNvSpPr>
            <a:spLocks noChangeArrowheads="1"/>
          </p:cNvSpPr>
          <p:nvPr/>
        </p:nvSpPr>
        <p:spPr bwMode="auto">
          <a:xfrm>
            <a:off x="1524000" y="1752600"/>
            <a:ext cx="838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itchFamily="18" charset="0"/>
                <a:ea typeface="宋体" charset="-122"/>
              </a:rPr>
              <a:t>App</a:t>
            </a:r>
          </a:p>
        </p:txBody>
      </p:sp>
      <p:sp>
        <p:nvSpPr>
          <p:cNvPr id="16390" name="Rectangle 7"/>
          <p:cNvSpPr>
            <a:spLocks noChangeArrowheads="1"/>
          </p:cNvSpPr>
          <p:nvPr/>
        </p:nvSpPr>
        <p:spPr bwMode="auto">
          <a:xfrm>
            <a:off x="2438400" y="1752600"/>
            <a:ext cx="838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itchFamily="18" charset="0"/>
                <a:ea typeface="宋体" charset="-122"/>
              </a:rPr>
              <a:t>App</a:t>
            </a:r>
          </a:p>
        </p:txBody>
      </p:sp>
      <p:sp>
        <p:nvSpPr>
          <p:cNvPr id="16391" name="Rectangle 8"/>
          <p:cNvSpPr>
            <a:spLocks noChangeArrowheads="1"/>
          </p:cNvSpPr>
          <p:nvPr/>
        </p:nvSpPr>
        <p:spPr bwMode="auto">
          <a:xfrm>
            <a:off x="3352800" y="1752600"/>
            <a:ext cx="838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itchFamily="18" charset="0"/>
                <a:ea typeface="宋体" charset="-122"/>
              </a:rPr>
              <a:t>App</a:t>
            </a:r>
          </a:p>
        </p:txBody>
      </p:sp>
      <p:sp>
        <p:nvSpPr>
          <p:cNvPr id="16392" name="Rectangle 9"/>
          <p:cNvSpPr>
            <a:spLocks noChangeArrowheads="1"/>
          </p:cNvSpPr>
          <p:nvPr/>
        </p:nvSpPr>
        <p:spPr bwMode="auto">
          <a:xfrm>
            <a:off x="609600" y="2590800"/>
            <a:ext cx="3581400" cy="533400"/>
          </a:xfrm>
          <a:prstGeom prst="rect">
            <a:avLst/>
          </a:prstGeom>
          <a:solidFill>
            <a:srgbClr val="00CC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latin typeface="Times New Roman" pitchFamily="18" charset="0"/>
                <a:ea typeface="宋体" charset="-122"/>
              </a:rPr>
              <a:t>Cobar</a:t>
            </a:r>
          </a:p>
        </p:txBody>
      </p:sp>
      <p:sp>
        <p:nvSpPr>
          <p:cNvPr id="16393" name="AutoShape 10"/>
          <p:cNvSpPr>
            <a:spLocks noChangeArrowheads="1"/>
          </p:cNvSpPr>
          <p:nvPr/>
        </p:nvSpPr>
        <p:spPr bwMode="auto">
          <a:xfrm>
            <a:off x="609600" y="3505200"/>
            <a:ext cx="838200" cy="609600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itchFamily="18" charset="0"/>
                <a:ea typeface="宋体" charset="-122"/>
              </a:rPr>
              <a:t>Oracle</a:t>
            </a:r>
          </a:p>
        </p:txBody>
      </p:sp>
      <p:sp>
        <p:nvSpPr>
          <p:cNvPr id="16394" name="AutoShape 11"/>
          <p:cNvSpPr>
            <a:spLocks noChangeArrowheads="1"/>
          </p:cNvSpPr>
          <p:nvPr/>
        </p:nvSpPr>
        <p:spPr bwMode="auto">
          <a:xfrm>
            <a:off x="1524000" y="3505200"/>
            <a:ext cx="838200" cy="609600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itchFamily="18" charset="0"/>
                <a:ea typeface="宋体" charset="-122"/>
              </a:rPr>
              <a:t>MySQL</a:t>
            </a:r>
          </a:p>
        </p:txBody>
      </p:sp>
      <p:sp>
        <p:nvSpPr>
          <p:cNvPr id="16395" name="AutoShape 12"/>
          <p:cNvSpPr>
            <a:spLocks noChangeArrowheads="1"/>
          </p:cNvSpPr>
          <p:nvPr/>
        </p:nvSpPr>
        <p:spPr bwMode="auto">
          <a:xfrm>
            <a:off x="2438400" y="3505200"/>
            <a:ext cx="838200" cy="609600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itchFamily="18" charset="0"/>
                <a:ea typeface="宋体" charset="-122"/>
              </a:rPr>
              <a:t>MySQL</a:t>
            </a:r>
          </a:p>
        </p:txBody>
      </p:sp>
      <p:sp>
        <p:nvSpPr>
          <p:cNvPr id="16396" name="AutoShape 13"/>
          <p:cNvSpPr>
            <a:spLocks noChangeArrowheads="1"/>
          </p:cNvSpPr>
          <p:nvPr/>
        </p:nvSpPr>
        <p:spPr bwMode="auto">
          <a:xfrm>
            <a:off x="3352800" y="3505200"/>
            <a:ext cx="838200" cy="609600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itchFamily="18" charset="0"/>
                <a:ea typeface="宋体" charset="-122"/>
              </a:rPr>
              <a:t>MySQL</a:t>
            </a:r>
          </a:p>
        </p:txBody>
      </p:sp>
      <p:sp>
        <p:nvSpPr>
          <p:cNvPr id="16397" name="Rectangle 14"/>
          <p:cNvSpPr>
            <a:spLocks noChangeArrowheads="1"/>
          </p:cNvSpPr>
          <p:nvPr/>
        </p:nvSpPr>
        <p:spPr bwMode="auto">
          <a:xfrm>
            <a:off x="609600" y="4419600"/>
            <a:ext cx="838200" cy="533400"/>
          </a:xfrm>
          <a:prstGeom prst="rect">
            <a:avLst/>
          </a:prstGeom>
          <a:solidFill>
            <a:srgbClr val="00CC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latin typeface="Times New Roman" pitchFamily="18" charset="0"/>
                <a:ea typeface="宋体" charset="-122"/>
              </a:rPr>
              <a:t>Erosa</a:t>
            </a:r>
            <a:br>
              <a:rPr lang="en-US" altLang="zh-CN" sz="1600">
                <a:latin typeface="Times New Roman" pitchFamily="18" charset="0"/>
                <a:ea typeface="宋体" charset="-122"/>
              </a:rPr>
            </a:br>
            <a:r>
              <a:rPr lang="en-US" altLang="zh-CN" sz="1600">
                <a:latin typeface="Times New Roman" pitchFamily="18" charset="0"/>
                <a:ea typeface="宋体" charset="-122"/>
              </a:rPr>
              <a:t>Oracle</a:t>
            </a:r>
          </a:p>
        </p:txBody>
      </p:sp>
      <p:sp>
        <p:nvSpPr>
          <p:cNvPr id="16398" name="Rectangle 15"/>
          <p:cNvSpPr>
            <a:spLocks noChangeArrowheads="1"/>
          </p:cNvSpPr>
          <p:nvPr/>
        </p:nvSpPr>
        <p:spPr bwMode="auto">
          <a:xfrm>
            <a:off x="1524000" y="4419600"/>
            <a:ext cx="838200" cy="533400"/>
          </a:xfrm>
          <a:prstGeom prst="rect">
            <a:avLst/>
          </a:prstGeom>
          <a:solidFill>
            <a:srgbClr val="00CC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latin typeface="Times New Roman" pitchFamily="18" charset="0"/>
                <a:ea typeface="宋体" charset="-122"/>
              </a:rPr>
              <a:t>Erosa</a:t>
            </a:r>
            <a:br>
              <a:rPr lang="en-US" altLang="zh-CN" sz="1600">
                <a:latin typeface="Times New Roman" pitchFamily="18" charset="0"/>
                <a:ea typeface="宋体" charset="-122"/>
              </a:rPr>
            </a:br>
            <a:r>
              <a:rPr lang="en-US" altLang="zh-CN" sz="1600">
                <a:latin typeface="Times New Roman" pitchFamily="18" charset="0"/>
                <a:ea typeface="宋体" charset="-122"/>
              </a:rPr>
              <a:t>MySQL</a:t>
            </a:r>
          </a:p>
        </p:txBody>
      </p:sp>
      <p:sp>
        <p:nvSpPr>
          <p:cNvPr id="16399" name="Rectangle 16"/>
          <p:cNvSpPr>
            <a:spLocks noChangeArrowheads="1"/>
          </p:cNvSpPr>
          <p:nvPr/>
        </p:nvSpPr>
        <p:spPr bwMode="auto">
          <a:xfrm>
            <a:off x="2438400" y="4419600"/>
            <a:ext cx="838200" cy="533400"/>
          </a:xfrm>
          <a:prstGeom prst="rect">
            <a:avLst/>
          </a:prstGeom>
          <a:solidFill>
            <a:srgbClr val="00CC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latin typeface="Times New Roman" pitchFamily="18" charset="0"/>
                <a:ea typeface="宋体" charset="-122"/>
              </a:rPr>
              <a:t>Erosa</a:t>
            </a:r>
            <a:br>
              <a:rPr lang="en-US" altLang="zh-CN" sz="1600">
                <a:latin typeface="Times New Roman" pitchFamily="18" charset="0"/>
                <a:ea typeface="宋体" charset="-122"/>
              </a:rPr>
            </a:br>
            <a:r>
              <a:rPr lang="en-US" altLang="zh-CN" sz="1600">
                <a:latin typeface="Times New Roman" pitchFamily="18" charset="0"/>
                <a:ea typeface="宋体" charset="-122"/>
              </a:rPr>
              <a:t>MySQL</a:t>
            </a:r>
          </a:p>
        </p:txBody>
      </p:sp>
      <p:sp>
        <p:nvSpPr>
          <p:cNvPr id="16400" name="Rectangle 17"/>
          <p:cNvSpPr>
            <a:spLocks noChangeArrowheads="1"/>
          </p:cNvSpPr>
          <p:nvPr/>
        </p:nvSpPr>
        <p:spPr bwMode="auto">
          <a:xfrm>
            <a:off x="3352800" y="4419600"/>
            <a:ext cx="838200" cy="533400"/>
          </a:xfrm>
          <a:prstGeom prst="rect">
            <a:avLst/>
          </a:prstGeom>
          <a:solidFill>
            <a:srgbClr val="00CC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latin typeface="Times New Roman" pitchFamily="18" charset="0"/>
                <a:ea typeface="宋体" charset="-122"/>
              </a:rPr>
              <a:t>Erosa</a:t>
            </a:r>
            <a:br>
              <a:rPr lang="en-US" altLang="zh-CN" sz="1600">
                <a:latin typeface="Times New Roman" pitchFamily="18" charset="0"/>
                <a:ea typeface="宋体" charset="-122"/>
              </a:rPr>
            </a:br>
            <a:r>
              <a:rPr lang="en-US" altLang="zh-CN" sz="1600">
                <a:latin typeface="Times New Roman" pitchFamily="18" charset="0"/>
                <a:ea typeface="宋体" charset="-122"/>
              </a:rPr>
              <a:t>MySQL</a:t>
            </a:r>
          </a:p>
        </p:txBody>
      </p:sp>
      <p:sp>
        <p:nvSpPr>
          <p:cNvPr id="16401" name="Rectangle 18"/>
          <p:cNvSpPr>
            <a:spLocks noChangeArrowheads="1"/>
          </p:cNvSpPr>
          <p:nvPr/>
        </p:nvSpPr>
        <p:spPr bwMode="auto">
          <a:xfrm>
            <a:off x="609600" y="5257800"/>
            <a:ext cx="3581400" cy="381000"/>
          </a:xfrm>
          <a:prstGeom prst="rect">
            <a:avLst/>
          </a:prstGeom>
          <a:solidFill>
            <a:srgbClr val="00CC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latin typeface="Times New Roman" pitchFamily="18" charset="0"/>
                <a:ea typeface="宋体" charset="-122"/>
              </a:rPr>
              <a:t>Eromanga</a:t>
            </a:r>
          </a:p>
        </p:txBody>
      </p:sp>
      <p:sp>
        <p:nvSpPr>
          <p:cNvPr id="16402" name="Rectangle 19"/>
          <p:cNvSpPr>
            <a:spLocks noChangeArrowheads="1"/>
          </p:cNvSpPr>
          <p:nvPr/>
        </p:nvSpPr>
        <p:spPr bwMode="auto">
          <a:xfrm>
            <a:off x="2971800" y="5943600"/>
            <a:ext cx="1219200" cy="381000"/>
          </a:xfrm>
          <a:prstGeom prst="rect">
            <a:avLst/>
          </a:prstGeom>
          <a:solidFill>
            <a:srgbClr val="00CC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latin typeface="Times New Roman" pitchFamily="18" charset="0"/>
                <a:ea typeface="宋体" charset="-122"/>
              </a:rPr>
              <a:t>Otter</a:t>
            </a:r>
          </a:p>
        </p:txBody>
      </p:sp>
      <p:sp>
        <p:nvSpPr>
          <p:cNvPr id="16403" name="AutoShape 20"/>
          <p:cNvSpPr>
            <a:spLocks noChangeArrowheads="1"/>
          </p:cNvSpPr>
          <p:nvPr/>
        </p:nvSpPr>
        <p:spPr bwMode="auto">
          <a:xfrm>
            <a:off x="5410200" y="3505200"/>
            <a:ext cx="838200" cy="609600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itchFamily="18" charset="0"/>
                <a:ea typeface="宋体" charset="-122"/>
              </a:rPr>
              <a:t>Oracle</a:t>
            </a:r>
          </a:p>
        </p:txBody>
      </p:sp>
      <p:sp>
        <p:nvSpPr>
          <p:cNvPr id="16404" name="AutoShape 21"/>
          <p:cNvSpPr>
            <a:spLocks noChangeArrowheads="1"/>
          </p:cNvSpPr>
          <p:nvPr/>
        </p:nvSpPr>
        <p:spPr bwMode="auto">
          <a:xfrm>
            <a:off x="6324600" y="3505200"/>
            <a:ext cx="838200" cy="609600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itchFamily="18" charset="0"/>
                <a:ea typeface="宋体" charset="-122"/>
              </a:rPr>
              <a:t>MySQL</a:t>
            </a:r>
          </a:p>
        </p:txBody>
      </p:sp>
      <p:sp>
        <p:nvSpPr>
          <p:cNvPr id="16405" name="AutoShape 22"/>
          <p:cNvSpPr>
            <a:spLocks noChangeArrowheads="1"/>
          </p:cNvSpPr>
          <p:nvPr/>
        </p:nvSpPr>
        <p:spPr bwMode="auto">
          <a:xfrm>
            <a:off x="7239000" y="3505200"/>
            <a:ext cx="838200" cy="609600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itchFamily="18" charset="0"/>
                <a:ea typeface="宋体" charset="-122"/>
              </a:rPr>
              <a:t>MySQL</a:t>
            </a:r>
          </a:p>
        </p:txBody>
      </p:sp>
      <p:sp>
        <p:nvSpPr>
          <p:cNvPr id="16406" name="Rectangle 23"/>
          <p:cNvSpPr>
            <a:spLocks noChangeArrowheads="1"/>
          </p:cNvSpPr>
          <p:nvPr/>
        </p:nvSpPr>
        <p:spPr bwMode="auto">
          <a:xfrm>
            <a:off x="5410200" y="5943600"/>
            <a:ext cx="2667000" cy="381000"/>
          </a:xfrm>
          <a:prstGeom prst="rect">
            <a:avLst/>
          </a:prstGeom>
          <a:solidFill>
            <a:srgbClr val="00CC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latin typeface="Times New Roman" pitchFamily="18" charset="0"/>
                <a:ea typeface="宋体" charset="-122"/>
              </a:rPr>
              <a:t>Otter</a:t>
            </a:r>
          </a:p>
        </p:txBody>
      </p:sp>
      <p:sp>
        <p:nvSpPr>
          <p:cNvPr id="16407" name="Line 24"/>
          <p:cNvSpPr>
            <a:spLocks noChangeShapeType="1"/>
          </p:cNvSpPr>
          <p:nvPr/>
        </p:nvSpPr>
        <p:spPr bwMode="auto">
          <a:xfrm>
            <a:off x="1066800" y="2209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408" name="Line 25"/>
          <p:cNvSpPr>
            <a:spLocks noChangeShapeType="1"/>
          </p:cNvSpPr>
          <p:nvPr/>
        </p:nvSpPr>
        <p:spPr bwMode="auto">
          <a:xfrm>
            <a:off x="1981200" y="2209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409" name="Line 26"/>
          <p:cNvSpPr>
            <a:spLocks noChangeShapeType="1"/>
          </p:cNvSpPr>
          <p:nvPr/>
        </p:nvSpPr>
        <p:spPr bwMode="auto">
          <a:xfrm>
            <a:off x="2819400" y="2209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410" name="Line 27"/>
          <p:cNvSpPr>
            <a:spLocks noChangeShapeType="1"/>
          </p:cNvSpPr>
          <p:nvPr/>
        </p:nvSpPr>
        <p:spPr bwMode="auto">
          <a:xfrm>
            <a:off x="3733800" y="2209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411" name="Line 28"/>
          <p:cNvSpPr>
            <a:spLocks noChangeShapeType="1"/>
          </p:cNvSpPr>
          <p:nvPr/>
        </p:nvSpPr>
        <p:spPr bwMode="auto">
          <a:xfrm>
            <a:off x="3733800" y="3124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412" name="Line 29"/>
          <p:cNvSpPr>
            <a:spLocks noChangeShapeType="1"/>
          </p:cNvSpPr>
          <p:nvPr/>
        </p:nvSpPr>
        <p:spPr bwMode="auto">
          <a:xfrm>
            <a:off x="2819400" y="3124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413" name="Line 30"/>
          <p:cNvSpPr>
            <a:spLocks noChangeShapeType="1"/>
          </p:cNvSpPr>
          <p:nvPr/>
        </p:nvSpPr>
        <p:spPr bwMode="auto">
          <a:xfrm>
            <a:off x="1981200" y="3124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414" name="Line 31"/>
          <p:cNvSpPr>
            <a:spLocks noChangeShapeType="1"/>
          </p:cNvSpPr>
          <p:nvPr/>
        </p:nvSpPr>
        <p:spPr bwMode="auto">
          <a:xfrm>
            <a:off x="1066800" y="3124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415" name="Line 32"/>
          <p:cNvSpPr>
            <a:spLocks noChangeShapeType="1"/>
          </p:cNvSpPr>
          <p:nvPr/>
        </p:nvSpPr>
        <p:spPr bwMode="auto">
          <a:xfrm>
            <a:off x="3733800" y="4114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416" name="Line 33"/>
          <p:cNvSpPr>
            <a:spLocks noChangeShapeType="1"/>
          </p:cNvSpPr>
          <p:nvPr/>
        </p:nvSpPr>
        <p:spPr bwMode="auto">
          <a:xfrm>
            <a:off x="2819400" y="4114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417" name="Line 34"/>
          <p:cNvSpPr>
            <a:spLocks noChangeShapeType="1"/>
          </p:cNvSpPr>
          <p:nvPr/>
        </p:nvSpPr>
        <p:spPr bwMode="auto">
          <a:xfrm>
            <a:off x="1981200" y="4114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418" name="Line 35"/>
          <p:cNvSpPr>
            <a:spLocks noChangeShapeType="1"/>
          </p:cNvSpPr>
          <p:nvPr/>
        </p:nvSpPr>
        <p:spPr bwMode="auto">
          <a:xfrm>
            <a:off x="1066800" y="4114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419" name="Line 36"/>
          <p:cNvSpPr>
            <a:spLocks noChangeShapeType="1"/>
          </p:cNvSpPr>
          <p:nvPr/>
        </p:nvSpPr>
        <p:spPr bwMode="auto">
          <a:xfrm>
            <a:off x="1066800" y="4953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420" name="Line 37"/>
          <p:cNvSpPr>
            <a:spLocks noChangeShapeType="1"/>
          </p:cNvSpPr>
          <p:nvPr/>
        </p:nvSpPr>
        <p:spPr bwMode="auto">
          <a:xfrm>
            <a:off x="1981200" y="4953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421" name="Line 38"/>
          <p:cNvSpPr>
            <a:spLocks noChangeShapeType="1"/>
          </p:cNvSpPr>
          <p:nvPr/>
        </p:nvSpPr>
        <p:spPr bwMode="auto">
          <a:xfrm>
            <a:off x="2819400" y="4953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422" name="Line 39"/>
          <p:cNvSpPr>
            <a:spLocks noChangeShapeType="1"/>
          </p:cNvSpPr>
          <p:nvPr/>
        </p:nvSpPr>
        <p:spPr bwMode="auto">
          <a:xfrm>
            <a:off x="3733800" y="4953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423" name="Line 40"/>
          <p:cNvSpPr>
            <a:spLocks noChangeShapeType="1"/>
          </p:cNvSpPr>
          <p:nvPr/>
        </p:nvSpPr>
        <p:spPr bwMode="auto">
          <a:xfrm>
            <a:off x="3581400" y="5638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424" name="Line 41"/>
          <p:cNvSpPr>
            <a:spLocks noChangeShapeType="1"/>
          </p:cNvSpPr>
          <p:nvPr/>
        </p:nvSpPr>
        <p:spPr bwMode="auto">
          <a:xfrm>
            <a:off x="4191000" y="6172200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425" name="Rectangle 42"/>
          <p:cNvSpPr>
            <a:spLocks noChangeArrowheads="1"/>
          </p:cNvSpPr>
          <p:nvPr/>
        </p:nvSpPr>
        <p:spPr bwMode="auto">
          <a:xfrm>
            <a:off x="5410200" y="4419600"/>
            <a:ext cx="838200" cy="533400"/>
          </a:xfrm>
          <a:prstGeom prst="rect">
            <a:avLst/>
          </a:prstGeom>
          <a:solidFill>
            <a:srgbClr val="00CC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latin typeface="Times New Roman" pitchFamily="18" charset="0"/>
                <a:ea typeface="宋体" charset="-122"/>
              </a:rPr>
              <a:t>Erosa</a:t>
            </a:r>
            <a:br>
              <a:rPr lang="en-US" altLang="zh-CN" sz="1600">
                <a:latin typeface="Times New Roman" pitchFamily="18" charset="0"/>
                <a:ea typeface="宋体" charset="-122"/>
              </a:rPr>
            </a:br>
            <a:r>
              <a:rPr lang="en-US" altLang="zh-CN" sz="1600">
                <a:latin typeface="Times New Roman" pitchFamily="18" charset="0"/>
                <a:ea typeface="宋体" charset="-122"/>
              </a:rPr>
              <a:t>Oracle</a:t>
            </a:r>
          </a:p>
        </p:txBody>
      </p:sp>
      <p:sp>
        <p:nvSpPr>
          <p:cNvPr id="16426" name="Rectangle 43"/>
          <p:cNvSpPr>
            <a:spLocks noChangeArrowheads="1"/>
          </p:cNvSpPr>
          <p:nvPr/>
        </p:nvSpPr>
        <p:spPr bwMode="auto">
          <a:xfrm>
            <a:off x="6324600" y="4419600"/>
            <a:ext cx="838200" cy="533400"/>
          </a:xfrm>
          <a:prstGeom prst="rect">
            <a:avLst/>
          </a:prstGeom>
          <a:solidFill>
            <a:srgbClr val="00CC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latin typeface="Times New Roman" pitchFamily="18" charset="0"/>
                <a:ea typeface="宋体" charset="-122"/>
              </a:rPr>
              <a:t>Erosa</a:t>
            </a:r>
            <a:br>
              <a:rPr lang="en-US" altLang="zh-CN" sz="1600">
                <a:latin typeface="Times New Roman" pitchFamily="18" charset="0"/>
                <a:ea typeface="宋体" charset="-122"/>
              </a:rPr>
            </a:br>
            <a:r>
              <a:rPr lang="en-US" altLang="zh-CN" sz="1600">
                <a:latin typeface="Times New Roman" pitchFamily="18" charset="0"/>
                <a:ea typeface="宋体" charset="-122"/>
              </a:rPr>
              <a:t>MySQL</a:t>
            </a:r>
          </a:p>
        </p:txBody>
      </p:sp>
      <p:sp>
        <p:nvSpPr>
          <p:cNvPr id="16427" name="Rectangle 44"/>
          <p:cNvSpPr>
            <a:spLocks noChangeArrowheads="1"/>
          </p:cNvSpPr>
          <p:nvPr/>
        </p:nvSpPr>
        <p:spPr bwMode="auto">
          <a:xfrm>
            <a:off x="7239000" y="4419600"/>
            <a:ext cx="838200" cy="533400"/>
          </a:xfrm>
          <a:prstGeom prst="rect">
            <a:avLst/>
          </a:prstGeom>
          <a:solidFill>
            <a:srgbClr val="00CC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latin typeface="Times New Roman" pitchFamily="18" charset="0"/>
                <a:ea typeface="宋体" charset="-122"/>
              </a:rPr>
              <a:t>Erosa</a:t>
            </a:r>
            <a:br>
              <a:rPr lang="en-US" altLang="zh-CN" sz="1600">
                <a:latin typeface="Times New Roman" pitchFamily="18" charset="0"/>
                <a:ea typeface="宋体" charset="-122"/>
              </a:rPr>
            </a:br>
            <a:r>
              <a:rPr lang="en-US" altLang="zh-CN" sz="1600">
                <a:latin typeface="Times New Roman" pitchFamily="18" charset="0"/>
                <a:ea typeface="宋体" charset="-122"/>
              </a:rPr>
              <a:t>MySQL</a:t>
            </a:r>
          </a:p>
        </p:txBody>
      </p:sp>
      <p:sp>
        <p:nvSpPr>
          <p:cNvPr id="16428" name="Rectangle 45"/>
          <p:cNvSpPr>
            <a:spLocks noChangeArrowheads="1"/>
          </p:cNvSpPr>
          <p:nvPr/>
        </p:nvSpPr>
        <p:spPr bwMode="auto">
          <a:xfrm>
            <a:off x="5410200" y="5257800"/>
            <a:ext cx="2667000" cy="381000"/>
          </a:xfrm>
          <a:prstGeom prst="rect">
            <a:avLst/>
          </a:prstGeom>
          <a:solidFill>
            <a:srgbClr val="00CC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latin typeface="Times New Roman" pitchFamily="18" charset="0"/>
                <a:ea typeface="宋体" charset="-122"/>
              </a:rPr>
              <a:t>Eromanga</a:t>
            </a:r>
          </a:p>
        </p:txBody>
      </p:sp>
      <p:sp>
        <p:nvSpPr>
          <p:cNvPr id="16429" name="Line 46"/>
          <p:cNvSpPr>
            <a:spLocks noChangeShapeType="1"/>
          </p:cNvSpPr>
          <p:nvPr/>
        </p:nvSpPr>
        <p:spPr bwMode="auto">
          <a:xfrm>
            <a:off x="5867400" y="4953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430" name="Line 47"/>
          <p:cNvSpPr>
            <a:spLocks noChangeShapeType="1"/>
          </p:cNvSpPr>
          <p:nvPr/>
        </p:nvSpPr>
        <p:spPr bwMode="auto">
          <a:xfrm>
            <a:off x="6781800" y="4953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431" name="Line 48"/>
          <p:cNvSpPr>
            <a:spLocks noChangeShapeType="1"/>
          </p:cNvSpPr>
          <p:nvPr/>
        </p:nvSpPr>
        <p:spPr bwMode="auto">
          <a:xfrm>
            <a:off x="7620000" y="4953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432" name="Line 49"/>
          <p:cNvSpPr>
            <a:spLocks noChangeShapeType="1"/>
          </p:cNvSpPr>
          <p:nvPr/>
        </p:nvSpPr>
        <p:spPr bwMode="auto">
          <a:xfrm>
            <a:off x="6781800" y="5638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433" name="Line 50"/>
          <p:cNvSpPr>
            <a:spLocks noChangeShapeType="1"/>
          </p:cNvSpPr>
          <p:nvPr/>
        </p:nvSpPr>
        <p:spPr bwMode="auto">
          <a:xfrm>
            <a:off x="7620000" y="4114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434" name="Line 51"/>
          <p:cNvSpPr>
            <a:spLocks noChangeShapeType="1"/>
          </p:cNvSpPr>
          <p:nvPr/>
        </p:nvSpPr>
        <p:spPr bwMode="auto">
          <a:xfrm>
            <a:off x="6781800" y="4114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435" name="Line 52"/>
          <p:cNvSpPr>
            <a:spLocks noChangeShapeType="1"/>
          </p:cNvSpPr>
          <p:nvPr/>
        </p:nvSpPr>
        <p:spPr bwMode="auto">
          <a:xfrm>
            <a:off x="5867400" y="4114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16436" name="AutoShape 53"/>
          <p:cNvCxnSpPr>
            <a:cxnSpLocks noChangeShapeType="1"/>
            <a:stCxn id="16406" idx="3"/>
            <a:endCxn id="16403" idx="1"/>
          </p:cNvCxnSpPr>
          <p:nvPr/>
        </p:nvCxnSpPr>
        <p:spPr bwMode="auto">
          <a:xfrm flipH="1" flipV="1">
            <a:off x="5829300" y="3505200"/>
            <a:ext cx="2247900" cy="2628900"/>
          </a:xfrm>
          <a:prstGeom prst="bentConnector4">
            <a:avLst>
              <a:gd name="adj1" fmla="val -10171"/>
              <a:gd name="adj2" fmla="val 108694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16437" name="AutoShape 54"/>
          <p:cNvCxnSpPr>
            <a:cxnSpLocks noChangeShapeType="1"/>
            <a:stCxn id="16406" idx="3"/>
            <a:endCxn id="16404" idx="1"/>
          </p:cNvCxnSpPr>
          <p:nvPr/>
        </p:nvCxnSpPr>
        <p:spPr bwMode="auto">
          <a:xfrm flipH="1" flipV="1">
            <a:off x="6743700" y="3505200"/>
            <a:ext cx="1333500" cy="2628900"/>
          </a:xfrm>
          <a:prstGeom prst="bentConnector4">
            <a:avLst>
              <a:gd name="adj1" fmla="val -17144"/>
              <a:gd name="adj2" fmla="val 108694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16438" name="AutoShape 55"/>
          <p:cNvCxnSpPr>
            <a:cxnSpLocks noChangeShapeType="1"/>
            <a:stCxn id="16406" idx="3"/>
            <a:endCxn id="16405" idx="1"/>
          </p:cNvCxnSpPr>
          <p:nvPr/>
        </p:nvCxnSpPr>
        <p:spPr bwMode="auto">
          <a:xfrm flipH="1" flipV="1">
            <a:off x="7658100" y="3505200"/>
            <a:ext cx="419100" cy="2628900"/>
          </a:xfrm>
          <a:prstGeom prst="bentConnector4">
            <a:avLst>
              <a:gd name="adj1" fmla="val -54546"/>
              <a:gd name="adj2" fmla="val 108694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16439" name="Rectangle 56"/>
          <p:cNvSpPr>
            <a:spLocks noGrp="1" noChangeArrowheads="1"/>
          </p:cNvSpPr>
          <p:nvPr>
            <p:ph type="body" idx="1"/>
          </p:nvPr>
        </p:nvSpPr>
        <p:spPr>
          <a:xfrm>
            <a:off x="4953000" y="1447800"/>
            <a:ext cx="3962400" cy="1447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800" smtClean="0"/>
              <a:t>性能 容量 高可用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800" smtClean="0"/>
              <a:t>数据消费时效性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800" smtClean="0"/>
              <a:t>跨机房数据同步</a:t>
            </a:r>
          </a:p>
        </p:txBody>
      </p:sp>
      <p:sp>
        <p:nvSpPr>
          <p:cNvPr id="16440" name="Rectangle 57"/>
          <p:cNvSpPr>
            <a:spLocks noChangeArrowheads="1"/>
          </p:cNvSpPr>
          <p:nvPr/>
        </p:nvSpPr>
        <p:spPr bwMode="auto">
          <a:xfrm>
            <a:off x="1981200" y="5943600"/>
            <a:ext cx="914400" cy="381000"/>
          </a:xfrm>
          <a:prstGeom prst="rect">
            <a:avLst/>
          </a:prstGeom>
          <a:solidFill>
            <a:schemeClr val="bg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latin typeface="Times New Roman" pitchFamily="18" charset="0"/>
                <a:ea typeface="宋体" charset="-122"/>
              </a:rPr>
              <a:t>ASC</a:t>
            </a:r>
          </a:p>
        </p:txBody>
      </p:sp>
      <p:sp>
        <p:nvSpPr>
          <p:cNvPr id="16441" name="Line 58"/>
          <p:cNvSpPr>
            <a:spLocks noChangeShapeType="1"/>
          </p:cNvSpPr>
          <p:nvPr/>
        </p:nvSpPr>
        <p:spPr bwMode="auto">
          <a:xfrm>
            <a:off x="2438400" y="5638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442" name="Rectangle 59"/>
          <p:cNvSpPr>
            <a:spLocks noChangeArrowheads="1"/>
          </p:cNvSpPr>
          <p:nvPr/>
        </p:nvSpPr>
        <p:spPr bwMode="auto">
          <a:xfrm>
            <a:off x="990600" y="5943600"/>
            <a:ext cx="914400" cy="381000"/>
          </a:xfrm>
          <a:prstGeom prst="rect">
            <a:avLst/>
          </a:prstGeom>
          <a:solidFill>
            <a:schemeClr val="bg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latin typeface="Times New Roman" pitchFamily="18" charset="0"/>
                <a:ea typeface="宋体" charset="-122"/>
              </a:rPr>
              <a:t>DW</a:t>
            </a:r>
          </a:p>
        </p:txBody>
      </p:sp>
      <p:sp>
        <p:nvSpPr>
          <p:cNvPr id="16443" name="Line 60"/>
          <p:cNvSpPr>
            <a:spLocks noChangeShapeType="1"/>
          </p:cNvSpPr>
          <p:nvPr/>
        </p:nvSpPr>
        <p:spPr bwMode="auto">
          <a:xfrm>
            <a:off x="1447800" y="5638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444" name="Rectangle 61"/>
          <p:cNvSpPr>
            <a:spLocks/>
          </p:cNvSpPr>
          <p:nvPr/>
        </p:nvSpPr>
        <p:spPr bwMode="auto">
          <a:xfrm>
            <a:off x="533400" y="5842000"/>
            <a:ext cx="393700" cy="396875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000" b="1"/>
              <a:t>...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ChangeArrowheads="1"/>
          </p:cNvSpPr>
          <p:nvPr/>
        </p:nvSpPr>
        <p:spPr bwMode="auto">
          <a:xfrm>
            <a:off x="5105400" y="3048000"/>
            <a:ext cx="3581400" cy="3429000"/>
          </a:xfrm>
          <a:prstGeom prst="rect">
            <a:avLst/>
          </a:prstGeom>
          <a:solidFill>
            <a:srgbClr val="C0C0C0">
              <a:alpha val="50195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8434" name="Rectangle 3"/>
          <p:cNvSpPr>
            <a:spLocks noChangeArrowheads="1"/>
          </p:cNvSpPr>
          <p:nvPr/>
        </p:nvSpPr>
        <p:spPr bwMode="auto">
          <a:xfrm>
            <a:off x="381000" y="1524000"/>
            <a:ext cx="4038600" cy="4953000"/>
          </a:xfrm>
          <a:prstGeom prst="rect">
            <a:avLst/>
          </a:prstGeom>
          <a:solidFill>
            <a:srgbClr val="C0C0C0">
              <a:alpha val="50195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8435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ea typeface="微软雅黑"/>
                <a:cs typeface="微软雅黑"/>
              </a:rPr>
              <a:t>分布式数据库中间件</a:t>
            </a:r>
          </a:p>
        </p:txBody>
      </p:sp>
      <p:sp>
        <p:nvSpPr>
          <p:cNvPr id="18436" name="Rectangle 5"/>
          <p:cNvSpPr>
            <a:spLocks noChangeArrowheads="1"/>
          </p:cNvSpPr>
          <p:nvPr/>
        </p:nvSpPr>
        <p:spPr bwMode="auto">
          <a:xfrm>
            <a:off x="609600" y="1752600"/>
            <a:ext cx="838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itchFamily="18" charset="0"/>
                <a:ea typeface="宋体" charset="-122"/>
              </a:rPr>
              <a:t>App</a:t>
            </a:r>
          </a:p>
        </p:txBody>
      </p:sp>
      <p:sp>
        <p:nvSpPr>
          <p:cNvPr id="18437" name="Rectangle 6"/>
          <p:cNvSpPr>
            <a:spLocks noChangeArrowheads="1"/>
          </p:cNvSpPr>
          <p:nvPr/>
        </p:nvSpPr>
        <p:spPr bwMode="auto">
          <a:xfrm>
            <a:off x="1524000" y="1752600"/>
            <a:ext cx="838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itchFamily="18" charset="0"/>
                <a:ea typeface="宋体" charset="-122"/>
              </a:rPr>
              <a:t>App</a:t>
            </a:r>
          </a:p>
        </p:txBody>
      </p:sp>
      <p:sp>
        <p:nvSpPr>
          <p:cNvPr id="18438" name="Rectangle 7"/>
          <p:cNvSpPr>
            <a:spLocks noChangeArrowheads="1"/>
          </p:cNvSpPr>
          <p:nvPr/>
        </p:nvSpPr>
        <p:spPr bwMode="auto">
          <a:xfrm>
            <a:off x="2438400" y="1752600"/>
            <a:ext cx="838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itchFamily="18" charset="0"/>
                <a:ea typeface="宋体" charset="-122"/>
              </a:rPr>
              <a:t>App</a:t>
            </a:r>
          </a:p>
        </p:txBody>
      </p:sp>
      <p:sp>
        <p:nvSpPr>
          <p:cNvPr id="18439" name="Rectangle 8"/>
          <p:cNvSpPr>
            <a:spLocks noChangeArrowheads="1"/>
          </p:cNvSpPr>
          <p:nvPr/>
        </p:nvSpPr>
        <p:spPr bwMode="auto">
          <a:xfrm>
            <a:off x="3352800" y="1752600"/>
            <a:ext cx="838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itchFamily="18" charset="0"/>
                <a:ea typeface="宋体" charset="-122"/>
              </a:rPr>
              <a:t>App</a:t>
            </a:r>
          </a:p>
        </p:txBody>
      </p:sp>
      <p:sp>
        <p:nvSpPr>
          <p:cNvPr id="18440" name="Rectangle 9"/>
          <p:cNvSpPr>
            <a:spLocks noChangeArrowheads="1"/>
          </p:cNvSpPr>
          <p:nvPr/>
        </p:nvSpPr>
        <p:spPr bwMode="auto">
          <a:xfrm>
            <a:off x="609600" y="2590800"/>
            <a:ext cx="3581400" cy="533400"/>
          </a:xfrm>
          <a:prstGeom prst="rect">
            <a:avLst/>
          </a:prstGeom>
          <a:solidFill>
            <a:srgbClr val="00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3200" b="1">
                <a:ea typeface="宋体" charset="-122"/>
              </a:rPr>
              <a:t>Cobar</a:t>
            </a:r>
          </a:p>
        </p:txBody>
      </p:sp>
      <p:sp>
        <p:nvSpPr>
          <p:cNvPr id="18441" name="AutoShape 10"/>
          <p:cNvSpPr>
            <a:spLocks noChangeArrowheads="1"/>
          </p:cNvSpPr>
          <p:nvPr/>
        </p:nvSpPr>
        <p:spPr bwMode="auto">
          <a:xfrm>
            <a:off x="609600" y="3505200"/>
            <a:ext cx="838200" cy="609600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itchFamily="18" charset="0"/>
                <a:ea typeface="宋体" charset="-122"/>
              </a:rPr>
              <a:t>Oracle</a:t>
            </a:r>
          </a:p>
        </p:txBody>
      </p:sp>
      <p:sp>
        <p:nvSpPr>
          <p:cNvPr id="18442" name="AutoShape 11"/>
          <p:cNvSpPr>
            <a:spLocks noChangeArrowheads="1"/>
          </p:cNvSpPr>
          <p:nvPr/>
        </p:nvSpPr>
        <p:spPr bwMode="auto">
          <a:xfrm>
            <a:off x="1524000" y="3505200"/>
            <a:ext cx="838200" cy="609600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itchFamily="18" charset="0"/>
                <a:ea typeface="宋体" charset="-122"/>
              </a:rPr>
              <a:t>MySQL</a:t>
            </a:r>
          </a:p>
        </p:txBody>
      </p:sp>
      <p:sp>
        <p:nvSpPr>
          <p:cNvPr id="18443" name="AutoShape 12"/>
          <p:cNvSpPr>
            <a:spLocks noChangeArrowheads="1"/>
          </p:cNvSpPr>
          <p:nvPr/>
        </p:nvSpPr>
        <p:spPr bwMode="auto">
          <a:xfrm>
            <a:off x="2438400" y="3505200"/>
            <a:ext cx="838200" cy="609600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itchFamily="18" charset="0"/>
                <a:ea typeface="宋体" charset="-122"/>
              </a:rPr>
              <a:t>MySQL</a:t>
            </a:r>
          </a:p>
        </p:txBody>
      </p:sp>
      <p:sp>
        <p:nvSpPr>
          <p:cNvPr id="18444" name="AutoShape 13"/>
          <p:cNvSpPr>
            <a:spLocks noChangeArrowheads="1"/>
          </p:cNvSpPr>
          <p:nvPr/>
        </p:nvSpPr>
        <p:spPr bwMode="auto">
          <a:xfrm>
            <a:off x="3352800" y="3505200"/>
            <a:ext cx="838200" cy="609600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itchFamily="18" charset="0"/>
                <a:ea typeface="宋体" charset="-122"/>
              </a:rPr>
              <a:t>MySQL</a:t>
            </a:r>
          </a:p>
        </p:txBody>
      </p:sp>
      <p:sp>
        <p:nvSpPr>
          <p:cNvPr id="18445" name="Rectangle 14"/>
          <p:cNvSpPr>
            <a:spLocks noChangeArrowheads="1"/>
          </p:cNvSpPr>
          <p:nvPr/>
        </p:nvSpPr>
        <p:spPr bwMode="auto">
          <a:xfrm>
            <a:off x="609600" y="4419600"/>
            <a:ext cx="838200" cy="533400"/>
          </a:xfrm>
          <a:prstGeom prst="rect">
            <a:avLst/>
          </a:prstGeom>
          <a:solidFill>
            <a:srgbClr val="00CC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latin typeface="Times New Roman" pitchFamily="18" charset="0"/>
                <a:ea typeface="宋体" charset="-122"/>
              </a:rPr>
              <a:t>Erosa</a:t>
            </a:r>
            <a:br>
              <a:rPr lang="en-US" altLang="zh-CN" sz="1600">
                <a:latin typeface="Times New Roman" pitchFamily="18" charset="0"/>
                <a:ea typeface="宋体" charset="-122"/>
              </a:rPr>
            </a:br>
            <a:r>
              <a:rPr lang="en-US" altLang="zh-CN" sz="1600">
                <a:latin typeface="Times New Roman" pitchFamily="18" charset="0"/>
                <a:ea typeface="宋体" charset="-122"/>
              </a:rPr>
              <a:t>Oracle</a:t>
            </a:r>
          </a:p>
        </p:txBody>
      </p:sp>
      <p:sp>
        <p:nvSpPr>
          <p:cNvPr id="18446" name="Rectangle 15"/>
          <p:cNvSpPr>
            <a:spLocks noChangeArrowheads="1"/>
          </p:cNvSpPr>
          <p:nvPr/>
        </p:nvSpPr>
        <p:spPr bwMode="auto">
          <a:xfrm>
            <a:off x="1524000" y="4419600"/>
            <a:ext cx="838200" cy="533400"/>
          </a:xfrm>
          <a:prstGeom prst="rect">
            <a:avLst/>
          </a:prstGeom>
          <a:solidFill>
            <a:srgbClr val="00CC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latin typeface="Times New Roman" pitchFamily="18" charset="0"/>
                <a:ea typeface="宋体" charset="-122"/>
              </a:rPr>
              <a:t>Erosa</a:t>
            </a:r>
            <a:br>
              <a:rPr lang="en-US" altLang="zh-CN" sz="1600">
                <a:latin typeface="Times New Roman" pitchFamily="18" charset="0"/>
                <a:ea typeface="宋体" charset="-122"/>
              </a:rPr>
            </a:br>
            <a:r>
              <a:rPr lang="en-US" altLang="zh-CN" sz="1600">
                <a:latin typeface="Times New Roman" pitchFamily="18" charset="0"/>
                <a:ea typeface="宋体" charset="-122"/>
              </a:rPr>
              <a:t>MySQL</a:t>
            </a:r>
          </a:p>
        </p:txBody>
      </p:sp>
      <p:sp>
        <p:nvSpPr>
          <p:cNvPr id="18447" name="Rectangle 16"/>
          <p:cNvSpPr>
            <a:spLocks noChangeArrowheads="1"/>
          </p:cNvSpPr>
          <p:nvPr/>
        </p:nvSpPr>
        <p:spPr bwMode="auto">
          <a:xfrm>
            <a:off x="2438400" y="4419600"/>
            <a:ext cx="838200" cy="533400"/>
          </a:xfrm>
          <a:prstGeom prst="rect">
            <a:avLst/>
          </a:prstGeom>
          <a:solidFill>
            <a:srgbClr val="00CC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latin typeface="Times New Roman" pitchFamily="18" charset="0"/>
                <a:ea typeface="宋体" charset="-122"/>
              </a:rPr>
              <a:t>Erosa</a:t>
            </a:r>
            <a:br>
              <a:rPr lang="en-US" altLang="zh-CN" sz="1600">
                <a:latin typeface="Times New Roman" pitchFamily="18" charset="0"/>
                <a:ea typeface="宋体" charset="-122"/>
              </a:rPr>
            </a:br>
            <a:r>
              <a:rPr lang="en-US" altLang="zh-CN" sz="1600">
                <a:latin typeface="Times New Roman" pitchFamily="18" charset="0"/>
                <a:ea typeface="宋体" charset="-122"/>
              </a:rPr>
              <a:t>MySQL</a:t>
            </a:r>
          </a:p>
        </p:txBody>
      </p:sp>
      <p:sp>
        <p:nvSpPr>
          <p:cNvPr id="18448" name="Rectangle 17"/>
          <p:cNvSpPr>
            <a:spLocks noChangeArrowheads="1"/>
          </p:cNvSpPr>
          <p:nvPr/>
        </p:nvSpPr>
        <p:spPr bwMode="auto">
          <a:xfrm>
            <a:off x="3352800" y="4419600"/>
            <a:ext cx="838200" cy="533400"/>
          </a:xfrm>
          <a:prstGeom prst="rect">
            <a:avLst/>
          </a:prstGeom>
          <a:solidFill>
            <a:srgbClr val="00CC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latin typeface="Times New Roman" pitchFamily="18" charset="0"/>
                <a:ea typeface="宋体" charset="-122"/>
              </a:rPr>
              <a:t>Erosa</a:t>
            </a:r>
            <a:br>
              <a:rPr lang="en-US" altLang="zh-CN" sz="1600">
                <a:latin typeface="Times New Roman" pitchFamily="18" charset="0"/>
                <a:ea typeface="宋体" charset="-122"/>
              </a:rPr>
            </a:br>
            <a:r>
              <a:rPr lang="en-US" altLang="zh-CN" sz="1600">
                <a:latin typeface="Times New Roman" pitchFamily="18" charset="0"/>
                <a:ea typeface="宋体" charset="-122"/>
              </a:rPr>
              <a:t>MySQL</a:t>
            </a:r>
          </a:p>
        </p:txBody>
      </p:sp>
      <p:sp>
        <p:nvSpPr>
          <p:cNvPr id="18449" name="Rectangle 18"/>
          <p:cNvSpPr>
            <a:spLocks noChangeArrowheads="1"/>
          </p:cNvSpPr>
          <p:nvPr/>
        </p:nvSpPr>
        <p:spPr bwMode="auto">
          <a:xfrm>
            <a:off x="609600" y="5257800"/>
            <a:ext cx="3581400" cy="381000"/>
          </a:xfrm>
          <a:prstGeom prst="rect">
            <a:avLst/>
          </a:prstGeom>
          <a:solidFill>
            <a:srgbClr val="00CC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latin typeface="Times New Roman" pitchFamily="18" charset="0"/>
                <a:ea typeface="宋体" charset="-122"/>
              </a:rPr>
              <a:t>Eromanga</a:t>
            </a:r>
          </a:p>
        </p:txBody>
      </p:sp>
      <p:sp>
        <p:nvSpPr>
          <p:cNvPr id="18450" name="AutoShape 20"/>
          <p:cNvSpPr>
            <a:spLocks noChangeArrowheads="1"/>
          </p:cNvSpPr>
          <p:nvPr/>
        </p:nvSpPr>
        <p:spPr bwMode="auto">
          <a:xfrm>
            <a:off x="5410200" y="3505200"/>
            <a:ext cx="838200" cy="609600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itchFamily="18" charset="0"/>
                <a:ea typeface="宋体" charset="-122"/>
              </a:rPr>
              <a:t>Oracle</a:t>
            </a:r>
          </a:p>
        </p:txBody>
      </p:sp>
      <p:sp>
        <p:nvSpPr>
          <p:cNvPr id="18451" name="AutoShape 21"/>
          <p:cNvSpPr>
            <a:spLocks noChangeArrowheads="1"/>
          </p:cNvSpPr>
          <p:nvPr/>
        </p:nvSpPr>
        <p:spPr bwMode="auto">
          <a:xfrm>
            <a:off x="6324600" y="3505200"/>
            <a:ext cx="838200" cy="609600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itchFamily="18" charset="0"/>
                <a:ea typeface="宋体" charset="-122"/>
              </a:rPr>
              <a:t>MySQL</a:t>
            </a:r>
          </a:p>
        </p:txBody>
      </p:sp>
      <p:sp>
        <p:nvSpPr>
          <p:cNvPr id="18452" name="AutoShape 22"/>
          <p:cNvSpPr>
            <a:spLocks noChangeArrowheads="1"/>
          </p:cNvSpPr>
          <p:nvPr/>
        </p:nvSpPr>
        <p:spPr bwMode="auto">
          <a:xfrm>
            <a:off x="7239000" y="3505200"/>
            <a:ext cx="838200" cy="609600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itchFamily="18" charset="0"/>
                <a:ea typeface="宋体" charset="-122"/>
              </a:rPr>
              <a:t>MySQL</a:t>
            </a:r>
          </a:p>
        </p:txBody>
      </p:sp>
      <p:sp>
        <p:nvSpPr>
          <p:cNvPr id="18453" name="Rectangle 23"/>
          <p:cNvSpPr>
            <a:spLocks noChangeArrowheads="1"/>
          </p:cNvSpPr>
          <p:nvPr/>
        </p:nvSpPr>
        <p:spPr bwMode="auto">
          <a:xfrm>
            <a:off x="5410200" y="5943600"/>
            <a:ext cx="2667000" cy="381000"/>
          </a:xfrm>
          <a:prstGeom prst="rect">
            <a:avLst/>
          </a:prstGeom>
          <a:solidFill>
            <a:srgbClr val="00CC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latin typeface="Times New Roman" pitchFamily="18" charset="0"/>
                <a:ea typeface="宋体" charset="-122"/>
              </a:rPr>
              <a:t>Otter</a:t>
            </a:r>
          </a:p>
        </p:txBody>
      </p:sp>
      <p:sp>
        <p:nvSpPr>
          <p:cNvPr id="18454" name="Line 24"/>
          <p:cNvSpPr>
            <a:spLocks noChangeShapeType="1"/>
          </p:cNvSpPr>
          <p:nvPr/>
        </p:nvSpPr>
        <p:spPr bwMode="auto">
          <a:xfrm>
            <a:off x="1066800" y="2209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55" name="Line 25"/>
          <p:cNvSpPr>
            <a:spLocks noChangeShapeType="1"/>
          </p:cNvSpPr>
          <p:nvPr/>
        </p:nvSpPr>
        <p:spPr bwMode="auto">
          <a:xfrm>
            <a:off x="1981200" y="2209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56" name="Line 26"/>
          <p:cNvSpPr>
            <a:spLocks noChangeShapeType="1"/>
          </p:cNvSpPr>
          <p:nvPr/>
        </p:nvSpPr>
        <p:spPr bwMode="auto">
          <a:xfrm>
            <a:off x="2819400" y="2209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57" name="Line 27"/>
          <p:cNvSpPr>
            <a:spLocks noChangeShapeType="1"/>
          </p:cNvSpPr>
          <p:nvPr/>
        </p:nvSpPr>
        <p:spPr bwMode="auto">
          <a:xfrm>
            <a:off x="3733800" y="2209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58" name="Line 28"/>
          <p:cNvSpPr>
            <a:spLocks noChangeShapeType="1"/>
          </p:cNvSpPr>
          <p:nvPr/>
        </p:nvSpPr>
        <p:spPr bwMode="auto">
          <a:xfrm>
            <a:off x="3733800" y="3124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59" name="Line 29"/>
          <p:cNvSpPr>
            <a:spLocks noChangeShapeType="1"/>
          </p:cNvSpPr>
          <p:nvPr/>
        </p:nvSpPr>
        <p:spPr bwMode="auto">
          <a:xfrm>
            <a:off x="2819400" y="3124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60" name="Line 30"/>
          <p:cNvSpPr>
            <a:spLocks noChangeShapeType="1"/>
          </p:cNvSpPr>
          <p:nvPr/>
        </p:nvSpPr>
        <p:spPr bwMode="auto">
          <a:xfrm>
            <a:off x="1981200" y="3124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61" name="Line 31"/>
          <p:cNvSpPr>
            <a:spLocks noChangeShapeType="1"/>
          </p:cNvSpPr>
          <p:nvPr/>
        </p:nvSpPr>
        <p:spPr bwMode="auto">
          <a:xfrm>
            <a:off x="1066800" y="3124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62" name="Line 32"/>
          <p:cNvSpPr>
            <a:spLocks noChangeShapeType="1"/>
          </p:cNvSpPr>
          <p:nvPr/>
        </p:nvSpPr>
        <p:spPr bwMode="auto">
          <a:xfrm>
            <a:off x="3733800" y="4114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63" name="Line 33"/>
          <p:cNvSpPr>
            <a:spLocks noChangeShapeType="1"/>
          </p:cNvSpPr>
          <p:nvPr/>
        </p:nvSpPr>
        <p:spPr bwMode="auto">
          <a:xfrm>
            <a:off x="2819400" y="4114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64" name="Line 34"/>
          <p:cNvSpPr>
            <a:spLocks noChangeShapeType="1"/>
          </p:cNvSpPr>
          <p:nvPr/>
        </p:nvSpPr>
        <p:spPr bwMode="auto">
          <a:xfrm>
            <a:off x="1981200" y="4114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65" name="Line 35"/>
          <p:cNvSpPr>
            <a:spLocks noChangeShapeType="1"/>
          </p:cNvSpPr>
          <p:nvPr/>
        </p:nvSpPr>
        <p:spPr bwMode="auto">
          <a:xfrm>
            <a:off x="1066800" y="4114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66" name="Line 36"/>
          <p:cNvSpPr>
            <a:spLocks noChangeShapeType="1"/>
          </p:cNvSpPr>
          <p:nvPr/>
        </p:nvSpPr>
        <p:spPr bwMode="auto">
          <a:xfrm>
            <a:off x="1066800" y="4953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67" name="Line 37"/>
          <p:cNvSpPr>
            <a:spLocks noChangeShapeType="1"/>
          </p:cNvSpPr>
          <p:nvPr/>
        </p:nvSpPr>
        <p:spPr bwMode="auto">
          <a:xfrm>
            <a:off x="1981200" y="4953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68" name="Line 38"/>
          <p:cNvSpPr>
            <a:spLocks noChangeShapeType="1"/>
          </p:cNvSpPr>
          <p:nvPr/>
        </p:nvSpPr>
        <p:spPr bwMode="auto">
          <a:xfrm>
            <a:off x="2819400" y="4953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69" name="Line 39"/>
          <p:cNvSpPr>
            <a:spLocks noChangeShapeType="1"/>
          </p:cNvSpPr>
          <p:nvPr/>
        </p:nvSpPr>
        <p:spPr bwMode="auto">
          <a:xfrm>
            <a:off x="3733800" y="4953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70" name="Line 41"/>
          <p:cNvSpPr>
            <a:spLocks noChangeShapeType="1"/>
          </p:cNvSpPr>
          <p:nvPr/>
        </p:nvSpPr>
        <p:spPr bwMode="auto">
          <a:xfrm>
            <a:off x="4191000" y="6172200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71" name="Rectangle 42"/>
          <p:cNvSpPr>
            <a:spLocks noGrp="1" noChangeArrowheads="1"/>
          </p:cNvSpPr>
          <p:nvPr>
            <p:ph type="body" idx="1"/>
          </p:nvPr>
        </p:nvSpPr>
        <p:spPr>
          <a:xfrm>
            <a:off x="4953000" y="1447800"/>
            <a:ext cx="3962400" cy="1447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800" b="1" smtClean="0">
                <a:ea typeface="微软雅黑"/>
                <a:cs typeface="微软雅黑"/>
              </a:rPr>
              <a:t>性能 容量 高可用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800" smtClean="0"/>
              <a:t>数据消费时效性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800" smtClean="0"/>
              <a:t>跨机房数据同步</a:t>
            </a:r>
          </a:p>
        </p:txBody>
      </p:sp>
      <p:sp>
        <p:nvSpPr>
          <p:cNvPr id="18472" name="Rectangle 43"/>
          <p:cNvSpPr>
            <a:spLocks noChangeArrowheads="1"/>
          </p:cNvSpPr>
          <p:nvPr/>
        </p:nvSpPr>
        <p:spPr bwMode="auto">
          <a:xfrm>
            <a:off x="5410200" y="4419600"/>
            <a:ext cx="838200" cy="533400"/>
          </a:xfrm>
          <a:prstGeom prst="rect">
            <a:avLst/>
          </a:prstGeom>
          <a:solidFill>
            <a:srgbClr val="00CC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latin typeface="Times New Roman" pitchFamily="18" charset="0"/>
                <a:ea typeface="宋体" charset="-122"/>
              </a:rPr>
              <a:t>Erosa</a:t>
            </a:r>
            <a:br>
              <a:rPr lang="en-US" altLang="zh-CN" sz="1600">
                <a:latin typeface="Times New Roman" pitchFamily="18" charset="0"/>
                <a:ea typeface="宋体" charset="-122"/>
              </a:rPr>
            </a:br>
            <a:r>
              <a:rPr lang="en-US" altLang="zh-CN" sz="1600">
                <a:latin typeface="Times New Roman" pitchFamily="18" charset="0"/>
                <a:ea typeface="宋体" charset="-122"/>
              </a:rPr>
              <a:t>Oracle</a:t>
            </a:r>
          </a:p>
        </p:txBody>
      </p:sp>
      <p:sp>
        <p:nvSpPr>
          <p:cNvPr id="18473" name="Rectangle 44"/>
          <p:cNvSpPr>
            <a:spLocks noChangeArrowheads="1"/>
          </p:cNvSpPr>
          <p:nvPr/>
        </p:nvSpPr>
        <p:spPr bwMode="auto">
          <a:xfrm>
            <a:off x="6324600" y="4419600"/>
            <a:ext cx="838200" cy="533400"/>
          </a:xfrm>
          <a:prstGeom prst="rect">
            <a:avLst/>
          </a:prstGeom>
          <a:solidFill>
            <a:srgbClr val="00CC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latin typeface="Times New Roman" pitchFamily="18" charset="0"/>
                <a:ea typeface="宋体" charset="-122"/>
              </a:rPr>
              <a:t>Erosa</a:t>
            </a:r>
            <a:br>
              <a:rPr lang="en-US" altLang="zh-CN" sz="1600">
                <a:latin typeface="Times New Roman" pitchFamily="18" charset="0"/>
                <a:ea typeface="宋体" charset="-122"/>
              </a:rPr>
            </a:br>
            <a:r>
              <a:rPr lang="en-US" altLang="zh-CN" sz="1600">
                <a:latin typeface="Times New Roman" pitchFamily="18" charset="0"/>
                <a:ea typeface="宋体" charset="-122"/>
              </a:rPr>
              <a:t>MySQL</a:t>
            </a:r>
          </a:p>
        </p:txBody>
      </p:sp>
      <p:sp>
        <p:nvSpPr>
          <p:cNvPr id="18474" name="Rectangle 45"/>
          <p:cNvSpPr>
            <a:spLocks noChangeArrowheads="1"/>
          </p:cNvSpPr>
          <p:nvPr/>
        </p:nvSpPr>
        <p:spPr bwMode="auto">
          <a:xfrm>
            <a:off x="7239000" y="4419600"/>
            <a:ext cx="838200" cy="533400"/>
          </a:xfrm>
          <a:prstGeom prst="rect">
            <a:avLst/>
          </a:prstGeom>
          <a:solidFill>
            <a:srgbClr val="00CC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latin typeface="Times New Roman" pitchFamily="18" charset="0"/>
                <a:ea typeface="宋体" charset="-122"/>
              </a:rPr>
              <a:t>Erosa</a:t>
            </a:r>
            <a:br>
              <a:rPr lang="en-US" altLang="zh-CN" sz="1600">
                <a:latin typeface="Times New Roman" pitchFamily="18" charset="0"/>
                <a:ea typeface="宋体" charset="-122"/>
              </a:rPr>
            </a:br>
            <a:r>
              <a:rPr lang="en-US" altLang="zh-CN" sz="1600">
                <a:latin typeface="Times New Roman" pitchFamily="18" charset="0"/>
                <a:ea typeface="宋体" charset="-122"/>
              </a:rPr>
              <a:t>MySQL</a:t>
            </a:r>
          </a:p>
        </p:txBody>
      </p:sp>
      <p:sp>
        <p:nvSpPr>
          <p:cNvPr id="18475" name="Rectangle 46"/>
          <p:cNvSpPr>
            <a:spLocks noChangeArrowheads="1"/>
          </p:cNvSpPr>
          <p:nvPr/>
        </p:nvSpPr>
        <p:spPr bwMode="auto">
          <a:xfrm>
            <a:off x="5410200" y="5257800"/>
            <a:ext cx="2667000" cy="381000"/>
          </a:xfrm>
          <a:prstGeom prst="rect">
            <a:avLst/>
          </a:prstGeom>
          <a:solidFill>
            <a:srgbClr val="00CC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latin typeface="Times New Roman" pitchFamily="18" charset="0"/>
                <a:ea typeface="宋体" charset="-122"/>
              </a:rPr>
              <a:t>Eromanga</a:t>
            </a:r>
          </a:p>
        </p:txBody>
      </p:sp>
      <p:sp>
        <p:nvSpPr>
          <p:cNvPr id="18476" name="Line 47"/>
          <p:cNvSpPr>
            <a:spLocks noChangeShapeType="1"/>
          </p:cNvSpPr>
          <p:nvPr/>
        </p:nvSpPr>
        <p:spPr bwMode="auto">
          <a:xfrm>
            <a:off x="5867400" y="4953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77" name="Line 48"/>
          <p:cNvSpPr>
            <a:spLocks noChangeShapeType="1"/>
          </p:cNvSpPr>
          <p:nvPr/>
        </p:nvSpPr>
        <p:spPr bwMode="auto">
          <a:xfrm>
            <a:off x="6781800" y="4953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78" name="Line 49"/>
          <p:cNvSpPr>
            <a:spLocks noChangeShapeType="1"/>
          </p:cNvSpPr>
          <p:nvPr/>
        </p:nvSpPr>
        <p:spPr bwMode="auto">
          <a:xfrm>
            <a:off x="7620000" y="4953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79" name="Line 50"/>
          <p:cNvSpPr>
            <a:spLocks noChangeShapeType="1"/>
          </p:cNvSpPr>
          <p:nvPr/>
        </p:nvSpPr>
        <p:spPr bwMode="auto">
          <a:xfrm>
            <a:off x="6781800" y="5638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80" name="Line 51"/>
          <p:cNvSpPr>
            <a:spLocks noChangeShapeType="1"/>
          </p:cNvSpPr>
          <p:nvPr/>
        </p:nvSpPr>
        <p:spPr bwMode="auto">
          <a:xfrm>
            <a:off x="7620000" y="4114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81" name="Line 52"/>
          <p:cNvSpPr>
            <a:spLocks noChangeShapeType="1"/>
          </p:cNvSpPr>
          <p:nvPr/>
        </p:nvSpPr>
        <p:spPr bwMode="auto">
          <a:xfrm>
            <a:off x="6781800" y="4114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82" name="Line 53"/>
          <p:cNvSpPr>
            <a:spLocks noChangeShapeType="1"/>
          </p:cNvSpPr>
          <p:nvPr/>
        </p:nvSpPr>
        <p:spPr bwMode="auto">
          <a:xfrm>
            <a:off x="5867400" y="4114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18483" name="AutoShape 54"/>
          <p:cNvCxnSpPr>
            <a:cxnSpLocks noChangeShapeType="1"/>
            <a:stCxn id="18453" idx="3"/>
            <a:endCxn id="18450" idx="1"/>
          </p:cNvCxnSpPr>
          <p:nvPr/>
        </p:nvCxnSpPr>
        <p:spPr bwMode="auto">
          <a:xfrm flipH="1" flipV="1">
            <a:off x="5829300" y="3505200"/>
            <a:ext cx="2247900" cy="2628900"/>
          </a:xfrm>
          <a:prstGeom prst="bentConnector4">
            <a:avLst>
              <a:gd name="adj1" fmla="val -10171"/>
              <a:gd name="adj2" fmla="val 108694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18484" name="AutoShape 55"/>
          <p:cNvCxnSpPr>
            <a:cxnSpLocks noChangeShapeType="1"/>
            <a:stCxn id="18453" idx="3"/>
            <a:endCxn id="18451" idx="1"/>
          </p:cNvCxnSpPr>
          <p:nvPr/>
        </p:nvCxnSpPr>
        <p:spPr bwMode="auto">
          <a:xfrm flipH="1" flipV="1">
            <a:off x="6743700" y="3505200"/>
            <a:ext cx="1333500" cy="2628900"/>
          </a:xfrm>
          <a:prstGeom prst="bentConnector4">
            <a:avLst>
              <a:gd name="adj1" fmla="val -17144"/>
              <a:gd name="adj2" fmla="val 108694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18485" name="AutoShape 56"/>
          <p:cNvCxnSpPr>
            <a:cxnSpLocks noChangeShapeType="1"/>
            <a:stCxn id="18453" idx="3"/>
            <a:endCxn id="18452" idx="1"/>
          </p:cNvCxnSpPr>
          <p:nvPr/>
        </p:nvCxnSpPr>
        <p:spPr bwMode="auto">
          <a:xfrm flipH="1" flipV="1">
            <a:off x="7658100" y="3505200"/>
            <a:ext cx="419100" cy="2628900"/>
          </a:xfrm>
          <a:prstGeom prst="bentConnector4">
            <a:avLst>
              <a:gd name="adj1" fmla="val -54546"/>
              <a:gd name="adj2" fmla="val 108694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18486" name="Rectangle 57"/>
          <p:cNvSpPr>
            <a:spLocks noChangeArrowheads="1"/>
          </p:cNvSpPr>
          <p:nvPr/>
        </p:nvSpPr>
        <p:spPr bwMode="auto">
          <a:xfrm>
            <a:off x="2971800" y="5943600"/>
            <a:ext cx="1219200" cy="381000"/>
          </a:xfrm>
          <a:prstGeom prst="rect">
            <a:avLst/>
          </a:prstGeom>
          <a:solidFill>
            <a:srgbClr val="00CC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latin typeface="Times New Roman" pitchFamily="18" charset="0"/>
                <a:ea typeface="宋体" charset="-122"/>
              </a:rPr>
              <a:t>Otter</a:t>
            </a:r>
          </a:p>
        </p:txBody>
      </p:sp>
      <p:sp>
        <p:nvSpPr>
          <p:cNvPr id="18487" name="Line 58"/>
          <p:cNvSpPr>
            <a:spLocks noChangeShapeType="1"/>
          </p:cNvSpPr>
          <p:nvPr/>
        </p:nvSpPr>
        <p:spPr bwMode="auto">
          <a:xfrm>
            <a:off x="3581400" y="5638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88" name="Rectangle 59"/>
          <p:cNvSpPr>
            <a:spLocks noChangeArrowheads="1"/>
          </p:cNvSpPr>
          <p:nvPr/>
        </p:nvSpPr>
        <p:spPr bwMode="auto">
          <a:xfrm>
            <a:off x="1981200" y="5943600"/>
            <a:ext cx="914400" cy="381000"/>
          </a:xfrm>
          <a:prstGeom prst="rect">
            <a:avLst/>
          </a:prstGeom>
          <a:solidFill>
            <a:schemeClr val="bg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latin typeface="Times New Roman" pitchFamily="18" charset="0"/>
                <a:ea typeface="宋体" charset="-122"/>
              </a:rPr>
              <a:t>ASC</a:t>
            </a:r>
          </a:p>
        </p:txBody>
      </p:sp>
      <p:sp>
        <p:nvSpPr>
          <p:cNvPr id="18489" name="Line 60"/>
          <p:cNvSpPr>
            <a:spLocks noChangeShapeType="1"/>
          </p:cNvSpPr>
          <p:nvPr/>
        </p:nvSpPr>
        <p:spPr bwMode="auto">
          <a:xfrm>
            <a:off x="2438400" y="5638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90" name="Rectangle 61"/>
          <p:cNvSpPr>
            <a:spLocks noChangeArrowheads="1"/>
          </p:cNvSpPr>
          <p:nvPr/>
        </p:nvSpPr>
        <p:spPr bwMode="auto">
          <a:xfrm>
            <a:off x="990600" y="5943600"/>
            <a:ext cx="914400" cy="381000"/>
          </a:xfrm>
          <a:prstGeom prst="rect">
            <a:avLst/>
          </a:prstGeom>
          <a:solidFill>
            <a:schemeClr val="bg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latin typeface="Times New Roman" pitchFamily="18" charset="0"/>
                <a:ea typeface="宋体" charset="-122"/>
              </a:rPr>
              <a:t>DW</a:t>
            </a:r>
          </a:p>
        </p:txBody>
      </p:sp>
      <p:sp>
        <p:nvSpPr>
          <p:cNvPr id="18491" name="Line 62"/>
          <p:cNvSpPr>
            <a:spLocks noChangeShapeType="1"/>
          </p:cNvSpPr>
          <p:nvPr/>
        </p:nvSpPr>
        <p:spPr bwMode="auto">
          <a:xfrm>
            <a:off x="1447800" y="5638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92" name="Rectangle 63"/>
          <p:cNvSpPr>
            <a:spLocks/>
          </p:cNvSpPr>
          <p:nvPr/>
        </p:nvSpPr>
        <p:spPr bwMode="auto">
          <a:xfrm>
            <a:off x="533400" y="5842000"/>
            <a:ext cx="393700" cy="396875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000" b="1"/>
              <a:t>...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/>
          <p:cNvSpPr>
            <a:spLocks noChangeArrowheads="1"/>
          </p:cNvSpPr>
          <p:nvPr/>
        </p:nvSpPr>
        <p:spPr bwMode="auto">
          <a:xfrm>
            <a:off x="5105400" y="3048000"/>
            <a:ext cx="3581400" cy="3429000"/>
          </a:xfrm>
          <a:prstGeom prst="rect">
            <a:avLst/>
          </a:prstGeom>
          <a:solidFill>
            <a:srgbClr val="C0C0C0">
              <a:alpha val="50195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9458" name="Rectangle 3"/>
          <p:cNvSpPr>
            <a:spLocks noChangeArrowheads="1"/>
          </p:cNvSpPr>
          <p:nvPr/>
        </p:nvSpPr>
        <p:spPr bwMode="auto">
          <a:xfrm>
            <a:off x="381000" y="1524000"/>
            <a:ext cx="4038600" cy="4953000"/>
          </a:xfrm>
          <a:prstGeom prst="rect">
            <a:avLst/>
          </a:prstGeom>
          <a:solidFill>
            <a:srgbClr val="C0C0C0">
              <a:alpha val="50195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9459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ea typeface="微软雅黑"/>
                <a:cs typeface="微软雅黑"/>
              </a:rPr>
              <a:t>分布式数据库中间件</a:t>
            </a:r>
          </a:p>
        </p:txBody>
      </p:sp>
      <p:sp>
        <p:nvSpPr>
          <p:cNvPr id="19460" name="Rectangle 5"/>
          <p:cNvSpPr>
            <a:spLocks noChangeArrowheads="1"/>
          </p:cNvSpPr>
          <p:nvPr/>
        </p:nvSpPr>
        <p:spPr bwMode="auto">
          <a:xfrm>
            <a:off x="609600" y="1752600"/>
            <a:ext cx="838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itchFamily="18" charset="0"/>
                <a:ea typeface="宋体" charset="-122"/>
              </a:rPr>
              <a:t>App</a:t>
            </a:r>
          </a:p>
        </p:txBody>
      </p:sp>
      <p:sp>
        <p:nvSpPr>
          <p:cNvPr id="19461" name="Rectangle 6"/>
          <p:cNvSpPr>
            <a:spLocks noChangeArrowheads="1"/>
          </p:cNvSpPr>
          <p:nvPr/>
        </p:nvSpPr>
        <p:spPr bwMode="auto">
          <a:xfrm>
            <a:off x="1524000" y="1752600"/>
            <a:ext cx="838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itchFamily="18" charset="0"/>
                <a:ea typeface="宋体" charset="-122"/>
              </a:rPr>
              <a:t>App</a:t>
            </a:r>
          </a:p>
        </p:txBody>
      </p:sp>
      <p:sp>
        <p:nvSpPr>
          <p:cNvPr id="19462" name="Rectangle 7"/>
          <p:cNvSpPr>
            <a:spLocks noChangeArrowheads="1"/>
          </p:cNvSpPr>
          <p:nvPr/>
        </p:nvSpPr>
        <p:spPr bwMode="auto">
          <a:xfrm>
            <a:off x="2438400" y="1752600"/>
            <a:ext cx="838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itchFamily="18" charset="0"/>
                <a:ea typeface="宋体" charset="-122"/>
              </a:rPr>
              <a:t>App</a:t>
            </a:r>
          </a:p>
        </p:txBody>
      </p:sp>
      <p:sp>
        <p:nvSpPr>
          <p:cNvPr id="19463" name="Rectangle 8"/>
          <p:cNvSpPr>
            <a:spLocks noChangeArrowheads="1"/>
          </p:cNvSpPr>
          <p:nvPr/>
        </p:nvSpPr>
        <p:spPr bwMode="auto">
          <a:xfrm>
            <a:off x="3352800" y="1752600"/>
            <a:ext cx="838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itchFamily="18" charset="0"/>
                <a:ea typeface="宋体" charset="-122"/>
              </a:rPr>
              <a:t>App</a:t>
            </a:r>
          </a:p>
        </p:txBody>
      </p:sp>
      <p:sp>
        <p:nvSpPr>
          <p:cNvPr id="19464" name="Rectangle 9"/>
          <p:cNvSpPr>
            <a:spLocks noChangeArrowheads="1"/>
          </p:cNvSpPr>
          <p:nvPr/>
        </p:nvSpPr>
        <p:spPr bwMode="auto">
          <a:xfrm>
            <a:off x="609600" y="2590800"/>
            <a:ext cx="3581400" cy="533400"/>
          </a:xfrm>
          <a:prstGeom prst="rect">
            <a:avLst/>
          </a:prstGeom>
          <a:solidFill>
            <a:srgbClr val="00CC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latin typeface="Times New Roman" pitchFamily="18" charset="0"/>
                <a:ea typeface="宋体" charset="-122"/>
              </a:rPr>
              <a:t>Cobar</a:t>
            </a:r>
          </a:p>
        </p:txBody>
      </p:sp>
      <p:sp>
        <p:nvSpPr>
          <p:cNvPr id="19465" name="AutoShape 10"/>
          <p:cNvSpPr>
            <a:spLocks noChangeArrowheads="1"/>
          </p:cNvSpPr>
          <p:nvPr/>
        </p:nvSpPr>
        <p:spPr bwMode="auto">
          <a:xfrm>
            <a:off x="609600" y="3505200"/>
            <a:ext cx="838200" cy="609600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itchFamily="18" charset="0"/>
                <a:ea typeface="宋体" charset="-122"/>
              </a:rPr>
              <a:t>Oracle</a:t>
            </a:r>
          </a:p>
        </p:txBody>
      </p:sp>
      <p:sp>
        <p:nvSpPr>
          <p:cNvPr id="19466" name="AutoShape 11"/>
          <p:cNvSpPr>
            <a:spLocks noChangeArrowheads="1"/>
          </p:cNvSpPr>
          <p:nvPr/>
        </p:nvSpPr>
        <p:spPr bwMode="auto">
          <a:xfrm>
            <a:off x="1524000" y="3505200"/>
            <a:ext cx="838200" cy="609600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itchFamily="18" charset="0"/>
                <a:ea typeface="宋体" charset="-122"/>
              </a:rPr>
              <a:t>MySQL</a:t>
            </a:r>
          </a:p>
        </p:txBody>
      </p:sp>
      <p:sp>
        <p:nvSpPr>
          <p:cNvPr id="19467" name="AutoShape 12"/>
          <p:cNvSpPr>
            <a:spLocks noChangeArrowheads="1"/>
          </p:cNvSpPr>
          <p:nvPr/>
        </p:nvSpPr>
        <p:spPr bwMode="auto">
          <a:xfrm>
            <a:off x="2438400" y="3505200"/>
            <a:ext cx="838200" cy="609600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itchFamily="18" charset="0"/>
                <a:ea typeface="宋体" charset="-122"/>
              </a:rPr>
              <a:t>MySQL</a:t>
            </a:r>
          </a:p>
        </p:txBody>
      </p:sp>
      <p:sp>
        <p:nvSpPr>
          <p:cNvPr id="19468" name="AutoShape 13"/>
          <p:cNvSpPr>
            <a:spLocks noChangeArrowheads="1"/>
          </p:cNvSpPr>
          <p:nvPr/>
        </p:nvSpPr>
        <p:spPr bwMode="auto">
          <a:xfrm>
            <a:off x="3352800" y="3505200"/>
            <a:ext cx="838200" cy="609600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itchFamily="18" charset="0"/>
                <a:ea typeface="宋体" charset="-122"/>
              </a:rPr>
              <a:t>MySQL</a:t>
            </a:r>
          </a:p>
        </p:txBody>
      </p:sp>
      <p:sp>
        <p:nvSpPr>
          <p:cNvPr id="19469" name="AutoShape 15"/>
          <p:cNvSpPr>
            <a:spLocks noChangeArrowheads="1"/>
          </p:cNvSpPr>
          <p:nvPr/>
        </p:nvSpPr>
        <p:spPr bwMode="auto">
          <a:xfrm>
            <a:off x="5410200" y="3505200"/>
            <a:ext cx="838200" cy="609600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itchFamily="18" charset="0"/>
                <a:ea typeface="宋体" charset="-122"/>
              </a:rPr>
              <a:t>Oracle</a:t>
            </a:r>
          </a:p>
        </p:txBody>
      </p:sp>
      <p:sp>
        <p:nvSpPr>
          <p:cNvPr id="19470" name="AutoShape 16"/>
          <p:cNvSpPr>
            <a:spLocks noChangeArrowheads="1"/>
          </p:cNvSpPr>
          <p:nvPr/>
        </p:nvSpPr>
        <p:spPr bwMode="auto">
          <a:xfrm>
            <a:off x="6324600" y="3505200"/>
            <a:ext cx="838200" cy="609600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itchFamily="18" charset="0"/>
                <a:ea typeface="宋体" charset="-122"/>
              </a:rPr>
              <a:t>MySQL</a:t>
            </a:r>
          </a:p>
        </p:txBody>
      </p:sp>
      <p:sp>
        <p:nvSpPr>
          <p:cNvPr id="19471" name="AutoShape 17"/>
          <p:cNvSpPr>
            <a:spLocks noChangeArrowheads="1"/>
          </p:cNvSpPr>
          <p:nvPr/>
        </p:nvSpPr>
        <p:spPr bwMode="auto">
          <a:xfrm>
            <a:off x="7239000" y="3505200"/>
            <a:ext cx="838200" cy="609600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itchFamily="18" charset="0"/>
                <a:ea typeface="宋体" charset="-122"/>
              </a:rPr>
              <a:t>MySQL</a:t>
            </a:r>
          </a:p>
        </p:txBody>
      </p:sp>
      <p:sp>
        <p:nvSpPr>
          <p:cNvPr id="19472" name="Rectangle 18"/>
          <p:cNvSpPr>
            <a:spLocks noChangeArrowheads="1"/>
          </p:cNvSpPr>
          <p:nvPr/>
        </p:nvSpPr>
        <p:spPr bwMode="auto">
          <a:xfrm>
            <a:off x="5410200" y="5943600"/>
            <a:ext cx="2667000" cy="381000"/>
          </a:xfrm>
          <a:prstGeom prst="rect">
            <a:avLst/>
          </a:prstGeom>
          <a:solidFill>
            <a:srgbClr val="00CC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latin typeface="Times New Roman" pitchFamily="18" charset="0"/>
                <a:ea typeface="宋体" charset="-122"/>
              </a:rPr>
              <a:t>Otter</a:t>
            </a:r>
          </a:p>
        </p:txBody>
      </p:sp>
      <p:sp>
        <p:nvSpPr>
          <p:cNvPr id="19473" name="Line 19"/>
          <p:cNvSpPr>
            <a:spLocks noChangeShapeType="1"/>
          </p:cNvSpPr>
          <p:nvPr/>
        </p:nvSpPr>
        <p:spPr bwMode="auto">
          <a:xfrm>
            <a:off x="1066800" y="2209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474" name="Line 20"/>
          <p:cNvSpPr>
            <a:spLocks noChangeShapeType="1"/>
          </p:cNvSpPr>
          <p:nvPr/>
        </p:nvSpPr>
        <p:spPr bwMode="auto">
          <a:xfrm>
            <a:off x="1981200" y="2209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475" name="Line 21"/>
          <p:cNvSpPr>
            <a:spLocks noChangeShapeType="1"/>
          </p:cNvSpPr>
          <p:nvPr/>
        </p:nvSpPr>
        <p:spPr bwMode="auto">
          <a:xfrm>
            <a:off x="2819400" y="2209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476" name="Line 22"/>
          <p:cNvSpPr>
            <a:spLocks noChangeShapeType="1"/>
          </p:cNvSpPr>
          <p:nvPr/>
        </p:nvSpPr>
        <p:spPr bwMode="auto">
          <a:xfrm>
            <a:off x="3733800" y="2209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477" name="Line 23"/>
          <p:cNvSpPr>
            <a:spLocks noChangeShapeType="1"/>
          </p:cNvSpPr>
          <p:nvPr/>
        </p:nvSpPr>
        <p:spPr bwMode="auto">
          <a:xfrm>
            <a:off x="3733800" y="3124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478" name="Line 24"/>
          <p:cNvSpPr>
            <a:spLocks noChangeShapeType="1"/>
          </p:cNvSpPr>
          <p:nvPr/>
        </p:nvSpPr>
        <p:spPr bwMode="auto">
          <a:xfrm>
            <a:off x="2819400" y="3124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479" name="Line 25"/>
          <p:cNvSpPr>
            <a:spLocks noChangeShapeType="1"/>
          </p:cNvSpPr>
          <p:nvPr/>
        </p:nvSpPr>
        <p:spPr bwMode="auto">
          <a:xfrm>
            <a:off x="1981200" y="3124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480" name="Line 26"/>
          <p:cNvSpPr>
            <a:spLocks noChangeShapeType="1"/>
          </p:cNvSpPr>
          <p:nvPr/>
        </p:nvSpPr>
        <p:spPr bwMode="auto">
          <a:xfrm>
            <a:off x="1066800" y="3124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481" name="Line 27"/>
          <p:cNvSpPr>
            <a:spLocks noChangeShapeType="1"/>
          </p:cNvSpPr>
          <p:nvPr/>
        </p:nvSpPr>
        <p:spPr bwMode="auto">
          <a:xfrm>
            <a:off x="3733800" y="4114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482" name="Line 28"/>
          <p:cNvSpPr>
            <a:spLocks noChangeShapeType="1"/>
          </p:cNvSpPr>
          <p:nvPr/>
        </p:nvSpPr>
        <p:spPr bwMode="auto">
          <a:xfrm>
            <a:off x="2819400" y="4114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483" name="Line 29"/>
          <p:cNvSpPr>
            <a:spLocks noChangeShapeType="1"/>
          </p:cNvSpPr>
          <p:nvPr/>
        </p:nvSpPr>
        <p:spPr bwMode="auto">
          <a:xfrm>
            <a:off x="1981200" y="4114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484" name="Line 30"/>
          <p:cNvSpPr>
            <a:spLocks noChangeShapeType="1"/>
          </p:cNvSpPr>
          <p:nvPr/>
        </p:nvSpPr>
        <p:spPr bwMode="auto">
          <a:xfrm>
            <a:off x="1066800" y="4114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485" name="Line 32"/>
          <p:cNvSpPr>
            <a:spLocks noChangeShapeType="1"/>
          </p:cNvSpPr>
          <p:nvPr/>
        </p:nvSpPr>
        <p:spPr bwMode="auto">
          <a:xfrm>
            <a:off x="4191000" y="6172200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486" name="Rectangle 33"/>
          <p:cNvSpPr>
            <a:spLocks noChangeArrowheads="1"/>
          </p:cNvSpPr>
          <p:nvPr/>
        </p:nvSpPr>
        <p:spPr bwMode="auto">
          <a:xfrm>
            <a:off x="5410200" y="4419600"/>
            <a:ext cx="838200" cy="533400"/>
          </a:xfrm>
          <a:prstGeom prst="rect">
            <a:avLst/>
          </a:prstGeom>
          <a:solidFill>
            <a:srgbClr val="00CC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latin typeface="Times New Roman" pitchFamily="18" charset="0"/>
                <a:ea typeface="宋体" charset="-122"/>
              </a:rPr>
              <a:t>Erosa</a:t>
            </a:r>
            <a:br>
              <a:rPr lang="en-US" altLang="zh-CN" sz="1600">
                <a:latin typeface="Times New Roman" pitchFamily="18" charset="0"/>
                <a:ea typeface="宋体" charset="-122"/>
              </a:rPr>
            </a:br>
            <a:r>
              <a:rPr lang="en-US" altLang="zh-CN" sz="1600">
                <a:latin typeface="Times New Roman" pitchFamily="18" charset="0"/>
                <a:ea typeface="宋体" charset="-122"/>
              </a:rPr>
              <a:t>Oracle</a:t>
            </a:r>
          </a:p>
        </p:txBody>
      </p:sp>
      <p:sp>
        <p:nvSpPr>
          <p:cNvPr id="19487" name="Rectangle 34"/>
          <p:cNvSpPr>
            <a:spLocks noChangeArrowheads="1"/>
          </p:cNvSpPr>
          <p:nvPr/>
        </p:nvSpPr>
        <p:spPr bwMode="auto">
          <a:xfrm>
            <a:off x="6324600" y="4419600"/>
            <a:ext cx="838200" cy="533400"/>
          </a:xfrm>
          <a:prstGeom prst="rect">
            <a:avLst/>
          </a:prstGeom>
          <a:solidFill>
            <a:srgbClr val="00CC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latin typeface="Times New Roman" pitchFamily="18" charset="0"/>
                <a:ea typeface="宋体" charset="-122"/>
              </a:rPr>
              <a:t>Erosa</a:t>
            </a:r>
            <a:br>
              <a:rPr lang="en-US" altLang="zh-CN" sz="1600">
                <a:latin typeface="Times New Roman" pitchFamily="18" charset="0"/>
                <a:ea typeface="宋体" charset="-122"/>
              </a:rPr>
            </a:br>
            <a:r>
              <a:rPr lang="en-US" altLang="zh-CN" sz="1600">
                <a:latin typeface="Times New Roman" pitchFamily="18" charset="0"/>
                <a:ea typeface="宋体" charset="-122"/>
              </a:rPr>
              <a:t>MySQL</a:t>
            </a:r>
          </a:p>
        </p:txBody>
      </p:sp>
      <p:sp>
        <p:nvSpPr>
          <p:cNvPr id="19488" name="Rectangle 35"/>
          <p:cNvSpPr>
            <a:spLocks noChangeArrowheads="1"/>
          </p:cNvSpPr>
          <p:nvPr/>
        </p:nvSpPr>
        <p:spPr bwMode="auto">
          <a:xfrm>
            <a:off x="7239000" y="4419600"/>
            <a:ext cx="838200" cy="533400"/>
          </a:xfrm>
          <a:prstGeom prst="rect">
            <a:avLst/>
          </a:prstGeom>
          <a:solidFill>
            <a:srgbClr val="00CC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latin typeface="Times New Roman" pitchFamily="18" charset="0"/>
                <a:ea typeface="宋体" charset="-122"/>
              </a:rPr>
              <a:t>Erosa</a:t>
            </a:r>
            <a:br>
              <a:rPr lang="en-US" altLang="zh-CN" sz="1600">
                <a:latin typeface="Times New Roman" pitchFamily="18" charset="0"/>
                <a:ea typeface="宋体" charset="-122"/>
              </a:rPr>
            </a:br>
            <a:r>
              <a:rPr lang="en-US" altLang="zh-CN" sz="1600">
                <a:latin typeface="Times New Roman" pitchFamily="18" charset="0"/>
                <a:ea typeface="宋体" charset="-122"/>
              </a:rPr>
              <a:t>MySQL</a:t>
            </a:r>
          </a:p>
        </p:txBody>
      </p:sp>
      <p:sp>
        <p:nvSpPr>
          <p:cNvPr id="19489" name="Rectangle 36"/>
          <p:cNvSpPr>
            <a:spLocks noChangeArrowheads="1"/>
          </p:cNvSpPr>
          <p:nvPr/>
        </p:nvSpPr>
        <p:spPr bwMode="auto">
          <a:xfrm>
            <a:off x="5410200" y="5257800"/>
            <a:ext cx="2667000" cy="381000"/>
          </a:xfrm>
          <a:prstGeom prst="rect">
            <a:avLst/>
          </a:prstGeom>
          <a:solidFill>
            <a:srgbClr val="00CC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latin typeface="Times New Roman" pitchFamily="18" charset="0"/>
                <a:ea typeface="宋体" charset="-122"/>
              </a:rPr>
              <a:t>Eromanga</a:t>
            </a:r>
          </a:p>
        </p:txBody>
      </p:sp>
      <p:sp>
        <p:nvSpPr>
          <p:cNvPr id="19490" name="Line 37"/>
          <p:cNvSpPr>
            <a:spLocks noChangeShapeType="1"/>
          </p:cNvSpPr>
          <p:nvPr/>
        </p:nvSpPr>
        <p:spPr bwMode="auto">
          <a:xfrm>
            <a:off x="5867400" y="4953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491" name="Line 38"/>
          <p:cNvSpPr>
            <a:spLocks noChangeShapeType="1"/>
          </p:cNvSpPr>
          <p:nvPr/>
        </p:nvSpPr>
        <p:spPr bwMode="auto">
          <a:xfrm>
            <a:off x="6781800" y="4953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492" name="Line 39"/>
          <p:cNvSpPr>
            <a:spLocks noChangeShapeType="1"/>
          </p:cNvSpPr>
          <p:nvPr/>
        </p:nvSpPr>
        <p:spPr bwMode="auto">
          <a:xfrm>
            <a:off x="7620000" y="4953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493" name="Line 40"/>
          <p:cNvSpPr>
            <a:spLocks noChangeShapeType="1"/>
          </p:cNvSpPr>
          <p:nvPr/>
        </p:nvSpPr>
        <p:spPr bwMode="auto">
          <a:xfrm>
            <a:off x="6781800" y="5638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494" name="Line 41"/>
          <p:cNvSpPr>
            <a:spLocks noChangeShapeType="1"/>
          </p:cNvSpPr>
          <p:nvPr/>
        </p:nvSpPr>
        <p:spPr bwMode="auto">
          <a:xfrm>
            <a:off x="7620000" y="4114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495" name="Line 42"/>
          <p:cNvSpPr>
            <a:spLocks noChangeShapeType="1"/>
          </p:cNvSpPr>
          <p:nvPr/>
        </p:nvSpPr>
        <p:spPr bwMode="auto">
          <a:xfrm>
            <a:off x="6781800" y="4114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496" name="Line 43"/>
          <p:cNvSpPr>
            <a:spLocks noChangeShapeType="1"/>
          </p:cNvSpPr>
          <p:nvPr/>
        </p:nvSpPr>
        <p:spPr bwMode="auto">
          <a:xfrm>
            <a:off x="5867400" y="4114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19497" name="AutoShape 44"/>
          <p:cNvCxnSpPr>
            <a:cxnSpLocks noChangeShapeType="1"/>
            <a:stCxn id="19472" idx="3"/>
            <a:endCxn id="19469" idx="1"/>
          </p:cNvCxnSpPr>
          <p:nvPr/>
        </p:nvCxnSpPr>
        <p:spPr bwMode="auto">
          <a:xfrm flipH="1" flipV="1">
            <a:off x="5829300" y="3505200"/>
            <a:ext cx="2247900" cy="2628900"/>
          </a:xfrm>
          <a:prstGeom prst="bentConnector4">
            <a:avLst>
              <a:gd name="adj1" fmla="val -10171"/>
              <a:gd name="adj2" fmla="val 108694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19498" name="AutoShape 45"/>
          <p:cNvCxnSpPr>
            <a:cxnSpLocks noChangeShapeType="1"/>
            <a:stCxn id="19472" idx="3"/>
            <a:endCxn id="19470" idx="1"/>
          </p:cNvCxnSpPr>
          <p:nvPr/>
        </p:nvCxnSpPr>
        <p:spPr bwMode="auto">
          <a:xfrm flipH="1" flipV="1">
            <a:off x="6743700" y="3505200"/>
            <a:ext cx="1333500" cy="2628900"/>
          </a:xfrm>
          <a:prstGeom prst="bentConnector4">
            <a:avLst>
              <a:gd name="adj1" fmla="val -17144"/>
              <a:gd name="adj2" fmla="val 108694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19499" name="AutoShape 46"/>
          <p:cNvCxnSpPr>
            <a:cxnSpLocks noChangeShapeType="1"/>
            <a:stCxn id="19472" idx="3"/>
            <a:endCxn id="19471" idx="1"/>
          </p:cNvCxnSpPr>
          <p:nvPr/>
        </p:nvCxnSpPr>
        <p:spPr bwMode="auto">
          <a:xfrm flipH="1" flipV="1">
            <a:off x="7658100" y="3505200"/>
            <a:ext cx="419100" cy="2628900"/>
          </a:xfrm>
          <a:prstGeom prst="bentConnector4">
            <a:avLst>
              <a:gd name="adj1" fmla="val -54546"/>
              <a:gd name="adj2" fmla="val 108694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19500" name="Rectangle 47"/>
          <p:cNvSpPr>
            <a:spLocks noGrp="1" noChangeArrowheads="1"/>
          </p:cNvSpPr>
          <p:nvPr>
            <p:ph type="body" idx="1"/>
          </p:nvPr>
        </p:nvSpPr>
        <p:spPr>
          <a:xfrm>
            <a:off x="4953000" y="1447800"/>
            <a:ext cx="3962400" cy="1447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800" smtClean="0"/>
              <a:t>性能 容量 高可用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800" b="1" smtClean="0">
                <a:ea typeface="微软雅黑"/>
                <a:cs typeface="微软雅黑"/>
              </a:rPr>
              <a:t>数据消费时效性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800" smtClean="0"/>
              <a:t>跨机房数据同步</a:t>
            </a:r>
          </a:p>
        </p:txBody>
      </p:sp>
      <p:sp>
        <p:nvSpPr>
          <p:cNvPr id="19501" name="Rectangle 48"/>
          <p:cNvSpPr>
            <a:spLocks noChangeArrowheads="1"/>
          </p:cNvSpPr>
          <p:nvPr/>
        </p:nvSpPr>
        <p:spPr bwMode="auto">
          <a:xfrm>
            <a:off x="609600" y="4419600"/>
            <a:ext cx="838200" cy="533400"/>
          </a:xfrm>
          <a:prstGeom prst="rect">
            <a:avLst/>
          </a:prstGeom>
          <a:solidFill>
            <a:srgbClr val="00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400" b="1">
                <a:latin typeface="微软雅黑"/>
              </a:rPr>
              <a:t>Erosa</a:t>
            </a:r>
            <a:r>
              <a:rPr lang="en-US" altLang="zh-CN" sz="1600">
                <a:latin typeface="Times New Roman" pitchFamily="18" charset="0"/>
                <a:ea typeface="宋体" charset="-122"/>
              </a:rPr>
              <a:t/>
            </a:r>
            <a:br>
              <a:rPr lang="en-US" altLang="zh-CN" sz="1600">
                <a:latin typeface="Times New Roman" pitchFamily="18" charset="0"/>
                <a:ea typeface="宋体" charset="-122"/>
              </a:rPr>
            </a:br>
            <a:r>
              <a:rPr lang="en-US" altLang="zh-CN" sz="1600">
                <a:latin typeface="Times New Roman" pitchFamily="18" charset="0"/>
                <a:ea typeface="宋体" charset="-122"/>
              </a:rPr>
              <a:t>Oracle</a:t>
            </a:r>
          </a:p>
        </p:txBody>
      </p:sp>
      <p:sp>
        <p:nvSpPr>
          <p:cNvPr id="19502" name="Rectangle 49"/>
          <p:cNvSpPr>
            <a:spLocks noChangeArrowheads="1"/>
          </p:cNvSpPr>
          <p:nvPr/>
        </p:nvSpPr>
        <p:spPr bwMode="auto">
          <a:xfrm>
            <a:off x="1524000" y="4419600"/>
            <a:ext cx="838200" cy="533400"/>
          </a:xfrm>
          <a:prstGeom prst="rect">
            <a:avLst/>
          </a:prstGeom>
          <a:solidFill>
            <a:srgbClr val="00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400" b="1">
                <a:latin typeface="微软雅黑"/>
              </a:rPr>
              <a:t>Erosa</a:t>
            </a:r>
            <a:r>
              <a:rPr lang="en-US" altLang="zh-CN" sz="1600">
                <a:latin typeface="Times New Roman" pitchFamily="18" charset="0"/>
                <a:ea typeface="宋体" charset="-122"/>
              </a:rPr>
              <a:t/>
            </a:r>
            <a:br>
              <a:rPr lang="en-US" altLang="zh-CN" sz="1600">
                <a:latin typeface="Times New Roman" pitchFamily="18" charset="0"/>
                <a:ea typeface="宋体" charset="-122"/>
              </a:rPr>
            </a:br>
            <a:r>
              <a:rPr lang="en-US" altLang="zh-CN" sz="1600">
                <a:latin typeface="Times New Roman" pitchFamily="18" charset="0"/>
                <a:ea typeface="宋体" charset="-122"/>
              </a:rPr>
              <a:t>MySQL</a:t>
            </a:r>
          </a:p>
        </p:txBody>
      </p:sp>
      <p:sp>
        <p:nvSpPr>
          <p:cNvPr id="19503" name="Rectangle 50"/>
          <p:cNvSpPr>
            <a:spLocks noChangeArrowheads="1"/>
          </p:cNvSpPr>
          <p:nvPr/>
        </p:nvSpPr>
        <p:spPr bwMode="auto">
          <a:xfrm>
            <a:off x="2438400" y="4419600"/>
            <a:ext cx="838200" cy="533400"/>
          </a:xfrm>
          <a:prstGeom prst="rect">
            <a:avLst/>
          </a:prstGeom>
          <a:solidFill>
            <a:srgbClr val="00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400" b="1">
                <a:latin typeface="微软雅黑"/>
              </a:rPr>
              <a:t>Erosa</a:t>
            </a:r>
            <a:r>
              <a:rPr lang="en-US" altLang="zh-CN" sz="1600">
                <a:latin typeface="Times New Roman" pitchFamily="18" charset="0"/>
                <a:ea typeface="宋体" charset="-122"/>
              </a:rPr>
              <a:t/>
            </a:r>
            <a:br>
              <a:rPr lang="en-US" altLang="zh-CN" sz="1600">
                <a:latin typeface="Times New Roman" pitchFamily="18" charset="0"/>
                <a:ea typeface="宋体" charset="-122"/>
              </a:rPr>
            </a:br>
            <a:r>
              <a:rPr lang="en-US" altLang="zh-CN" sz="1600">
                <a:latin typeface="Times New Roman" pitchFamily="18" charset="0"/>
                <a:ea typeface="宋体" charset="-122"/>
              </a:rPr>
              <a:t>MySQL</a:t>
            </a:r>
          </a:p>
        </p:txBody>
      </p:sp>
      <p:sp>
        <p:nvSpPr>
          <p:cNvPr id="19504" name="Rectangle 51"/>
          <p:cNvSpPr>
            <a:spLocks noChangeArrowheads="1"/>
          </p:cNvSpPr>
          <p:nvPr/>
        </p:nvSpPr>
        <p:spPr bwMode="auto">
          <a:xfrm>
            <a:off x="3352800" y="4419600"/>
            <a:ext cx="838200" cy="533400"/>
          </a:xfrm>
          <a:prstGeom prst="rect">
            <a:avLst/>
          </a:prstGeom>
          <a:solidFill>
            <a:srgbClr val="00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400" b="1">
                <a:latin typeface="微软雅黑"/>
              </a:rPr>
              <a:t>Erosa</a:t>
            </a:r>
            <a:r>
              <a:rPr lang="en-US" altLang="zh-CN" sz="1600">
                <a:latin typeface="Times New Roman" pitchFamily="18" charset="0"/>
                <a:ea typeface="宋体" charset="-122"/>
              </a:rPr>
              <a:t/>
            </a:r>
            <a:br>
              <a:rPr lang="en-US" altLang="zh-CN" sz="1600">
                <a:latin typeface="Times New Roman" pitchFamily="18" charset="0"/>
                <a:ea typeface="宋体" charset="-122"/>
              </a:rPr>
            </a:br>
            <a:r>
              <a:rPr lang="en-US" altLang="zh-CN" sz="1600">
                <a:latin typeface="Times New Roman" pitchFamily="18" charset="0"/>
                <a:ea typeface="宋体" charset="-122"/>
              </a:rPr>
              <a:t>MySQL</a:t>
            </a:r>
          </a:p>
        </p:txBody>
      </p:sp>
      <p:sp>
        <p:nvSpPr>
          <p:cNvPr id="19505" name="Rectangle 52"/>
          <p:cNvSpPr>
            <a:spLocks noChangeArrowheads="1"/>
          </p:cNvSpPr>
          <p:nvPr/>
        </p:nvSpPr>
        <p:spPr bwMode="auto">
          <a:xfrm>
            <a:off x="609600" y="5257800"/>
            <a:ext cx="3581400" cy="381000"/>
          </a:xfrm>
          <a:prstGeom prst="rect">
            <a:avLst/>
          </a:prstGeom>
          <a:solidFill>
            <a:srgbClr val="00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400" b="1">
                <a:latin typeface="微软雅黑"/>
              </a:rPr>
              <a:t>Eromanga</a:t>
            </a:r>
          </a:p>
        </p:txBody>
      </p:sp>
      <p:sp>
        <p:nvSpPr>
          <p:cNvPr id="19506" name="Line 53"/>
          <p:cNvSpPr>
            <a:spLocks noChangeShapeType="1"/>
          </p:cNvSpPr>
          <p:nvPr/>
        </p:nvSpPr>
        <p:spPr bwMode="auto">
          <a:xfrm>
            <a:off x="1066800" y="4953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507" name="Line 54"/>
          <p:cNvSpPr>
            <a:spLocks noChangeShapeType="1"/>
          </p:cNvSpPr>
          <p:nvPr/>
        </p:nvSpPr>
        <p:spPr bwMode="auto">
          <a:xfrm>
            <a:off x="1981200" y="4953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508" name="Line 55"/>
          <p:cNvSpPr>
            <a:spLocks noChangeShapeType="1"/>
          </p:cNvSpPr>
          <p:nvPr/>
        </p:nvSpPr>
        <p:spPr bwMode="auto">
          <a:xfrm>
            <a:off x="2819400" y="4953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509" name="Line 56"/>
          <p:cNvSpPr>
            <a:spLocks noChangeShapeType="1"/>
          </p:cNvSpPr>
          <p:nvPr/>
        </p:nvSpPr>
        <p:spPr bwMode="auto">
          <a:xfrm>
            <a:off x="3733800" y="4953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510" name="Rectangle 57"/>
          <p:cNvSpPr>
            <a:spLocks noChangeArrowheads="1"/>
          </p:cNvSpPr>
          <p:nvPr/>
        </p:nvSpPr>
        <p:spPr bwMode="auto">
          <a:xfrm>
            <a:off x="2971800" y="5943600"/>
            <a:ext cx="1219200" cy="381000"/>
          </a:xfrm>
          <a:prstGeom prst="rect">
            <a:avLst/>
          </a:prstGeom>
          <a:solidFill>
            <a:srgbClr val="00CC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latin typeface="Times New Roman" pitchFamily="18" charset="0"/>
                <a:ea typeface="宋体" charset="-122"/>
              </a:rPr>
              <a:t>Otter</a:t>
            </a:r>
          </a:p>
        </p:txBody>
      </p:sp>
      <p:sp>
        <p:nvSpPr>
          <p:cNvPr id="19511" name="Line 58"/>
          <p:cNvSpPr>
            <a:spLocks noChangeShapeType="1"/>
          </p:cNvSpPr>
          <p:nvPr/>
        </p:nvSpPr>
        <p:spPr bwMode="auto">
          <a:xfrm>
            <a:off x="3581400" y="5638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512" name="Rectangle 59"/>
          <p:cNvSpPr>
            <a:spLocks noChangeArrowheads="1"/>
          </p:cNvSpPr>
          <p:nvPr/>
        </p:nvSpPr>
        <p:spPr bwMode="auto">
          <a:xfrm>
            <a:off x="1981200" y="5943600"/>
            <a:ext cx="914400" cy="381000"/>
          </a:xfrm>
          <a:prstGeom prst="rect">
            <a:avLst/>
          </a:prstGeom>
          <a:solidFill>
            <a:schemeClr val="bg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latin typeface="Times New Roman" pitchFamily="18" charset="0"/>
                <a:ea typeface="宋体" charset="-122"/>
              </a:rPr>
              <a:t>ASC</a:t>
            </a:r>
          </a:p>
        </p:txBody>
      </p:sp>
      <p:sp>
        <p:nvSpPr>
          <p:cNvPr id="19513" name="Line 60"/>
          <p:cNvSpPr>
            <a:spLocks noChangeShapeType="1"/>
          </p:cNvSpPr>
          <p:nvPr/>
        </p:nvSpPr>
        <p:spPr bwMode="auto">
          <a:xfrm>
            <a:off x="2438400" y="5638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514" name="Rectangle 61"/>
          <p:cNvSpPr>
            <a:spLocks noChangeArrowheads="1"/>
          </p:cNvSpPr>
          <p:nvPr/>
        </p:nvSpPr>
        <p:spPr bwMode="auto">
          <a:xfrm>
            <a:off x="990600" y="5943600"/>
            <a:ext cx="914400" cy="381000"/>
          </a:xfrm>
          <a:prstGeom prst="rect">
            <a:avLst/>
          </a:prstGeom>
          <a:solidFill>
            <a:schemeClr val="bg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latin typeface="Times New Roman" pitchFamily="18" charset="0"/>
                <a:ea typeface="宋体" charset="-122"/>
              </a:rPr>
              <a:t>DW</a:t>
            </a:r>
          </a:p>
        </p:txBody>
      </p:sp>
      <p:sp>
        <p:nvSpPr>
          <p:cNvPr id="19515" name="Line 62"/>
          <p:cNvSpPr>
            <a:spLocks noChangeShapeType="1"/>
          </p:cNvSpPr>
          <p:nvPr/>
        </p:nvSpPr>
        <p:spPr bwMode="auto">
          <a:xfrm>
            <a:off x="1447800" y="5638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516" name="Rectangle 63"/>
          <p:cNvSpPr>
            <a:spLocks/>
          </p:cNvSpPr>
          <p:nvPr/>
        </p:nvSpPr>
        <p:spPr bwMode="auto">
          <a:xfrm>
            <a:off x="533400" y="5842000"/>
            <a:ext cx="393700" cy="396875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000" b="1"/>
              <a:t>...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ChangeArrowheads="1"/>
          </p:cNvSpPr>
          <p:nvPr/>
        </p:nvSpPr>
        <p:spPr bwMode="auto">
          <a:xfrm>
            <a:off x="5105400" y="3048000"/>
            <a:ext cx="3581400" cy="3429000"/>
          </a:xfrm>
          <a:prstGeom prst="rect">
            <a:avLst/>
          </a:prstGeom>
          <a:solidFill>
            <a:srgbClr val="C0C0C0">
              <a:alpha val="50195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20482" name="Rectangle 3"/>
          <p:cNvSpPr>
            <a:spLocks noChangeArrowheads="1"/>
          </p:cNvSpPr>
          <p:nvPr/>
        </p:nvSpPr>
        <p:spPr bwMode="auto">
          <a:xfrm>
            <a:off x="381000" y="1524000"/>
            <a:ext cx="4038600" cy="4953000"/>
          </a:xfrm>
          <a:prstGeom prst="rect">
            <a:avLst/>
          </a:prstGeom>
          <a:solidFill>
            <a:srgbClr val="C0C0C0">
              <a:alpha val="50195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20483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ea typeface="微软雅黑"/>
                <a:cs typeface="微软雅黑"/>
              </a:rPr>
              <a:t>分布式数据库中间件</a:t>
            </a:r>
          </a:p>
        </p:txBody>
      </p:sp>
      <p:sp>
        <p:nvSpPr>
          <p:cNvPr id="20484" name="Rectangle 5"/>
          <p:cNvSpPr>
            <a:spLocks noChangeArrowheads="1"/>
          </p:cNvSpPr>
          <p:nvPr/>
        </p:nvSpPr>
        <p:spPr bwMode="auto">
          <a:xfrm>
            <a:off x="609600" y="1752600"/>
            <a:ext cx="838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itchFamily="18" charset="0"/>
                <a:ea typeface="宋体" charset="-122"/>
              </a:rPr>
              <a:t>App</a:t>
            </a:r>
          </a:p>
        </p:txBody>
      </p:sp>
      <p:sp>
        <p:nvSpPr>
          <p:cNvPr id="20485" name="Rectangle 6"/>
          <p:cNvSpPr>
            <a:spLocks noChangeArrowheads="1"/>
          </p:cNvSpPr>
          <p:nvPr/>
        </p:nvSpPr>
        <p:spPr bwMode="auto">
          <a:xfrm>
            <a:off x="1524000" y="1752600"/>
            <a:ext cx="838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itchFamily="18" charset="0"/>
                <a:ea typeface="宋体" charset="-122"/>
              </a:rPr>
              <a:t>App</a:t>
            </a:r>
          </a:p>
        </p:txBody>
      </p:sp>
      <p:sp>
        <p:nvSpPr>
          <p:cNvPr id="20486" name="Rectangle 7"/>
          <p:cNvSpPr>
            <a:spLocks noChangeArrowheads="1"/>
          </p:cNvSpPr>
          <p:nvPr/>
        </p:nvSpPr>
        <p:spPr bwMode="auto">
          <a:xfrm>
            <a:off x="2438400" y="1752600"/>
            <a:ext cx="838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itchFamily="18" charset="0"/>
                <a:ea typeface="宋体" charset="-122"/>
              </a:rPr>
              <a:t>App</a:t>
            </a:r>
          </a:p>
        </p:txBody>
      </p:sp>
      <p:sp>
        <p:nvSpPr>
          <p:cNvPr id="20487" name="Rectangle 8"/>
          <p:cNvSpPr>
            <a:spLocks noChangeArrowheads="1"/>
          </p:cNvSpPr>
          <p:nvPr/>
        </p:nvSpPr>
        <p:spPr bwMode="auto">
          <a:xfrm>
            <a:off x="3352800" y="1752600"/>
            <a:ext cx="838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itchFamily="18" charset="0"/>
                <a:ea typeface="宋体" charset="-122"/>
              </a:rPr>
              <a:t>App</a:t>
            </a:r>
          </a:p>
        </p:txBody>
      </p:sp>
      <p:sp>
        <p:nvSpPr>
          <p:cNvPr id="20488" name="Rectangle 9"/>
          <p:cNvSpPr>
            <a:spLocks noChangeArrowheads="1"/>
          </p:cNvSpPr>
          <p:nvPr/>
        </p:nvSpPr>
        <p:spPr bwMode="auto">
          <a:xfrm>
            <a:off x="609600" y="2590800"/>
            <a:ext cx="3581400" cy="533400"/>
          </a:xfrm>
          <a:prstGeom prst="rect">
            <a:avLst/>
          </a:prstGeom>
          <a:solidFill>
            <a:srgbClr val="00CC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latin typeface="Times New Roman" pitchFamily="18" charset="0"/>
                <a:ea typeface="宋体" charset="-122"/>
              </a:rPr>
              <a:t>Cobar</a:t>
            </a:r>
          </a:p>
        </p:txBody>
      </p:sp>
      <p:sp>
        <p:nvSpPr>
          <p:cNvPr id="20489" name="AutoShape 10"/>
          <p:cNvSpPr>
            <a:spLocks noChangeArrowheads="1"/>
          </p:cNvSpPr>
          <p:nvPr/>
        </p:nvSpPr>
        <p:spPr bwMode="auto">
          <a:xfrm>
            <a:off x="609600" y="3505200"/>
            <a:ext cx="838200" cy="609600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itchFamily="18" charset="0"/>
                <a:ea typeface="宋体" charset="-122"/>
              </a:rPr>
              <a:t>Oracle</a:t>
            </a:r>
          </a:p>
        </p:txBody>
      </p:sp>
      <p:sp>
        <p:nvSpPr>
          <p:cNvPr id="20490" name="AutoShape 11"/>
          <p:cNvSpPr>
            <a:spLocks noChangeArrowheads="1"/>
          </p:cNvSpPr>
          <p:nvPr/>
        </p:nvSpPr>
        <p:spPr bwMode="auto">
          <a:xfrm>
            <a:off x="1524000" y="3505200"/>
            <a:ext cx="838200" cy="609600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itchFamily="18" charset="0"/>
                <a:ea typeface="宋体" charset="-122"/>
              </a:rPr>
              <a:t>MySQL</a:t>
            </a:r>
          </a:p>
        </p:txBody>
      </p:sp>
      <p:sp>
        <p:nvSpPr>
          <p:cNvPr id="20491" name="AutoShape 12"/>
          <p:cNvSpPr>
            <a:spLocks noChangeArrowheads="1"/>
          </p:cNvSpPr>
          <p:nvPr/>
        </p:nvSpPr>
        <p:spPr bwMode="auto">
          <a:xfrm>
            <a:off x="2438400" y="3505200"/>
            <a:ext cx="838200" cy="609600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itchFamily="18" charset="0"/>
                <a:ea typeface="宋体" charset="-122"/>
              </a:rPr>
              <a:t>MySQL</a:t>
            </a:r>
          </a:p>
        </p:txBody>
      </p:sp>
      <p:sp>
        <p:nvSpPr>
          <p:cNvPr id="20492" name="AutoShape 13"/>
          <p:cNvSpPr>
            <a:spLocks noChangeArrowheads="1"/>
          </p:cNvSpPr>
          <p:nvPr/>
        </p:nvSpPr>
        <p:spPr bwMode="auto">
          <a:xfrm>
            <a:off x="3352800" y="3505200"/>
            <a:ext cx="838200" cy="609600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itchFamily="18" charset="0"/>
                <a:ea typeface="宋体" charset="-122"/>
              </a:rPr>
              <a:t>MySQL</a:t>
            </a:r>
          </a:p>
        </p:txBody>
      </p:sp>
      <p:sp>
        <p:nvSpPr>
          <p:cNvPr id="20493" name="Rectangle 14"/>
          <p:cNvSpPr>
            <a:spLocks noChangeArrowheads="1"/>
          </p:cNvSpPr>
          <p:nvPr/>
        </p:nvSpPr>
        <p:spPr bwMode="auto">
          <a:xfrm>
            <a:off x="609600" y="4419600"/>
            <a:ext cx="838200" cy="533400"/>
          </a:xfrm>
          <a:prstGeom prst="rect">
            <a:avLst/>
          </a:prstGeom>
          <a:solidFill>
            <a:srgbClr val="00CC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latin typeface="Times New Roman" pitchFamily="18" charset="0"/>
                <a:ea typeface="宋体" charset="-122"/>
              </a:rPr>
              <a:t>Erosa</a:t>
            </a:r>
            <a:br>
              <a:rPr lang="en-US" altLang="zh-CN" sz="1600">
                <a:latin typeface="Times New Roman" pitchFamily="18" charset="0"/>
                <a:ea typeface="宋体" charset="-122"/>
              </a:rPr>
            </a:br>
            <a:r>
              <a:rPr lang="en-US" altLang="zh-CN" sz="1600">
                <a:latin typeface="Times New Roman" pitchFamily="18" charset="0"/>
                <a:ea typeface="宋体" charset="-122"/>
              </a:rPr>
              <a:t>Oracle</a:t>
            </a:r>
          </a:p>
        </p:txBody>
      </p:sp>
      <p:sp>
        <p:nvSpPr>
          <p:cNvPr id="20494" name="Rectangle 15"/>
          <p:cNvSpPr>
            <a:spLocks noChangeArrowheads="1"/>
          </p:cNvSpPr>
          <p:nvPr/>
        </p:nvSpPr>
        <p:spPr bwMode="auto">
          <a:xfrm>
            <a:off x="1524000" y="4419600"/>
            <a:ext cx="838200" cy="533400"/>
          </a:xfrm>
          <a:prstGeom prst="rect">
            <a:avLst/>
          </a:prstGeom>
          <a:solidFill>
            <a:srgbClr val="00CC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latin typeface="Times New Roman" pitchFamily="18" charset="0"/>
                <a:ea typeface="宋体" charset="-122"/>
              </a:rPr>
              <a:t>Erosa</a:t>
            </a:r>
            <a:br>
              <a:rPr lang="en-US" altLang="zh-CN" sz="1600">
                <a:latin typeface="Times New Roman" pitchFamily="18" charset="0"/>
                <a:ea typeface="宋体" charset="-122"/>
              </a:rPr>
            </a:br>
            <a:r>
              <a:rPr lang="en-US" altLang="zh-CN" sz="1600">
                <a:latin typeface="Times New Roman" pitchFamily="18" charset="0"/>
                <a:ea typeface="宋体" charset="-122"/>
              </a:rPr>
              <a:t>MySQL</a:t>
            </a:r>
          </a:p>
        </p:txBody>
      </p:sp>
      <p:sp>
        <p:nvSpPr>
          <p:cNvPr id="20495" name="Rectangle 16"/>
          <p:cNvSpPr>
            <a:spLocks noChangeArrowheads="1"/>
          </p:cNvSpPr>
          <p:nvPr/>
        </p:nvSpPr>
        <p:spPr bwMode="auto">
          <a:xfrm>
            <a:off x="2438400" y="4419600"/>
            <a:ext cx="838200" cy="533400"/>
          </a:xfrm>
          <a:prstGeom prst="rect">
            <a:avLst/>
          </a:prstGeom>
          <a:solidFill>
            <a:srgbClr val="00CC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latin typeface="Times New Roman" pitchFamily="18" charset="0"/>
                <a:ea typeface="宋体" charset="-122"/>
              </a:rPr>
              <a:t>Erosa</a:t>
            </a:r>
            <a:br>
              <a:rPr lang="en-US" altLang="zh-CN" sz="1600">
                <a:latin typeface="Times New Roman" pitchFamily="18" charset="0"/>
                <a:ea typeface="宋体" charset="-122"/>
              </a:rPr>
            </a:br>
            <a:r>
              <a:rPr lang="en-US" altLang="zh-CN" sz="1600">
                <a:latin typeface="Times New Roman" pitchFamily="18" charset="0"/>
                <a:ea typeface="宋体" charset="-122"/>
              </a:rPr>
              <a:t>MySQL</a:t>
            </a:r>
          </a:p>
        </p:txBody>
      </p:sp>
      <p:sp>
        <p:nvSpPr>
          <p:cNvPr id="20496" name="Rectangle 17"/>
          <p:cNvSpPr>
            <a:spLocks noChangeArrowheads="1"/>
          </p:cNvSpPr>
          <p:nvPr/>
        </p:nvSpPr>
        <p:spPr bwMode="auto">
          <a:xfrm>
            <a:off x="3352800" y="4419600"/>
            <a:ext cx="838200" cy="533400"/>
          </a:xfrm>
          <a:prstGeom prst="rect">
            <a:avLst/>
          </a:prstGeom>
          <a:solidFill>
            <a:srgbClr val="00CC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latin typeface="Times New Roman" pitchFamily="18" charset="0"/>
                <a:ea typeface="宋体" charset="-122"/>
              </a:rPr>
              <a:t>Erosa</a:t>
            </a:r>
            <a:br>
              <a:rPr lang="en-US" altLang="zh-CN" sz="1600">
                <a:latin typeface="Times New Roman" pitchFamily="18" charset="0"/>
                <a:ea typeface="宋体" charset="-122"/>
              </a:rPr>
            </a:br>
            <a:r>
              <a:rPr lang="en-US" altLang="zh-CN" sz="1600">
                <a:latin typeface="Times New Roman" pitchFamily="18" charset="0"/>
                <a:ea typeface="宋体" charset="-122"/>
              </a:rPr>
              <a:t>MySQL</a:t>
            </a:r>
          </a:p>
        </p:txBody>
      </p:sp>
      <p:sp>
        <p:nvSpPr>
          <p:cNvPr id="20497" name="Rectangle 18"/>
          <p:cNvSpPr>
            <a:spLocks noChangeArrowheads="1"/>
          </p:cNvSpPr>
          <p:nvPr/>
        </p:nvSpPr>
        <p:spPr bwMode="auto">
          <a:xfrm>
            <a:off x="609600" y="5257800"/>
            <a:ext cx="3581400" cy="381000"/>
          </a:xfrm>
          <a:prstGeom prst="rect">
            <a:avLst/>
          </a:prstGeom>
          <a:solidFill>
            <a:srgbClr val="00CC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latin typeface="Times New Roman" pitchFamily="18" charset="0"/>
                <a:ea typeface="宋体" charset="-122"/>
              </a:rPr>
              <a:t>Eromanga</a:t>
            </a:r>
          </a:p>
        </p:txBody>
      </p:sp>
      <p:sp>
        <p:nvSpPr>
          <p:cNvPr id="20498" name="AutoShape 19"/>
          <p:cNvSpPr>
            <a:spLocks noChangeArrowheads="1"/>
          </p:cNvSpPr>
          <p:nvPr/>
        </p:nvSpPr>
        <p:spPr bwMode="auto">
          <a:xfrm>
            <a:off x="5410200" y="3505200"/>
            <a:ext cx="838200" cy="609600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itchFamily="18" charset="0"/>
                <a:ea typeface="宋体" charset="-122"/>
              </a:rPr>
              <a:t>Oracle</a:t>
            </a:r>
          </a:p>
        </p:txBody>
      </p:sp>
      <p:sp>
        <p:nvSpPr>
          <p:cNvPr id="20499" name="AutoShape 20"/>
          <p:cNvSpPr>
            <a:spLocks noChangeArrowheads="1"/>
          </p:cNvSpPr>
          <p:nvPr/>
        </p:nvSpPr>
        <p:spPr bwMode="auto">
          <a:xfrm>
            <a:off x="6324600" y="3505200"/>
            <a:ext cx="838200" cy="609600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itchFamily="18" charset="0"/>
                <a:ea typeface="宋体" charset="-122"/>
              </a:rPr>
              <a:t>MySQL</a:t>
            </a:r>
          </a:p>
        </p:txBody>
      </p:sp>
      <p:sp>
        <p:nvSpPr>
          <p:cNvPr id="20500" name="AutoShape 21"/>
          <p:cNvSpPr>
            <a:spLocks noChangeArrowheads="1"/>
          </p:cNvSpPr>
          <p:nvPr/>
        </p:nvSpPr>
        <p:spPr bwMode="auto">
          <a:xfrm>
            <a:off x="7239000" y="3505200"/>
            <a:ext cx="838200" cy="609600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itchFamily="18" charset="0"/>
                <a:ea typeface="宋体" charset="-122"/>
              </a:rPr>
              <a:t>MySQL</a:t>
            </a:r>
          </a:p>
        </p:txBody>
      </p:sp>
      <p:sp>
        <p:nvSpPr>
          <p:cNvPr id="20501" name="Line 22"/>
          <p:cNvSpPr>
            <a:spLocks noChangeShapeType="1"/>
          </p:cNvSpPr>
          <p:nvPr/>
        </p:nvSpPr>
        <p:spPr bwMode="auto">
          <a:xfrm>
            <a:off x="1066800" y="2209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502" name="Line 23"/>
          <p:cNvSpPr>
            <a:spLocks noChangeShapeType="1"/>
          </p:cNvSpPr>
          <p:nvPr/>
        </p:nvSpPr>
        <p:spPr bwMode="auto">
          <a:xfrm>
            <a:off x="1981200" y="2209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503" name="Line 24"/>
          <p:cNvSpPr>
            <a:spLocks noChangeShapeType="1"/>
          </p:cNvSpPr>
          <p:nvPr/>
        </p:nvSpPr>
        <p:spPr bwMode="auto">
          <a:xfrm>
            <a:off x="2819400" y="2209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504" name="Line 25"/>
          <p:cNvSpPr>
            <a:spLocks noChangeShapeType="1"/>
          </p:cNvSpPr>
          <p:nvPr/>
        </p:nvSpPr>
        <p:spPr bwMode="auto">
          <a:xfrm>
            <a:off x="3733800" y="2209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505" name="Line 26"/>
          <p:cNvSpPr>
            <a:spLocks noChangeShapeType="1"/>
          </p:cNvSpPr>
          <p:nvPr/>
        </p:nvSpPr>
        <p:spPr bwMode="auto">
          <a:xfrm>
            <a:off x="3733800" y="3124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506" name="Line 27"/>
          <p:cNvSpPr>
            <a:spLocks noChangeShapeType="1"/>
          </p:cNvSpPr>
          <p:nvPr/>
        </p:nvSpPr>
        <p:spPr bwMode="auto">
          <a:xfrm>
            <a:off x="2819400" y="3124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507" name="Line 28"/>
          <p:cNvSpPr>
            <a:spLocks noChangeShapeType="1"/>
          </p:cNvSpPr>
          <p:nvPr/>
        </p:nvSpPr>
        <p:spPr bwMode="auto">
          <a:xfrm>
            <a:off x="1981200" y="3124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508" name="Line 29"/>
          <p:cNvSpPr>
            <a:spLocks noChangeShapeType="1"/>
          </p:cNvSpPr>
          <p:nvPr/>
        </p:nvSpPr>
        <p:spPr bwMode="auto">
          <a:xfrm>
            <a:off x="1066800" y="3124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509" name="Line 30"/>
          <p:cNvSpPr>
            <a:spLocks noChangeShapeType="1"/>
          </p:cNvSpPr>
          <p:nvPr/>
        </p:nvSpPr>
        <p:spPr bwMode="auto">
          <a:xfrm>
            <a:off x="3733800" y="4114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510" name="Line 31"/>
          <p:cNvSpPr>
            <a:spLocks noChangeShapeType="1"/>
          </p:cNvSpPr>
          <p:nvPr/>
        </p:nvSpPr>
        <p:spPr bwMode="auto">
          <a:xfrm>
            <a:off x="2819400" y="4114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511" name="Line 32"/>
          <p:cNvSpPr>
            <a:spLocks noChangeShapeType="1"/>
          </p:cNvSpPr>
          <p:nvPr/>
        </p:nvSpPr>
        <p:spPr bwMode="auto">
          <a:xfrm>
            <a:off x="1981200" y="4114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512" name="Line 33"/>
          <p:cNvSpPr>
            <a:spLocks noChangeShapeType="1"/>
          </p:cNvSpPr>
          <p:nvPr/>
        </p:nvSpPr>
        <p:spPr bwMode="auto">
          <a:xfrm>
            <a:off x="1066800" y="4114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513" name="Line 34"/>
          <p:cNvSpPr>
            <a:spLocks noChangeShapeType="1"/>
          </p:cNvSpPr>
          <p:nvPr/>
        </p:nvSpPr>
        <p:spPr bwMode="auto">
          <a:xfrm>
            <a:off x="1066800" y="4953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514" name="Line 35"/>
          <p:cNvSpPr>
            <a:spLocks noChangeShapeType="1"/>
          </p:cNvSpPr>
          <p:nvPr/>
        </p:nvSpPr>
        <p:spPr bwMode="auto">
          <a:xfrm>
            <a:off x="1981200" y="4953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515" name="Line 36"/>
          <p:cNvSpPr>
            <a:spLocks noChangeShapeType="1"/>
          </p:cNvSpPr>
          <p:nvPr/>
        </p:nvSpPr>
        <p:spPr bwMode="auto">
          <a:xfrm>
            <a:off x="2819400" y="4953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516" name="Line 37"/>
          <p:cNvSpPr>
            <a:spLocks noChangeShapeType="1"/>
          </p:cNvSpPr>
          <p:nvPr/>
        </p:nvSpPr>
        <p:spPr bwMode="auto">
          <a:xfrm>
            <a:off x="3733800" y="4953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517" name="Rectangle 39"/>
          <p:cNvSpPr>
            <a:spLocks noChangeArrowheads="1"/>
          </p:cNvSpPr>
          <p:nvPr/>
        </p:nvSpPr>
        <p:spPr bwMode="auto">
          <a:xfrm>
            <a:off x="5410200" y="4419600"/>
            <a:ext cx="838200" cy="533400"/>
          </a:xfrm>
          <a:prstGeom prst="rect">
            <a:avLst/>
          </a:prstGeom>
          <a:solidFill>
            <a:srgbClr val="00CC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latin typeface="Times New Roman" pitchFamily="18" charset="0"/>
                <a:ea typeface="宋体" charset="-122"/>
              </a:rPr>
              <a:t>Erosa</a:t>
            </a:r>
            <a:br>
              <a:rPr lang="en-US" altLang="zh-CN" sz="1600">
                <a:latin typeface="Times New Roman" pitchFamily="18" charset="0"/>
                <a:ea typeface="宋体" charset="-122"/>
              </a:rPr>
            </a:br>
            <a:r>
              <a:rPr lang="en-US" altLang="zh-CN" sz="1600">
                <a:latin typeface="Times New Roman" pitchFamily="18" charset="0"/>
                <a:ea typeface="宋体" charset="-122"/>
              </a:rPr>
              <a:t>Oracle</a:t>
            </a:r>
          </a:p>
        </p:txBody>
      </p:sp>
      <p:sp>
        <p:nvSpPr>
          <p:cNvPr id="20518" name="Rectangle 40"/>
          <p:cNvSpPr>
            <a:spLocks noChangeArrowheads="1"/>
          </p:cNvSpPr>
          <p:nvPr/>
        </p:nvSpPr>
        <p:spPr bwMode="auto">
          <a:xfrm>
            <a:off x="6324600" y="4419600"/>
            <a:ext cx="838200" cy="533400"/>
          </a:xfrm>
          <a:prstGeom prst="rect">
            <a:avLst/>
          </a:prstGeom>
          <a:solidFill>
            <a:srgbClr val="00CC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latin typeface="Times New Roman" pitchFamily="18" charset="0"/>
                <a:ea typeface="宋体" charset="-122"/>
              </a:rPr>
              <a:t>Erosa</a:t>
            </a:r>
            <a:br>
              <a:rPr lang="en-US" altLang="zh-CN" sz="1600">
                <a:latin typeface="Times New Roman" pitchFamily="18" charset="0"/>
                <a:ea typeface="宋体" charset="-122"/>
              </a:rPr>
            </a:br>
            <a:r>
              <a:rPr lang="en-US" altLang="zh-CN" sz="1600">
                <a:latin typeface="Times New Roman" pitchFamily="18" charset="0"/>
                <a:ea typeface="宋体" charset="-122"/>
              </a:rPr>
              <a:t>MySQL</a:t>
            </a:r>
          </a:p>
        </p:txBody>
      </p:sp>
      <p:sp>
        <p:nvSpPr>
          <p:cNvPr id="20519" name="Rectangle 41"/>
          <p:cNvSpPr>
            <a:spLocks noChangeArrowheads="1"/>
          </p:cNvSpPr>
          <p:nvPr/>
        </p:nvSpPr>
        <p:spPr bwMode="auto">
          <a:xfrm>
            <a:off x="7239000" y="4419600"/>
            <a:ext cx="838200" cy="533400"/>
          </a:xfrm>
          <a:prstGeom prst="rect">
            <a:avLst/>
          </a:prstGeom>
          <a:solidFill>
            <a:srgbClr val="00CC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latin typeface="Times New Roman" pitchFamily="18" charset="0"/>
                <a:ea typeface="宋体" charset="-122"/>
              </a:rPr>
              <a:t>Erosa</a:t>
            </a:r>
            <a:br>
              <a:rPr lang="en-US" altLang="zh-CN" sz="1600">
                <a:latin typeface="Times New Roman" pitchFamily="18" charset="0"/>
                <a:ea typeface="宋体" charset="-122"/>
              </a:rPr>
            </a:br>
            <a:r>
              <a:rPr lang="en-US" altLang="zh-CN" sz="1600">
                <a:latin typeface="Times New Roman" pitchFamily="18" charset="0"/>
                <a:ea typeface="宋体" charset="-122"/>
              </a:rPr>
              <a:t>MySQL</a:t>
            </a:r>
          </a:p>
        </p:txBody>
      </p:sp>
      <p:sp>
        <p:nvSpPr>
          <p:cNvPr id="20520" name="Rectangle 42"/>
          <p:cNvSpPr>
            <a:spLocks noChangeArrowheads="1"/>
          </p:cNvSpPr>
          <p:nvPr/>
        </p:nvSpPr>
        <p:spPr bwMode="auto">
          <a:xfrm>
            <a:off x="5410200" y="5257800"/>
            <a:ext cx="2667000" cy="381000"/>
          </a:xfrm>
          <a:prstGeom prst="rect">
            <a:avLst/>
          </a:prstGeom>
          <a:solidFill>
            <a:srgbClr val="00CC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latin typeface="Times New Roman" pitchFamily="18" charset="0"/>
                <a:ea typeface="宋体" charset="-122"/>
              </a:rPr>
              <a:t>Eromanga</a:t>
            </a:r>
          </a:p>
        </p:txBody>
      </p:sp>
      <p:sp>
        <p:nvSpPr>
          <p:cNvPr id="20521" name="Line 43"/>
          <p:cNvSpPr>
            <a:spLocks noChangeShapeType="1"/>
          </p:cNvSpPr>
          <p:nvPr/>
        </p:nvSpPr>
        <p:spPr bwMode="auto">
          <a:xfrm>
            <a:off x="5867400" y="4953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522" name="Line 44"/>
          <p:cNvSpPr>
            <a:spLocks noChangeShapeType="1"/>
          </p:cNvSpPr>
          <p:nvPr/>
        </p:nvSpPr>
        <p:spPr bwMode="auto">
          <a:xfrm>
            <a:off x="6781800" y="4953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523" name="Line 45"/>
          <p:cNvSpPr>
            <a:spLocks noChangeShapeType="1"/>
          </p:cNvSpPr>
          <p:nvPr/>
        </p:nvSpPr>
        <p:spPr bwMode="auto">
          <a:xfrm>
            <a:off x="7620000" y="4953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524" name="Line 46"/>
          <p:cNvSpPr>
            <a:spLocks noChangeShapeType="1"/>
          </p:cNvSpPr>
          <p:nvPr/>
        </p:nvSpPr>
        <p:spPr bwMode="auto">
          <a:xfrm>
            <a:off x="6781800" y="5638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525" name="Line 47"/>
          <p:cNvSpPr>
            <a:spLocks noChangeShapeType="1"/>
          </p:cNvSpPr>
          <p:nvPr/>
        </p:nvSpPr>
        <p:spPr bwMode="auto">
          <a:xfrm>
            <a:off x="7620000" y="4114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526" name="Line 48"/>
          <p:cNvSpPr>
            <a:spLocks noChangeShapeType="1"/>
          </p:cNvSpPr>
          <p:nvPr/>
        </p:nvSpPr>
        <p:spPr bwMode="auto">
          <a:xfrm>
            <a:off x="6781800" y="4114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527" name="Line 49"/>
          <p:cNvSpPr>
            <a:spLocks noChangeShapeType="1"/>
          </p:cNvSpPr>
          <p:nvPr/>
        </p:nvSpPr>
        <p:spPr bwMode="auto">
          <a:xfrm>
            <a:off x="5867400" y="4114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20528" name="AutoShape 50"/>
          <p:cNvCxnSpPr>
            <a:cxnSpLocks noChangeShapeType="1"/>
            <a:endCxn id="20498" idx="1"/>
          </p:cNvCxnSpPr>
          <p:nvPr/>
        </p:nvCxnSpPr>
        <p:spPr bwMode="auto">
          <a:xfrm flipH="1" flipV="1">
            <a:off x="5829300" y="3505200"/>
            <a:ext cx="2247900" cy="2628900"/>
          </a:xfrm>
          <a:prstGeom prst="bentConnector4">
            <a:avLst>
              <a:gd name="adj1" fmla="val -10171"/>
              <a:gd name="adj2" fmla="val 108694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20529" name="AutoShape 51"/>
          <p:cNvCxnSpPr>
            <a:cxnSpLocks noChangeShapeType="1"/>
            <a:endCxn id="20499" idx="1"/>
          </p:cNvCxnSpPr>
          <p:nvPr/>
        </p:nvCxnSpPr>
        <p:spPr bwMode="auto">
          <a:xfrm flipH="1" flipV="1">
            <a:off x="6743700" y="3505200"/>
            <a:ext cx="1333500" cy="2628900"/>
          </a:xfrm>
          <a:prstGeom prst="bentConnector4">
            <a:avLst>
              <a:gd name="adj1" fmla="val -17144"/>
              <a:gd name="adj2" fmla="val 108694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20530" name="AutoShape 52"/>
          <p:cNvCxnSpPr>
            <a:cxnSpLocks noChangeShapeType="1"/>
            <a:endCxn id="20500" idx="1"/>
          </p:cNvCxnSpPr>
          <p:nvPr/>
        </p:nvCxnSpPr>
        <p:spPr bwMode="auto">
          <a:xfrm flipH="1" flipV="1">
            <a:off x="7658100" y="3505200"/>
            <a:ext cx="419100" cy="2628900"/>
          </a:xfrm>
          <a:prstGeom prst="bentConnector4">
            <a:avLst>
              <a:gd name="adj1" fmla="val -54546"/>
              <a:gd name="adj2" fmla="val 108694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20531" name="Rectangle 53"/>
          <p:cNvSpPr>
            <a:spLocks noGrp="1" noChangeArrowheads="1"/>
          </p:cNvSpPr>
          <p:nvPr>
            <p:ph type="body" idx="1"/>
          </p:nvPr>
        </p:nvSpPr>
        <p:spPr>
          <a:xfrm>
            <a:off x="4953000" y="1447800"/>
            <a:ext cx="3962400" cy="1447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800" smtClean="0"/>
              <a:t>性能 容量 高可用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800" smtClean="0"/>
              <a:t>数据消费时效性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800" b="1" smtClean="0">
                <a:ea typeface="微软雅黑"/>
                <a:cs typeface="微软雅黑"/>
              </a:rPr>
              <a:t>跨机房数据同步</a:t>
            </a:r>
          </a:p>
        </p:txBody>
      </p:sp>
      <p:sp>
        <p:nvSpPr>
          <p:cNvPr id="20532" name="Rectangle 55"/>
          <p:cNvSpPr>
            <a:spLocks noChangeArrowheads="1"/>
          </p:cNvSpPr>
          <p:nvPr/>
        </p:nvSpPr>
        <p:spPr bwMode="auto">
          <a:xfrm>
            <a:off x="5410200" y="5943600"/>
            <a:ext cx="2667000" cy="381000"/>
          </a:xfrm>
          <a:prstGeom prst="rect">
            <a:avLst/>
          </a:prstGeom>
          <a:solidFill>
            <a:srgbClr val="00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3200" b="1">
                <a:latin typeface="微软雅黑"/>
              </a:rPr>
              <a:t>Otter</a:t>
            </a:r>
          </a:p>
        </p:txBody>
      </p:sp>
      <p:sp>
        <p:nvSpPr>
          <p:cNvPr id="20533" name="Line 56"/>
          <p:cNvSpPr>
            <a:spLocks noChangeShapeType="1"/>
          </p:cNvSpPr>
          <p:nvPr/>
        </p:nvSpPr>
        <p:spPr bwMode="auto">
          <a:xfrm>
            <a:off x="4191000" y="6172200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534" name="Line 58"/>
          <p:cNvSpPr>
            <a:spLocks noChangeShapeType="1"/>
          </p:cNvSpPr>
          <p:nvPr/>
        </p:nvSpPr>
        <p:spPr bwMode="auto">
          <a:xfrm>
            <a:off x="3581400" y="5638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535" name="Rectangle 59"/>
          <p:cNvSpPr>
            <a:spLocks noChangeArrowheads="1"/>
          </p:cNvSpPr>
          <p:nvPr/>
        </p:nvSpPr>
        <p:spPr bwMode="auto">
          <a:xfrm>
            <a:off x="1981200" y="5943600"/>
            <a:ext cx="914400" cy="381000"/>
          </a:xfrm>
          <a:prstGeom prst="rect">
            <a:avLst/>
          </a:prstGeom>
          <a:solidFill>
            <a:schemeClr val="bg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latin typeface="Times New Roman" pitchFamily="18" charset="0"/>
                <a:ea typeface="宋体" charset="-122"/>
              </a:rPr>
              <a:t>ASC</a:t>
            </a:r>
          </a:p>
        </p:txBody>
      </p:sp>
      <p:sp>
        <p:nvSpPr>
          <p:cNvPr id="20536" name="Line 60"/>
          <p:cNvSpPr>
            <a:spLocks noChangeShapeType="1"/>
          </p:cNvSpPr>
          <p:nvPr/>
        </p:nvSpPr>
        <p:spPr bwMode="auto">
          <a:xfrm>
            <a:off x="2438400" y="5638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537" name="Rectangle 61"/>
          <p:cNvSpPr>
            <a:spLocks noChangeArrowheads="1"/>
          </p:cNvSpPr>
          <p:nvPr/>
        </p:nvSpPr>
        <p:spPr bwMode="auto">
          <a:xfrm>
            <a:off x="990600" y="5943600"/>
            <a:ext cx="914400" cy="381000"/>
          </a:xfrm>
          <a:prstGeom prst="rect">
            <a:avLst/>
          </a:prstGeom>
          <a:solidFill>
            <a:schemeClr val="bg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latin typeface="Times New Roman" pitchFamily="18" charset="0"/>
                <a:ea typeface="宋体" charset="-122"/>
              </a:rPr>
              <a:t>DW</a:t>
            </a:r>
          </a:p>
        </p:txBody>
      </p:sp>
      <p:sp>
        <p:nvSpPr>
          <p:cNvPr id="20538" name="Line 62"/>
          <p:cNvSpPr>
            <a:spLocks noChangeShapeType="1"/>
          </p:cNvSpPr>
          <p:nvPr/>
        </p:nvSpPr>
        <p:spPr bwMode="auto">
          <a:xfrm>
            <a:off x="1447800" y="5638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539" name="Rectangle 63"/>
          <p:cNvSpPr>
            <a:spLocks/>
          </p:cNvSpPr>
          <p:nvPr/>
        </p:nvSpPr>
        <p:spPr bwMode="auto">
          <a:xfrm>
            <a:off x="533400" y="5842000"/>
            <a:ext cx="393700" cy="396875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000" b="1"/>
              <a:t>...</a:t>
            </a:r>
          </a:p>
        </p:txBody>
      </p:sp>
      <p:sp>
        <p:nvSpPr>
          <p:cNvPr id="20540" name="Rectangle 64"/>
          <p:cNvSpPr>
            <a:spLocks noChangeArrowheads="1"/>
          </p:cNvSpPr>
          <p:nvPr/>
        </p:nvSpPr>
        <p:spPr bwMode="auto">
          <a:xfrm>
            <a:off x="2971800" y="5943600"/>
            <a:ext cx="1219200" cy="381000"/>
          </a:xfrm>
          <a:prstGeom prst="rect">
            <a:avLst/>
          </a:prstGeom>
          <a:solidFill>
            <a:srgbClr val="00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3200" b="1">
                <a:latin typeface="微软雅黑"/>
              </a:rPr>
              <a:t>Otter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ChangeArrowheads="1"/>
          </p:cNvSpPr>
          <p:nvPr/>
        </p:nvSpPr>
        <p:spPr bwMode="auto">
          <a:xfrm>
            <a:off x="5105400" y="3048000"/>
            <a:ext cx="3581400" cy="3429000"/>
          </a:xfrm>
          <a:prstGeom prst="rect">
            <a:avLst/>
          </a:prstGeom>
          <a:solidFill>
            <a:srgbClr val="C0C0C0">
              <a:alpha val="50195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21506" name="Rectangle 3"/>
          <p:cNvSpPr>
            <a:spLocks noChangeArrowheads="1"/>
          </p:cNvSpPr>
          <p:nvPr/>
        </p:nvSpPr>
        <p:spPr bwMode="auto">
          <a:xfrm>
            <a:off x="381000" y="1524000"/>
            <a:ext cx="4038600" cy="4953000"/>
          </a:xfrm>
          <a:prstGeom prst="rect">
            <a:avLst/>
          </a:prstGeom>
          <a:solidFill>
            <a:srgbClr val="C0C0C0">
              <a:alpha val="50195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21507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ea typeface="微软雅黑"/>
                <a:cs typeface="微软雅黑"/>
              </a:rPr>
              <a:t>分布式数据库中间件</a:t>
            </a:r>
          </a:p>
        </p:txBody>
      </p:sp>
      <p:sp>
        <p:nvSpPr>
          <p:cNvPr id="21508" name="Rectangle 5"/>
          <p:cNvSpPr>
            <a:spLocks noChangeArrowheads="1"/>
          </p:cNvSpPr>
          <p:nvPr/>
        </p:nvSpPr>
        <p:spPr bwMode="auto">
          <a:xfrm>
            <a:off x="609600" y="1752600"/>
            <a:ext cx="838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itchFamily="18" charset="0"/>
                <a:ea typeface="宋体" charset="-122"/>
              </a:rPr>
              <a:t>App</a:t>
            </a:r>
          </a:p>
        </p:txBody>
      </p:sp>
      <p:sp>
        <p:nvSpPr>
          <p:cNvPr id="21509" name="Rectangle 6"/>
          <p:cNvSpPr>
            <a:spLocks noChangeArrowheads="1"/>
          </p:cNvSpPr>
          <p:nvPr/>
        </p:nvSpPr>
        <p:spPr bwMode="auto">
          <a:xfrm>
            <a:off x="1524000" y="1752600"/>
            <a:ext cx="838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itchFamily="18" charset="0"/>
                <a:ea typeface="宋体" charset="-122"/>
              </a:rPr>
              <a:t>App</a:t>
            </a:r>
          </a:p>
        </p:txBody>
      </p:sp>
      <p:sp>
        <p:nvSpPr>
          <p:cNvPr id="21510" name="Rectangle 7"/>
          <p:cNvSpPr>
            <a:spLocks noChangeArrowheads="1"/>
          </p:cNvSpPr>
          <p:nvPr/>
        </p:nvSpPr>
        <p:spPr bwMode="auto">
          <a:xfrm>
            <a:off x="2438400" y="1752600"/>
            <a:ext cx="838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itchFamily="18" charset="0"/>
                <a:ea typeface="宋体" charset="-122"/>
              </a:rPr>
              <a:t>App</a:t>
            </a:r>
          </a:p>
        </p:txBody>
      </p:sp>
      <p:sp>
        <p:nvSpPr>
          <p:cNvPr id="21511" name="Rectangle 8"/>
          <p:cNvSpPr>
            <a:spLocks noChangeArrowheads="1"/>
          </p:cNvSpPr>
          <p:nvPr/>
        </p:nvSpPr>
        <p:spPr bwMode="auto">
          <a:xfrm>
            <a:off x="3352800" y="1752600"/>
            <a:ext cx="838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itchFamily="18" charset="0"/>
                <a:ea typeface="宋体" charset="-122"/>
              </a:rPr>
              <a:t>App</a:t>
            </a:r>
          </a:p>
        </p:txBody>
      </p:sp>
      <p:sp>
        <p:nvSpPr>
          <p:cNvPr id="21512" name="Rectangle 9"/>
          <p:cNvSpPr>
            <a:spLocks noChangeArrowheads="1"/>
          </p:cNvSpPr>
          <p:nvPr/>
        </p:nvSpPr>
        <p:spPr bwMode="auto">
          <a:xfrm>
            <a:off x="609600" y="2590800"/>
            <a:ext cx="3581400" cy="533400"/>
          </a:xfrm>
          <a:prstGeom prst="rect">
            <a:avLst/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3200" b="1">
                <a:solidFill>
                  <a:schemeClr val="bg1"/>
                </a:solidFill>
                <a:ea typeface="宋体" charset="-122"/>
              </a:rPr>
              <a:t>Cobar</a:t>
            </a:r>
          </a:p>
        </p:txBody>
      </p:sp>
      <p:sp>
        <p:nvSpPr>
          <p:cNvPr id="21513" name="AutoShape 10"/>
          <p:cNvSpPr>
            <a:spLocks noChangeArrowheads="1"/>
          </p:cNvSpPr>
          <p:nvPr/>
        </p:nvSpPr>
        <p:spPr bwMode="auto">
          <a:xfrm>
            <a:off x="609600" y="3505200"/>
            <a:ext cx="838200" cy="609600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itchFamily="18" charset="0"/>
                <a:ea typeface="宋体" charset="-122"/>
              </a:rPr>
              <a:t>Oracle</a:t>
            </a:r>
          </a:p>
        </p:txBody>
      </p:sp>
      <p:sp>
        <p:nvSpPr>
          <p:cNvPr id="21514" name="AutoShape 11"/>
          <p:cNvSpPr>
            <a:spLocks noChangeArrowheads="1"/>
          </p:cNvSpPr>
          <p:nvPr/>
        </p:nvSpPr>
        <p:spPr bwMode="auto">
          <a:xfrm>
            <a:off x="1524000" y="3505200"/>
            <a:ext cx="838200" cy="609600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itchFamily="18" charset="0"/>
                <a:ea typeface="宋体" charset="-122"/>
              </a:rPr>
              <a:t>MySQL</a:t>
            </a:r>
          </a:p>
        </p:txBody>
      </p:sp>
      <p:sp>
        <p:nvSpPr>
          <p:cNvPr id="21515" name="AutoShape 12"/>
          <p:cNvSpPr>
            <a:spLocks noChangeArrowheads="1"/>
          </p:cNvSpPr>
          <p:nvPr/>
        </p:nvSpPr>
        <p:spPr bwMode="auto">
          <a:xfrm>
            <a:off x="2438400" y="3505200"/>
            <a:ext cx="838200" cy="609600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itchFamily="18" charset="0"/>
                <a:ea typeface="宋体" charset="-122"/>
              </a:rPr>
              <a:t>MySQL</a:t>
            </a:r>
          </a:p>
        </p:txBody>
      </p:sp>
      <p:sp>
        <p:nvSpPr>
          <p:cNvPr id="21516" name="AutoShape 13"/>
          <p:cNvSpPr>
            <a:spLocks noChangeArrowheads="1"/>
          </p:cNvSpPr>
          <p:nvPr/>
        </p:nvSpPr>
        <p:spPr bwMode="auto">
          <a:xfrm>
            <a:off x="3352800" y="3505200"/>
            <a:ext cx="838200" cy="609600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itchFamily="18" charset="0"/>
                <a:ea typeface="宋体" charset="-122"/>
              </a:rPr>
              <a:t>MySQL</a:t>
            </a:r>
          </a:p>
        </p:txBody>
      </p:sp>
      <p:sp>
        <p:nvSpPr>
          <p:cNvPr id="21517" name="Rectangle 14"/>
          <p:cNvSpPr>
            <a:spLocks noChangeArrowheads="1"/>
          </p:cNvSpPr>
          <p:nvPr/>
        </p:nvSpPr>
        <p:spPr bwMode="auto">
          <a:xfrm>
            <a:off x="609600" y="4419600"/>
            <a:ext cx="8382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latin typeface="Times New Roman" pitchFamily="18" charset="0"/>
                <a:ea typeface="宋体" charset="-122"/>
              </a:rPr>
              <a:t>Erosa</a:t>
            </a:r>
            <a:br>
              <a:rPr lang="en-US" altLang="zh-CN" sz="1600">
                <a:latin typeface="Times New Roman" pitchFamily="18" charset="0"/>
                <a:ea typeface="宋体" charset="-122"/>
              </a:rPr>
            </a:br>
            <a:r>
              <a:rPr lang="en-US" altLang="zh-CN" sz="1600">
                <a:latin typeface="Times New Roman" pitchFamily="18" charset="0"/>
                <a:ea typeface="宋体" charset="-122"/>
              </a:rPr>
              <a:t>Oracle</a:t>
            </a:r>
          </a:p>
        </p:txBody>
      </p:sp>
      <p:sp>
        <p:nvSpPr>
          <p:cNvPr id="21518" name="Rectangle 15"/>
          <p:cNvSpPr>
            <a:spLocks noChangeArrowheads="1"/>
          </p:cNvSpPr>
          <p:nvPr/>
        </p:nvSpPr>
        <p:spPr bwMode="auto">
          <a:xfrm>
            <a:off x="1524000" y="4419600"/>
            <a:ext cx="8382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latin typeface="Times New Roman" pitchFamily="18" charset="0"/>
                <a:ea typeface="宋体" charset="-122"/>
              </a:rPr>
              <a:t>Erosa</a:t>
            </a:r>
            <a:br>
              <a:rPr lang="en-US" altLang="zh-CN" sz="1600">
                <a:latin typeface="Times New Roman" pitchFamily="18" charset="0"/>
                <a:ea typeface="宋体" charset="-122"/>
              </a:rPr>
            </a:br>
            <a:r>
              <a:rPr lang="en-US" altLang="zh-CN" sz="1600">
                <a:latin typeface="Times New Roman" pitchFamily="18" charset="0"/>
                <a:ea typeface="宋体" charset="-122"/>
              </a:rPr>
              <a:t>MySQL</a:t>
            </a:r>
          </a:p>
        </p:txBody>
      </p:sp>
      <p:sp>
        <p:nvSpPr>
          <p:cNvPr id="21519" name="Rectangle 16"/>
          <p:cNvSpPr>
            <a:spLocks noChangeArrowheads="1"/>
          </p:cNvSpPr>
          <p:nvPr/>
        </p:nvSpPr>
        <p:spPr bwMode="auto">
          <a:xfrm>
            <a:off x="2438400" y="4419600"/>
            <a:ext cx="8382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latin typeface="Times New Roman" pitchFamily="18" charset="0"/>
                <a:ea typeface="宋体" charset="-122"/>
              </a:rPr>
              <a:t>Erosa</a:t>
            </a:r>
            <a:br>
              <a:rPr lang="en-US" altLang="zh-CN" sz="1600">
                <a:latin typeface="Times New Roman" pitchFamily="18" charset="0"/>
                <a:ea typeface="宋体" charset="-122"/>
              </a:rPr>
            </a:br>
            <a:r>
              <a:rPr lang="en-US" altLang="zh-CN" sz="1600">
                <a:latin typeface="Times New Roman" pitchFamily="18" charset="0"/>
                <a:ea typeface="宋体" charset="-122"/>
              </a:rPr>
              <a:t>MySQL</a:t>
            </a:r>
          </a:p>
        </p:txBody>
      </p:sp>
      <p:sp>
        <p:nvSpPr>
          <p:cNvPr id="21520" name="Rectangle 17"/>
          <p:cNvSpPr>
            <a:spLocks noChangeArrowheads="1"/>
          </p:cNvSpPr>
          <p:nvPr/>
        </p:nvSpPr>
        <p:spPr bwMode="auto">
          <a:xfrm>
            <a:off x="3352800" y="4419600"/>
            <a:ext cx="8382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latin typeface="Times New Roman" pitchFamily="18" charset="0"/>
                <a:ea typeface="宋体" charset="-122"/>
              </a:rPr>
              <a:t>Erosa</a:t>
            </a:r>
            <a:br>
              <a:rPr lang="en-US" altLang="zh-CN" sz="1600">
                <a:latin typeface="Times New Roman" pitchFamily="18" charset="0"/>
                <a:ea typeface="宋体" charset="-122"/>
              </a:rPr>
            </a:br>
            <a:r>
              <a:rPr lang="en-US" altLang="zh-CN" sz="1600">
                <a:latin typeface="Times New Roman" pitchFamily="18" charset="0"/>
                <a:ea typeface="宋体" charset="-122"/>
              </a:rPr>
              <a:t>MySQL</a:t>
            </a:r>
          </a:p>
        </p:txBody>
      </p:sp>
      <p:sp>
        <p:nvSpPr>
          <p:cNvPr id="21521" name="Rectangle 18"/>
          <p:cNvSpPr>
            <a:spLocks noChangeArrowheads="1"/>
          </p:cNvSpPr>
          <p:nvPr/>
        </p:nvSpPr>
        <p:spPr bwMode="auto">
          <a:xfrm>
            <a:off x="609600" y="5257800"/>
            <a:ext cx="35814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latin typeface="Times New Roman" pitchFamily="18" charset="0"/>
                <a:ea typeface="宋体" charset="-122"/>
              </a:rPr>
              <a:t>Eromanga</a:t>
            </a:r>
          </a:p>
        </p:txBody>
      </p:sp>
      <p:sp>
        <p:nvSpPr>
          <p:cNvPr id="21522" name="AutoShape 20"/>
          <p:cNvSpPr>
            <a:spLocks noChangeArrowheads="1"/>
          </p:cNvSpPr>
          <p:nvPr/>
        </p:nvSpPr>
        <p:spPr bwMode="auto">
          <a:xfrm>
            <a:off x="5410200" y="3505200"/>
            <a:ext cx="838200" cy="609600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itchFamily="18" charset="0"/>
                <a:ea typeface="宋体" charset="-122"/>
              </a:rPr>
              <a:t>Oracle</a:t>
            </a:r>
          </a:p>
        </p:txBody>
      </p:sp>
      <p:sp>
        <p:nvSpPr>
          <p:cNvPr id="21523" name="AutoShape 21"/>
          <p:cNvSpPr>
            <a:spLocks noChangeArrowheads="1"/>
          </p:cNvSpPr>
          <p:nvPr/>
        </p:nvSpPr>
        <p:spPr bwMode="auto">
          <a:xfrm>
            <a:off x="6324600" y="3505200"/>
            <a:ext cx="838200" cy="609600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itchFamily="18" charset="0"/>
                <a:ea typeface="宋体" charset="-122"/>
              </a:rPr>
              <a:t>MySQL</a:t>
            </a:r>
          </a:p>
        </p:txBody>
      </p:sp>
      <p:sp>
        <p:nvSpPr>
          <p:cNvPr id="21524" name="AutoShape 22"/>
          <p:cNvSpPr>
            <a:spLocks noChangeArrowheads="1"/>
          </p:cNvSpPr>
          <p:nvPr/>
        </p:nvSpPr>
        <p:spPr bwMode="auto">
          <a:xfrm>
            <a:off x="7239000" y="3505200"/>
            <a:ext cx="838200" cy="609600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itchFamily="18" charset="0"/>
                <a:ea typeface="宋体" charset="-122"/>
              </a:rPr>
              <a:t>MySQL</a:t>
            </a:r>
          </a:p>
        </p:txBody>
      </p:sp>
      <p:sp>
        <p:nvSpPr>
          <p:cNvPr id="21525" name="Rectangle 23"/>
          <p:cNvSpPr>
            <a:spLocks noChangeArrowheads="1"/>
          </p:cNvSpPr>
          <p:nvPr/>
        </p:nvSpPr>
        <p:spPr bwMode="auto">
          <a:xfrm>
            <a:off x="5410200" y="5943600"/>
            <a:ext cx="26670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latin typeface="Times New Roman" pitchFamily="18" charset="0"/>
                <a:ea typeface="宋体" charset="-122"/>
              </a:rPr>
              <a:t>Otter</a:t>
            </a:r>
          </a:p>
        </p:txBody>
      </p:sp>
      <p:sp>
        <p:nvSpPr>
          <p:cNvPr id="21526" name="Line 24"/>
          <p:cNvSpPr>
            <a:spLocks noChangeShapeType="1"/>
          </p:cNvSpPr>
          <p:nvPr/>
        </p:nvSpPr>
        <p:spPr bwMode="auto">
          <a:xfrm>
            <a:off x="1066800" y="2209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527" name="Line 25"/>
          <p:cNvSpPr>
            <a:spLocks noChangeShapeType="1"/>
          </p:cNvSpPr>
          <p:nvPr/>
        </p:nvSpPr>
        <p:spPr bwMode="auto">
          <a:xfrm>
            <a:off x="1981200" y="2209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528" name="Line 26"/>
          <p:cNvSpPr>
            <a:spLocks noChangeShapeType="1"/>
          </p:cNvSpPr>
          <p:nvPr/>
        </p:nvSpPr>
        <p:spPr bwMode="auto">
          <a:xfrm>
            <a:off x="2819400" y="2209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529" name="Line 27"/>
          <p:cNvSpPr>
            <a:spLocks noChangeShapeType="1"/>
          </p:cNvSpPr>
          <p:nvPr/>
        </p:nvSpPr>
        <p:spPr bwMode="auto">
          <a:xfrm>
            <a:off x="3733800" y="2209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530" name="Line 28"/>
          <p:cNvSpPr>
            <a:spLocks noChangeShapeType="1"/>
          </p:cNvSpPr>
          <p:nvPr/>
        </p:nvSpPr>
        <p:spPr bwMode="auto">
          <a:xfrm>
            <a:off x="3733800" y="3124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531" name="Line 29"/>
          <p:cNvSpPr>
            <a:spLocks noChangeShapeType="1"/>
          </p:cNvSpPr>
          <p:nvPr/>
        </p:nvSpPr>
        <p:spPr bwMode="auto">
          <a:xfrm>
            <a:off x="2819400" y="3124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532" name="Line 30"/>
          <p:cNvSpPr>
            <a:spLocks noChangeShapeType="1"/>
          </p:cNvSpPr>
          <p:nvPr/>
        </p:nvSpPr>
        <p:spPr bwMode="auto">
          <a:xfrm>
            <a:off x="1981200" y="3124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533" name="Line 31"/>
          <p:cNvSpPr>
            <a:spLocks noChangeShapeType="1"/>
          </p:cNvSpPr>
          <p:nvPr/>
        </p:nvSpPr>
        <p:spPr bwMode="auto">
          <a:xfrm>
            <a:off x="1066800" y="3124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534" name="Line 32"/>
          <p:cNvSpPr>
            <a:spLocks noChangeShapeType="1"/>
          </p:cNvSpPr>
          <p:nvPr/>
        </p:nvSpPr>
        <p:spPr bwMode="auto">
          <a:xfrm>
            <a:off x="3733800" y="4114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535" name="Line 33"/>
          <p:cNvSpPr>
            <a:spLocks noChangeShapeType="1"/>
          </p:cNvSpPr>
          <p:nvPr/>
        </p:nvSpPr>
        <p:spPr bwMode="auto">
          <a:xfrm>
            <a:off x="2819400" y="4114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536" name="Line 34"/>
          <p:cNvSpPr>
            <a:spLocks noChangeShapeType="1"/>
          </p:cNvSpPr>
          <p:nvPr/>
        </p:nvSpPr>
        <p:spPr bwMode="auto">
          <a:xfrm>
            <a:off x="1981200" y="4114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537" name="Line 35"/>
          <p:cNvSpPr>
            <a:spLocks noChangeShapeType="1"/>
          </p:cNvSpPr>
          <p:nvPr/>
        </p:nvSpPr>
        <p:spPr bwMode="auto">
          <a:xfrm>
            <a:off x="1066800" y="4114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538" name="Line 36"/>
          <p:cNvSpPr>
            <a:spLocks noChangeShapeType="1"/>
          </p:cNvSpPr>
          <p:nvPr/>
        </p:nvSpPr>
        <p:spPr bwMode="auto">
          <a:xfrm>
            <a:off x="1066800" y="4953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539" name="Line 37"/>
          <p:cNvSpPr>
            <a:spLocks noChangeShapeType="1"/>
          </p:cNvSpPr>
          <p:nvPr/>
        </p:nvSpPr>
        <p:spPr bwMode="auto">
          <a:xfrm>
            <a:off x="1981200" y="4953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540" name="Line 38"/>
          <p:cNvSpPr>
            <a:spLocks noChangeShapeType="1"/>
          </p:cNvSpPr>
          <p:nvPr/>
        </p:nvSpPr>
        <p:spPr bwMode="auto">
          <a:xfrm>
            <a:off x="2819400" y="4953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541" name="Line 39"/>
          <p:cNvSpPr>
            <a:spLocks noChangeShapeType="1"/>
          </p:cNvSpPr>
          <p:nvPr/>
        </p:nvSpPr>
        <p:spPr bwMode="auto">
          <a:xfrm>
            <a:off x="3733800" y="4953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542" name="Line 41"/>
          <p:cNvSpPr>
            <a:spLocks noChangeShapeType="1"/>
          </p:cNvSpPr>
          <p:nvPr/>
        </p:nvSpPr>
        <p:spPr bwMode="auto">
          <a:xfrm>
            <a:off x="4191000" y="6172200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543" name="Rectangle 42"/>
          <p:cNvSpPr>
            <a:spLocks noGrp="1" noChangeArrowheads="1"/>
          </p:cNvSpPr>
          <p:nvPr>
            <p:ph type="body" idx="1"/>
          </p:nvPr>
        </p:nvSpPr>
        <p:spPr>
          <a:xfrm>
            <a:off x="4953000" y="1447800"/>
            <a:ext cx="3962400" cy="1447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800" b="1" smtClean="0">
                <a:solidFill>
                  <a:srgbClr val="0000FF"/>
                </a:solidFill>
                <a:ea typeface="微软雅黑"/>
                <a:cs typeface="微软雅黑"/>
              </a:rPr>
              <a:t>性能 容量 高可用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800" smtClean="0"/>
              <a:t>数据消费时效性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800" smtClean="0"/>
              <a:t>跨机房数据同步</a:t>
            </a:r>
          </a:p>
        </p:txBody>
      </p:sp>
      <p:sp>
        <p:nvSpPr>
          <p:cNvPr id="21544" name="Rectangle 43"/>
          <p:cNvSpPr>
            <a:spLocks noChangeArrowheads="1"/>
          </p:cNvSpPr>
          <p:nvPr/>
        </p:nvSpPr>
        <p:spPr bwMode="auto">
          <a:xfrm>
            <a:off x="5410200" y="4419600"/>
            <a:ext cx="8382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latin typeface="Times New Roman" pitchFamily="18" charset="0"/>
                <a:ea typeface="宋体" charset="-122"/>
              </a:rPr>
              <a:t>Erosa</a:t>
            </a:r>
            <a:br>
              <a:rPr lang="en-US" altLang="zh-CN" sz="1600">
                <a:latin typeface="Times New Roman" pitchFamily="18" charset="0"/>
                <a:ea typeface="宋体" charset="-122"/>
              </a:rPr>
            </a:br>
            <a:r>
              <a:rPr lang="en-US" altLang="zh-CN" sz="1600">
                <a:latin typeface="Times New Roman" pitchFamily="18" charset="0"/>
                <a:ea typeface="宋体" charset="-122"/>
              </a:rPr>
              <a:t>Oracle</a:t>
            </a:r>
          </a:p>
        </p:txBody>
      </p:sp>
      <p:sp>
        <p:nvSpPr>
          <p:cNvPr id="21545" name="Rectangle 44"/>
          <p:cNvSpPr>
            <a:spLocks noChangeArrowheads="1"/>
          </p:cNvSpPr>
          <p:nvPr/>
        </p:nvSpPr>
        <p:spPr bwMode="auto">
          <a:xfrm>
            <a:off x="6324600" y="4419600"/>
            <a:ext cx="8382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latin typeface="Times New Roman" pitchFamily="18" charset="0"/>
                <a:ea typeface="宋体" charset="-122"/>
              </a:rPr>
              <a:t>Erosa</a:t>
            </a:r>
            <a:br>
              <a:rPr lang="en-US" altLang="zh-CN" sz="1600">
                <a:latin typeface="Times New Roman" pitchFamily="18" charset="0"/>
                <a:ea typeface="宋体" charset="-122"/>
              </a:rPr>
            </a:br>
            <a:r>
              <a:rPr lang="en-US" altLang="zh-CN" sz="1600">
                <a:latin typeface="Times New Roman" pitchFamily="18" charset="0"/>
                <a:ea typeface="宋体" charset="-122"/>
              </a:rPr>
              <a:t>MySQL</a:t>
            </a:r>
          </a:p>
        </p:txBody>
      </p:sp>
      <p:sp>
        <p:nvSpPr>
          <p:cNvPr id="21546" name="Rectangle 45"/>
          <p:cNvSpPr>
            <a:spLocks noChangeArrowheads="1"/>
          </p:cNvSpPr>
          <p:nvPr/>
        </p:nvSpPr>
        <p:spPr bwMode="auto">
          <a:xfrm>
            <a:off x="7239000" y="4419600"/>
            <a:ext cx="8382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latin typeface="Times New Roman" pitchFamily="18" charset="0"/>
                <a:ea typeface="宋体" charset="-122"/>
              </a:rPr>
              <a:t>Erosa</a:t>
            </a:r>
            <a:br>
              <a:rPr lang="en-US" altLang="zh-CN" sz="1600">
                <a:latin typeface="Times New Roman" pitchFamily="18" charset="0"/>
                <a:ea typeface="宋体" charset="-122"/>
              </a:rPr>
            </a:br>
            <a:r>
              <a:rPr lang="en-US" altLang="zh-CN" sz="1600">
                <a:latin typeface="Times New Roman" pitchFamily="18" charset="0"/>
                <a:ea typeface="宋体" charset="-122"/>
              </a:rPr>
              <a:t>MySQL</a:t>
            </a:r>
          </a:p>
        </p:txBody>
      </p:sp>
      <p:sp>
        <p:nvSpPr>
          <p:cNvPr id="21547" name="Rectangle 46"/>
          <p:cNvSpPr>
            <a:spLocks noChangeArrowheads="1"/>
          </p:cNvSpPr>
          <p:nvPr/>
        </p:nvSpPr>
        <p:spPr bwMode="auto">
          <a:xfrm>
            <a:off x="5410200" y="5257800"/>
            <a:ext cx="26670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latin typeface="Times New Roman" pitchFamily="18" charset="0"/>
                <a:ea typeface="宋体" charset="-122"/>
              </a:rPr>
              <a:t>Eromanga</a:t>
            </a:r>
          </a:p>
        </p:txBody>
      </p:sp>
      <p:sp>
        <p:nvSpPr>
          <p:cNvPr id="21548" name="Line 47"/>
          <p:cNvSpPr>
            <a:spLocks noChangeShapeType="1"/>
          </p:cNvSpPr>
          <p:nvPr/>
        </p:nvSpPr>
        <p:spPr bwMode="auto">
          <a:xfrm>
            <a:off x="5867400" y="4953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549" name="Line 48"/>
          <p:cNvSpPr>
            <a:spLocks noChangeShapeType="1"/>
          </p:cNvSpPr>
          <p:nvPr/>
        </p:nvSpPr>
        <p:spPr bwMode="auto">
          <a:xfrm>
            <a:off x="6781800" y="4953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550" name="Line 49"/>
          <p:cNvSpPr>
            <a:spLocks noChangeShapeType="1"/>
          </p:cNvSpPr>
          <p:nvPr/>
        </p:nvSpPr>
        <p:spPr bwMode="auto">
          <a:xfrm>
            <a:off x="7620000" y="4953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551" name="Line 50"/>
          <p:cNvSpPr>
            <a:spLocks noChangeShapeType="1"/>
          </p:cNvSpPr>
          <p:nvPr/>
        </p:nvSpPr>
        <p:spPr bwMode="auto">
          <a:xfrm>
            <a:off x="6781800" y="5638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552" name="Line 51"/>
          <p:cNvSpPr>
            <a:spLocks noChangeShapeType="1"/>
          </p:cNvSpPr>
          <p:nvPr/>
        </p:nvSpPr>
        <p:spPr bwMode="auto">
          <a:xfrm>
            <a:off x="7620000" y="4114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553" name="Line 52"/>
          <p:cNvSpPr>
            <a:spLocks noChangeShapeType="1"/>
          </p:cNvSpPr>
          <p:nvPr/>
        </p:nvSpPr>
        <p:spPr bwMode="auto">
          <a:xfrm>
            <a:off x="6781800" y="4114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554" name="Line 53"/>
          <p:cNvSpPr>
            <a:spLocks noChangeShapeType="1"/>
          </p:cNvSpPr>
          <p:nvPr/>
        </p:nvSpPr>
        <p:spPr bwMode="auto">
          <a:xfrm>
            <a:off x="5867400" y="4114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21555" name="AutoShape 54"/>
          <p:cNvCxnSpPr>
            <a:cxnSpLocks noChangeShapeType="1"/>
            <a:stCxn id="21525" idx="3"/>
            <a:endCxn id="21522" idx="1"/>
          </p:cNvCxnSpPr>
          <p:nvPr/>
        </p:nvCxnSpPr>
        <p:spPr bwMode="auto">
          <a:xfrm flipH="1" flipV="1">
            <a:off x="5829300" y="3505200"/>
            <a:ext cx="2247900" cy="2628900"/>
          </a:xfrm>
          <a:prstGeom prst="bentConnector4">
            <a:avLst>
              <a:gd name="adj1" fmla="val -10171"/>
              <a:gd name="adj2" fmla="val 108694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21556" name="AutoShape 55"/>
          <p:cNvCxnSpPr>
            <a:cxnSpLocks noChangeShapeType="1"/>
            <a:stCxn id="21525" idx="3"/>
            <a:endCxn id="21523" idx="1"/>
          </p:cNvCxnSpPr>
          <p:nvPr/>
        </p:nvCxnSpPr>
        <p:spPr bwMode="auto">
          <a:xfrm flipH="1" flipV="1">
            <a:off x="6743700" y="3505200"/>
            <a:ext cx="1333500" cy="2628900"/>
          </a:xfrm>
          <a:prstGeom prst="bentConnector4">
            <a:avLst>
              <a:gd name="adj1" fmla="val -17144"/>
              <a:gd name="adj2" fmla="val 108694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21557" name="AutoShape 56"/>
          <p:cNvCxnSpPr>
            <a:cxnSpLocks noChangeShapeType="1"/>
            <a:stCxn id="21525" idx="3"/>
            <a:endCxn id="21524" idx="1"/>
          </p:cNvCxnSpPr>
          <p:nvPr/>
        </p:nvCxnSpPr>
        <p:spPr bwMode="auto">
          <a:xfrm flipH="1" flipV="1">
            <a:off x="7658100" y="3505200"/>
            <a:ext cx="419100" cy="2628900"/>
          </a:xfrm>
          <a:prstGeom prst="bentConnector4">
            <a:avLst>
              <a:gd name="adj1" fmla="val -54546"/>
              <a:gd name="adj2" fmla="val 108694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21558" name="Rectangle 57"/>
          <p:cNvSpPr>
            <a:spLocks noChangeArrowheads="1"/>
          </p:cNvSpPr>
          <p:nvPr/>
        </p:nvSpPr>
        <p:spPr bwMode="auto">
          <a:xfrm>
            <a:off x="2971800" y="5943600"/>
            <a:ext cx="1219200" cy="381000"/>
          </a:xfrm>
          <a:prstGeom prst="rect">
            <a:avLst/>
          </a:prstGeom>
          <a:solidFill>
            <a:schemeClr val="bg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latin typeface="Times New Roman" pitchFamily="18" charset="0"/>
                <a:ea typeface="宋体" charset="-122"/>
              </a:rPr>
              <a:t>Otter</a:t>
            </a:r>
          </a:p>
        </p:txBody>
      </p:sp>
      <p:sp>
        <p:nvSpPr>
          <p:cNvPr id="21559" name="Line 58"/>
          <p:cNvSpPr>
            <a:spLocks noChangeShapeType="1"/>
          </p:cNvSpPr>
          <p:nvPr/>
        </p:nvSpPr>
        <p:spPr bwMode="auto">
          <a:xfrm>
            <a:off x="3581400" y="5638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560" name="Rectangle 59"/>
          <p:cNvSpPr>
            <a:spLocks noChangeArrowheads="1"/>
          </p:cNvSpPr>
          <p:nvPr/>
        </p:nvSpPr>
        <p:spPr bwMode="auto">
          <a:xfrm>
            <a:off x="1981200" y="5943600"/>
            <a:ext cx="914400" cy="381000"/>
          </a:xfrm>
          <a:prstGeom prst="rect">
            <a:avLst/>
          </a:prstGeom>
          <a:solidFill>
            <a:schemeClr val="bg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latin typeface="Times New Roman" pitchFamily="18" charset="0"/>
                <a:ea typeface="宋体" charset="-122"/>
              </a:rPr>
              <a:t>ASC</a:t>
            </a:r>
          </a:p>
        </p:txBody>
      </p:sp>
      <p:sp>
        <p:nvSpPr>
          <p:cNvPr id="21561" name="Line 60"/>
          <p:cNvSpPr>
            <a:spLocks noChangeShapeType="1"/>
          </p:cNvSpPr>
          <p:nvPr/>
        </p:nvSpPr>
        <p:spPr bwMode="auto">
          <a:xfrm>
            <a:off x="2438400" y="5638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562" name="Rectangle 61"/>
          <p:cNvSpPr>
            <a:spLocks noChangeArrowheads="1"/>
          </p:cNvSpPr>
          <p:nvPr/>
        </p:nvSpPr>
        <p:spPr bwMode="auto">
          <a:xfrm>
            <a:off x="990600" y="5943600"/>
            <a:ext cx="914400" cy="381000"/>
          </a:xfrm>
          <a:prstGeom prst="rect">
            <a:avLst/>
          </a:prstGeom>
          <a:solidFill>
            <a:schemeClr val="bg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latin typeface="Times New Roman" pitchFamily="18" charset="0"/>
                <a:ea typeface="宋体" charset="-122"/>
              </a:rPr>
              <a:t>DW</a:t>
            </a:r>
          </a:p>
        </p:txBody>
      </p:sp>
      <p:sp>
        <p:nvSpPr>
          <p:cNvPr id="21563" name="Line 62"/>
          <p:cNvSpPr>
            <a:spLocks noChangeShapeType="1"/>
          </p:cNvSpPr>
          <p:nvPr/>
        </p:nvSpPr>
        <p:spPr bwMode="auto">
          <a:xfrm>
            <a:off x="1447800" y="5638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564" name="Rectangle 63"/>
          <p:cNvSpPr>
            <a:spLocks/>
          </p:cNvSpPr>
          <p:nvPr/>
        </p:nvSpPr>
        <p:spPr bwMode="auto">
          <a:xfrm>
            <a:off x="533400" y="5842000"/>
            <a:ext cx="393700" cy="396875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000" b="1"/>
              <a:t>...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29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530" name="Rectangle 3"/>
          <p:cNvSpPr>
            <a:spLocks noGrp="1" noChangeArrowheads="1"/>
          </p:cNvSpPr>
          <p:nvPr>
            <p:ph type="title"/>
          </p:nvPr>
        </p:nvSpPr>
        <p:spPr>
          <a:xfrm>
            <a:off x="1447800" y="76200"/>
            <a:ext cx="7696200" cy="1066800"/>
          </a:xfrm>
        </p:spPr>
        <p:txBody>
          <a:bodyPr/>
          <a:lstStyle/>
          <a:p>
            <a:pPr algn="l" eaLnBrk="1" hangingPunct="1"/>
            <a:r>
              <a:rPr lang="zh-CN" altLang="en-US" sz="4000" b="1" smtClean="0">
                <a:solidFill>
                  <a:schemeClr val="bg1"/>
                </a:solidFill>
                <a:ea typeface="微软雅黑"/>
                <a:cs typeface="微软雅黑"/>
              </a:rPr>
              <a:t>大纲</a:t>
            </a:r>
          </a:p>
        </p:txBody>
      </p:sp>
      <p:sp>
        <p:nvSpPr>
          <p:cNvPr id="22531" name="TextBox 7"/>
          <p:cNvSpPr txBox="1">
            <a:spLocks noChangeArrowheads="1"/>
          </p:cNvSpPr>
          <p:nvPr/>
        </p:nvSpPr>
        <p:spPr bwMode="auto">
          <a:xfrm>
            <a:off x="533400" y="1447800"/>
            <a:ext cx="7772400" cy="3503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>
              <a:buFont typeface="Wingdings" pitchFamily="2" charset="2"/>
              <a:buChar char="n"/>
            </a:pPr>
            <a:r>
              <a:rPr lang="zh-CN" altLang="en-US" sz="3200">
                <a:solidFill>
                  <a:srgbClr val="FF0000"/>
                </a:solidFill>
                <a:latin typeface="微软雅黑"/>
                <a:sym typeface="Helvetica Neue"/>
              </a:rPr>
              <a:t>中间件引入</a:t>
            </a:r>
          </a:p>
          <a:p>
            <a:pPr marL="457200" indent="-457200">
              <a:buFont typeface="Wingdings" pitchFamily="2" charset="2"/>
              <a:buChar char="n"/>
            </a:pPr>
            <a:endParaRPr lang="zh-CN" altLang="en-US" sz="3200">
              <a:solidFill>
                <a:srgbClr val="FF0000"/>
              </a:solidFill>
              <a:latin typeface="微软雅黑"/>
              <a:sym typeface="Helvetica Neue"/>
            </a:endParaRPr>
          </a:p>
          <a:p>
            <a:pPr marL="457200" indent="-457200">
              <a:buFont typeface="Wingdings" pitchFamily="2" charset="2"/>
              <a:buChar char="n"/>
            </a:pPr>
            <a:r>
              <a:rPr lang="en-US" altLang="zh-CN" sz="3200">
                <a:latin typeface="微软雅黑"/>
                <a:sym typeface="Helvetica Neue"/>
              </a:rPr>
              <a:t>Cobar</a:t>
            </a:r>
            <a:r>
              <a:rPr lang="zh-CN" altLang="en-US" sz="3200">
                <a:latin typeface="微软雅黑"/>
                <a:sym typeface="Helvetica Neue"/>
              </a:rPr>
              <a:t>策略</a:t>
            </a:r>
          </a:p>
          <a:p>
            <a:pPr marL="457200" indent="-457200">
              <a:buFont typeface="Wingdings" pitchFamily="2" charset="2"/>
              <a:buChar char="n"/>
            </a:pPr>
            <a:endParaRPr lang="zh-CN" altLang="en-US" sz="3200">
              <a:latin typeface="微软雅黑"/>
              <a:sym typeface="Helvetica Neue"/>
            </a:endParaRPr>
          </a:p>
          <a:p>
            <a:pPr marL="457200" indent="-457200">
              <a:buFont typeface="Wingdings" pitchFamily="2" charset="2"/>
              <a:buChar char="n"/>
            </a:pPr>
            <a:r>
              <a:rPr lang="zh-CN" altLang="en-US" sz="3200">
                <a:latin typeface="微软雅黑"/>
                <a:sym typeface="Helvetica Neue"/>
              </a:rPr>
              <a:t>系统实现</a:t>
            </a:r>
          </a:p>
          <a:p>
            <a:pPr marL="457200" indent="-457200">
              <a:buFont typeface="Wingdings" pitchFamily="2" charset="2"/>
              <a:buChar char="n"/>
            </a:pPr>
            <a:endParaRPr lang="zh-CN" altLang="en-US" sz="3200">
              <a:latin typeface="微软雅黑"/>
              <a:sym typeface="Helvetica Neue"/>
            </a:endParaRPr>
          </a:p>
          <a:p>
            <a:pPr marL="457200" indent="-457200">
              <a:buFont typeface="Wingdings" pitchFamily="2" charset="2"/>
              <a:buChar char="n"/>
            </a:pPr>
            <a:r>
              <a:rPr lang="zh-CN" altLang="en-US" sz="3200">
                <a:latin typeface="微软雅黑"/>
                <a:sym typeface="Helvetica Neue"/>
              </a:rPr>
              <a:t>实施应用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微软雅黑"/>
                <a:cs typeface="微软雅黑"/>
              </a:rPr>
              <a:t>Cobar</a:t>
            </a:r>
            <a:r>
              <a:rPr lang="zh-CN" altLang="en-US" smtClean="0">
                <a:ea typeface="微软雅黑"/>
                <a:cs typeface="微软雅黑"/>
              </a:rPr>
              <a:t>之前</a:t>
            </a:r>
          </a:p>
        </p:txBody>
      </p:sp>
      <p:sp>
        <p:nvSpPr>
          <p:cNvPr id="2355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800" smtClean="0">
                <a:latin typeface="微软雅黑"/>
                <a:ea typeface="微软雅黑"/>
                <a:cs typeface="微软雅黑"/>
              </a:rPr>
              <a:t>Oracle</a:t>
            </a:r>
            <a:r>
              <a:rPr lang="zh-CN" altLang="en-US" sz="2800" smtClean="0">
                <a:latin typeface="微软雅黑"/>
                <a:ea typeface="微软雅黑"/>
                <a:cs typeface="微软雅黑"/>
              </a:rPr>
              <a:t>单点数据库</a:t>
            </a:r>
          </a:p>
          <a:p>
            <a:pPr eaLnBrk="1" hangingPunct="1"/>
            <a:r>
              <a:rPr lang="zh-CN" altLang="en-US" sz="2800" smtClean="0">
                <a:latin typeface="微软雅黑"/>
                <a:ea typeface="微软雅黑"/>
                <a:cs typeface="微软雅黑"/>
              </a:rPr>
              <a:t>性能问题</a:t>
            </a:r>
          </a:p>
          <a:p>
            <a:pPr lvl="1" eaLnBrk="1" hangingPunct="1"/>
            <a:r>
              <a:rPr lang="zh-CN" altLang="zh-CN" sz="2400" smtClean="0">
                <a:latin typeface="Times New Roman" pitchFamily="18" charset="0"/>
              </a:rPr>
              <a:t>中文站</a:t>
            </a:r>
            <a:r>
              <a:rPr lang="en-US" altLang="zh-CN" sz="2400" smtClean="0">
                <a:latin typeface="Times New Roman" pitchFamily="18" charset="0"/>
              </a:rPr>
              <a:t>offer</a:t>
            </a:r>
            <a:r>
              <a:rPr lang="zh-CN" altLang="zh-CN" sz="2400" smtClean="0">
                <a:latin typeface="Times New Roman" pitchFamily="18" charset="0"/>
              </a:rPr>
              <a:t>总数</a:t>
            </a:r>
            <a:r>
              <a:rPr lang="zh-CN" altLang="en-US" sz="2400" smtClean="0">
                <a:latin typeface="Times New Roman" pitchFamily="18" charset="0"/>
              </a:rPr>
              <a:t>：</a:t>
            </a:r>
            <a:r>
              <a:rPr lang="en-US" altLang="zh-CN" sz="2400" smtClean="0">
                <a:latin typeface="Times New Roman" pitchFamily="18" charset="0"/>
              </a:rPr>
              <a:t>2008</a:t>
            </a:r>
            <a:r>
              <a:rPr lang="zh-CN" altLang="en-US" sz="2400" smtClean="0">
                <a:latin typeface="Times New Roman" pitchFamily="18" charset="0"/>
              </a:rPr>
              <a:t>年</a:t>
            </a:r>
            <a:r>
              <a:rPr lang="en-US" altLang="zh-CN" sz="2400" smtClean="0">
                <a:latin typeface="Times New Roman" pitchFamily="18" charset="0"/>
              </a:rPr>
              <a:t>1</a:t>
            </a:r>
            <a:r>
              <a:rPr lang="zh-CN" altLang="en-US" sz="2400" smtClean="0">
                <a:latin typeface="Times New Roman" pitchFamily="18" charset="0"/>
              </a:rPr>
              <a:t>亿 </a:t>
            </a:r>
            <a:r>
              <a:rPr lang="en-US" altLang="zh-CN" sz="2400" smtClean="0">
                <a:latin typeface="Times New Roman" pitchFamily="18" charset="0"/>
              </a:rPr>
              <a:t>-&gt; 2011</a:t>
            </a:r>
            <a:r>
              <a:rPr lang="zh-CN" altLang="en-US" sz="2400" smtClean="0">
                <a:latin typeface="Times New Roman" pitchFamily="18" charset="0"/>
              </a:rPr>
              <a:t>年</a:t>
            </a:r>
            <a:r>
              <a:rPr lang="en-US" altLang="zh-CN" sz="2400" smtClean="0">
                <a:latin typeface="Times New Roman" pitchFamily="18" charset="0"/>
              </a:rPr>
              <a:t>3</a:t>
            </a:r>
            <a:r>
              <a:rPr lang="zh-CN" altLang="en-US" sz="2400" smtClean="0">
                <a:latin typeface="Times New Roman" pitchFamily="18" charset="0"/>
              </a:rPr>
              <a:t>亿</a:t>
            </a:r>
          </a:p>
          <a:p>
            <a:pPr lvl="1" eaLnBrk="1" hangingPunct="1"/>
            <a:r>
              <a:rPr lang="zh-CN" altLang="en-US" sz="2400" smtClean="0">
                <a:latin typeface="Times New Roman" pitchFamily="18" charset="0"/>
              </a:rPr>
              <a:t>高峰时：</a:t>
            </a:r>
            <a:r>
              <a:rPr lang="en-US" altLang="zh-CN" sz="2400" smtClean="0">
                <a:latin typeface="Times New Roman" pitchFamily="18" charset="0"/>
              </a:rPr>
              <a:t>load 30</a:t>
            </a:r>
            <a:r>
              <a:rPr lang="zh-CN" altLang="en-US" sz="2400" smtClean="0">
                <a:latin typeface="Times New Roman" pitchFamily="18" charset="0"/>
              </a:rPr>
              <a:t>、</a:t>
            </a:r>
            <a:r>
              <a:rPr lang="en-US" altLang="zh-CN" sz="2400" smtClean="0">
                <a:latin typeface="Times New Roman" pitchFamily="18" charset="0"/>
              </a:rPr>
              <a:t>cpu</a:t>
            </a:r>
            <a:r>
              <a:rPr lang="zh-CN" altLang="en-US" sz="2400" smtClean="0">
                <a:latin typeface="Times New Roman" pitchFamily="18" charset="0"/>
              </a:rPr>
              <a:t>使用率</a:t>
            </a:r>
            <a:r>
              <a:rPr lang="en-US" altLang="zh-CN" sz="2400" smtClean="0">
                <a:latin typeface="Times New Roman" pitchFamily="18" charset="0"/>
              </a:rPr>
              <a:t>90%</a:t>
            </a:r>
          </a:p>
          <a:p>
            <a:pPr eaLnBrk="1" hangingPunct="1"/>
            <a:r>
              <a:rPr lang="zh-CN" altLang="en-US" sz="2800" smtClean="0">
                <a:latin typeface="微软雅黑"/>
                <a:ea typeface="微软雅黑"/>
                <a:cs typeface="微软雅黑"/>
              </a:rPr>
              <a:t>数据库连接过多</a:t>
            </a:r>
          </a:p>
          <a:p>
            <a:pPr eaLnBrk="1" hangingPunct="1"/>
            <a:r>
              <a:rPr lang="zh-CN" altLang="en-US" sz="2800" smtClean="0">
                <a:latin typeface="微软雅黑"/>
                <a:ea typeface="微软雅黑"/>
                <a:cs typeface="微软雅黑"/>
              </a:rPr>
              <a:t>可用性问题</a:t>
            </a:r>
          </a:p>
          <a:p>
            <a:pPr lvl="1" eaLnBrk="1" hangingPunct="1"/>
            <a:r>
              <a:rPr lang="en-US" altLang="zh-CN" sz="2400" smtClean="0">
                <a:latin typeface="Times New Roman" pitchFamily="18" charset="0"/>
              </a:rPr>
              <a:t>Standby</a:t>
            </a:r>
            <a:r>
              <a:rPr lang="zh-CN" altLang="en-US" sz="2400" smtClean="0">
                <a:latin typeface="Times New Roman" pitchFamily="18" charset="0"/>
              </a:rPr>
              <a:t>切换故障</a:t>
            </a:r>
          </a:p>
          <a:p>
            <a:pPr eaLnBrk="1" hangingPunct="1"/>
            <a:r>
              <a:rPr lang="zh-CN" altLang="en-US" sz="2800" smtClean="0">
                <a:latin typeface="微软雅黑"/>
                <a:ea typeface="微软雅黑"/>
                <a:cs typeface="微软雅黑"/>
              </a:rPr>
              <a:t>成本和伸缩性问题</a:t>
            </a:r>
          </a:p>
          <a:p>
            <a:pPr lvl="1" eaLnBrk="1" hangingPunct="1"/>
            <a:r>
              <a:rPr lang="zh-CN" altLang="en-US" sz="2400" smtClean="0">
                <a:latin typeface="Times New Roman" pitchFamily="18" charset="0"/>
              </a:rPr>
              <a:t>依赖高成本的硬件设备</a:t>
            </a:r>
          </a:p>
          <a:p>
            <a:pPr eaLnBrk="1" hangingPunct="1"/>
            <a:endParaRPr lang="en-US" altLang="zh-CN" sz="2800" smtClean="0">
              <a:latin typeface="宋体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AutoShape 7"/>
          <p:cNvSpPr>
            <a:spLocks noChangeArrowheads="1"/>
          </p:cNvSpPr>
          <p:nvPr/>
        </p:nvSpPr>
        <p:spPr bwMode="auto">
          <a:xfrm>
            <a:off x="533400" y="2362200"/>
            <a:ext cx="3200400" cy="3657600"/>
          </a:xfrm>
          <a:prstGeom prst="can">
            <a:avLst>
              <a:gd name="adj" fmla="val 28571"/>
            </a:avLst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8000">
                <a:ea typeface="宋体" charset="-122"/>
              </a:rPr>
              <a:t>Oracle</a:t>
            </a:r>
          </a:p>
        </p:txBody>
      </p:sp>
      <p:sp>
        <p:nvSpPr>
          <p:cNvPr id="24578" name="AutoShape 8"/>
          <p:cNvSpPr>
            <a:spLocks noChangeArrowheads="1"/>
          </p:cNvSpPr>
          <p:nvPr/>
        </p:nvSpPr>
        <p:spPr bwMode="auto">
          <a:xfrm>
            <a:off x="4953000" y="5105400"/>
            <a:ext cx="1143000" cy="838200"/>
          </a:xfrm>
          <a:prstGeom prst="can">
            <a:avLst>
              <a:gd name="adj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400">
                <a:ea typeface="宋体" charset="-122"/>
              </a:rPr>
              <a:t>MySQL</a:t>
            </a:r>
          </a:p>
        </p:txBody>
      </p:sp>
      <p:sp>
        <p:nvSpPr>
          <p:cNvPr id="24579" name="AutoShape 9"/>
          <p:cNvSpPr>
            <a:spLocks noChangeArrowheads="1"/>
          </p:cNvSpPr>
          <p:nvPr/>
        </p:nvSpPr>
        <p:spPr bwMode="auto">
          <a:xfrm>
            <a:off x="6248400" y="5105400"/>
            <a:ext cx="1143000" cy="838200"/>
          </a:xfrm>
          <a:prstGeom prst="can">
            <a:avLst>
              <a:gd name="adj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400">
                <a:ea typeface="宋体" charset="-122"/>
              </a:rPr>
              <a:t>MySQL</a:t>
            </a:r>
          </a:p>
        </p:txBody>
      </p:sp>
      <p:sp>
        <p:nvSpPr>
          <p:cNvPr id="24580" name="AutoShape 10"/>
          <p:cNvSpPr>
            <a:spLocks noChangeArrowheads="1"/>
          </p:cNvSpPr>
          <p:nvPr/>
        </p:nvSpPr>
        <p:spPr bwMode="auto">
          <a:xfrm>
            <a:off x="7543800" y="5105400"/>
            <a:ext cx="1143000" cy="838200"/>
          </a:xfrm>
          <a:prstGeom prst="can">
            <a:avLst>
              <a:gd name="adj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400">
                <a:ea typeface="宋体" charset="-122"/>
              </a:rPr>
              <a:t>MySQL</a:t>
            </a:r>
          </a:p>
        </p:txBody>
      </p:sp>
      <p:sp>
        <p:nvSpPr>
          <p:cNvPr id="24581" name="AutoShape 13"/>
          <p:cNvSpPr>
            <a:spLocks noChangeArrowheads="1"/>
          </p:cNvSpPr>
          <p:nvPr/>
        </p:nvSpPr>
        <p:spPr bwMode="auto">
          <a:xfrm>
            <a:off x="4953000" y="4191000"/>
            <a:ext cx="1143000" cy="838200"/>
          </a:xfrm>
          <a:prstGeom prst="can">
            <a:avLst>
              <a:gd name="adj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400">
                <a:ea typeface="宋体" charset="-122"/>
              </a:rPr>
              <a:t>MySQL</a:t>
            </a:r>
          </a:p>
        </p:txBody>
      </p:sp>
      <p:sp>
        <p:nvSpPr>
          <p:cNvPr id="24582" name="AutoShape 14"/>
          <p:cNvSpPr>
            <a:spLocks noChangeArrowheads="1"/>
          </p:cNvSpPr>
          <p:nvPr/>
        </p:nvSpPr>
        <p:spPr bwMode="auto">
          <a:xfrm>
            <a:off x="6248400" y="4191000"/>
            <a:ext cx="1143000" cy="838200"/>
          </a:xfrm>
          <a:prstGeom prst="can">
            <a:avLst>
              <a:gd name="adj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400">
                <a:ea typeface="宋体" charset="-122"/>
              </a:rPr>
              <a:t>MySQL</a:t>
            </a:r>
          </a:p>
        </p:txBody>
      </p:sp>
      <p:sp>
        <p:nvSpPr>
          <p:cNvPr id="24583" name="AutoShape 15"/>
          <p:cNvSpPr>
            <a:spLocks noChangeArrowheads="1"/>
          </p:cNvSpPr>
          <p:nvPr/>
        </p:nvSpPr>
        <p:spPr bwMode="auto">
          <a:xfrm>
            <a:off x="7543800" y="4191000"/>
            <a:ext cx="1143000" cy="838200"/>
          </a:xfrm>
          <a:prstGeom prst="can">
            <a:avLst>
              <a:gd name="adj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400">
                <a:ea typeface="宋体" charset="-122"/>
              </a:rPr>
              <a:t>MySQL</a:t>
            </a:r>
          </a:p>
        </p:txBody>
      </p:sp>
      <p:sp>
        <p:nvSpPr>
          <p:cNvPr id="24584" name="AutoShape 16"/>
          <p:cNvSpPr>
            <a:spLocks noChangeArrowheads="1"/>
          </p:cNvSpPr>
          <p:nvPr/>
        </p:nvSpPr>
        <p:spPr bwMode="auto">
          <a:xfrm>
            <a:off x="4953000" y="3276600"/>
            <a:ext cx="1143000" cy="838200"/>
          </a:xfrm>
          <a:prstGeom prst="can">
            <a:avLst>
              <a:gd name="adj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400">
                <a:ea typeface="宋体" charset="-122"/>
              </a:rPr>
              <a:t>MySQL</a:t>
            </a:r>
          </a:p>
        </p:txBody>
      </p:sp>
      <p:sp>
        <p:nvSpPr>
          <p:cNvPr id="24585" name="AutoShape 17"/>
          <p:cNvSpPr>
            <a:spLocks noChangeArrowheads="1"/>
          </p:cNvSpPr>
          <p:nvPr/>
        </p:nvSpPr>
        <p:spPr bwMode="auto">
          <a:xfrm>
            <a:off x="6248400" y="3276600"/>
            <a:ext cx="1143000" cy="838200"/>
          </a:xfrm>
          <a:prstGeom prst="can">
            <a:avLst>
              <a:gd name="adj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400">
                <a:ea typeface="宋体" charset="-122"/>
              </a:rPr>
              <a:t>MySQL</a:t>
            </a:r>
          </a:p>
        </p:txBody>
      </p:sp>
      <p:sp>
        <p:nvSpPr>
          <p:cNvPr id="24586" name="AutoShape 18"/>
          <p:cNvSpPr>
            <a:spLocks noChangeArrowheads="1"/>
          </p:cNvSpPr>
          <p:nvPr/>
        </p:nvSpPr>
        <p:spPr bwMode="auto">
          <a:xfrm>
            <a:off x="7543800" y="3276600"/>
            <a:ext cx="1143000" cy="838200"/>
          </a:xfrm>
          <a:prstGeom prst="can">
            <a:avLst>
              <a:gd name="adj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400">
                <a:ea typeface="宋体" charset="-122"/>
              </a:rPr>
              <a:t>MySQL</a:t>
            </a:r>
          </a:p>
        </p:txBody>
      </p:sp>
      <p:sp>
        <p:nvSpPr>
          <p:cNvPr id="24587" name="AutoShape 25"/>
          <p:cNvSpPr>
            <a:spLocks noChangeArrowheads="1"/>
          </p:cNvSpPr>
          <p:nvPr/>
        </p:nvSpPr>
        <p:spPr bwMode="auto">
          <a:xfrm>
            <a:off x="3886200" y="3810000"/>
            <a:ext cx="838200" cy="838200"/>
          </a:xfrm>
          <a:prstGeom prst="rightArrow">
            <a:avLst>
              <a:gd name="adj1" fmla="val 50000"/>
              <a:gd name="adj2" fmla="val 30681"/>
            </a:avLst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24588" name="Rectangle 2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latin typeface="微软雅黑"/>
                <a:ea typeface="微软雅黑"/>
                <a:cs typeface="微软雅黑"/>
              </a:rPr>
              <a:t>单点：</a:t>
            </a:r>
            <a:r>
              <a:rPr lang="en-US" altLang="zh-CN" smtClean="0">
                <a:latin typeface="微软雅黑"/>
                <a:ea typeface="微软雅黑"/>
                <a:cs typeface="微软雅黑"/>
              </a:rPr>
              <a:t>MySQL</a:t>
            </a:r>
            <a:r>
              <a:rPr lang="zh-CN" altLang="en-US" smtClean="0">
                <a:latin typeface="微软雅黑"/>
                <a:ea typeface="微软雅黑"/>
                <a:cs typeface="微软雅黑"/>
              </a:rPr>
              <a:t>集群替换</a:t>
            </a:r>
            <a:r>
              <a:rPr lang="en-US" altLang="zh-CN" smtClean="0">
                <a:latin typeface="微软雅黑"/>
                <a:ea typeface="微软雅黑"/>
                <a:cs typeface="微软雅黑"/>
              </a:rPr>
              <a:t>Oracle</a:t>
            </a:r>
          </a:p>
        </p:txBody>
      </p:sp>
      <p:sp>
        <p:nvSpPr>
          <p:cNvPr id="24589" name="AutoShape 29"/>
          <p:cNvSpPr>
            <a:spLocks noChangeArrowheads="1"/>
          </p:cNvSpPr>
          <p:nvPr/>
        </p:nvSpPr>
        <p:spPr bwMode="auto">
          <a:xfrm>
            <a:off x="4953000" y="2362200"/>
            <a:ext cx="1143000" cy="838200"/>
          </a:xfrm>
          <a:prstGeom prst="can">
            <a:avLst>
              <a:gd name="adj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400">
                <a:ea typeface="宋体" charset="-122"/>
              </a:rPr>
              <a:t>MySQL</a:t>
            </a:r>
          </a:p>
        </p:txBody>
      </p:sp>
      <p:sp>
        <p:nvSpPr>
          <p:cNvPr id="24590" name="AutoShape 30"/>
          <p:cNvSpPr>
            <a:spLocks noChangeArrowheads="1"/>
          </p:cNvSpPr>
          <p:nvPr/>
        </p:nvSpPr>
        <p:spPr bwMode="auto">
          <a:xfrm>
            <a:off x="6248400" y="2362200"/>
            <a:ext cx="1143000" cy="838200"/>
          </a:xfrm>
          <a:prstGeom prst="can">
            <a:avLst>
              <a:gd name="adj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400">
                <a:ea typeface="宋体" charset="-122"/>
              </a:rPr>
              <a:t>MySQL</a:t>
            </a:r>
          </a:p>
        </p:txBody>
      </p:sp>
      <p:sp>
        <p:nvSpPr>
          <p:cNvPr id="24591" name="AutoShape 31"/>
          <p:cNvSpPr>
            <a:spLocks noChangeArrowheads="1"/>
          </p:cNvSpPr>
          <p:nvPr/>
        </p:nvSpPr>
        <p:spPr bwMode="auto">
          <a:xfrm>
            <a:off x="7543800" y="2362200"/>
            <a:ext cx="1143000" cy="838200"/>
          </a:xfrm>
          <a:prstGeom prst="can">
            <a:avLst>
              <a:gd name="adj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400">
                <a:ea typeface="宋体" charset="-122"/>
              </a:rPr>
              <a:t>MySQL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151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800" smtClean="0">
                <a:solidFill>
                  <a:srgbClr val="C0C0C0"/>
                </a:solidFill>
                <a:latin typeface="微软雅黑"/>
                <a:ea typeface="微软雅黑"/>
                <a:cs typeface="微软雅黑"/>
              </a:rPr>
              <a:t>Oracle</a:t>
            </a:r>
            <a:r>
              <a:rPr lang="zh-CN" altLang="en-US" sz="2800" smtClean="0">
                <a:solidFill>
                  <a:srgbClr val="C0C0C0"/>
                </a:solidFill>
                <a:latin typeface="微软雅黑"/>
                <a:ea typeface="微软雅黑"/>
                <a:cs typeface="微软雅黑"/>
              </a:rPr>
              <a:t>单点数据库</a:t>
            </a:r>
          </a:p>
          <a:p>
            <a:pPr eaLnBrk="1" hangingPunct="1"/>
            <a:r>
              <a:rPr lang="zh-CN" altLang="en-US" sz="2800" smtClean="0">
                <a:solidFill>
                  <a:srgbClr val="FF0000"/>
                </a:solidFill>
                <a:ea typeface="微软雅黑"/>
                <a:cs typeface="微软雅黑"/>
              </a:rPr>
              <a:t>性能问题</a:t>
            </a:r>
          </a:p>
          <a:p>
            <a:pPr lvl="1" eaLnBrk="1" hangingPunct="1"/>
            <a:r>
              <a:rPr lang="zh-CN" altLang="zh-CN" sz="2400" smtClean="0">
                <a:solidFill>
                  <a:srgbClr val="C0C0C0"/>
                </a:solidFill>
              </a:rPr>
              <a:t>中文站</a:t>
            </a:r>
            <a:r>
              <a:rPr lang="en-US" altLang="zh-CN" sz="2400" smtClean="0">
                <a:solidFill>
                  <a:srgbClr val="C0C0C0"/>
                </a:solidFill>
              </a:rPr>
              <a:t>offer</a:t>
            </a:r>
            <a:r>
              <a:rPr lang="zh-CN" altLang="zh-CN" sz="2400" smtClean="0">
                <a:solidFill>
                  <a:srgbClr val="C0C0C0"/>
                </a:solidFill>
              </a:rPr>
              <a:t>总数</a:t>
            </a:r>
            <a:r>
              <a:rPr lang="zh-CN" altLang="en-US" sz="2400" smtClean="0">
                <a:solidFill>
                  <a:srgbClr val="C0C0C0"/>
                </a:solidFill>
              </a:rPr>
              <a:t>：</a:t>
            </a:r>
            <a:r>
              <a:rPr lang="en-US" altLang="zh-CN" sz="2400" smtClean="0">
                <a:solidFill>
                  <a:srgbClr val="C0C0C0"/>
                </a:solidFill>
              </a:rPr>
              <a:t>08</a:t>
            </a:r>
            <a:r>
              <a:rPr lang="zh-CN" altLang="en-US" sz="2400" smtClean="0">
                <a:solidFill>
                  <a:srgbClr val="C0C0C0"/>
                </a:solidFill>
              </a:rPr>
              <a:t>年</a:t>
            </a:r>
            <a:r>
              <a:rPr lang="en-US" altLang="zh-CN" sz="2400" smtClean="0">
                <a:solidFill>
                  <a:srgbClr val="C0C0C0"/>
                </a:solidFill>
              </a:rPr>
              <a:t>1</a:t>
            </a:r>
            <a:r>
              <a:rPr lang="zh-CN" altLang="en-US" sz="2400" smtClean="0">
                <a:solidFill>
                  <a:srgbClr val="C0C0C0"/>
                </a:solidFill>
              </a:rPr>
              <a:t>亿 </a:t>
            </a:r>
            <a:r>
              <a:rPr lang="en-US" altLang="zh-CN" sz="2400" smtClean="0">
                <a:solidFill>
                  <a:srgbClr val="C0C0C0"/>
                </a:solidFill>
              </a:rPr>
              <a:t>-&gt; </a:t>
            </a:r>
            <a:r>
              <a:rPr lang="zh-CN" altLang="en-US" sz="2400" smtClean="0">
                <a:solidFill>
                  <a:srgbClr val="C0C0C0"/>
                </a:solidFill>
              </a:rPr>
              <a:t>今天</a:t>
            </a:r>
            <a:r>
              <a:rPr lang="en-US" altLang="zh-CN" sz="2400" smtClean="0">
                <a:solidFill>
                  <a:srgbClr val="C0C0C0"/>
                </a:solidFill>
              </a:rPr>
              <a:t>3</a:t>
            </a:r>
            <a:r>
              <a:rPr lang="zh-CN" altLang="en-US" sz="2400" smtClean="0">
                <a:solidFill>
                  <a:srgbClr val="C0C0C0"/>
                </a:solidFill>
              </a:rPr>
              <a:t>亿</a:t>
            </a:r>
          </a:p>
          <a:p>
            <a:pPr lvl="1" eaLnBrk="1" hangingPunct="1"/>
            <a:r>
              <a:rPr lang="zh-CN" altLang="en-US" sz="2400" smtClean="0">
                <a:solidFill>
                  <a:srgbClr val="C0C0C0"/>
                </a:solidFill>
              </a:rPr>
              <a:t>高峰时：</a:t>
            </a:r>
            <a:r>
              <a:rPr lang="en-US" altLang="zh-CN" sz="2400" smtClean="0">
                <a:solidFill>
                  <a:srgbClr val="C0C0C0"/>
                </a:solidFill>
              </a:rPr>
              <a:t>load 30</a:t>
            </a:r>
            <a:r>
              <a:rPr lang="zh-CN" altLang="en-US" sz="2400" smtClean="0">
                <a:solidFill>
                  <a:srgbClr val="C0C0C0"/>
                </a:solidFill>
              </a:rPr>
              <a:t>、</a:t>
            </a:r>
            <a:r>
              <a:rPr lang="en-US" altLang="zh-CN" sz="2400" smtClean="0">
                <a:solidFill>
                  <a:srgbClr val="C0C0C0"/>
                </a:solidFill>
              </a:rPr>
              <a:t>cpu</a:t>
            </a:r>
            <a:r>
              <a:rPr lang="zh-CN" altLang="en-US" sz="2400" smtClean="0">
                <a:solidFill>
                  <a:srgbClr val="C0C0C0"/>
                </a:solidFill>
              </a:rPr>
              <a:t>使用率</a:t>
            </a:r>
            <a:r>
              <a:rPr lang="en-US" altLang="zh-CN" sz="2400" smtClean="0">
                <a:solidFill>
                  <a:srgbClr val="C0C0C0"/>
                </a:solidFill>
              </a:rPr>
              <a:t>90%</a:t>
            </a:r>
          </a:p>
          <a:p>
            <a:pPr eaLnBrk="1" hangingPunct="1"/>
            <a:r>
              <a:rPr lang="zh-CN" altLang="en-US" sz="2800" smtClean="0">
                <a:solidFill>
                  <a:srgbClr val="C0C0C0"/>
                </a:solidFill>
                <a:ea typeface="微软雅黑"/>
                <a:cs typeface="微软雅黑"/>
              </a:rPr>
              <a:t>数据库连接过多</a:t>
            </a:r>
          </a:p>
          <a:p>
            <a:pPr eaLnBrk="1" hangingPunct="1"/>
            <a:r>
              <a:rPr lang="zh-CN" altLang="en-US" sz="2800" smtClean="0">
                <a:solidFill>
                  <a:srgbClr val="C0C0C0"/>
                </a:solidFill>
                <a:ea typeface="微软雅黑"/>
                <a:cs typeface="微软雅黑"/>
              </a:rPr>
              <a:t>可用性问题</a:t>
            </a:r>
          </a:p>
          <a:p>
            <a:pPr lvl="1" eaLnBrk="1" hangingPunct="1"/>
            <a:r>
              <a:rPr lang="en-US" altLang="zh-CN" sz="2400" smtClean="0">
                <a:solidFill>
                  <a:srgbClr val="C0C0C0"/>
                </a:solidFill>
              </a:rPr>
              <a:t>Standby</a:t>
            </a:r>
            <a:r>
              <a:rPr lang="zh-CN" altLang="en-US" sz="2400" smtClean="0">
                <a:solidFill>
                  <a:srgbClr val="C0C0C0"/>
                </a:solidFill>
              </a:rPr>
              <a:t>切换故障</a:t>
            </a:r>
          </a:p>
          <a:p>
            <a:pPr eaLnBrk="1" hangingPunct="1"/>
            <a:r>
              <a:rPr lang="zh-CN" altLang="en-US" sz="2800" smtClean="0">
                <a:solidFill>
                  <a:srgbClr val="C0C0C0"/>
                </a:solidFill>
                <a:ea typeface="微软雅黑"/>
                <a:cs typeface="微软雅黑"/>
              </a:rPr>
              <a:t>成本和伸缩性问题</a:t>
            </a:r>
          </a:p>
          <a:p>
            <a:pPr lvl="1" eaLnBrk="1" hangingPunct="1"/>
            <a:r>
              <a:rPr lang="zh-CN" altLang="en-US" sz="2400" smtClean="0">
                <a:solidFill>
                  <a:srgbClr val="C0C0C0"/>
                </a:solidFill>
              </a:rPr>
              <a:t>依赖高成本的硬件设备</a:t>
            </a:r>
          </a:p>
          <a:p>
            <a:pPr eaLnBrk="1" hangingPunct="1"/>
            <a:endParaRPr lang="en-US" altLang="zh-CN" sz="2800" smtClean="0">
              <a:solidFill>
                <a:srgbClr val="C0C0C0"/>
              </a:solidFill>
              <a:latin typeface="宋体" charset="-122"/>
            </a:endParaRPr>
          </a:p>
        </p:txBody>
      </p:sp>
      <p:sp>
        <p:nvSpPr>
          <p:cNvPr id="25602" name="AutoShape 140"/>
          <p:cNvSpPr>
            <a:spLocks noChangeArrowheads="1"/>
          </p:cNvSpPr>
          <p:nvPr/>
        </p:nvSpPr>
        <p:spPr bwMode="auto">
          <a:xfrm>
            <a:off x="6096000" y="4802188"/>
            <a:ext cx="2514600" cy="1676400"/>
          </a:xfrm>
          <a:prstGeom prst="can">
            <a:avLst>
              <a:gd name="adj" fmla="val 25093"/>
            </a:avLst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zh-CN" sz="4000">
              <a:latin typeface="微软雅黑"/>
            </a:endParaRPr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CN" smtClean="0">
                <a:latin typeface="微软雅黑"/>
                <a:ea typeface="微软雅黑"/>
                <a:cs typeface="微软雅黑"/>
              </a:rPr>
              <a:t>Cobar</a:t>
            </a:r>
            <a:r>
              <a:rPr lang="zh-CN" altLang="en-US" smtClean="0">
                <a:latin typeface="微软雅黑"/>
                <a:ea typeface="微软雅黑"/>
                <a:cs typeface="微软雅黑"/>
              </a:rPr>
              <a:t>引入 水平拆分</a:t>
            </a:r>
          </a:p>
        </p:txBody>
      </p:sp>
      <p:sp>
        <p:nvSpPr>
          <p:cNvPr id="25604" name="AutoShape 3"/>
          <p:cNvSpPr>
            <a:spLocks noChangeArrowheads="1"/>
          </p:cNvSpPr>
          <p:nvPr/>
        </p:nvSpPr>
        <p:spPr bwMode="auto">
          <a:xfrm>
            <a:off x="6096000" y="1144588"/>
            <a:ext cx="2514600" cy="1676400"/>
          </a:xfrm>
          <a:prstGeom prst="can">
            <a:avLst>
              <a:gd name="adj" fmla="val 25093"/>
            </a:avLst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zh-CN" sz="4000">
              <a:latin typeface="微软雅黑"/>
            </a:endParaRPr>
          </a:p>
        </p:txBody>
      </p:sp>
      <p:graphicFrame>
        <p:nvGraphicFramePr>
          <p:cNvPr id="66653" name="Group 93"/>
          <p:cNvGraphicFramePr>
            <a:graphicFrameLocks noGrp="1"/>
          </p:cNvGraphicFramePr>
          <p:nvPr/>
        </p:nvGraphicFramePr>
        <p:xfrm>
          <a:off x="6299200" y="1677988"/>
          <a:ext cx="2082800" cy="914400"/>
        </p:xfrm>
        <a:graphic>
          <a:graphicData uri="http://schemas.openxmlformats.org/drawingml/2006/table">
            <a:tbl>
              <a:tblPr/>
              <a:tblGrid>
                <a:gridCol w="361950"/>
                <a:gridCol w="1112838"/>
                <a:gridCol w="608012"/>
              </a:tblGrid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MEMBE_ID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INFO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pavarotti17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pavarotti17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623" name="Rectangle 46"/>
          <p:cNvSpPr>
            <a:spLocks noChangeArrowheads="1"/>
          </p:cNvSpPr>
          <p:nvPr/>
        </p:nvSpPr>
        <p:spPr bwMode="auto">
          <a:xfrm>
            <a:off x="6834188" y="1143000"/>
            <a:ext cx="946150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/>
              <a:t>MySQL</a:t>
            </a:r>
          </a:p>
        </p:txBody>
      </p:sp>
      <p:graphicFrame>
        <p:nvGraphicFramePr>
          <p:cNvPr id="66699" name="Group 139"/>
          <p:cNvGraphicFramePr>
            <a:graphicFrameLocks noGrp="1"/>
          </p:cNvGraphicFramePr>
          <p:nvPr/>
        </p:nvGraphicFramePr>
        <p:xfrm>
          <a:off x="6324600" y="5334000"/>
          <a:ext cx="2082800" cy="914400"/>
        </p:xfrm>
        <a:graphic>
          <a:graphicData uri="http://schemas.openxmlformats.org/drawingml/2006/table">
            <a:tbl>
              <a:tblPr/>
              <a:tblGrid>
                <a:gridCol w="361950"/>
                <a:gridCol w="1112838"/>
                <a:gridCol w="608012"/>
              </a:tblGrid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MEMBE_ID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INFO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test1234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5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test1234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642" name="AutoShape 94"/>
          <p:cNvSpPr>
            <a:spLocks noChangeArrowheads="1"/>
          </p:cNvSpPr>
          <p:nvPr/>
        </p:nvSpPr>
        <p:spPr bwMode="auto">
          <a:xfrm>
            <a:off x="6096000" y="2895600"/>
            <a:ext cx="2514600" cy="1828800"/>
          </a:xfrm>
          <a:prstGeom prst="can">
            <a:avLst>
              <a:gd name="adj" fmla="val 19880"/>
            </a:avLst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zh-CN" sz="4000">
              <a:latin typeface="微软雅黑"/>
            </a:endParaRPr>
          </a:p>
        </p:txBody>
      </p:sp>
      <p:graphicFrame>
        <p:nvGraphicFramePr>
          <p:cNvPr id="66696" name="Group 136"/>
          <p:cNvGraphicFramePr>
            <a:graphicFrameLocks noGrp="1"/>
          </p:cNvGraphicFramePr>
          <p:nvPr/>
        </p:nvGraphicFramePr>
        <p:xfrm>
          <a:off x="6299200" y="3352800"/>
          <a:ext cx="2082800" cy="1219200"/>
        </p:xfrm>
        <a:graphic>
          <a:graphicData uri="http://schemas.openxmlformats.org/drawingml/2006/table">
            <a:tbl>
              <a:tblPr/>
              <a:tblGrid>
                <a:gridCol w="361950"/>
                <a:gridCol w="1112838"/>
                <a:gridCol w="608012"/>
              </a:tblGrid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MEMBE_ID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INFO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abcd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9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abcd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68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20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abcd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665" name="Rectangle 137"/>
          <p:cNvSpPr>
            <a:spLocks noChangeArrowheads="1"/>
          </p:cNvSpPr>
          <p:nvPr/>
        </p:nvSpPr>
        <p:spPr bwMode="auto">
          <a:xfrm>
            <a:off x="6826250" y="2895600"/>
            <a:ext cx="946150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/>
              <a:t>MySQL</a:t>
            </a:r>
          </a:p>
        </p:txBody>
      </p:sp>
      <p:sp>
        <p:nvSpPr>
          <p:cNvPr id="25666" name="Rectangle 141"/>
          <p:cNvSpPr>
            <a:spLocks noChangeArrowheads="1"/>
          </p:cNvSpPr>
          <p:nvPr/>
        </p:nvSpPr>
        <p:spPr bwMode="auto">
          <a:xfrm>
            <a:off x="6834188" y="4800600"/>
            <a:ext cx="946150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/>
              <a:t>MySQL</a:t>
            </a:r>
          </a:p>
        </p:txBody>
      </p:sp>
      <p:sp>
        <p:nvSpPr>
          <p:cNvPr id="25667" name="Rectangle 142"/>
          <p:cNvSpPr>
            <a:spLocks noChangeArrowheads="1"/>
          </p:cNvSpPr>
          <p:nvPr/>
        </p:nvSpPr>
        <p:spPr bwMode="auto">
          <a:xfrm>
            <a:off x="3657600" y="2667000"/>
            <a:ext cx="914400" cy="22860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微软雅黑"/>
              </a:rPr>
              <a:t>Cobar</a:t>
            </a:r>
          </a:p>
        </p:txBody>
      </p:sp>
      <p:cxnSp>
        <p:nvCxnSpPr>
          <p:cNvPr id="25668" name="AutoShape 143"/>
          <p:cNvCxnSpPr>
            <a:cxnSpLocks noChangeShapeType="1"/>
            <a:stCxn id="25667" idx="3"/>
            <a:endCxn id="25604" idx="2"/>
          </p:cNvCxnSpPr>
          <p:nvPr/>
        </p:nvCxnSpPr>
        <p:spPr bwMode="auto">
          <a:xfrm flipV="1">
            <a:off x="4572000" y="1982788"/>
            <a:ext cx="1524000" cy="18272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5669" name="AutoShape 144"/>
          <p:cNvCxnSpPr>
            <a:cxnSpLocks noChangeShapeType="1"/>
            <a:stCxn id="25667" idx="3"/>
            <a:endCxn id="25642" idx="2"/>
          </p:cNvCxnSpPr>
          <p:nvPr/>
        </p:nvCxnSpPr>
        <p:spPr bwMode="auto">
          <a:xfrm>
            <a:off x="4572000" y="3810000"/>
            <a:ext cx="15240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5670" name="AutoShape 145"/>
          <p:cNvCxnSpPr>
            <a:cxnSpLocks noChangeShapeType="1"/>
            <a:stCxn id="25667" idx="3"/>
            <a:endCxn id="25602" idx="2"/>
          </p:cNvCxnSpPr>
          <p:nvPr/>
        </p:nvCxnSpPr>
        <p:spPr bwMode="auto">
          <a:xfrm>
            <a:off x="4572000" y="3810000"/>
            <a:ext cx="1524000" cy="18303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5671" name="Rectangle 149"/>
          <p:cNvSpPr>
            <a:spLocks noChangeArrowheads="1"/>
          </p:cNvSpPr>
          <p:nvPr/>
        </p:nvSpPr>
        <p:spPr bwMode="auto">
          <a:xfrm>
            <a:off x="914400" y="3429000"/>
            <a:ext cx="1371600" cy="7620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微软雅黑"/>
              </a:rPr>
              <a:t>App</a:t>
            </a:r>
          </a:p>
        </p:txBody>
      </p:sp>
      <p:cxnSp>
        <p:nvCxnSpPr>
          <p:cNvPr id="25672" name="AutoShape 150"/>
          <p:cNvCxnSpPr>
            <a:cxnSpLocks noChangeShapeType="1"/>
            <a:stCxn id="25671" idx="3"/>
            <a:endCxn id="25667" idx="1"/>
          </p:cNvCxnSpPr>
          <p:nvPr/>
        </p:nvCxnSpPr>
        <p:spPr bwMode="auto">
          <a:xfrm>
            <a:off x="2286000" y="3810000"/>
            <a:ext cx="1371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01"/>
          <p:cNvSpPr>
            <a:spLocks noChangeArrowheads="1"/>
          </p:cNvSpPr>
          <p:nvPr/>
        </p:nvSpPr>
        <p:spPr bwMode="auto">
          <a:xfrm>
            <a:off x="457200" y="1646238"/>
            <a:ext cx="8229600" cy="4525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altLang="zh-CN" sz="2800">
                <a:solidFill>
                  <a:srgbClr val="C0C0C0"/>
                </a:solidFill>
                <a:latin typeface="微软雅黑"/>
              </a:rPr>
              <a:t>Oracle</a:t>
            </a:r>
            <a:r>
              <a:rPr lang="zh-CN" altLang="en-US" sz="2800">
                <a:solidFill>
                  <a:srgbClr val="C0C0C0"/>
                </a:solidFill>
                <a:latin typeface="微软雅黑"/>
              </a:rPr>
              <a:t>单点数据库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zh-CN" altLang="en-US" sz="2800">
                <a:solidFill>
                  <a:srgbClr val="C0C0C0"/>
                </a:solidFill>
                <a:latin typeface="微软雅黑"/>
              </a:rPr>
              <a:t>性能问题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zh-CN" altLang="zh-CN" sz="2400">
                <a:solidFill>
                  <a:srgbClr val="C0C0C0"/>
                </a:solidFill>
                <a:latin typeface="Times New Roman" pitchFamily="18" charset="0"/>
                <a:ea typeface="宋体" charset="-122"/>
              </a:rPr>
              <a:t>中文站</a:t>
            </a:r>
            <a:r>
              <a:rPr lang="en-US" altLang="zh-CN" sz="2400">
                <a:solidFill>
                  <a:srgbClr val="C0C0C0"/>
                </a:solidFill>
                <a:latin typeface="Times New Roman" pitchFamily="18" charset="0"/>
                <a:ea typeface="宋体" charset="-122"/>
              </a:rPr>
              <a:t>offer</a:t>
            </a:r>
            <a:r>
              <a:rPr lang="zh-CN" altLang="zh-CN" sz="2400">
                <a:solidFill>
                  <a:srgbClr val="C0C0C0"/>
                </a:solidFill>
                <a:latin typeface="Times New Roman" pitchFamily="18" charset="0"/>
                <a:ea typeface="宋体" charset="-122"/>
              </a:rPr>
              <a:t>总数</a:t>
            </a:r>
            <a:r>
              <a:rPr lang="zh-CN" altLang="en-US" sz="2400">
                <a:solidFill>
                  <a:srgbClr val="C0C0C0"/>
                </a:solidFill>
                <a:latin typeface="Times New Roman" pitchFamily="18" charset="0"/>
                <a:ea typeface="宋体" charset="-122"/>
              </a:rPr>
              <a:t>：</a:t>
            </a:r>
            <a:r>
              <a:rPr lang="en-US" altLang="zh-CN" sz="2400">
                <a:solidFill>
                  <a:srgbClr val="C0C0C0"/>
                </a:solidFill>
                <a:latin typeface="Times New Roman" pitchFamily="18" charset="0"/>
                <a:ea typeface="宋体" charset="-122"/>
              </a:rPr>
              <a:t>08</a:t>
            </a:r>
            <a:r>
              <a:rPr lang="zh-CN" altLang="en-US" sz="2400">
                <a:solidFill>
                  <a:srgbClr val="C0C0C0"/>
                </a:solidFill>
                <a:latin typeface="Times New Roman" pitchFamily="18" charset="0"/>
                <a:ea typeface="宋体" charset="-122"/>
              </a:rPr>
              <a:t>年</a:t>
            </a:r>
            <a:r>
              <a:rPr lang="en-US" altLang="zh-CN" sz="2400">
                <a:solidFill>
                  <a:srgbClr val="C0C0C0"/>
                </a:solidFill>
                <a:latin typeface="Times New Roman" pitchFamily="18" charset="0"/>
                <a:ea typeface="宋体" charset="-122"/>
              </a:rPr>
              <a:t>1</a:t>
            </a:r>
            <a:r>
              <a:rPr lang="zh-CN" altLang="en-US" sz="2400">
                <a:solidFill>
                  <a:srgbClr val="C0C0C0"/>
                </a:solidFill>
                <a:latin typeface="Times New Roman" pitchFamily="18" charset="0"/>
                <a:ea typeface="宋体" charset="-122"/>
              </a:rPr>
              <a:t>亿 </a:t>
            </a:r>
            <a:r>
              <a:rPr lang="en-US" altLang="zh-CN" sz="2400">
                <a:solidFill>
                  <a:srgbClr val="C0C0C0"/>
                </a:solidFill>
                <a:latin typeface="Times New Roman" pitchFamily="18" charset="0"/>
                <a:ea typeface="宋体" charset="-122"/>
              </a:rPr>
              <a:t>-&gt; </a:t>
            </a:r>
            <a:r>
              <a:rPr lang="zh-CN" altLang="en-US" sz="2400">
                <a:solidFill>
                  <a:srgbClr val="C0C0C0"/>
                </a:solidFill>
                <a:latin typeface="Times New Roman" pitchFamily="18" charset="0"/>
                <a:ea typeface="宋体" charset="-122"/>
              </a:rPr>
              <a:t>今天</a:t>
            </a:r>
            <a:r>
              <a:rPr lang="en-US" altLang="zh-CN" sz="2400">
                <a:solidFill>
                  <a:srgbClr val="C0C0C0"/>
                </a:solidFill>
                <a:latin typeface="Times New Roman" pitchFamily="18" charset="0"/>
                <a:ea typeface="宋体" charset="-122"/>
              </a:rPr>
              <a:t>3</a:t>
            </a:r>
            <a:r>
              <a:rPr lang="zh-CN" altLang="en-US" sz="2400">
                <a:solidFill>
                  <a:srgbClr val="C0C0C0"/>
                </a:solidFill>
                <a:latin typeface="Times New Roman" pitchFamily="18" charset="0"/>
                <a:ea typeface="宋体" charset="-122"/>
              </a:rPr>
              <a:t>亿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zh-CN" altLang="en-US" sz="2400">
                <a:solidFill>
                  <a:srgbClr val="C0C0C0"/>
                </a:solidFill>
                <a:latin typeface="Times New Roman" pitchFamily="18" charset="0"/>
                <a:ea typeface="宋体" charset="-122"/>
              </a:rPr>
              <a:t>高峰时：</a:t>
            </a:r>
            <a:r>
              <a:rPr lang="en-US" altLang="zh-CN" sz="2400">
                <a:solidFill>
                  <a:srgbClr val="C0C0C0"/>
                </a:solidFill>
                <a:latin typeface="Times New Roman" pitchFamily="18" charset="0"/>
                <a:ea typeface="宋体" charset="-122"/>
              </a:rPr>
              <a:t>load 30</a:t>
            </a:r>
            <a:r>
              <a:rPr lang="zh-CN" altLang="en-US" sz="2400">
                <a:solidFill>
                  <a:srgbClr val="C0C0C0"/>
                </a:solidFill>
                <a:latin typeface="Times New Roman" pitchFamily="18" charset="0"/>
                <a:ea typeface="宋体" charset="-122"/>
              </a:rPr>
              <a:t>、</a:t>
            </a:r>
            <a:r>
              <a:rPr lang="en-US" altLang="zh-CN" sz="2400">
                <a:solidFill>
                  <a:srgbClr val="C0C0C0"/>
                </a:solidFill>
                <a:latin typeface="Times New Roman" pitchFamily="18" charset="0"/>
                <a:ea typeface="宋体" charset="-122"/>
              </a:rPr>
              <a:t>cpu</a:t>
            </a:r>
            <a:r>
              <a:rPr lang="zh-CN" altLang="en-US" sz="2400">
                <a:solidFill>
                  <a:srgbClr val="C0C0C0"/>
                </a:solidFill>
                <a:latin typeface="Times New Roman" pitchFamily="18" charset="0"/>
                <a:ea typeface="宋体" charset="-122"/>
              </a:rPr>
              <a:t>使用率</a:t>
            </a:r>
            <a:r>
              <a:rPr lang="en-US" altLang="zh-CN" sz="2400">
                <a:solidFill>
                  <a:srgbClr val="C0C0C0"/>
                </a:solidFill>
                <a:latin typeface="Times New Roman" pitchFamily="18" charset="0"/>
                <a:ea typeface="宋体" charset="-122"/>
              </a:rPr>
              <a:t>90%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zh-CN" altLang="en-US" sz="2800">
                <a:solidFill>
                  <a:srgbClr val="FF0000"/>
                </a:solidFill>
                <a:latin typeface="微软雅黑"/>
              </a:rPr>
              <a:t>数据库连接过多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zh-CN" altLang="en-US" sz="2800">
                <a:solidFill>
                  <a:srgbClr val="C0C0C0"/>
                </a:solidFill>
                <a:latin typeface="微软雅黑"/>
              </a:rPr>
              <a:t>可用性问题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altLang="zh-CN" sz="2400">
                <a:solidFill>
                  <a:srgbClr val="C0C0C0"/>
                </a:solidFill>
                <a:latin typeface="Times New Roman" pitchFamily="18" charset="0"/>
                <a:ea typeface="宋体" charset="-122"/>
              </a:rPr>
              <a:t>Standby</a:t>
            </a:r>
            <a:r>
              <a:rPr lang="zh-CN" altLang="en-US" sz="2400">
                <a:solidFill>
                  <a:srgbClr val="C0C0C0"/>
                </a:solidFill>
                <a:latin typeface="Times New Roman" pitchFamily="18" charset="0"/>
                <a:ea typeface="宋体" charset="-122"/>
              </a:rPr>
              <a:t>切换故障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zh-CN" altLang="en-US" sz="2800">
                <a:solidFill>
                  <a:srgbClr val="C0C0C0"/>
                </a:solidFill>
                <a:latin typeface="微软雅黑"/>
              </a:rPr>
              <a:t>成本和伸缩性问题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zh-CN" altLang="en-US" sz="2400">
                <a:solidFill>
                  <a:srgbClr val="C0C0C0"/>
                </a:solidFill>
                <a:latin typeface="Times New Roman" pitchFamily="18" charset="0"/>
                <a:ea typeface="宋体" charset="-122"/>
              </a:rPr>
              <a:t>依赖高成本的硬件设备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altLang="zh-CN" sz="2800">
              <a:solidFill>
                <a:srgbClr val="C0C0C0"/>
              </a:solidFill>
              <a:latin typeface="宋体" charset="-122"/>
              <a:ea typeface="宋体" charset="-122"/>
            </a:endParaRPr>
          </a:p>
        </p:txBody>
      </p:sp>
      <p:sp>
        <p:nvSpPr>
          <p:cNvPr id="26626" name="AutoShape 5"/>
          <p:cNvSpPr>
            <a:spLocks noChangeArrowheads="1"/>
          </p:cNvSpPr>
          <p:nvPr/>
        </p:nvSpPr>
        <p:spPr bwMode="auto">
          <a:xfrm>
            <a:off x="6248400" y="4724400"/>
            <a:ext cx="2514600" cy="1676400"/>
          </a:xfrm>
          <a:prstGeom prst="can">
            <a:avLst>
              <a:gd name="adj" fmla="val 25093"/>
            </a:avLst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zh-CN" sz="4000">
              <a:latin typeface="微软雅黑"/>
            </a:endParaRPr>
          </a:p>
        </p:txBody>
      </p:sp>
      <p:sp>
        <p:nvSpPr>
          <p:cNvPr id="26627" name="AutoShape 6"/>
          <p:cNvSpPr>
            <a:spLocks noChangeArrowheads="1"/>
          </p:cNvSpPr>
          <p:nvPr/>
        </p:nvSpPr>
        <p:spPr bwMode="auto">
          <a:xfrm>
            <a:off x="6248400" y="1066800"/>
            <a:ext cx="2514600" cy="1676400"/>
          </a:xfrm>
          <a:prstGeom prst="can">
            <a:avLst>
              <a:gd name="adj" fmla="val 25093"/>
            </a:avLst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zh-CN" sz="4000">
              <a:latin typeface="微软雅黑"/>
            </a:endParaRPr>
          </a:p>
        </p:txBody>
      </p:sp>
      <p:sp>
        <p:nvSpPr>
          <p:cNvPr id="26628" name="Rectangle 7"/>
          <p:cNvSpPr>
            <a:spLocks noChangeArrowheads="1"/>
          </p:cNvSpPr>
          <p:nvPr/>
        </p:nvSpPr>
        <p:spPr bwMode="auto">
          <a:xfrm>
            <a:off x="3581400" y="1524000"/>
            <a:ext cx="1066800" cy="5334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微软雅黑"/>
              </a:rPr>
              <a:t>App</a:t>
            </a:r>
          </a:p>
        </p:txBody>
      </p:sp>
      <p:graphicFrame>
        <p:nvGraphicFramePr>
          <p:cNvPr id="85000" name="Group 8"/>
          <p:cNvGraphicFramePr>
            <a:graphicFrameLocks noGrp="1"/>
          </p:cNvGraphicFramePr>
          <p:nvPr/>
        </p:nvGraphicFramePr>
        <p:xfrm>
          <a:off x="6451600" y="1600200"/>
          <a:ext cx="2082800" cy="914400"/>
        </p:xfrm>
        <a:graphic>
          <a:graphicData uri="http://schemas.openxmlformats.org/drawingml/2006/table">
            <a:tbl>
              <a:tblPr/>
              <a:tblGrid>
                <a:gridCol w="361950"/>
                <a:gridCol w="1112838"/>
                <a:gridCol w="608012"/>
              </a:tblGrid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MEMBE_ID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INFO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pavarotti17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pavarotti17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6647" name="Rectangle 26"/>
          <p:cNvSpPr>
            <a:spLocks noChangeArrowheads="1"/>
          </p:cNvSpPr>
          <p:nvPr/>
        </p:nvSpPr>
        <p:spPr bwMode="auto">
          <a:xfrm>
            <a:off x="6986588" y="1065213"/>
            <a:ext cx="94615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/>
              <a:t>MySQL</a:t>
            </a:r>
          </a:p>
        </p:txBody>
      </p:sp>
      <p:cxnSp>
        <p:nvCxnSpPr>
          <p:cNvPr id="26648" name="AutoShape 27"/>
          <p:cNvCxnSpPr>
            <a:cxnSpLocks noChangeShapeType="1"/>
            <a:stCxn id="26628" idx="3"/>
            <a:endCxn id="26627" idx="2"/>
          </p:cNvCxnSpPr>
          <p:nvPr/>
        </p:nvCxnSpPr>
        <p:spPr bwMode="auto">
          <a:xfrm>
            <a:off x="4648200" y="1790700"/>
            <a:ext cx="1600200" cy="1143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graphicFrame>
        <p:nvGraphicFramePr>
          <p:cNvPr id="85020" name="Group 28"/>
          <p:cNvGraphicFramePr>
            <a:graphicFrameLocks noGrp="1"/>
          </p:cNvGraphicFramePr>
          <p:nvPr/>
        </p:nvGraphicFramePr>
        <p:xfrm>
          <a:off x="6477000" y="5256213"/>
          <a:ext cx="2082800" cy="914400"/>
        </p:xfrm>
        <a:graphic>
          <a:graphicData uri="http://schemas.openxmlformats.org/drawingml/2006/table">
            <a:tbl>
              <a:tblPr/>
              <a:tblGrid>
                <a:gridCol w="361950"/>
                <a:gridCol w="1112838"/>
                <a:gridCol w="608012"/>
              </a:tblGrid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MEMBE_ID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INFO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test1234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5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test1234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6667" name="AutoShape 46"/>
          <p:cNvSpPr>
            <a:spLocks noChangeArrowheads="1"/>
          </p:cNvSpPr>
          <p:nvPr/>
        </p:nvSpPr>
        <p:spPr bwMode="auto">
          <a:xfrm>
            <a:off x="6248400" y="2817813"/>
            <a:ext cx="2514600" cy="1828800"/>
          </a:xfrm>
          <a:prstGeom prst="can">
            <a:avLst>
              <a:gd name="adj" fmla="val 19880"/>
            </a:avLst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zh-CN" sz="4000">
              <a:latin typeface="微软雅黑"/>
            </a:endParaRPr>
          </a:p>
        </p:txBody>
      </p:sp>
      <p:graphicFrame>
        <p:nvGraphicFramePr>
          <p:cNvPr id="85039" name="Group 47"/>
          <p:cNvGraphicFramePr>
            <a:graphicFrameLocks noGrp="1"/>
          </p:cNvGraphicFramePr>
          <p:nvPr/>
        </p:nvGraphicFramePr>
        <p:xfrm>
          <a:off x="6451600" y="3275013"/>
          <a:ext cx="2082800" cy="1219200"/>
        </p:xfrm>
        <a:graphic>
          <a:graphicData uri="http://schemas.openxmlformats.org/drawingml/2006/table">
            <a:tbl>
              <a:tblPr/>
              <a:tblGrid>
                <a:gridCol w="361950"/>
                <a:gridCol w="1112838"/>
                <a:gridCol w="608012"/>
              </a:tblGrid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MEMBE_ID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INFO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abcd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9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abcd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68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20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abcd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6690" name="Rectangle 69"/>
          <p:cNvSpPr>
            <a:spLocks noChangeArrowheads="1"/>
          </p:cNvSpPr>
          <p:nvPr/>
        </p:nvSpPr>
        <p:spPr bwMode="auto">
          <a:xfrm>
            <a:off x="6978650" y="2817813"/>
            <a:ext cx="94615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/>
              <a:t>MySQL</a:t>
            </a:r>
          </a:p>
        </p:txBody>
      </p:sp>
      <p:sp>
        <p:nvSpPr>
          <p:cNvPr id="26691" name="Rectangle 70"/>
          <p:cNvSpPr>
            <a:spLocks noChangeArrowheads="1"/>
          </p:cNvSpPr>
          <p:nvPr/>
        </p:nvSpPr>
        <p:spPr bwMode="auto">
          <a:xfrm>
            <a:off x="6986588" y="4722813"/>
            <a:ext cx="94615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/>
              <a:t>MySQL</a:t>
            </a:r>
          </a:p>
        </p:txBody>
      </p:sp>
      <p:sp>
        <p:nvSpPr>
          <p:cNvPr id="26692" name="Rectangle 71"/>
          <p:cNvSpPr>
            <a:spLocks noChangeArrowheads="1"/>
          </p:cNvSpPr>
          <p:nvPr/>
        </p:nvSpPr>
        <p:spPr bwMode="auto">
          <a:xfrm>
            <a:off x="3581400" y="2133600"/>
            <a:ext cx="1066800" cy="5334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微软雅黑"/>
              </a:rPr>
              <a:t>App</a:t>
            </a:r>
          </a:p>
        </p:txBody>
      </p:sp>
      <p:cxnSp>
        <p:nvCxnSpPr>
          <p:cNvPr id="26693" name="AutoShape 72"/>
          <p:cNvCxnSpPr>
            <a:cxnSpLocks noChangeShapeType="1"/>
            <a:stCxn id="26692" idx="3"/>
            <a:endCxn id="26627" idx="2"/>
          </p:cNvCxnSpPr>
          <p:nvPr/>
        </p:nvCxnSpPr>
        <p:spPr bwMode="auto">
          <a:xfrm flipV="1">
            <a:off x="4648200" y="1905000"/>
            <a:ext cx="1600200" cy="4953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6694" name="Rectangle 73"/>
          <p:cNvSpPr>
            <a:spLocks noChangeArrowheads="1"/>
          </p:cNvSpPr>
          <p:nvPr/>
        </p:nvSpPr>
        <p:spPr bwMode="auto">
          <a:xfrm>
            <a:off x="3581400" y="2743200"/>
            <a:ext cx="1066800" cy="5334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微软雅黑"/>
              </a:rPr>
              <a:t>App</a:t>
            </a:r>
          </a:p>
        </p:txBody>
      </p:sp>
      <p:cxnSp>
        <p:nvCxnSpPr>
          <p:cNvPr id="26695" name="AutoShape 74"/>
          <p:cNvCxnSpPr>
            <a:cxnSpLocks noChangeShapeType="1"/>
            <a:stCxn id="26694" idx="3"/>
            <a:endCxn id="26627" idx="2"/>
          </p:cNvCxnSpPr>
          <p:nvPr/>
        </p:nvCxnSpPr>
        <p:spPr bwMode="auto">
          <a:xfrm flipV="1">
            <a:off x="4648200" y="1905000"/>
            <a:ext cx="1600200" cy="11049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6696" name="Rectangle 75"/>
          <p:cNvSpPr>
            <a:spLocks noChangeArrowheads="1"/>
          </p:cNvSpPr>
          <p:nvPr/>
        </p:nvSpPr>
        <p:spPr bwMode="auto">
          <a:xfrm>
            <a:off x="3581400" y="3352800"/>
            <a:ext cx="1066800" cy="5334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微软雅黑"/>
              </a:rPr>
              <a:t>App</a:t>
            </a:r>
          </a:p>
        </p:txBody>
      </p:sp>
      <p:cxnSp>
        <p:nvCxnSpPr>
          <p:cNvPr id="26697" name="AutoShape 76"/>
          <p:cNvCxnSpPr>
            <a:cxnSpLocks noChangeShapeType="1"/>
            <a:stCxn id="26696" idx="3"/>
            <a:endCxn id="26627" idx="2"/>
          </p:cNvCxnSpPr>
          <p:nvPr/>
        </p:nvCxnSpPr>
        <p:spPr bwMode="auto">
          <a:xfrm flipV="1">
            <a:off x="4648200" y="1905000"/>
            <a:ext cx="1600200" cy="17145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6698" name="Rectangle 77"/>
          <p:cNvSpPr>
            <a:spLocks noChangeArrowheads="1"/>
          </p:cNvSpPr>
          <p:nvPr/>
        </p:nvSpPr>
        <p:spPr bwMode="auto">
          <a:xfrm>
            <a:off x="3581400" y="3962400"/>
            <a:ext cx="1066800" cy="5334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微软雅黑"/>
              </a:rPr>
              <a:t>App</a:t>
            </a:r>
          </a:p>
        </p:txBody>
      </p:sp>
      <p:cxnSp>
        <p:nvCxnSpPr>
          <p:cNvPr id="26699" name="AutoShape 78"/>
          <p:cNvCxnSpPr>
            <a:cxnSpLocks noChangeShapeType="1"/>
            <a:stCxn id="26698" idx="3"/>
            <a:endCxn id="26627" idx="2"/>
          </p:cNvCxnSpPr>
          <p:nvPr/>
        </p:nvCxnSpPr>
        <p:spPr bwMode="auto">
          <a:xfrm flipV="1">
            <a:off x="4648200" y="1905000"/>
            <a:ext cx="1600200" cy="23241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6700" name="Rectangle 79"/>
          <p:cNvSpPr>
            <a:spLocks noChangeArrowheads="1"/>
          </p:cNvSpPr>
          <p:nvPr/>
        </p:nvSpPr>
        <p:spPr bwMode="auto">
          <a:xfrm>
            <a:off x="3581400" y="4572000"/>
            <a:ext cx="1066800" cy="5334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微软雅黑"/>
              </a:rPr>
              <a:t>App</a:t>
            </a:r>
          </a:p>
        </p:txBody>
      </p:sp>
      <p:cxnSp>
        <p:nvCxnSpPr>
          <p:cNvPr id="26701" name="AutoShape 80"/>
          <p:cNvCxnSpPr>
            <a:cxnSpLocks noChangeShapeType="1"/>
            <a:stCxn id="26700" idx="3"/>
            <a:endCxn id="26627" idx="2"/>
          </p:cNvCxnSpPr>
          <p:nvPr/>
        </p:nvCxnSpPr>
        <p:spPr bwMode="auto">
          <a:xfrm flipV="1">
            <a:off x="4648200" y="1905000"/>
            <a:ext cx="1600200" cy="29337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6702" name="Rectangle 81"/>
          <p:cNvSpPr>
            <a:spLocks noChangeArrowheads="1"/>
          </p:cNvSpPr>
          <p:nvPr/>
        </p:nvSpPr>
        <p:spPr bwMode="auto">
          <a:xfrm>
            <a:off x="3581400" y="5181600"/>
            <a:ext cx="1066800" cy="5334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微软雅黑"/>
              </a:rPr>
              <a:t>App</a:t>
            </a:r>
          </a:p>
        </p:txBody>
      </p:sp>
      <p:cxnSp>
        <p:nvCxnSpPr>
          <p:cNvPr id="26703" name="AutoShape 82"/>
          <p:cNvCxnSpPr>
            <a:cxnSpLocks noChangeShapeType="1"/>
            <a:stCxn id="26702" idx="3"/>
            <a:endCxn id="26627" idx="2"/>
          </p:cNvCxnSpPr>
          <p:nvPr/>
        </p:nvCxnSpPr>
        <p:spPr bwMode="auto">
          <a:xfrm flipV="1">
            <a:off x="4648200" y="1905000"/>
            <a:ext cx="1600200" cy="35433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6704" name="Rectangle 83"/>
          <p:cNvSpPr>
            <a:spLocks noChangeArrowheads="1"/>
          </p:cNvSpPr>
          <p:nvPr/>
        </p:nvSpPr>
        <p:spPr bwMode="auto">
          <a:xfrm>
            <a:off x="3581400" y="5791200"/>
            <a:ext cx="1066800" cy="5334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微软雅黑"/>
              </a:rPr>
              <a:t>App</a:t>
            </a:r>
          </a:p>
        </p:txBody>
      </p:sp>
      <p:cxnSp>
        <p:nvCxnSpPr>
          <p:cNvPr id="26705" name="AutoShape 84"/>
          <p:cNvCxnSpPr>
            <a:cxnSpLocks noChangeShapeType="1"/>
            <a:stCxn id="26704" idx="3"/>
            <a:endCxn id="26627" idx="2"/>
          </p:cNvCxnSpPr>
          <p:nvPr/>
        </p:nvCxnSpPr>
        <p:spPr bwMode="auto">
          <a:xfrm flipV="1">
            <a:off x="4648200" y="1905000"/>
            <a:ext cx="1600200" cy="41529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6706" name="AutoShape 85"/>
          <p:cNvCxnSpPr>
            <a:cxnSpLocks noChangeShapeType="1"/>
            <a:stCxn id="26628" idx="3"/>
            <a:endCxn id="26667" idx="2"/>
          </p:cNvCxnSpPr>
          <p:nvPr/>
        </p:nvCxnSpPr>
        <p:spPr bwMode="auto">
          <a:xfrm>
            <a:off x="4648200" y="1790700"/>
            <a:ext cx="1600200" cy="19415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6707" name="AutoShape 86"/>
          <p:cNvCxnSpPr>
            <a:cxnSpLocks noChangeShapeType="1"/>
            <a:stCxn id="26692" idx="3"/>
            <a:endCxn id="26667" idx="2"/>
          </p:cNvCxnSpPr>
          <p:nvPr/>
        </p:nvCxnSpPr>
        <p:spPr bwMode="auto">
          <a:xfrm>
            <a:off x="4648200" y="2400300"/>
            <a:ext cx="1600200" cy="13319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6708" name="AutoShape 87"/>
          <p:cNvCxnSpPr>
            <a:cxnSpLocks noChangeShapeType="1"/>
            <a:stCxn id="26694" idx="3"/>
            <a:endCxn id="26667" idx="2"/>
          </p:cNvCxnSpPr>
          <p:nvPr/>
        </p:nvCxnSpPr>
        <p:spPr bwMode="auto">
          <a:xfrm>
            <a:off x="4648200" y="3009900"/>
            <a:ext cx="1600200" cy="7223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6709" name="AutoShape 88"/>
          <p:cNvCxnSpPr>
            <a:cxnSpLocks noChangeShapeType="1"/>
            <a:stCxn id="26696" idx="3"/>
            <a:endCxn id="26667" idx="2"/>
          </p:cNvCxnSpPr>
          <p:nvPr/>
        </p:nvCxnSpPr>
        <p:spPr bwMode="auto">
          <a:xfrm>
            <a:off x="4648200" y="3619500"/>
            <a:ext cx="1600200" cy="1127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6710" name="AutoShape 89"/>
          <p:cNvCxnSpPr>
            <a:cxnSpLocks noChangeShapeType="1"/>
            <a:stCxn id="26698" idx="3"/>
            <a:endCxn id="26667" idx="2"/>
          </p:cNvCxnSpPr>
          <p:nvPr/>
        </p:nvCxnSpPr>
        <p:spPr bwMode="auto">
          <a:xfrm flipV="1">
            <a:off x="4648200" y="3732213"/>
            <a:ext cx="1600200" cy="4968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6711" name="AutoShape 90"/>
          <p:cNvCxnSpPr>
            <a:cxnSpLocks noChangeShapeType="1"/>
            <a:stCxn id="26700" idx="3"/>
            <a:endCxn id="26667" idx="2"/>
          </p:cNvCxnSpPr>
          <p:nvPr/>
        </p:nvCxnSpPr>
        <p:spPr bwMode="auto">
          <a:xfrm flipV="1">
            <a:off x="4648200" y="3732213"/>
            <a:ext cx="1600200" cy="11064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6712" name="AutoShape 91"/>
          <p:cNvCxnSpPr>
            <a:cxnSpLocks noChangeShapeType="1"/>
            <a:stCxn id="26702" idx="3"/>
            <a:endCxn id="26667" idx="2"/>
          </p:cNvCxnSpPr>
          <p:nvPr/>
        </p:nvCxnSpPr>
        <p:spPr bwMode="auto">
          <a:xfrm flipV="1">
            <a:off x="4648200" y="3732213"/>
            <a:ext cx="1600200" cy="17160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6713" name="AutoShape 92"/>
          <p:cNvCxnSpPr>
            <a:cxnSpLocks noChangeShapeType="1"/>
            <a:stCxn id="26704" idx="3"/>
            <a:endCxn id="26667" idx="2"/>
          </p:cNvCxnSpPr>
          <p:nvPr/>
        </p:nvCxnSpPr>
        <p:spPr bwMode="auto">
          <a:xfrm flipV="1">
            <a:off x="4648200" y="3732213"/>
            <a:ext cx="1600200" cy="23256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6714" name="AutoShape 93"/>
          <p:cNvCxnSpPr>
            <a:cxnSpLocks noChangeShapeType="1"/>
            <a:stCxn id="26628" idx="3"/>
            <a:endCxn id="26626" idx="2"/>
          </p:cNvCxnSpPr>
          <p:nvPr/>
        </p:nvCxnSpPr>
        <p:spPr bwMode="auto">
          <a:xfrm>
            <a:off x="4648200" y="1790700"/>
            <a:ext cx="1600200" cy="37719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6715" name="AutoShape 94"/>
          <p:cNvCxnSpPr>
            <a:cxnSpLocks noChangeShapeType="1"/>
            <a:stCxn id="26692" idx="3"/>
            <a:endCxn id="26626" idx="2"/>
          </p:cNvCxnSpPr>
          <p:nvPr/>
        </p:nvCxnSpPr>
        <p:spPr bwMode="auto">
          <a:xfrm>
            <a:off x="4648200" y="2400300"/>
            <a:ext cx="1600200" cy="31623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6716" name="AutoShape 95"/>
          <p:cNvCxnSpPr>
            <a:cxnSpLocks noChangeShapeType="1"/>
            <a:stCxn id="26694" idx="3"/>
            <a:endCxn id="26626" idx="2"/>
          </p:cNvCxnSpPr>
          <p:nvPr/>
        </p:nvCxnSpPr>
        <p:spPr bwMode="auto">
          <a:xfrm>
            <a:off x="4648200" y="3009900"/>
            <a:ext cx="1600200" cy="25527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6717" name="AutoShape 96"/>
          <p:cNvCxnSpPr>
            <a:cxnSpLocks noChangeShapeType="1"/>
            <a:stCxn id="26696" idx="3"/>
            <a:endCxn id="26626" idx="2"/>
          </p:cNvCxnSpPr>
          <p:nvPr/>
        </p:nvCxnSpPr>
        <p:spPr bwMode="auto">
          <a:xfrm>
            <a:off x="4648200" y="3619500"/>
            <a:ext cx="1600200" cy="19431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6718" name="AutoShape 97"/>
          <p:cNvCxnSpPr>
            <a:cxnSpLocks noChangeShapeType="1"/>
            <a:stCxn id="26698" idx="3"/>
            <a:endCxn id="26626" idx="2"/>
          </p:cNvCxnSpPr>
          <p:nvPr/>
        </p:nvCxnSpPr>
        <p:spPr bwMode="auto">
          <a:xfrm>
            <a:off x="4648200" y="4229100"/>
            <a:ext cx="1600200" cy="13335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6719" name="AutoShape 98"/>
          <p:cNvCxnSpPr>
            <a:cxnSpLocks noChangeShapeType="1"/>
            <a:stCxn id="26700" idx="3"/>
            <a:endCxn id="26626" idx="2"/>
          </p:cNvCxnSpPr>
          <p:nvPr/>
        </p:nvCxnSpPr>
        <p:spPr bwMode="auto">
          <a:xfrm>
            <a:off x="4648200" y="4838700"/>
            <a:ext cx="1600200" cy="7239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6720" name="AutoShape 99"/>
          <p:cNvCxnSpPr>
            <a:cxnSpLocks noChangeShapeType="1"/>
            <a:stCxn id="26702" idx="3"/>
            <a:endCxn id="26626" idx="2"/>
          </p:cNvCxnSpPr>
          <p:nvPr/>
        </p:nvCxnSpPr>
        <p:spPr bwMode="auto">
          <a:xfrm>
            <a:off x="4648200" y="5448300"/>
            <a:ext cx="1600200" cy="1143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6721" name="AutoShape 100"/>
          <p:cNvCxnSpPr>
            <a:cxnSpLocks noChangeShapeType="1"/>
            <a:stCxn id="26704" idx="3"/>
            <a:endCxn id="26626" idx="2"/>
          </p:cNvCxnSpPr>
          <p:nvPr/>
        </p:nvCxnSpPr>
        <p:spPr bwMode="auto">
          <a:xfrm flipV="1">
            <a:off x="4648200" y="5562600"/>
            <a:ext cx="1600200" cy="4953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AutoShape 2"/>
          <p:cNvSpPr>
            <a:spLocks noChangeArrowheads="1"/>
          </p:cNvSpPr>
          <p:nvPr/>
        </p:nvSpPr>
        <p:spPr bwMode="auto">
          <a:xfrm>
            <a:off x="6248400" y="4724400"/>
            <a:ext cx="2514600" cy="1676400"/>
          </a:xfrm>
          <a:prstGeom prst="can">
            <a:avLst>
              <a:gd name="adj" fmla="val 25093"/>
            </a:avLst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zh-CN" sz="4000">
              <a:latin typeface="微软雅黑"/>
            </a:endParaRPr>
          </a:p>
        </p:txBody>
      </p:sp>
      <p:sp>
        <p:nvSpPr>
          <p:cNvPr id="27650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CN" smtClean="0">
                <a:latin typeface="微软雅黑"/>
                <a:ea typeface="微软雅黑"/>
                <a:cs typeface="微软雅黑"/>
              </a:rPr>
              <a:t>Cobar</a:t>
            </a:r>
            <a:r>
              <a:rPr lang="zh-CN" altLang="en-US" smtClean="0">
                <a:latin typeface="微软雅黑"/>
                <a:ea typeface="微软雅黑"/>
                <a:cs typeface="微软雅黑"/>
              </a:rPr>
              <a:t>引入 连接复用</a:t>
            </a:r>
          </a:p>
        </p:txBody>
      </p:sp>
      <p:sp>
        <p:nvSpPr>
          <p:cNvPr id="27651" name="AutoShape 4"/>
          <p:cNvSpPr>
            <a:spLocks noChangeArrowheads="1"/>
          </p:cNvSpPr>
          <p:nvPr/>
        </p:nvSpPr>
        <p:spPr bwMode="auto">
          <a:xfrm>
            <a:off x="6248400" y="1066800"/>
            <a:ext cx="2514600" cy="1676400"/>
          </a:xfrm>
          <a:prstGeom prst="can">
            <a:avLst>
              <a:gd name="adj" fmla="val 25093"/>
            </a:avLst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zh-CN" sz="4000">
              <a:latin typeface="微软雅黑"/>
            </a:endParaRPr>
          </a:p>
        </p:txBody>
      </p:sp>
      <p:sp>
        <p:nvSpPr>
          <p:cNvPr id="27652" name="Rectangle 5"/>
          <p:cNvSpPr>
            <a:spLocks noChangeArrowheads="1"/>
          </p:cNvSpPr>
          <p:nvPr/>
        </p:nvSpPr>
        <p:spPr bwMode="auto">
          <a:xfrm>
            <a:off x="914400" y="1524000"/>
            <a:ext cx="1371600" cy="5334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微软雅黑"/>
              </a:rPr>
              <a:t>App</a:t>
            </a:r>
          </a:p>
        </p:txBody>
      </p:sp>
      <p:graphicFrame>
        <p:nvGraphicFramePr>
          <p:cNvPr id="68614" name="Group 6"/>
          <p:cNvGraphicFramePr>
            <a:graphicFrameLocks noGrp="1"/>
          </p:cNvGraphicFramePr>
          <p:nvPr/>
        </p:nvGraphicFramePr>
        <p:xfrm>
          <a:off x="6451600" y="1600200"/>
          <a:ext cx="2082800" cy="914400"/>
        </p:xfrm>
        <a:graphic>
          <a:graphicData uri="http://schemas.openxmlformats.org/drawingml/2006/table">
            <a:tbl>
              <a:tblPr/>
              <a:tblGrid>
                <a:gridCol w="361950"/>
                <a:gridCol w="1112838"/>
                <a:gridCol w="608012"/>
              </a:tblGrid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MEMBE_ID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INFO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pavarotti17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pavarotti17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7671" name="Rectangle 24"/>
          <p:cNvSpPr>
            <a:spLocks noChangeArrowheads="1"/>
          </p:cNvSpPr>
          <p:nvPr/>
        </p:nvSpPr>
        <p:spPr bwMode="auto">
          <a:xfrm>
            <a:off x="6986588" y="1065213"/>
            <a:ext cx="94615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/>
              <a:t>MySQL</a:t>
            </a:r>
          </a:p>
        </p:txBody>
      </p:sp>
      <p:cxnSp>
        <p:nvCxnSpPr>
          <p:cNvPr id="27672" name="AutoShape 25"/>
          <p:cNvCxnSpPr>
            <a:cxnSpLocks noChangeShapeType="1"/>
            <a:stCxn id="27652" idx="3"/>
            <a:endCxn id="27716" idx="1"/>
          </p:cNvCxnSpPr>
          <p:nvPr/>
        </p:nvCxnSpPr>
        <p:spPr bwMode="auto">
          <a:xfrm>
            <a:off x="2286000" y="1790700"/>
            <a:ext cx="1524000" cy="1828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graphicFrame>
        <p:nvGraphicFramePr>
          <p:cNvPr id="68634" name="Group 26"/>
          <p:cNvGraphicFramePr>
            <a:graphicFrameLocks noGrp="1"/>
          </p:cNvGraphicFramePr>
          <p:nvPr/>
        </p:nvGraphicFramePr>
        <p:xfrm>
          <a:off x="6477000" y="5256213"/>
          <a:ext cx="2082800" cy="914400"/>
        </p:xfrm>
        <a:graphic>
          <a:graphicData uri="http://schemas.openxmlformats.org/drawingml/2006/table">
            <a:tbl>
              <a:tblPr/>
              <a:tblGrid>
                <a:gridCol w="361950"/>
                <a:gridCol w="1112838"/>
                <a:gridCol w="608012"/>
              </a:tblGrid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MEMBE_ID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INFO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test1234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5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test1234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7691" name="AutoShape 44"/>
          <p:cNvSpPr>
            <a:spLocks noChangeArrowheads="1"/>
          </p:cNvSpPr>
          <p:nvPr/>
        </p:nvSpPr>
        <p:spPr bwMode="auto">
          <a:xfrm>
            <a:off x="6248400" y="2817813"/>
            <a:ext cx="2514600" cy="1828800"/>
          </a:xfrm>
          <a:prstGeom prst="can">
            <a:avLst>
              <a:gd name="adj" fmla="val 19880"/>
            </a:avLst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zh-CN" sz="4000">
              <a:latin typeface="微软雅黑"/>
            </a:endParaRPr>
          </a:p>
        </p:txBody>
      </p:sp>
      <p:graphicFrame>
        <p:nvGraphicFramePr>
          <p:cNvPr id="68653" name="Group 45"/>
          <p:cNvGraphicFramePr>
            <a:graphicFrameLocks noGrp="1"/>
          </p:cNvGraphicFramePr>
          <p:nvPr/>
        </p:nvGraphicFramePr>
        <p:xfrm>
          <a:off x="6451600" y="3275013"/>
          <a:ext cx="2082800" cy="1219200"/>
        </p:xfrm>
        <a:graphic>
          <a:graphicData uri="http://schemas.openxmlformats.org/drawingml/2006/table">
            <a:tbl>
              <a:tblPr/>
              <a:tblGrid>
                <a:gridCol w="361950"/>
                <a:gridCol w="1112838"/>
                <a:gridCol w="608012"/>
              </a:tblGrid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MEMBE_ID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INFO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abcd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9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abcd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68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20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abcd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7714" name="Rectangle 67"/>
          <p:cNvSpPr>
            <a:spLocks noChangeArrowheads="1"/>
          </p:cNvSpPr>
          <p:nvPr/>
        </p:nvSpPr>
        <p:spPr bwMode="auto">
          <a:xfrm>
            <a:off x="6978650" y="2817813"/>
            <a:ext cx="94615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/>
              <a:t>MySQL</a:t>
            </a:r>
          </a:p>
        </p:txBody>
      </p:sp>
      <p:sp>
        <p:nvSpPr>
          <p:cNvPr id="27715" name="Rectangle 68"/>
          <p:cNvSpPr>
            <a:spLocks noChangeArrowheads="1"/>
          </p:cNvSpPr>
          <p:nvPr/>
        </p:nvSpPr>
        <p:spPr bwMode="auto">
          <a:xfrm>
            <a:off x="6986588" y="4722813"/>
            <a:ext cx="94615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/>
              <a:t>MySQL</a:t>
            </a:r>
          </a:p>
        </p:txBody>
      </p:sp>
      <p:sp>
        <p:nvSpPr>
          <p:cNvPr id="27716" name="Rectangle 69"/>
          <p:cNvSpPr>
            <a:spLocks noChangeArrowheads="1"/>
          </p:cNvSpPr>
          <p:nvPr/>
        </p:nvSpPr>
        <p:spPr bwMode="auto">
          <a:xfrm>
            <a:off x="3810000" y="2590800"/>
            <a:ext cx="914400" cy="20574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微软雅黑"/>
              </a:rPr>
              <a:t>Cobar</a:t>
            </a:r>
            <a:br>
              <a:rPr lang="en-US" altLang="zh-CN">
                <a:latin typeface="微软雅黑"/>
              </a:rPr>
            </a:br>
            <a:r>
              <a:rPr lang="en-US" altLang="zh-CN">
                <a:latin typeface="微软雅黑"/>
              </a:rPr>
              <a:t>Proxy</a:t>
            </a:r>
          </a:p>
        </p:txBody>
      </p:sp>
      <p:cxnSp>
        <p:nvCxnSpPr>
          <p:cNvPr id="27717" name="AutoShape 70"/>
          <p:cNvCxnSpPr>
            <a:cxnSpLocks noChangeShapeType="1"/>
            <a:stCxn id="27716" idx="3"/>
            <a:endCxn id="27651" idx="2"/>
          </p:cNvCxnSpPr>
          <p:nvPr/>
        </p:nvCxnSpPr>
        <p:spPr bwMode="auto">
          <a:xfrm flipV="1">
            <a:off x="4724400" y="1905000"/>
            <a:ext cx="1524000" cy="17145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7718" name="AutoShape 71"/>
          <p:cNvCxnSpPr>
            <a:cxnSpLocks noChangeShapeType="1"/>
            <a:stCxn id="27716" idx="3"/>
            <a:endCxn id="27691" idx="2"/>
          </p:cNvCxnSpPr>
          <p:nvPr/>
        </p:nvCxnSpPr>
        <p:spPr bwMode="auto">
          <a:xfrm>
            <a:off x="4724400" y="3619500"/>
            <a:ext cx="1524000" cy="1127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7719" name="AutoShape 72"/>
          <p:cNvCxnSpPr>
            <a:cxnSpLocks noChangeShapeType="1"/>
            <a:stCxn id="27716" idx="3"/>
            <a:endCxn id="27649" idx="2"/>
          </p:cNvCxnSpPr>
          <p:nvPr/>
        </p:nvCxnSpPr>
        <p:spPr bwMode="auto">
          <a:xfrm>
            <a:off x="4724400" y="3619500"/>
            <a:ext cx="1524000" cy="19431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7720" name="Rectangle 73"/>
          <p:cNvSpPr>
            <a:spLocks noChangeArrowheads="1"/>
          </p:cNvSpPr>
          <p:nvPr/>
        </p:nvSpPr>
        <p:spPr bwMode="auto">
          <a:xfrm>
            <a:off x="914400" y="2133600"/>
            <a:ext cx="1371600" cy="5334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微软雅黑"/>
              </a:rPr>
              <a:t>App</a:t>
            </a:r>
          </a:p>
        </p:txBody>
      </p:sp>
      <p:cxnSp>
        <p:nvCxnSpPr>
          <p:cNvPr id="27721" name="AutoShape 74"/>
          <p:cNvCxnSpPr>
            <a:cxnSpLocks noChangeShapeType="1"/>
            <a:stCxn id="27720" idx="3"/>
            <a:endCxn id="27716" idx="1"/>
          </p:cNvCxnSpPr>
          <p:nvPr/>
        </p:nvCxnSpPr>
        <p:spPr bwMode="auto">
          <a:xfrm>
            <a:off x="2286000" y="2400300"/>
            <a:ext cx="1524000" cy="1219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7722" name="Rectangle 75"/>
          <p:cNvSpPr>
            <a:spLocks noChangeArrowheads="1"/>
          </p:cNvSpPr>
          <p:nvPr/>
        </p:nvSpPr>
        <p:spPr bwMode="auto">
          <a:xfrm>
            <a:off x="914400" y="2743200"/>
            <a:ext cx="1371600" cy="5334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微软雅黑"/>
              </a:rPr>
              <a:t>App</a:t>
            </a:r>
          </a:p>
        </p:txBody>
      </p:sp>
      <p:cxnSp>
        <p:nvCxnSpPr>
          <p:cNvPr id="27723" name="AutoShape 76"/>
          <p:cNvCxnSpPr>
            <a:cxnSpLocks noChangeShapeType="1"/>
            <a:stCxn id="27722" idx="3"/>
            <a:endCxn id="27716" idx="1"/>
          </p:cNvCxnSpPr>
          <p:nvPr/>
        </p:nvCxnSpPr>
        <p:spPr bwMode="auto">
          <a:xfrm>
            <a:off x="2286000" y="3009900"/>
            <a:ext cx="1524000" cy="609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7724" name="Rectangle 77"/>
          <p:cNvSpPr>
            <a:spLocks noChangeArrowheads="1"/>
          </p:cNvSpPr>
          <p:nvPr/>
        </p:nvSpPr>
        <p:spPr bwMode="auto">
          <a:xfrm>
            <a:off x="914400" y="3352800"/>
            <a:ext cx="1371600" cy="5334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微软雅黑"/>
              </a:rPr>
              <a:t>App</a:t>
            </a:r>
          </a:p>
        </p:txBody>
      </p:sp>
      <p:cxnSp>
        <p:nvCxnSpPr>
          <p:cNvPr id="27725" name="AutoShape 78"/>
          <p:cNvCxnSpPr>
            <a:cxnSpLocks noChangeShapeType="1"/>
            <a:stCxn id="27724" idx="3"/>
            <a:endCxn id="27716" idx="1"/>
          </p:cNvCxnSpPr>
          <p:nvPr/>
        </p:nvCxnSpPr>
        <p:spPr bwMode="auto">
          <a:xfrm>
            <a:off x="2286000" y="3619500"/>
            <a:ext cx="15240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7726" name="Rectangle 79"/>
          <p:cNvSpPr>
            <a:spLocks noChangeArrowheads="1"/>
          </p:cNvSpPr>
          <p:nvPr/>
        </p:nvSpPr>
        <p:spPr bwMode="auto">
          <a:xfrm>
            <a:off x="914400" y="3962400"/>
            <a:ext cx="1371600" cy="5334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微软雅黑"/>
              </a:rPr>
              <a:t>App</a:t>
            </a:r>
          </a:p>
        </p:txBody>
      </p:sp>
      <p:cxnSp>
        <p:nvCxnSpPr>
          <p:cNvPr id="27727" name="AutoShape 80"/>
          <p:cNvCxnSpPr>
            <a:cxnSpLocks noChangeShapeType="1"/>
            <a:stCxn id="27726" idx="3"/>
            <a:endCxn id="27716" idx="1"/>
          </p:cNvCxnSpPr>
          <p:nvPr/>
        </p:nvCxnSpPr>
        <p:spPr bwMode="auto">
          <a:xfrm flipV="1">
            <a:off x="2286000" y="3619500"/>
            <a:ext cx="1524000" cy="609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7728" name="Rectangle 81"/>
          <p:cNvSpPr>
            <a:spLocks noChangeArrowheads="1"/>
          </p:cNvSpPr>
          <p:nvPr/>
        </p:nvSpPr>
        <p:spPr bwMode="auto">
          <a:xfrm>
            <a:off x="914400" y="4572000"/>
            <a:ext cx="1371600" cy="5334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微软雅黑"/>
              </a:rPr>
              <a:t>App</a:t>
            </a:r>
          </a:p>
        </p:txBody>
      </p:sp>
      <p:cxnSp>
        <p:nvCxnSpPr>
          <p:cNvPr id="27729" name="AutoShape 82"/>
          <p:cNvCxnSpPr>
            <a:cxnSpLocks noChangeShapeType="1"/>
            <a:stCxn id="27728" idx="3"/>
            <a:endCxn id="27716" idx="1"/>
          </p:cNvCxnSpPr>
          <p:nvPr/>
        </p:nvCxnSpPr>
        <p:spPr bwMode="auto">
          <a:xfrm flipV="1">
            <a:off x="2286000" y="3619500"/>
            <a:ext cx="1524000" cy="1219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7730" name="Rectangle 83"/>
          <p:cNvSpPr>
            <a:spLocks noChangeArrowheads="1"/>
          </p:cNvSpPr>
          <p:nvPr/>
        </p:nvSpPr>
        <p:spPr bwMode="auto">
          <a:xfrm>
            <a:off x="914400" y="5181600"/>
            <a:ext cx="1371600" cy="5334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微软雅黑"/>
              </a:rPr>
              <a:t>App</a:t>
            </a:r>
          </a:p>
        </p:txBody>
      </p:sp>
      <p:cxnSp>
        <p:nvCxnSpPr>
          <p:cNvPr id="27731" name="AutoShape 84"/>
          <p:cNvCxnSpPr>
            <a:cxnSpLocks noChangeShapeType="1"/>
            <a:stCxn id="27730" idx="3"/>
            <a:endCxn id="27716" idx="1"/>
          </p:cNvCxnSpPr>
          <p:nvPr/>
        </p:nvCxnSpPr>
        <p:spPr bwMode="auto">
          <a:xfrm flipV="1">
            <a:off x="2286000" y="3619500"/>
            <a:ext cx="1524000" cy="1828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7732" name="Rectangle 85"/>
          <p:cNvSpPr>
            <a:spLocks noChangeArrowheads="1"/>
          </p:cNvSpPr>
          <p:nvPr/>
        </p:nvSpPr>
        <p:spPr bwMode="auto">
          <a:xfrm>
            <a:off x="914400" y="5791200"/>
            <a:ext cx="1371600" cy="5334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微软雅黑"/>
              </a:rPr>
              <a:t>App</a:t>
            </a:r>
          </a:p>
        </p:txBody>
      </p:sp>
      <p:cxnSp>
        <p:nvCxnSpPr>
          <p:cNvPr id="27733" name="AutoShape 86"/>
          <p:cNvCxnSpPr>
            <a:cxnSpLocks noChangeShapeType="1"/>
            <a:stCxn id="27732" idx="3"/>
            <a:endCxn id="27716" idx="1"/>
          </p:cNvCxnSpPr>
          <p:nvPr/>
        </p:nvCxnSpPr>
        <p:spPr bwMode="auto">
          <a:xfrm flipV="1">
            <a:off x="2286000" y="3619500"/>
            <a:ext cx="1524000" cy="2438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ChangeArrowheads="1"/>
          </p:cNvSpPr>
          <p:nvPr/>
        </p:nvSpPr>
        <p:spPr bwMode="auto">
          <a:xfrm>
            <a:off x="457200" y="1646238"/>
            <a:ext cx="8229600" cy="4525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altLang="zh-CN" sz="2800">
                <a:solidFill>
                  <a:srgbClr val="C0C0C0"/>
                </a:solidFill>
                <a:latin typeface="微软雅黑"/>
              </a:rPr>
              <a:t>Oracle</a:t>
            </a:r>
            <a:r>
              <a:rPr lang="zh-CN" altLang="en-US" sz="2800">
                <a:solidFill>
                  <a:srgbClr val="C0C0C0"/>
                </a:solidFill>
                <a:latin typeface="微软雅黑"/>
              </a:rPr>
              <a:t>单点数据库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zh-CN" altLang="en-US" sz="2800">
                <a:solidFill>
                  <a:srgbClr val="C0C0C0"/>
                </a:solidFill>
                <a:latin typeface="微软雅黑"/>
              </a:rPr>
              <a:t>性能问题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zh-CN" altLang="zh-CN" sz="2400">
                <a:solidFill>
                  <a:srgbClr val="C0C0C0"/>
                </a:solidFill>
                <a:latin typeface="Times New Roman" pitchFamily="18" charset="0"/>
                <a:ea typeface="宋体" charset="-122"/>
              </a:rPr>
              <a:t>中文站</a:t>
            </a:r>
            <a:r>
              <a:rPr lang="en-US" altLang="zh-CN" sz="2400">
                <a:solidFill>
                  <a:srgbClr val="C0C0C0"/>
                </a:solidFill>
                <a:latin typeface="Times New Roman" pitchFamily="18" charset="0"/>
                <a:ea typeface="宋体" charset="-122"/>
              </a:rPr>
              <a:t>offer</a:t>
            </a:r>
            <a:r>
              <a:rPr lang="zh-CN" altLang="zh-CN" sz="2400">
                <a:solidFill>
                  <a:srgbClr val="C0C0C0"/>
                </a:solidFill>
                <a:latin typeface="Times New Roman" pitchFamily="18" charset="0"/>
                <a:ea typeface="宋体" charset="-122"/>
              </a:rPr>
              <a:t>总数</a:t>
            </a:r>
            <a:r>
              <a:rPr lang="zh-CN" altLang="en-US" sz="2400">
                <a:solidFill>
                  <a:srgbClr val="C0C0C0"/>
                </a:solidFill>
                <a:latin typeface="Times New Roman" pitchFamily="18" charset="0"/>
                <a:ea typeface="宋体" charset="-122"/>
              </a:rPr>
              <a:t>：</a:t>
            </a:r>
            <a:r>
              <a:rPr lang="en-US" altLang="zh-CN" sz="2400">
                <a:solidFill>
                  <a:srgbClr val="C0C0C0"/>
                </a:solidFill>
                <a:latin typeface="Times New Roman" pitchFamily="18" charset="0"/>
                <a:ea typeface="宋体" charset="-122"/>
              </a:rPr>
              <a:t>08</a:t>
            </a:r>
            <a:r>
              <a:rPr lang="zh-CN" altLang="en-US" sz="2400">
                <a:solidFill>
                  <a:srgbClr val="C0C0C0"/>
                </a:solidFill>
                <a:latin typeface="Times New Roman" pitchFamily="18" charset="0"/>
                <a:ea typeface="宋体" charset="-122"/>
              </a:rPr>
              <a:t>年</a:t>
            </a:r>
            <a:r>
              <a:rPr lang="en-US" altLang="zh-CN" sz="2400">
                <a:solidFill>
                  <a:srgbClr val="C0C0C0"/>
                </a:solidFill>
                <a:latin typeface="Times New Roman" pitchFamily="18" charset="0"/>
                <a:ea typeface="宋体" charset="-122"/>
              </a:rPr>
              <a:t>1</a:t>
            </a:r>
            <a:r>
              <a:rPr lang="zh-CN" altLang="en-US" sz="2400">
                <a:solidFill>
                  <a:srgbClr val="C0C0C0"/>
                </a:solidFill>
                <a:latin typeface="Times New Roman" pitchFamily="18" charset="0"/>
                <a:ea typeface="宋体" charset="-122"/>
              </a:rPr>
              <a:t>亿 </a:t>
            </a:r>
            <a:r>
              <a:rPr lang="en-US" altLang="zh-CN" sz="2400">
                <a:solidFill>
                  <a:srgbClr val="C0C0C0"/>
                </a:solidFill>
                <a:latin typeface="Times New Roman" pitchFamily="18" charset="0"/>
                <a:ea typeface="宋体" charset="-122"/>
              </a:rPr>
              <a:t>-&gt; </a:t>
            </a:r>
            <a:r>
              <a:rPr lang="zh-CN" altLang="en-US" sz="2400">
                <a:solidFill>
                  <a:srgbClr val="C0C0C0"/>
                </a:solidFill>
                <a:latin typeface="Times New Roman" pitchFamily="18" charset="0"/>
                <a:ea typeface="宋体" charset="-122"/>
              </a:rPr>
              <a:t>今天</a:t>
            </a:r>
            <a:r>
              <a:rPr lang="en-US" altLang="zh-CN" sz="2400">
                <a:solidFill>
                  <a:srgbClr val="C0C0C0"/>
                </a:solidFill>
                <a:latin typeface="Times New Roman" pitchFamily="18" charset="0"/>
                <a:ea typeface="宋体" charset="-122"/>
              </a:rPr>
              <a:t>3</a:t>
            </a:r>
            <a:r>
              <a:rPr lang="zh-CN" altLang="en-US" sz="2400">
                <a:solidFill>
                  <a:srgbClr val="C0C0C0"/>
                </a:solidFill>
                <a:latin typeface="Times New Roman" pitchFamily="18" charset="0"/>
                <a:ea typeface="宋体" charset="-122"/>
              </a:rPr>
              <a:t>亿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zh-CN" altLang="en-US" sz="2400">
                <a:solidFill>
                  <a:srgbClr val="C0C0C0"/>
                </a:solidFill>
                <a:latin typeface="Times New Roman" pitchFamily="18" charset="0"/>
                <a:ea typeface="宋体" charset="-122"/>
              </a:rPr>
              <a:t>高峰时：</a:t>
            </a:r>
            <a:r>
              <a:rPr lang="en-US" altLang="zh-CN" sz="2400">
                <a:solidFill>
                  <a:srgbClr val="C0C0C0"/>
                </a:solidFill>
                <a:latin typeface="Times New Roman" pitchFamily="18" charset="0"/>
                <a:ea typeface="宋体" charset="-122"/>
              </a:rPr>
              <a:t>load 30</a:t>
            </a:r>
            <a:r>
              <a:rPr lang="zh-CN" altLang="en-US" sz="2400">
                <a:solidFill>
                  <a:srgbClr val="C0C0C0"/>
                </a:solidFill>
                <a:latin typeface="Times New Roman" pitchFamily="18" charset="0"/>
                <a:ea typeface="宋体" charset="-122"/>
              </a:rPr>
              <a:t>、</a:t>
            </a:r>
            <a:r>
              <a:rPr lang="en-US" altLang="zh-CN" sz="2400">
                <a:solidFill>
                  <a:srgbClr val="C0C0C0"/>
                </a:solidFill>
                <a:latin typeface="Times New Roman" pitchFamily="18" charset="0"/>
                <a:ea typeface="宋体" charset="-122"/>
              </a:rPr>
              <a:t>cpu</a:t>
            </a:r>
            <a:r>
              <a:rPr lang="zh-CN" altLang="en-US" sz="2400">
                <a:solidFill>
                  <a:srgbClr val="C0C0C0"/>
                </a:solidFill>
                <a:latin typeface="Times New Roman" pitchFamily="18" charset="0"/>
                <a:ea typeface="宋体" charset="-122"/>
              </a:rPr>
              <a:t>使用率</a:t>
            </a:r>
            <a:r>
              <a:rPr lang="en-US" altLang="zh-CN" sz="2400">
                <a:solidFill>
                  <a:srgbClr val="C0C0C0"/>
                </a:solidFill>
                <a:latin typeface="Times New Roman" pitchFamily="18" charset="0"/>
                <a:ea typeface="宋体" charset="-122"/>
              </a:rPr>
              <a:t>90%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zh-CN" altLang="en-US" sz="2800">
                <a:solidFill>
                  <a:srgbClr val="C0C0C0"/>
                </a:solidFill>
                <a:latin typeface="微软雅黑"/>
              </a:rPr>
              <a:t>数据库连接过多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zh-CN" altLang="en-US" sz="2800">
                <a:solidFill>
                  <a:srgbClr val="FF0000"/>
                </a:solidFill>
                <a:latin typeface="微软雅黑"/>
              </a:rPr>
              <a:t>可用性问题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altLang="zh-CN" sz="2400">
                <a:solidFill>
                  <a:srgbClr val="C0C0C0"/>
                </a:solidFill>
                <a:latin typeface="Times New Roman" pitchFamily="18" charset="0"/>
                <a:ea typeface="宋体" charset="-122"/>
              </a:rPr>
              <a:t>Standby</a:t>
            </a:r>
            <a:r>
              <a:rPr lang="zh-CN" altLang="en-US" sz="2400">
                <a:solidFill>
                  <a:srgbClr val="C0C0C0"/>
                </a:solidFill>
                <a:latin typeface="Times New Roman" pitchFamily="18" charset="0"/>
                <a:ea typeface="宋体" charset="-122"/>
              </a:rPr>
              <a:t>切换故障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zh-CN" altLang="en-US" sz="2800">
                <a:solidFill>
                  <a:srgbClr val="C0C0C0"/>
                </a:solidFill>
                <a:latin typeface="微软雅黑"/>
              </a:rPr>
              <a:t>成本和伸缩性问题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zh-CN" altLang="en-US" sz="2400">
                <a:solidFill>
                  <a:srgbClr val="C0C0C0"/>
                </a:solidFill>
                <a:latin typeface="Times New Roman" pitchFamily="18" charset="0"/>
                <a:ea typeface="宋体" charset="-122"/>
              </a:rPr>
              <a:t>依赖高成本的硬件设备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altLang="zh-CN" sz="2800">
              <a:solidFill>
                <a:srgbClr val="C0C0C0"/>
              </a:solidFill>
              <a:latin typeface="宋体" charset="-122"/>
              <a:ea typeface="宋体" charset="-122"/>
            </a:endParaRPr>
          </a:p>
        </p:txBody>
      </p:sp>
      <p:sp>
        <p:nvSpPr>
          <p:cNvPr id="28674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CN" smtClean="0">
                <a:latin typeface="微软雅黑"/>
                <a:ea typeface="微软雅黑"/>
                <a:cs typeface="微软雅黑"/>
              </a:rPr>
              <a:t>Cobar</a:t>
            </a:r>
            <a:r>
              <a:rPr lang="zh-CN" altLang="en-US" smtClean="0">
                <a:latin typeface="微软雅黑"/>
                <a:ea typeface="微软雅黑"/>
                <a:cs typeface="微软雅黑"/>
              </a:rPr>
              <a:t>引入</a:t>
            </a:r>
          </a:p>
        </p:txBody>
      </p:sp>
      <p:sp>
        <p:nvSpPr>
          <p:cNvPr id="28675" name="AutoShape 4"/>
          <p:cNvSpPr>
            <a:spLocks noChangeArrowheads="1"/>
          </p:cNvSpPr>
          <p:nvPr/>
        </p:nvSpPr>
        <p:spPr bwMode="auto">
          <a:xfrm>
            <a:off x="5562600" y="1600200"/>
            <a:ext cx="2514600" cy="1676400"/>
          </a:xfrm>
          <a:prstGeom prst="can">
            <a:avLst>
              <a:gd name="adj" fmla="val 25093"/>
            </a:avLst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zh-CN" sz="4000">
              <a:latin typeface="微软雅黑"/>
            </a:endParaRPr>
          </a:p>
        </p:txBody>
      </p:sp>
      <p:graphicFrame>
        <p:nvGraphicFramePr>
          <p:cNvPr id="86021" name="Group 5"/>
          <p:cNvGraphicFramePr>
            <a:graphicFrameLocks noGrp="1"/>
          </p:cNvGraphicFramePr>
          <p:nvPr/>
        </p:nvGraphicFramePr>
        <p:xfrm>
          <a:off x="5765800" y="2133600"/>
          <a:ext cx="2082800" cy="914400"/>
        </p:xfrm>
        <a:graphic>
          <a:graphicData uri="http://schemas.openxmlformats.org/drawingml/2006/table">
            <a:tbl>
              <a:tblPr/>
              <a:tblGrid>
                <a:gridCol w="361950"/>
                <a:gridCol w="1112838"/>
                <a:gridCol w="608012"/>
              </a:tblGrid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MEMBE_ID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INFO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pavarotti17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pavarotti17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8694" name="Rectangle 23"/>
          <p:cNvSpPr>
            <a:spLocks noChangeArrowheads="1"/>
          </p:cNvSpPr>
          <p:nvPr/>
        </p:nvSpPr>
        <p:spPr bwMode="auto">
          <a:xfrm>
            <a:off x="6300788" y="1598613"/>
            <a:ext cx="94615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/>
              <a:t>MySQL</a:t>
            </a:r>
          </a:p>
        </p:txBody>
      </p:sp>
      <p:sp>
        <p:nvSpPr>
          <p:cNvPr id="28695" name="Rectangle 24"/>
          <p:cNvSpPr>
            <a:spLocks noChangeArrowheads="1"/>
          </p:cNvSpPr>
          <p:nvPr/>
        </p:nvSpPr>
        <p:spPr bwMode="auto">
          <a:xfrm>
            <a:off x="3124200" y="2362200"/>
            <a:ext cx="914400" cy="22860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微软雅黑"/>
              </a:rPr>
              <a:t>Cobar</a:t>
            </a:r>
          </a:p>
        </p:txBody>
      </p:sp>
      <p:cxnSp>
        <p:nvCxnSpPr>
          <p:cNvPr id="28696" name="AutoShape 25"/>
          <p:cNvCxnSpPr>
            <a:cxnSpLocks noChangeShapeType="1"/>
            <a:stCxn id="28695" idx="3"/>
            <a:endCxn id="28675" idx="2"/>
          </p:cNvCxnSpPr>
          <p:nvPr/>
        </p:nvCxnSpPr>
        <p:spPr bwMode="auto">
          <a:xfrm flipV="1">
            <a:off x="4038600" y="2438400"/>
            <a:ext cx="1524000" cy="1066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8697" name="Rectangle 26"/>
          <p:cNvSpPr>
            <a:spLocks noChangeArrowheads="1"/>
          </p:cNvSpPr>
          <p:nvPr/>
        </p:nvSpPr>
        <p:spPr bwMode="auto">
          <a:xfrm>
            <a:off x="762000" y="3124200"/>
            <a:ext cx="1371600" cy="7620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微软雅黑"/>
              </a:rPr>
              <a:t>App</a:t>
            </a:r>
          </a:p>
        </p:txBody>
      </p:sp>
      <p:cxnSp>
        <p:nvCxnSpPr>
          <p:cNvPr id="28698" name="AutoShape 27"/>
          <p:cNvCxnSpPr>
            <a:cxnSpLocks noChangeShapeType="1"/>
            <a:stCxn id="28697" idx="3"/>
            <a:endCxn id="28695" idx="1"/>
          </p:cNvCxnSpPr>
          <p:nvPr/>
        </p:nvCxnSpPr>
        <p:spPr bwMode="auto">
          <a:xfrm>
            <a:off x="2133600" y="3505200"/>
            <a:ext cx="990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8699" name="Text Box 49"/>
          <p:cNvSpPr txBox="1">
            <a:spLocks noChangeArrowheads="1"/>
          </p:cNvSpPr>
          <p:nvPr/>
        </p:nvSpPr>
        <p:spPr bwMode="auto">
          <a:xfrm>
            <a:off x="4114800" y="2743200"/>
            <a:ext cx="1371600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>
                <a:solidFill>
                  <a:srgbClr val="FF0000"/>
                </a:solidFill>
              </a:rPr>
              <a:t>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CN" smtClean="0">
                <a:latin typeface="微软雅黑"/>
                <a:ea typeface="微软雅黑"/>
                <a:cs typeface="微软雅黑"/>
              </a:rPr>
              <a:t>Cobar</a:t>
            </a:r>
            <a:r>
              <a:rPr lang="zh-CN" altLang="en-US" smtClean="0">
                <a:latin typeface="微软雅黑"/>
                <a:ea typeface="微软雅黑"/>
                <a:cs typeface="微软雅黑"/>
              </a:rPr>
              <a:t>引入 </a:t>
            </a:r>
            <a:r>
              <a:rPr lang="en-US" altLang="zh-CN" smtClean="0">
                <a:latin typeface="微软雅黑"/>
                <a:ea typeface="微软雅黑"/>
                <a:cs typeface="微软雅黑"/>
              </a:rPr>
              <a:t>failover</a:t>
            </a:r>
          </a:p>
        </p:txBody>
      </p:sp>
      <p:sp>
        <p:nvSpPr>
          <p:cNvPr id="29698" name="AutoShape 4"/>
          <p:cNvSpPr>
            <a:spLocks noChangeArrowheads="1"/>
          </p:cNvSpPr>
          <p:nvPr/>
        </p:nvSpPr>
        <p:spPr bwMode="auto">
          <a:xfrm>
            <a:off x="5562600" y="1600200"/>
            <a:ext cx="2514600" cy="1676400"/>
          </a:xfrm>
          <a:prstGeom prst="can">
            <a:avLst>
              <a:gd name="adj" fmla="val 25093"/>
            </a:avLst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zh-CN" sz="4000">
              <a:latin typeface="微软雅黑"/>
            </a:endParaRPr>
          </a:p>
        </p:txBody>
      </p:sp>
      <p:graphicFrame>
        <p:nvGraphicFramePr>
          <p:cNvPr id="69637" name="Group 5"/>
          <p:cNvGraphicFramePr>
            <a:graphicFrameLocks noGrp="1"/>
          </p:cNvGraphicFramePr>
          <p:nvPr/>
        </p:nvGraphicFramePr>
        <p:xfrm>
          <a:off x="5765800" y="2133600"/>
          <a:ext cx="2082800" cy="914400"/>
        </p:xfrm>
        <a:graphic>
          <a:graphicData uri="http://schemas.openxmlformats.org/drawingml/2006/table">
            <a:tbl>
              <a:tblPr/>
              <a:tblGrid>
                <a:gridCol w="361950"/>
                <a:gridCol w="1112838"/>
                <a:gridCol w="608012"/>
              </a:tblGrid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MEMBE_ID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INFO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pavarotti17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pavarotti17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9717" name="Rectangle 23"/>
          <p:cNvSpPr>
            <a:spLocks noChangeArrowheads="1"/>
          </p:cNvSpPr>
          <p:nvPr/>
        </p:nvSpPr>
        <p:spPr bwMode="auto">
          <a:xfrm>
            <a:off x="5856288" y="1598613"/>
            <a:ext cx="183515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/>
              <a:t>MySQL Master1</a:t>
            </a:r>
          </a:p>
        </p:txBody>
      </p:sp>
      <p:sp>
        <p:nvSpPr>
          <p:cNvPr id="29718" name="Rectangle 67"/>
          <p:cNvSpPr>
            <a:spLocks noChangeArrowheads="1"/>
          </p:cNvSpPr>
          <p:nvPr/>
        </p:nvSpPr>
        <p:spPr bwMode="auto">
          <a:xfrm>
            <a:off x="3124200" y="2362200"/>
            <a:ext cx="914400" cy="22860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微软雅黑"/>
              </a:rPr>
              <a:t>Cobar</a:t>
            </a:r>
          </a:p>
        </p:txBody>
      </p:sp>
      <p:cxnSp>
        <p:nvCxnSpPr>
          <p:cNvPr id="29719" name="AutoShape 68"/>
          <p:cNvCxnSpPr>
            <a:cxnSpLocks noChangeShapeType="1"/>
            <a:stCxn id="29718" idx="3"/>
            <a:endCxn id="29698" idx="2"/>
          </p:cNvCxnSpPr>
          <p:nvPr/>
        </p:nvCxnSpPr>
        <p:spPr bwMode="auto">
          <a:xfrm flipV="1">
            <a:off x="4038600" y="2438400"/>
            <a:ext cx="1524000" cy="1066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9720" name="Rectangle 71"/>
          <p:cNvSpPr>
            <a:spLocks noChangeArrowheads="1"/>
          </p:cNvSpPr>
          <p:nvPr/>
        </p:nvSpPr>
        <p:spPr bwMode="auto">
          <a:xfrm>
            <a:off x="762000" y="3124200"/>
            <a:ext cx="1371600" cy="7620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微软雅黑"/>
              </a:rPr>
              <a:t>App</a:t>
            </a:r>
          </a:p>
        </p:txBody>
      </p:sp>
      <p:cxnSp>
        <p:nvCxnSpPr>
          <p:cNvPr id="29721" name="AutoShape 72"/>
          <p:cNvCxnSpPr>
            <a:cxnSpLocks noChangeShapeType="1"/>
            <a:stCxn id="29720" idx="3"/>
            <a:endCxn id="29718" idx="1"/>
          </p:cNvCxnSpPr>
          <p:nvPr/>
        </p:nvCxnSpPr>
        <p:spPr bwMode="auto">
          <a:xfrm>
            <a:off x="2133600" y="3505200"/>
            <a:ext cx="990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9722" name="AutoShape 73"/>
          <p:cNvSpPr>
            <a:spLocks noChangeArrowheads="1"/>
          </p:cNvSpPr>
          <p:nvPr/>
        </p:nvSpPr>
        <p:spPr bwMode="auto">
          <a:xfrm>
            <a:off x="5562600" y="4343400"/>
            <a:ext cx="2514600" cy="1676400"/>
          </a:xfrm>
          <a:prstGeom prst="can">
            <a:avLst>
              <a:gd name="adj" fmla="val 25093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zh-CN" sz="4000">
              <a:latin typeface="微软雅黑"/>
            </a:endParaRPr>
          </a:p>
        </p:txBody>
      </p:sp>
      <p:graphicFrame>
        <p:nvGraphicFramePr>
          <p:cNvPr id="69706" name="Group 74"/>
          <p:cNvGraphicFramePr>
            <a:graphicFrameLocks noGrp="1"/>
          </p:cNvGraphicFramePr>
          <p:nvPr/>
        </p:nvGraphicFramePr>
        <p:xfrm>
          <a:off x="5765800" y="4876800"/>
          <a:ext cx="2082800" cy="914400"/>
        </p:xfrm>
        <a:graphic>
          <a:graphicData uri="http://schemas.openxmlformats.org/drawingml/2006/table">
            <a:tbl>
              <a:tblPr/>
              <a:tblGrid>
                <a:gridCol w="361950"/>
                <a:gridCol w="1112838"/>
                <a:gridCol w="608012"/>
              </a:tblGrid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MEMBE_ID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INFO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pavarotti17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pavarotti17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9741" name="Rectangle 92"/>
          <p:cNvSpPr>
            <a:spLocks noChangeArrowheads="1"/>
          </p:cNvSpPr>
          <p:nvPr/>
        </p:nvSpPr>
        <p:spPr bwMode="auto">
          <a:xfrm>
            <a:off x="5924550" y="4341813"/>
            <a:ext cx="183515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/>
              <a:t>MySQL Master2</a:t>
            </a:r>
          </a:p>
        </p:txBody>
      </p:sp>
      <p:cxnSp>
        <p:nvCxnSpPr>
          <p:cNvPr id="29742" name="AutoShape 94"/>
          <p:cNvCxnSpPr>
            <a:cxnSpLocks noChangeShapeType="1"/>
            <a:stCxn id="29698" idx="3"/>
            <a:endCxn id="29722" idx="1"/>
          </p:cNvCxnSpPr>
          <p:nvPr/>
        </p:nvCxnSpPr>
        <p:spPr bwMode="auto">
          <a:xfrm>
            <a:off x="6819900" y="3276600"/>
            <a:ext cx="0" cy="1066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</p:cxnSp>
      <p:sp>
        <p:nvSpPr>
          <p:cNvPr id="29743" name="Text Box 95"/>
          <p:cNvSpPr txBox="1">
            <a:spLocks noChangeArrowheads="1"/>
          </p:cNvSpPr>
          <p:nvPr/>
        </p:nvSpPr>
        <p:spPr bwMode="auto">
          <a:xfrm>
            <a:off x="4114800" y="2743200"/>
            <a:ext cx="1371600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29744" name="Text Box 97"/>
          <p:cNvSpPr txBox="1">
            <a:spLocks noChangeArrowheads="1"/>
          </p:cNvSpPr>
          <p:nvPr/>
        </p:nvSpPr>
        <p:spPr bwMode="auto">
          <a:xfrm>
            <a:off x="6781800" y="3505200"/>
            <a:ext cx="22098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latin typeface="微软雅黑"/>
              </a:rPr>
              <a:t>MySQL</a:t>
            </a:r>
            <a:br>
              <a:rPr lang="en-US" altLang="zh-CN">
                <a:latin typeface="微软雅黑"/>
              </a:rPr>
            </a:br>
            <a:r>
              <a:rPr lang="en-US" altLang="zh-CN">
                <a:latin typeface="微软雅黑"/>
              </a:rPr>
              <a:t>Replication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CN" smtClean="0">
                <a:latin typeface="微软雅黑"/>
                <a:ea typeface="微软雅黑"/>
                <a:cs typeface="微软雅黑"/>
              </a:rPr>
              <a:t>Cobar</a:t>
            </a:r>
            <a:r>
              <a:rPr lang="zh-CN" altLang="en-US" smtClean="0">
                <a:latin typeface="微软雅黑"/>
                <a:ea typeface="微软雅黑"/>
                <a:cs typeface="微软雅黑"/>
              </a:rPr>
              <a:t>引入 </a:t>
            </a:r>
            <a:r>
              <a:rPr lang="en-US" altLang="zh-CN" smtClean="0">
                <a:latin typeface="微软雅黑"/>
                <a:ea typeface="微软雅黑"/>
                <a:cs typeface="微软雅黑"/>
              </a:rPr>
              <a:t>failover</a:t>
            </a:r>
          </a:p>
        </p:txBody>
      </p:sp>
      <p:sp>
        <p:nvSpPr>
          <p:cNvPr id="30722" name="AutoShape 3"/>
          <p:cNvSpPr>
            <a:spLocks noChangeArrowheads="1"/>
          </p:cNvSpPr>
          <p:nvPr/>
        </p:nvSpPr>
        <p:spPr bwMode="auto">
          <a:xfrm>
            <a:off x="5562600" y="1600200"/>
            <a:ext cx="2514600" cy="1676400"/>
          </a:xfrm>
          <a:prstGeom prst="can">
            <a:avLst>
              <a:gd name="adj" fmla="val 25093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zh-CN" sz="4000">
              <a:latin typeface="微软雅黑"/>
            </a:endParaRPr>
          </a:p>
        </p:txBody>
      </p:sp>
      <p:graphicFrame>
        <p:nvGraphicFramePr>
          <p:cNvPr id="70660" name="Group 4"/>
          <p:cNvGraphicFramePr>
            <a:graphicFrameLocks noGrp="1"/>
          </p:cNvGraphicFramePr>
          <p:nvPr/>
        </p:nvGraphicFramePr>
        <p:xfrm>
          <a:off x="5765800" y="2133600"/>
          <a:ext cx="2082800" cy="914400"/>
        </p:xfrm>
        <a:graphic>
          <a:graphicData uri="http://schemas.openxmlformats.org/drawingml/2006/table">
            <a:tbl>
              <a:tblPr/>
              <a:tblGrid>
                <a:gridCol w="361950"/>
                <a:gridCol w="1112838"/>
                <a:gridCol w="608012"/>
              </a:tblGrid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MEMBE_ID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INFO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pavarotti17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pavarotti17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30741" name="Rectangle 23"/>
          <p:cNvSpPr>
            <a:spLocks noChangeArrowheads="1"/>
          </p:cNvSpPr>
          <p:nvPr/>
        </p:nvSpPr>
        <p:spPr bwMode="auto">
          <a:xfrm>
            <a:off x="3124200" y="2362200"/>
            <a:ext cx="914400" cy="22860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微软雅黑"/>
              </a:rPr>
              <a:t>Cobar</a:t>
            </a:r>
          </a:p>
        </p:txBody>
      </p:sp>
      <p:cxnSp>
        <p:nvCxnSpPr>
          <p:cNvPr id="30742" name="AutoShape 24"/>
          <p:cNvCxnSpPr>
            <a:cxnSpLocks noChangeShapeType="1"/>
            <a:stCxn id="30741" idx="3"/>
            <a:endCxn id="30745" idx="2"/>
          </p:cNvCxnSpPr>
          <p:nvPr/>
        </p:nvCxnSpPr>
        <p:spPr bwMode="auto">
          <a:xfrm>
            <a:off x="4038600" y="3505200"/>
            <a:ext cx="1524000" cy="1676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30743" name="Rectangle 25"/>
          <p:cNvSpPr>
            <a:spLocks noChangeArrowheads="1"/>
          </p:cNvSpPr>
          <p:nvPr/>
        </p:nvSpPr>
        <p:spPr bwMode="auto">
          <a:xfrm>
            <a:off x="762000" y="3124200"/>
            <a:ext cx="1371600" cy="7620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微软雅黑"/>
              </a:rPr>
              <a:t>App</a:t>
            </a:r>
          </a:p>
        </p:txBody>
      </p:sp>
      <p:cxnSp>
        <p:nvCxnSpPr>
          <p:cNvPr id="30744" name="AutoShape 26"/>
          <p:cNvCxnSpPr>
            <a:cxnSpLocks noChangeShapeType="1"/>
            <a:stCxn id="30743" idx="3"/>
            <a:endCxn id="30741" idx="1"/>
          </p:cNvCxnSpPr>
          <p:nvPr/>
        </p:nvCxnSpPr>
        <p:spPr bwMode="auto">
          <a:xfrm>
            <a:off x="2133600" y="3505200"/>
            <a:ext cx="990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30745" name="AutoShape 27"/>
          <p:cNvSpPr>
            <a:spLocks noChangeArrowheads="1"/>
          </p:cNvSpPr>
          <p:nvPr/>
        </p:nvSpPr>
        <p:spPr bwMode="auto">
          <a:xfrm>
            <a:off x="5562600" y="4343400"/>
            <a:ext cx="2514600" cy="1676400"/>
          </a:xfrm>
          <a:prstGeom prst="can">
            <a:avLst>
              <a:gd name="adj" fmla="val 25093"/>
            </a:avLst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zh-CN" sz="4000">
              <a:latin typeface="微软雅黑"/>
            </a:endParaRPr>
          </a:p>
        </p:txBody>
      </p:sp>
      <p:graphicFrame>
        <p:nvGraphicFramePr>
          <p:cNvPr id="70684" name="Group 28"/>
          <p:cNvGraphicFramePr>
            <a:graphicFrameLocks noGrp="1"/>
          </p:cNvGraphicFramePr>
          <p:nvPr/>
        </p:nvGraphicFramePr>
        <p:xfrm>
          <a:off x="5765800" y="4876800"/>
          <a:ext cx="2082800" cy="914400"/>
        </p:xfrm>
        <a:graphic>
          <a:graphicData uri="http://schemas.openxmlformats.org/drawingml/2006/table">
            <a:tbl>
              <a:tblPr/>
              <a:tblGrid>
                <a:gridCol w="361950"/>
                <a:gridCol w="1112838"/>
                <a:gridCol w="608012"/>
              </a:tblGrid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MEMBE_ID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INFO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pavarotti17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pavarotti17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30764" name="AutoShape 47"/>
          <p:cNvCxnSpPr>
            <a:cxnSpLocks noChangeShapeType="1"/>
            <a:stCxn id="30722" idx="3"/>
            <a:endCxn id="30745" idx="1"/>
          </p:cNvCxnSpPr>
          <p:nvPr/>
        </p:nvCxnSpPr>
        <p:spPr bwMode="auto">
          <a:xfrm>
            <a:off x="6819900" y="3276600"/>
            <a:ext cx="0" cy="1066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</p:cxnSp>
      <p:sp>
        <p:nvSpPr>
          <p:cNvPr id="30765" name="Text Box 49"/>
          <p:cNvSpPr txBox="1">
            <a:spLocks noChangeArrowheads="1"/>
          </p:cNvSpPr>
          <p:nvPr/>
        </p:nvSpPr>
        <p:spPr bwMode="auto">
          <a:xfrm>
            <a:off x="6781800" y="3505200"/>
            <a:ext cx="22098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latin typeface="微软雅黑"/>
              </a:rPr>
              <a:t>MySQL</a:t>
            </a:r>
            <a:br>
              <a:rPr lang="en-US" altLang="zh-CN">
                <a:latin typeface="微软雅黑"/>
              </a:rPr>
            </a:br>
            <a:r>
              <a:rPr lang="en-US" altLang="zh-CN">
                <a:latin typeface="微软雅黑"/>
              </a:rPr>
              <a:t>Replication</a:t>
            </a:r>
          </a:p>
        </p:txBody>
      </p:sp>
      <p:sp>
        <p:nvSpPr>
          <p:cNvPr id="30766" name="Rectangle 50"/>
          <p:cNvSpPr>
            <a:spLocks noChangeArrowheads="1"/>
          </p:cNvSpPr>
          <p:nvPr/>
        </p:nvSpPr>
        <p:spPr bwMode="auto">
          <a:xfrm>
            <a:off x="5856288" y="1598613"/>
            <a:ext cx="183515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/>
              <a:t>MySQL Master1</a:t>
            </a:r>
          </a:p>
        </p:txBody>
      </p:sp>
      <p:sp>
        <p:nvSpPr>
          <p:cNvPr id="30767" name="Rectangle 51"/>
          <p:cNvSpPr>
            <a:spLocks noChangeArrowheads="1"/>
          </p:cNvSpPr>
          <p:nvPr/>
        </p:nvSpPr>
        <p:spPr bwMode="auto">
          <a:xfrm>
            <a:off x="5924550" y="4341813"/>
            <a:ext cx="183515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/>
              <a:t>MySQL Master2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746" name="Rectangle 3"/>
          <p:cNvSpPr>
            <a:spLocks noGrp="1" noChangeArrowheads="1"/>
          </p:cNvSpPr>
          <p:nvPr>
            <p:ph type="title"/>
          </p:nvPr>
        </p:nvSpPr>
        <p:spPr>
          <a:xfrm>
            <a:off x="1447800" y="76200"/>
            <a:ext cx="7696200" cy="1066800"/>
          </a:xfrm>
        </p:spPr>
        <p:txBody>
          <a:bodyPr/>
          <a:lstStyle/>
          <a:p>
            <a:pPr algn="l" eaLnBrk="1" hangingPunct="1"/>
            <a:r>
              <a:rPr lang="zh-CN" altLang="en-US" sz="4000" b="1" smtClean="0">
                <a:solidFill>
                  <a:schemeClr val="bg1"/>
                </a:solidFill>
                <a:ea typeface="微软雅黑"/>
                <a:cs typeface="微软雅黑"/>
              </a:rPr>
              <a:t>大纲</a:t>
            </a:r>
          </a:p>
        </p:txBody>
      </p:sp>
      <p:sp>
        <p:nvSpPr>
          <p:cNvPr id="31747" name="TextBox 7"/>
          <p:cNvSpPr txBox="1">
            <a:spLocks noChangeArrowheads="1"/>
          </p:cNvSpPr>
          <p:nvPr/>
        </p:nvSpPr>
        <p:spPr bwMode="auto">
          <a:xfrm>
            <a:off x="533400" y="1447800"/>
            <a:ext cx="7772400" cy="3503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>
              <a:buFont typeface="Wingdings" pitchFamily="2" charset="2"/>
              <a:buChar char="n"/>
            </a:pPr>
            <a:r>
              <a:rPr lang="zh-CN" altLang="en-US" sz="3200">
                <a:solidFill>
                  <a:schemeClr val="tx2"/>
                </a:solidFill>
                <a:latin typeface="微软雅黑"/>
                <a:sym typeface="Helvetica Neue"/>
              </a:rPr>
              <a:t>中间件引入</a:t>
            </a:r>
          </a:p>
          <a:p>
            <a:pPr marL="457200" indent="-457200">
              <a:buFont typeface="Wingdings" pitchFamily="2" charset="2"/>
              <a:buChar char="n"/>
            </a:pPr>
            <a:endParaRPr lang="zh-CN" altLang="en-US" sz="3200">
              <a:solidFill>
                <a:schemeClr val="tx2"/>
              </a:solidFill>
              <a:latin typeface="微软雅黑"/>
              <a:sym typeface="Helvetica Neue"/>
            </a:endParaRPr>
          </a:p>
          <a:p>
            <a:pPr marL="457200" indent="-457200">
              <a:buFont typeface="Wingdings" pitchFamily="2" charset="2"/>
              <a:buChar char="n"/>
            </a:pPr>
            <a:r>
              <a:rPr lang="en-US" altLang="zh-CN" sz="3200">
                <a:solidFill>
                  <a:srgbClr val="FF0000"/>
                </a:solidFill>
                <a:latin typeface="微软雅黑"/>
                <a:sym typeface="Helvetica Neue"/>
              </a:rPr>
              <a:t>Cobar</a:t>
            </a:r>
            <a:r>
              <a:rPr lang="zh-CN" altLang="en-US" sz="3200">
                <a:solidFill>
                  <a:srgbClr val="FF0000"/>
                </a:solidFill>
                <a:latin typeface="微软雅黑"/>
                <a:sym typeface="Helvetica Neue"/>
              </a:rPr>
              <a:t>策略</a:t>
            </a:r>
          </a:p>
          <a:p>
            <a:pPr marL="457200" indent="-457200">
              <a:buFont typeface="Wingdings" pitchFamily="2" charset="2"/>
              <a:buChar char="n"/>
            </a:pPr>
            <a:endParaRPr lang="zh-CN" altLang="en-US" sz="3200">
              <a:solidFill>
                <a:srgbClr val="FF0000"/>
              </a:solidFill>
              <a:latin typeface="微软雅黑"/>
              <a:sym typeface="Helvetica Neue"/>
            </a:endParaRPr>
          </a:p>
          <a:p>
            <a:pPr marL="457200" indent="-457200">
              <a:buFont typeface="Wingdings" pitchFamily="2" charset="2"/>
              <a:buChar char="n"/>
            </a:pPr>
            <a:r>
              <a:rPr lang="zh-CN" altLang="en-US" sz="3200">
                <a:latin typeface="微软雅黑"/>
                <a:sym typeface="Helvetica Neue"/>
              </a:rPr>
              <a:t>系统实现</a:t>
            </a:r>
          </a:p>
          <a:p>
            <a:pPr marL="457200" indent="-457200">
              <a:buFont typeface="Wingdings" pitchFamily="2" charset="2"/>
              <a:buChar char="n"/>
            </a:pPr>
            <a:endParaRPr lang="zh-CN" altLang="en-US" sz="3200">
              <a:latin typeface="微软雅黑"/>
              <a:sym typeface="Helvetica Neue"/>
            </a:endParaRPr>
          </a:p>
          <a:p>
            <a:pPr marL="457200" indent="-457200">
              <a:buFont typeface="Wingdings" pitchFamily="2" charset="2"/>
              <a:buChar char="n"/>
            </a:pPr>
            <a:r>
              <a:rPr lang="zh-CN" altLang="en-US" sz="3200">
                <a:solidFill>
                  <a:schemeClr val="tx2"/>
                </a:solidFill>
                <a:latin typeface="微软雅黑"/>
                <a:sym typeface="Helvetica Neue"/>
              </a:rPr>
              <a:t>实施应用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AutoShape 2"/>
          <p:cNvSpPr>
            <a:spLocks noChangeArrowheads="1"/>
          </p:cNvSpPr>
          <p:nvPr/>
        </p:nvSpPr>
        <p:spPr bwMode="auto">
          <a:xfrm>
            <a:off x="533400" y="2362200"/>
            <a:ext cx="3200400" cy="3657600"/>
          </a:xfrm>
          <a:prstGeom prst="can">
            <a:avLst>
              <a:gd name="adj" fmla="val 28571"/>
            </a:avLst>
          </a:prstGeom>
          <a:solidFill>
            <a:schemeClr val="bg2">
              <a:alpha val="30980"/>
            </a:schemeClr>
          </a:solidFill>
          <a:ln w="9525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8000">
                <a:solidFill>
                  <a:schemeClr val="bg1"/>
                </a:solidFill>
                <a:ea typeface="宋体" charset="-122"/>
              </a:rPr>
              <a:t>Oracle</a:t>
            </a:r>
          </a:p>
        </p:txBody>
      </p:sp>
      <p:sp>
        <p:nvSpPr>
          <p:cNvPr id="32770" name="AutoShape 3"/>
          <p:cNvSpPr>
            <a:spLocks noChangeArrowheads="1"/>
          </p:cNvSpPr>
          <p:nvPr/>
        </p:nvSpPr>
        <p:spPr bwMode="auto">
          <a:xfrm>
            <a:off x="4953000" y="5105400"/>
            <a:ext cx="1143000" cy="838200"/>
          </a:xfrm>
          <a:prstGeom prst="can">
            <a:avLst>
              <a:gd name="adj" fmla="val 25000"/>
            </a:avLst>
          </a:prstGeom>
          <a:solidFill>
            <a:schemeClr val="bg2">
              <a:alpha val="30980"/>
            </a:schemeClr>
          </a:solidFill>
          <a:ln w="9525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400">
                <a:solidFill>
                  <a:schemeClr val="bg1"/>
                </a:solidFill>
                <a:ea typeface="宋体" charset="-122"/>
              </a:rPr>
              <a:t>MySQL</a:t>
            </a:r>
          </a:p>
        </p:txBody>
      </p:sp>
      <p:sp>
        <p:nvSpPr>
          <p:cNvPr id="32771" name="AutoShape 4"/>
          <p:cNvSpPr>
            <a:spLocks noChangeArrowheads="1"/>
          </p:cNvSpPr>
          <p:nvPr/>
        </p:nvSpPr>
        <p:spPr bwMode="auto">
          <a:xfrm>
            <a:off x="6248400" y="5105400"/>
            <a:ext cx="1143000" cy="838200"/>
          </a:xfrm>
          <a:prstGeom prst="can">
            <a:avLst>
              <a:gd name="adj" fmla="val 25000"/>
            </a:avLst>
          </a:prstGeom>
          <a:solidFill>
            <a:schemeClr val="bg2">
              <a:alpha val="30980"/>
            </a:schemeClr>
          </a:solidFill>
          <a:ln w="9525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400">
                <a:solidFill>
                  <a:schemeClr val="bg1"/>
                </a:solidFill>
                <a:ea typeface="宋体" charset="-122"/>
              </a:rPr>
              <a:t>MySQL</a:t>
            </a:r>
          </a:p>
        </p:txBody>
      </p:sp>
      <p:sp>
        <p:nvSpPr>
          <p:cNvPr id="32772" name="AutoShape 5"/>
          <p:cNvSpPr>
            <a:spLocks noChangeArrowheads="1"/>
          </p:cNvSpPr>
          <p:nvPr/>
        </p:nvSpPr>
        <p:spPr bwMode="auto">
          <a:xfrm>
            <a:off x="7543800" y="5105400"/>
            <a:ext cx="1143000" cy="838200"/>
          </a:xfrm>
          <a:prstGeom prst="can">
            <a:avLst>
              <a:gd name="adj" fmla="val 25000"/>
            </a:avLst>
          </a:prstGeom>
          <a:solidFill>
            <a:schemeClr val="bg2">
              <a:alpha val="30980"/>
            </a:schemeClr>
          </a:solidFill>
          <a:ln w="9525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400">
                <a:solidFill>
                  <a:schemeClr val="bg1"/>
                </a:solidFill>
                <a:ea typeface="宋体" charset="-122"/>
              </a:rPr>
              <a:t>MySQL</a:t>
            </a:r>
          </a:p>
        </p:txBody>
      </p:sp>
      <p:sp>
        <p:nvSpPr>
          <p:cNvPr id="32773" name="AutoShape 6"/>
          <p:cNvSpPr>
            <a:spLocks noChangeArrowheads="1"/>
          </p:cNvSpPr>
          <p:nvPr/>
        </p:nvSpPr>
        <p:spPr bwMode="auto">
          <a:xfrm>
            <a:off x="4953000" y="4191000"/>
            <a:ext cx="1143000" cy="838200"/>
          </a:xfrm>
          <a:prstGeom prst="can">
            <a:avLst>
              <a:gd name="adj" fmla="val 25000"/>
            </a:avLst>
          </a:prstGeom>
          <a:solidFill>
            <a:schemeClr val="bg2">
              <a:alpha val="30980"/>
            </a:schemeClr>
          </a:solidFill>
          <a:ln w="9525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400">
                <a:solidFill>
                  <a:schemeClr val="bg1"/>
                </a:solidFill>
                <a:ea typeface="宋体" charset="-122"/>
              </a:rPr>
              <a:t>MySQL</a:t>
            </a:r>
          </a:p>
        </p:txBody>
      </p:sp>
      <p:sp>
        <p:nvSpPr>
          <p:cNvPr id="32774" name="AutoShape 7"/>
          <p:cNvSpPr>
            <a:spLocks noChangeArrowheads="1"/>
          </p:cNvSpPr>
          <p:nvPr/>
        </p:nvSpPr>
        <p:spPr bwMode="auto">
          <a:xfrm>
            <a:off x="6248400" y="4191000"/>
            <a:ext cx="1143000" cy="838200"/>
          </a:xfrm>
          <a:prstGeom prst="can">
            <a:avLst>
              <a:gd name="adj" fmla="val 25000"/>
            </a:avLst>
          </a:prstGeom>
          <a:solidFill>
            <a:schemeClr val="bg2">
              <a:alpha val="30980"/>
            </a:schemeClr>
          </a:solidFill>
          <a:ln w="9525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400">
                <a:solidFill>
                  <a:schemeClr val="bg1"/>
                </a:solidFill>
                <a:ea typeface="宋体" charset="-122"/>
              </a:rPr>
              <a:t>MySQL</a:t>
            </a:r>
          </a:p>
        </p:txBody>
      </p:sp>
      <p:sp>
        <p:nvSpPr>
          <p:cNvPr id="32775" name="AutoShape 8"/>
          <p:cNvSpPr>
            <a:spLocks noChangeArrowheads="1"/>
          </p:cNvSpPr>
          <p:nvPr/>
        </p:nvSpPr>
        <p:spPr bwMode="auto">
          <a:xfrm>
            <a:off x="7543800" y="4191000"/>
            <a:ext cx="1143000" cy="838200"/>
          </a:xfrm>
          <a:prstGeom prst="can">
            <a:avLst>
              <a:gd name="adj" fmla="val 25000"/>
            </a:avLst>
          </a:prstGeom>
          <a:solidFill>
            <a:schemeClr val="bg2">
              <a:alpha val="30980"/>
            </a:schemeClr>
          </a:solidFill>
          <a:ln w="9525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400">
                <a:solidFill>
                  <a:schemeClr val="bg1"/>
                </a:solidFill>
                <a:ea typeface="宋体" charset="-122"/>
              </a:rPr>
              <a:t>MySQL</a:t>
            </a:r>
          </a:p>
        </p:txBody>
      </p:sp>
      <p:sp>
        <p:nvSpPr>
          <p:cNvPr id="32776" name="AutoShape 9"/>
          <p:cNvSpPr>
            <a:spLocks noChangeArrowheads="1"/>
          </p:cNvSpPr>
          <p:nvPr/>
        </p:nvSpPr>
        <p:spPr bwMode="auto">
          <a:xfrm>
            <a:off x="4953000" y="3276600"/>
            <a:ext cx="1143000" cy="838200"/>
          </a:xfrm>
          <a:prstGeom prst="can">
            <a:avLst>
              <a:gd name="adj" fmla="val 25000"/>
            </a:avLst>
          </a:prstGeom>
          <a:solidFill>
            <a:schemeClr val="bg2">
              <a:alpha val="30980"/>
            </a:schemeClr>
          </a:solidFill>
          <a:ln w="9525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400">
                <a:solidFill>
                  <a:schemeClr val="bg1"/>
                </a:solidFill>
                <a:ea typeface="宋体" charset="-122"/>
              </a:rPr>
              <a:t>MySQL</a:t>
            </a:r>
          </a:p>
        </p:txBody>
      </p:sp>
      <p:sp>
        <p:nvSpPr>
          <p:cNvPr id="32777" name="AutoShape 10"/>
          <p:cNvSpPr>
            <a:spLocks noChangeArrowheads="1"/>
          </p:cNvSpPr>
          <p:nvPr/>
        </p:nvSpPr>
        <p:spPr bwMode="auto">
          <a:xfrm>
            <a:off x="6248400" y="3276600"/>
            <a:ext cx="1143000" cy="838200"/>
          </a:xfrm>
          <a:prstGeom prst="can">
            <a:avLst>
              <a:gd name="adj" fmla="val 25000"/>
            </a:avLst>
          </a:prstGeom>
          <a:solidFill>
            <a:schemeClr val="bg2">
              <a:alpha val="30980"/>
            </a:schemeClr>
          </a:solidFill>
          <a:ln w="9525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400">
                <a:solidFill>
                  <a:schemeClr val="bg1"/>
                </a:solidFill>
                <a:ea typeface="宋体" charset="-122"/>
              </a:rPr>
              <a:t>MySQL</a:t>
            </a:r>
          </a:p>
        </p:txBody>
      </p:sp>
      <p:sp>
        <p:nvSpPr>
          <p:cNvPr id="32778" name="AutoShape 11"/>
          <p:cNvSpPr>
            <a:spLocks noChangeArrowheads="1"/>
          </p:cNvSpPr>
          <p:nvPr/>
        </p:nvSpPr>
        <p:spPr bwMode="auto">
          <a:xfrm>
            <a:off x="7543800" y="3276600"/>
            <a:ext cx="1143000" cy="838200"/>
          </a:xfrm>
          <a:prstGeom prst="can">
            <a:avLst>
              <a:gd name="adj" fmla="val 25000"/>
            </a:avLst>
          </a:prstGeom>
          <a:solidFill>
            <a:schemeClr val="bg2">
              <a:alpha val="30980"/>
            </a:schemeClr>
          </a:solidFill>
          <a:ln w="9525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400">
                <a:solidFill>
                  <a:schemeClr val="bg1"/>
                </a:solidFill>
                <a:ea typeface="宋体" charset="-122"/>
              </a:rPr>
              <a:t>MySQL</a:t>
            </a:r>
          </a:p>
        </p:txBody>
      </p:sp>
      <p:sp>
        <p:nvSpPr>
          <p:cNvPr id="32779" name="AutoShape 12"/>
          <p:cNvSpPr>
            <a:spLocks noChangeArrowheads="1"/>
          </p:cNvSpPr>
          <p:nvPr/>
        </p:nvSpPr>
        <p:spPr bwMode="auto">
          <a:xfrm>
            <a:off x="3886200" y="3810000"/>
            <a:ext cx="838200" cy="838200"/>
          </a:xfrm>
          <a:prstGeom prst="rightArrow">
            <a:avLst>
              <a:gd name="adj1" fmla="val 50000"/>
              <a:gd name="adj2" fmla="val 30681"/>
            </a:avLst>
          </a:prstGeom>
          <a:solidFill>
            <a:schemeClr val="bg2">
              <a:alpha val="30980"/>
            </a:schemeClr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32780" name="AutoShape 13"/>
          <p:cNvSpPr>
            <a:spLocks noChangeArrowheads="1"/>
          </p:cNvSpPr>
          <p:nvPr/>
        </p:nvSpPr>
        <p:spPr bwMode="auto">
          <a:xfrm>
            <a:off x="4953000" y="2362200"/>
            <a:ext cx="1143000" cy="838200"/>
          </a:xfrm>
          <a:prstGeom prst="can">
            <a:avLst>
              <a:gd name="adj" fmla="val 25000"/>
            </a:avLst>
          </a:prstGeom>
          <a:solidFill>
            <a:schemeClr val="bg2">
              <a:alpha val="30980"/>
            </a:schemeClr>
          </a:solidFill>
          <a:ln w="9525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400">
                <a:solidFill>
                  <a:schemeClr val="bg1"/>
                </a:solidFill>
                <a:ea typeface="宋体" charset="-122"/>
              </a:rPr>
              <a:t>MySQL</a:t>
            </a:r>
          </a:p>
        </p:txBody>
      </p:sp>
      <p:sp>
        <p:nvSpPr>
          <p:cNvPr id="32781" name="AutoShape 14"/>
          <p:cNvSpPr>
            <a:spLocks noChangeArrowheads="1"/>
          </p:cNvSpPr>
          <p:nvPr/>
        </p:nvSpPr>
        <p:spPr bwMode="auto">
          <a:xfrm>
            <a:off x="6248400" y="2362200"/>
            <a:ext cx="1143000" cy="838200"/>
          </a:xfrm>
          <a:prstGeom prst="can">
            <a:avLst>
              <a:gd name="adj" fmla="val 25000"/>
            </a:avLst>
          </a:prstGeom>
          <a:solidFill>
            <a:schemeClr val="bg2">
              <a:alpha val="30980"/>
            </a:schemeClr>
          </a:solidFill>
          <a:ln w="9525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400">
                <a:solidFill>
                  <a:schemeClr val="bg1"/>
                </a:solidFill>
                <a:ea typeface="宋体" charset="-122"/>
              </a:rPr>
              <a:t>MySQL</a:t>
            </a:r>
          </a:p>
        </p:txBody>
      </p:sp>
      <p:sp>
        <p:nvSpPr>
          <p:cNvPr id="32782" name="AutoShape 15"/>
          <p:cNvSpPr>
            <a:spLocks noChangeArrowheads="1"/>
          </p:cNvSpPr>
          <p:nvPr/>
        </p:nvSpPr>
        <p:spPr bwMode="auto">
          <a:xfrm>
            <a:off x="7543800" y="2362200"/>
            <a:ext cx="1143000" cy="838200"/>
          </a:xfrm>
          <a:prstGeom prst="can">
            <a:avLst>
              <a:gd name="adj" fmla="val 25000"/>
            </a:avLst>
          </a:prstGeom>
          <a:solidFill>
            <a:schemeClr val="bg2">
              <a:alpha val="30980"/>
            </a:schemeClr>
          </a:solidFill>
          <a:ln w="9525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400">
                <a:solidFill>
                  <a:schemeClr val="bg1"/>
                </a:solidFill>
                <a:ea typeface="宋体" charset="-122"/>
              </a:rPr>
              <a:t>MySQL</a:t>
            </a:r>
          </a:p>
        </p:txBody>
      </p:sp>
      <p:sp>
        <p:nvSpPr>
          <p:cNvPr id="32783" name="Rectangle 16"/>
          <p:cNvSpPr>
            <a:spLocks noGrp="1" noChangeArrowheads="1"/>
          </p:cNvSpPr>
          <p:nvPr>
            <p:ph type="body" idx="1"/>
          </p:nvPr>
        </p:nvSpPr>
        <p:spPr>
          <a:xfrm>
            <a:off x="1219200" y="3505200"/>
            <a:ext cx="7162800" cy="990600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zh-CN" altLang="en-US" sz="6000" b="1" smtClean="0">
                <a:solidFill>
                  <a:srgbClr val="FF0000"/>
                </a:solidFill>
                <a:ea typeface="微软雅黑"/>
                <a:cs typeface="微软雅黑"/>
              </a:rPr>
              <a:t>拆分数据表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ea typeface="微软雅黑"/>
                <a:cs typeface="微软雅黑"/>
              </a:rPr>
              <a:t>水平拆分</a:t>
            </a:r>
          </a:p>
        </p:txBody>
      </p:sp>
      <p:graphicFrame>
        <p:nvGraphicFramePr>
          <p:cNvPr id="311299" name="Group 3"/>
          <p:cNvGraphicFramePr>
            <a:graphicFrameLocks noGrp="1"/>
          </p:cNvGraphicFramePr>
          <p:nvPr>
            <p:ph idx="1"/>
          </p:nvPr>
        </p:nvGraphicFramePr>
        <p:xfrm>
          <a:off x="762000" y="2233613"/>
          <a:ext cx="2881313" cy="3170237"/>
        </p:xfrm>
        <a:graphic>
          <a:graphicData uri="http://schemas.openxmlformats.org/drawingml/2006/table">
            <a:tbl>
              <a:tblPr/>
              <a:tblGrid>
                <a:gridCol w="466725"/>
                <a:gridCol w="1511300"/>
                <a:gridCol w="903288"/>
              </a:tblGrid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MEMBE_ID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INFO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pavarotti17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abcd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test1234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5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test1234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9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abcd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pavarotti17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68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20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abcd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ea typeface="微软雅黑"/>
                <a:cs typeface="微软雅黑"/>
              </a:rPr>
              <a:t>水平拆分</a:t>
            </a:r>
          </a:p>
        </p:txBody>
      </p:sp>
      <p:graphicFrame>
        <p:nvGraphicFramePr>
          <p:cNvPr id="312323" name="Group 3"/>
          <p:cNvGraphicFramePr>
            <a:graphicFrameLocks noGrp="1"/>
          </p:cNvGraphicFramePr>
          <p:nvPr>
            <p:ph idx="1"/>
          </p:nvPr>
        </p:nvGraphicFramePr>
        <p:xfrm>
          <a:off x="685800" y="2233613"/>
          <a:ext cx="2905125" cy="3170237"/>
        </p:xfrm>
        <a:graphic>
          <a:graphicData uri="http://schemas.openxmlformats.org/drawingml/2006/table">
            <a:tbl>
              <a:tblPr/>
              <a:tblGrid>
                <a:gridCol w="466725"/>
                <a:gridCol w="1538288"/>
                <a:gridCol w="900112"/>
              </a:tblGrid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MEMBE_ID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INFO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pavarotti17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abcd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test1234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test1234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abcd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pavarotti17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68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20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abcd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34860" name="Text Box 45"/>
          <p:cNvSpPr txBox="1">
            <a:spLocks noChangeArrowheads="1"/>
          </p:cNvSpPr>
          <p:nvPr/>
        </p:nvSpPr>
        <p:spPr bwMode="auto">
          <a:xfrm>
            <a:off x="1447800" y="1524000"/>
            <a:ext cx="1143000" cy="366713"/>
          </a:xfrm>
          <a:prstGeom prst="rect">
            <a:avLst/>
          </a:prstGeom>
          <a:noFill/>
          <a:ln w="3175" algn="ctr">
            <a:solidFill>
              <a:srgbClr val="FF0000"/>
            </a:solidFill>
            <a:prstDash val="dash"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>
                <a:solidFill>
                  <a:srgbClr val="FF0000"/>
                </a:solidFill>
              </a:rPr>
              <a:t>拆分字段</a:t>
            </a:r>
          </a:p>
        </p:txBody>
      </p:sp>
      <p:sp>
        <p:nvSpPr>
          <p:cNvPr id="34861" name="Line 46"/>
          <p:cNvSpPr>
            <a:spLocks noChangeShapeType="1"/>
          </p:cNvSpPr>
          <p:nvPr/>
        </p:nvSpPr>
        <p:spPr bwMode="auto">
          <a:xfrm flipH="1">
            <a:off x="1905000" y="1905000"/>
            <a:ext cx="152400" cy="304800"/>
          </a:xfrm>
          <a:prstGeom prst="line">
            <a:avLst/>
          </a:prstGeom>
          <a:noFill/>
          <a:ln w="3175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ea typeface="微软雅黑"/>
                <a:cs typeface="微软雅黑"/>
              </a:rPr>
              <a:t>水平拆分</a:t>
            </a:r>
          </a:p>
        </p:txBody>
      </p:sp>
      <p:graphicFrame>
        <p:nvGraphicFramePr>
          <p:cNvPr id="313347" name="Group 3"/>
          <p:cNvGraphicFramePr>
            <a:graphicFrameLocks noGrp="1"/>
          </p:cNvGraphicFramePr>
          <p:nvPr>
            <p:ph idx="1"/>
          </p:nvPr>
        </p:nvGraphicFramePr>
        <p:xfrm>
          <a:off x="660400" y="2233613"/>
          <a:ext cx="2768600" cy="3170237"/>
        </p:xfrm>
        <a:graphic>
          <a:graphicData uri="http://schemas.openxmlformats.org/drawingml/2006/table">
            <a:tbl>
              <a:tblPr/>
              <a:tblGrid>
                <a:gridCol w="466725"/>
                <a:gridCol w="1511300"/>
                <a:gridCol w="790575"/>
              </a:tblGrid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MEMBE_ID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INFO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pavarotti17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abcd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test1234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test1234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abcd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pavarotti17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68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20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abcd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3389" name="Group 45"/>
          <p:cNvGraphicFramePr>
            <a:graphicFrameLocks noGrp="1"/>
          </p:cNvGraphicFramePr>
          <p:nvPr/>
        </p:nvGraphicFramePr>
        <p:xfrm>
          <a:off x="5807075" y="1984375"/>
          <a:ext cx="2574925" cy="1828800"/>
        </p:xfrm>
        <a:graphic>
          <a:graphicData uri="http://schemas.openxmlformats.org/drawingml/2006/table">
            <a:tbl>
              <a:tblPr/>
              <a:tblGrid>
                <a:gridCol w="466725"/>
                <a:gridCol w="1377950"/>
                <a:gridCol w="730250"/>
              </a:tblGrid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MEMBE_ID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INFO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pavarotti17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test1234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test1234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pavarotti17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3419" name="Group 75"/>
          <p:cNvGraphicFramePr>
            <a:graphicFrameLocks noGrp="1"/>
          </p:cNvGraphicFramePr>
          <p:nvPr/>
        </p:nvGraphicFramePr>
        <p:xfrm>
          <a:off x="5791200" y="4514850"/>
          <a:ext cx="2768600" cy="1584325"/>
        </p:xfrm>
        <a:graphic>
          <a:graphicData uri="http://schemas.openxmlformats.org/drawingml/2006/table">
            <a:tbl>
              <a:tblPr/>
              <a:tblGrid>
                <a:gridCol w="466725"/>
                <a:gridCol w="1511300"/>
                <a:gridCol w="790575"/>
              </a:tblGrid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MEMBE_ID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INFO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abcd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abcd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68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20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abcd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35932" name="AutoShape 101"/>
          <p:cNvSpPr>
            <a:spLocks noChangeArrowheads="1"/>
          </p:cNvSpPr>
          <p:nvPr/>
        </p:nvSpPr>
        <p:spPr bwMode="auto">
          <a:xfrm>
            <a:off x="5562600" y="1524000"/>
            <a:ext cx="3124200" cy="2590800"/>
          </a:xfrm>
          <a:prstGeom prst="flowChartMagneticDisk">
            <a:avLst/>
          </a:prstGeom>
          <a:noFill/>
          <a:ln w="9525">
            <a:solidFill>
              <a:srgbClr val="333333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35933" name="AutoShape 102"/>
          <p:cNvSpPr>
            <a:spLocks noChangeArrowheads="1"/>
          </p:cNvSpPr>
          <p:nvPr/>
        </p:nvSpPr>
        <p:spPr bwMode="auto">
          <a:xfrm>
            <a:off x="5562600" y="4191000"/>
            <a:ext cx="3200400" cy="2209800"/>
          </a:xfrm>
          <a:prstGeom prst="flowChartMagneticDisk">
            <a:avLst/>
          </a:prstGeom>
          <a:noFill/>
          <a:ln w="9525">
            <a:solidFill>
              <a:srgbClr val="333333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35934" name="Line 103"/>
          <p:cNvSpPr>
            <a:spLocks noChangeShapeType="1"/>
          </p:cNvSpPr>
          <p:nvPr/>
        </p:nvSpPr>
        <p:spPr bwMode="auto">
          <a:xfrm flipV="1">
            <a:off x="3429000" y="2514600"/>
            <a:ext cx="2362200" cy="304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935" name="Line 104"/>
          <p:cNvSpPr>
            <a:spLocks noChangeShapeType="1"/>
          </p:cNvSpPr>
          <p:nvPr/>
        </p:nvSpPr>
        <p:spPr bwMode="auto">
          <a:xfrm flipV="1">
            <a:off x="3429000" y="2895600"/>
            <a:ext cx="2362200" cy="685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936" name="Line 105"/>
          <p:cNvSpPr>
            <a:spLocks noChangeShapeType="1"/>
          </p:cNvSpPr>
          <p:nvPr/>
        </p:nvSpPr>
        <p:spPr bwMode="auto">
          <a:xfrm flipV="1">
            <a:off x="3429000" y="3276600"/>
            <a:ext cx="2362200" cy="762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937" name="Line 106"/>
          <p:cNvSpPr>
            <a:spLocks noChangeShapeType="1"/>
          </p:cNvSpPr>
          <p:nvPr/>
        </p:nvSpPr>
        <p:spPr bwMode="auto">
          <a:xfrm flipV="1">
            <a:off x="3429000" y="3657600"/>
            <a:ext cx="2362200" cy="1143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938" name="Line 107"/>
          <p:cNvSpPr>
            <a:spLocks noChangeShapeType="1"/>
          </p:cNvSpPr>
          <p:nvPr/>
        </p:nvSpPr>
        <p:spPr bwMode="auto">
          <a:xfrm>
            <a:off x="3429000" y="3276600"/>
            <a:ext cx="2362200" cy="182880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939" name="Line 108"/>
          <p:cNvSpPr>
            <a:spLocks noChangeShapeType="1"/>
          </p:cNvSpPr>
          <p:nvPr/>
        </p:nvSpPr>
        <p:spPr bwMode="auto">
          <a:xfrm>
            <a:off x="3429000" y="4419600"/>
            <a:ext cx="2362200" cy="114300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940" name="Line 109"/>
          <p:cNvSpPr>
            <a:spLocks noChangeShapeType="1"/>
          </p:cNvSpPr>
          <p:nvPr/>
        </p:nvSpPr>
        <p:spPr bwMode="auto">
          <a:xfrm>
            <a:off x="3429000" y="5181600"/>
            <a:ext cx="2362200" cy="76200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941" name="Rectangle 110"/>
          <p:cNvSpPr>
            <a:spLocks noChangeArrowheads="1"/>
          </p:cNvSpPr>
          <p:nvPr/>
        </p:nvSpPr>
        <p:spPr bwMode="auto">
          <a:xfrm rot="-406361">
            <a:off x="3333750" y="2444750"/>
            <a:ext cx="238125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600">
                <a:latin typeface="Courier New" pitchFamily="49" charset="0"/>
              </a:rPr>
              <a:t>f(pavarotti17)=</a:t>
            </a:r>
            <a:r>
              <a:rPr lang="zh-CN" altLang="en-US" sz="1600">
                <a:latin typeface="Courier New" pitchFamily="49" charset="0"/>
              </a:rPr>
              <a:t>库</a:t>
            </a:r>
            <a:r>
              <a:rPr lang="en-US" altLang="zh-CN" sz="1600">
                <a:latin typeface="Courier New" pitchFamily="49" charset="0"/>
              </a:rPr>
              <a:t>1</a:t>
            </a:r>
          </a:p>
        </p:txBody>
      </p:sp>
      <p:sp>
        <p:nvSpPr>
          <p:cNvPr id="35942" name="Rectangle 111"/>
          <p:cNvSpPr>
            <a:spLocks noChangeArrowheads="1"/>
          </p:cNvSpPr>
          <p:nvPr/>
        </p:nvSpPr>
        <p:spPr bwMode="auto">
          <a:xfrm rot="-955059">
            <a:off x="3352800" y="2940050"/>
            <a:ext cx="238125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600">
                <a:latin typeface="Courier New" pitchFamily="49" charset="0"/>
              </a:rPr>
              <a:t>f(test1234)=</a:t>
            </a:r>
            <a:r>
              <a:rPr lang="zh-CN" altLang="en-US" sz="1600">
                <a:latin typeface="Courier New" pitchFamily="49" charset="0"/>
              </a:rPr>
              <a:t>库</a:t>
            </a:r>
            <a:r>
              <a:rPr lang="en-US" altLang="zh-CN" sz="1600">
                <a:latin typeface="Courier New" pitchFamily="49" charset="0"/>
              </a:rPr>
              <a:t>1</a:t>
            </a:r>
          </a:p>
        </p:txBody>
      </p:sp>
      <p:sp>
        <p:nvSpPr>
          <p:cNvPr id="35943" name="Rectangle 112"/>
          <p:cNvSpPr>
            <a:spLocks noChangeArrowheads="1"/>
          </p:cNvSpPr>
          <p:nvPr/>
        </p:nvSpPr>
        <p:spPr bwMode="auto">
          <a:xfrm rot="-955059">
            <a:off x="3352800" y="3429000"/>
            <a:ext cx="238125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600">
                <a:latin typeface="Courier New" pitchFamily="49" charset="0"/>
              </a:rPr>
              <a:t>f(test1234)=</a:t>
            </a:r>
            <a:r>
              <a:rPr lang="zh-CN" altLang="en-US" sz="1600">
                <a:latin typeface="Courier New" pitchFamily="49" charset="0"/>
              </a:rPr>
              <a:t>库</a:t>
            </a:r>
            <a:r>
              <a:rPr lang="en-US" altLang="zh-CN" sz="1600">
                <a:latin typeface="Courier New" pitchFamily="49" charset="0"/>
              </a:rPr>
              <a:t>1</a:t>
            </a:r>
          </a:p>
        </p:txBody>
      </p:sp>
      <p:sp>
        <p:nvSpPr>
          <p:cNvPr id="35944" name="Rectangle 113"/>
          <p:cNvSpPr>
            <a:spLocks noChangeArrowheads="1"/>
          </p:cNvSpPr>
          <p:nvPr/>
        </p:nvSpPr>
        <p:spPr bwMode="auto">
          <a:xfrm rot="-1553140">
            <a:off x="3352800" y="3930650"/>
            <a:ext cx="238125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600">
                <a:latin typeface="Courier New" pitchFamily="49" charset="0"/>
              </a:rPr>
              <a:t>f(pavarotti17)=</a:t>
            </a:r>
            <a:r>
              <a:rPr lang="zh-CN" altLang="en-US" sz="1600">
                <a:latin typeface="Courier New" pitchFamily="49" charset="0"/>
              </a:rPr>
              <a:t>库</a:t>
            </a:r>
            <a:r>
              <a:rPr lang="en-US" altLang="zh-CN" sz="1600">
                <a:latin typeface="Courier New" pitchFamily="49" charset="0"/>
              </a:rPr>
              <a:t>1</a:t>
            </a:r>
          </a:p>
        </p:txBody>
      </p:sp>
      <p:sp>
        <p:nvSpPr>
          <p:cNvPr id="35945" name="Rectangle 114"/>
          <p:cNvSpPr>
            <a:spLocks noChangeArrowheads="1"/>
          </p:cNvSpPr>
          <p:nvPr/>
        </p:nvSpPr>
        <p:spPr bwMode="auto">
          <a:xfrm rot="1028098">
            <a:off x="3352800" y="5257800"/>
            <a:ext cx="238125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600">
                <a:latin typeface="Courier New" pitchFamily="49" charset="0"/>
              </a:rPr>
              <a:t>f(abcd)=</a:t>
            </a:r>
            <a:r>
              <a:rPr lang="zh-CN" altLang="en-US" sz="1600">
                <a:latin typeface="Courier New" pitchFamily="49" charset="0"/>
              </a:rPr>
              <a:t>库</a:t>
            </a:r>
            <a:r>
              <a:rPr lang="en-US" altLang="zh-CN" sz="1600">
                <a:latin typeface="Courier New" pitchFamily="49" charset="0"/>
              </a:rPr>
              <a:t>2</a:t>
            </a:r>
          </a:p>
        </p:txBody>
      </p:sp>
      <p:sp>
        <p:nvSpPr>
          <p:cNvPr id="35946" name="Rectangle 115"/>
          <p:cNvSpPr>
            <a:spLocks noChangeArrowheads="1"/>
          </p:cNvSpPr>
          <p:nvPr/>
        </p:nvSpPr>
        <p:spPr bwMode="auto">
          <a:xfrm rot="1579897">
            <a:off x="3657600" y="4800600"/>
            <a:ext cx="238125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600">
                <a:latin typeface="Courier New" pitchFamily="49" charset="0"/>
              </a:rPr>
              <a:t>f(abcd)=</a:t>
            </a:r>
            <a:r>
              <a:rPr lang="zh-CN" altLang="en-US" sz="1600">
                <a:latin typeface="Courier New" pitchFamily="49" charset="0"/>
              </a:rPr>
              <a:t>库</a:t>
            </a:r>
            <a:r>
              <a:rPr lang="en-US" altLang="zh-CN" sz="1600">
                <a:latin typeface="Courier New" pitchFamily="49" charset="0"/>
              </a:rPr>
              <a:t>2</a:t>
            </a:r>
          </a:p>
        </p:txBody>
      </p:sp>
      <p:sp>
        <p:nvSpPr>
          <p:cNvPr id="35947" name="Rectangle 116"/>
          <p:cNvSpPr>
            <a:spLocks noChangeArrowheads="1"/>
          </p:cNvSpPr>
          <p:nvPr/>
        </p:nvSpPr>
        <p:spPr bwMode="auto">
          <a:xfrm rot="2185500">
            <a:off x="4038600" y="4419600"/>
            <a:ext cx="238125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600">
                <a:latin typeface="Courier New" pitchFamily="49" charset="0"/>
              </a:rPr>
              <a:t>f(abcd)=</a:t>
            </a:r>
            <a:r>
              <a:rPr lang="zh-CN" altLang="en-US" sz="1600">
                <a:latin typeface="Courier New" pitchFamily="49" charset="0"/>
              </a:rPr>
              <a:t>库</a:t>
            </a:r>
            <a:r>
              <a:rPr lang="en-US" altLang="zh-CN" sz="1600">
                <a:latin typeface="Courier New" pitchFamily="49" charset="0"/>
              </a:rPr>
              <a:t>2</a:t>
            </a:r>
          </a:p>
        </p:txBody>
      </p:sp>
      <p:sp>
        <p:nvSpPr>
          <p:cNvPr id="35948" name="Rectangle 117"/>
          <p:cNvSpPr>
            <a:spLocks noChangeArrowheads="1"/>
          </p:cNvSpPr>
          <p:nvPr/>
        </p:nvSpPr>
        <p:spPr bwMode="auto">
          <a:xfrm>
            <a:off x="6610350" y="1508125"/>
            <a:ext cx="1162050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2000">
                <a:latin typeface="Courier New" pitchFamily="49" charset="0"/>
              </a:rPr>
              <a:t>库</a:t>
            </a:r>
            <a:r>
              <a:rPr lang="en-US" altLang="zh-CN" sz="2000">
                <a:latin typeface="Courier New" pitchFamily="49" charset="0"/>
              </a:rPr>
              <a:t>1</a:t>
            </a:r>
          </a:p>
        </p:txBody>
      </p:sp>
      <p:sp>
        <p:nvSpPr>
          <p:cNvPr id="35949" name="Rectangle 118"/>
          <p:cNvSpPr>
            <a:spLocks noChangeArrowheads="1"/>
          </p:cNvSpPr>
          <p:nvPr/>
        </p:nvSpPr>
        <p:spPr bwMode="auto">
          <a:xfrm>
            <a:off x="6610350" y="4175125"/>
            <a:ext cx="1162050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2000">
                <a:latin typeface="Courier New" pitchFamily="49" charset="0"/>
              </a:rPr>
              <a:t>库</a:t>
            </a:r>
            <a:r>
              <a:rPr lang="en-US" altLang="zh-CN" sz="2000">
                <a:latin typeface="Courier New" pitchFamily="49" charset="0"/>
              </a:rPr>
              <a:t>2</a:t>
            </a:r>
          </a:p>
        </p:txBody>
      </p:sp>
      <p:sp>
        <p:nvSpPr>
          <p:cNvPr id="35950" name="Text Box 119"/>
          <p:cNvSpPr txBox="1">
            <a:spLocks noChangeArrowheads="1"/>
          </p:cNvSpPr>
          <p:nvPr/>
        </p:nvSpPr>
        <p:spPr bwMode="auto">
          <a:xfrm>
            <a:off x="1447800" y="1524000"/>
            <a:ext cx="1143000" cy="366713"/>
          </a:xfrm>
          <a:prstGeom prst="rect">
            <a:avLst/>
          </a:prstGeom>
          <a:noFill/>
          <a:ln w="3175" algn="ctr">
            <a:solidFill>
              <a:schemeClr val="bg2"/>
            </a:solidFill>
            <a:prstDash val="dash"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>
                <a:solidFill>
                  <a:schemeClr val="tx2"/>
                </a:solidFill>
              </a:rPr>
              <a:t>拆分字段</a:t>
            </a:r>
          </a:p>
        </p:txBody>
      </p:sp>
      <p:sp>
        <p:nvSpPr>
          <p:cNvPr id="35951" name="Line 120"/>
          <p:cNvSpPr>
            <a:spLocks noChangeShapeType="1"/>
          </p:cNvSpPr>
          <p:nvPr/>
        </p:nvSpPr>
        <p:spPr bwMode="auto">
          <a:xfrm flipH="1">
            <a:off x="1905000" y="1905000"/>
            <a:ext cx="152400" cy="304800"/>
          </a:xfrm>
          <a:prstGeom prst="line">
            <a:avLst/>
          </a:prstGeom>
          <a:noFill/>
          <a:ln w="3175">
            <a:solidFill>
              <a:schemeClr val="bg2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ea typeface="微软雅黑"/>
                <a:cs typeface="微软雅黑"/>
              </a:rPr>
              <a:t>水平拆分</a:t>
            </a:r>
          </a:p>
        </p:txBody>
      </p:sp>
      <p:graphicFrame>
        <p:nvGraphicFramePr>
          <p:cNvPr id="314371" name="Group 3"/>
          <p:cNvGraphicFramePr>
            <a:graphicFrameLocks noGrp="1"/>
          </p:cNvGraphicFramePr>
          <p:nvPr>
            <p:ph idx="1"/>
          </p:nvPr>
        </p:nvGraphicFramePr>
        <p:xfrm>
          <a:off x="660400" y="2233613"/>
          <a:ext cx="2768600" cy="3170237"/>
        </p:xfrm>
        <a:graphic>
          <a:graphicData uri="http://schemas.openxmlformats.org/drawingml/2006/table">
            <a:tbl>
              <a:tblPr/>
              <a:tblGrid>
                <a:gridCol w="466725"/>
                <a:gridCol w="1511300"/>
                <a:gridCol w="790575"/>
              </a:tblGrid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MEMBE_ID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INFO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pavarotti17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abcd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test1234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test1234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abcd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pavarotti17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68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20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abcd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4413" name="Group 45"/>
          <p:cNvGraphicFramePr>
            <a:graphicFrameLocks noGrp="1"/>
          </p:cNvGraphicFramePr>
          <p:nvPr/>
        </p:nvGraphicFramePr>
        <p:xfrm>
          <a:off x="5807075" y="1984375"/>
          <a:ext cx="2574925" cy="1828800"/>
        </p:xfrm>
        <a:graphic>
          <a:graphicData uri="http://schemas.openxmlformats.org/drawingml/2006/table">
            <a:tbl>
              <a:tblPr/>
              <a:tblGrid>
                <a:gridCol w="466725"/>
                <a:gridCol w="1377950"/>
                <a:gridCol w="730250"/>
              </a:tblGrid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MEMBE_ID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INFO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pavarotti17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test1234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test1234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pavarotti17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4443" name="Group 75"/>
          <p:cNvGraphicFramePr>
            <a:graphicFrameLocks noGrp="1"/>
          </p:cNvGraphicFramePr>
          <p:nvPr/>
        </p:nvGraphicFramePr>
        <p:xfrm>
          <a:off x="5791200" y="4514850"/>
          <a:ext cx="2768600" cy="1584325"/>
        </p:xfrm>
        <a:graphic>
          <a:graphicData uri="http://schemas.openxmlformats.org/drawingml/2006/table">
            <a:tbl>
              <a:tblPr/>
              <a:tblGrid>
                <a:gridCol w="466725"/>
                <a:gridCol w="1511300"/>
                <a:gridCol w="790575"/>
              </a:tblGrid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MEMBE_ID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INFO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abcd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abcd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68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20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abcd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36956" name="AutoShape 101"/>
          <p:cNvSpPr>
            <a:spLocks noChangeArrowheads="1"/>
          </p:cNvSpPr>
          <p:nvPr/>
        </p:nvSpPr>
        <p:spPr bwMode="auto">
          <a:xfrm>
            <a:off x="5562600" y="1524000"/>
            <a:ext cx="3124200" cy="2590800"/>
          </a:xfrm>
          <a:prstGeom prst="flowChartMagneticDisk">
            <a:avLst/>
          </a:prstGeom>
          <a:noFill/>
          <a:ln w="9525">
            <a:solidFill>
              <a:srgbClr val="333333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36957" name="AutoShape 102"/>
          <p:cNvSpPr>
            <a:spLocks noChangeArrowheads="1"/>
          </p:cNvSpPr>
          <p:nvPr/>
        </p:nvSpPr>
        <p:spPr bwMode="auto">
          <a:xfrm>
            <a:off x="5562600" y="4191000"/>
            <a:ext cx="3200400" cy="2209800"/>
          </a:xfrm>
          <a:prstGeom prst="flowChartMagneticDisk">
            <a:avLst/>
          </a:prstGeom>
          <a:noFill/>
          <a:ln w="9525">
            <a:solidFill>
              <a:srgbClr val="333333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36958" name="Rectangle 103"/>
          <p:cNvSpPr>
            <a:spLocks noChangeArrowheads="1"/>
          </p:cNvSpPr>
          <p:nvPr/>
        </p:nvSpPr>
        <p:spPr bwMode="auto">
          <a:xfrm rot="2185500">
            <a:off x="4019550" y="4413250"/>
            <a:ext cx="2381250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2000" b="1">
                <a:solidFill>
                  <a:srgbClr val="FF0000"/>
                </a:solidFill>
                <a:latin typeface="Courier New" pitchFamily="49" charset="0"/>
              </a:rPr>
              <a:t>f</a:t>
            </a:r>
            <a:r>
              <a:rPr lang="en-US" altLang="zh-CN" sz="1600">
                <a:latin typeface="Courier New" pitchFamily="49" charset="0"/>
              </a:rPr>
              <a:t>(abcd)=</a:t>
            </a:r>
            <a:r>
              <a:rPr lang="zh-CN" altLang="en-US" sz="1600">
                <a:latin typeface="Courier New" pitchFamily="49" charset="0"/>
              </a:rPr>
              <a:t>库</a:t>
            </a:r>
            <a:r>
              <a:rPr lang="en-US" altLang="zh-CN" sz="1600">
                <a:latin typeface="Courier New" pitchFamily="49" charset="0"/>
              </a:rPr>
              <a:t>2</a:t>
            </a:r>
          </a:p>
        </p:txBody>
      </p:sp>
      <p:sp>
        <p:nvSpPr>
          <p:cNvPr id="36959" name="Rectangle 104"/>
          <p:cNvSpPr>
            <a:spLocks noChangeArrowheads="1"/>
          </p:cNvSpPr>
          <p:nvPr/>
        </p:nvSpPr>
        <p:spPr bwMode="auto">
          <a:xfrm>
            <a:off x="6610350" y="1508125"/>
            <a:ext cx="1162050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2000">
                <a:latin typeface="Courier New" pitchFamily="49" charset="0"/>
              </a:rPr>
              <a:t>库</a:t>
            </a:r>
            <a:r>
              <a:rPr lang="en-US" altLang="zh-CN" sz="2000">
                <a:latin typeface="Courier New" pitchFamily="49" charset="0"/>
              </a:rPr>
              <a:t>1</a:t>
            </a:r>
          </a:p>
        </p:txBody>
      </p:sp>
      <p:sp>
        <p:nvSpPr>
          <p:cNvPr id="36960" name="Rectangle 105"/>
          <p:cNvSpPr>
            <a:spLocks noChangeArrowheads="1"/>
          </p:cNvSpPr>
          <p:nvPr/>
        </p:nvSpPr>
        <p:spPr bwMode="auto">
          <a:xfrm>
            <a:off x="6610350" y="4175125"/>
            <a:ext cx="1162050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2000">
                <a:latin typeface="Courier New" pitchFamily="49" charset="0"/>
              </a:rPr>
              <a:t>库</a:t>
            </a:r>
            <a:r>
              <a:rPr lang="en-US" altLang="zh-CN" sz="2000">
                <a:latin typeface="Courier New" pitchFamily="49" charset="0"/>
              </a:rPr>
              <a:t>2</a:t>
            </a:r>
          </a:p>
        </p:txBody>
      </p:sp>
      <p:sp>
        <p:nvSpPr>
          <p:cNvPr id="36961" name="Text Box 106"/>
          <p:cNvSpPr txBox="1">
            <a:spLocks noChangeArrowheads="1"/>
          </p:cNvSpPr>
          <p:nvPr/>
        </p:nvSpPr>
        <p:spPr bwMode="auto">
          <a:xfrm>
            <a:off x="1447800" y="1524000"/>
            <a:ext cx="1143000" cy="366713"/>
          </a:xfrm>
          <a:prstGeom prst="rect">
            <a:avLst/>
          </a:prstGeom>
          <a:noFill/>
          <a:ln w="3175" algn="ctr">
            <a:solidFill>
              <a:schemeClr val="bg2"/>
            </a:solidFill>
            <a:prstDash val="dash"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>
                <a:solidFill>
                  <a:schemeClr val="tx2"/>
                </a:solidFill>
              </a:rPr>
              <a:t>拆分字段</a:t>
            </a:r>
          </a:p>
        </p:txBody>
      </p:sp>
      <p:sp>
        <p:nvSpPr>
          <p:cNvPr id="36962" name="Line 107"/>
          <p:cNvSpPr>
            <a:spLocks noChangeShapeType="1"/>
          </p:cNvSpPr>
          <p:nvPr/>
        </p:nvSpPr>
        <p:spPr bwMode="auto">
          <a:xfrm flipH="1">
            <a:off x="1905000" y="1905000"/>
            <a:ext cx="152400" cy="304800"/>
          </a:xfrm>
          <a:prstGeom prst="line">
            <a:avLst/>
          </a:prstGeom>
          <a:noFill/>
          <a:ln w="3175">
            <a:solidFill>
              <a:schemeClr val="bg2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63" name="Line 108"/>
          <p:cNvSpPr>
            <a:spLocks noChangeShapeType="1"/>
          </p:cNvSpPr>
          <p:nvPr/>
        </p:nvSpPr>
        <p:spPr bwMode="auto">
          <a:xfrm flipV="1">
            <a:off x="3429000" y="2514600"/>
            <a:ext cx="2362200" cy="3048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64" name="Line 109"/>
          <p:cNvSpPr>
            <a:spLocks noChangeShapeType="1"/>
          </p:cNvSpPr>
          <p:nvPr/>
        </p:nvSpPr>
        <p:spPr bwMode="auto">
          <a:xfrm flipV="1">
            <a:off x="3429000" y="2895600"/>
            <a:ext cx="2362200" cy="6858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65" name="Line 110"/>
          <p:cNvSpPr>
            <a:spLocks noChangeShapeType="1"/>
          </p:cNvSpPr>
          <p:nvPr/>
        </p:nvSpPr>
        <p:spPr bwMode="auto">
          <a:xfrm flipV="1">
            <a:off x="3429000" y="3276600"/>
            <a:ext cx="2362200" cy="7620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66" name="Line 111"/>
          <p:cNvSpPr>
            <a:spLocks noChangeShapeType="1"/>
          </p:cNvSpPr>
          <p:nvPr/>
        </p:nvSpPr>
        <p:spPr bwMode="auto">
          <a:xfrm flipV="1">
            <a:off x="3429000" y="3657600"/>
            <a:ext cx="2362200" cy="11430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67" name="Line 112"/>
          <p:cNvSpPr>
            <a:spLocks noChangeShapeType="1"/>
          </p:cNvSpPr>
          <p:nvPr/>
        </p:nvSpPr>
        <p:spPr bwMode="auto">
          <a:xfrm>
            <a:off x="3429000" y="3276600"/>
            <a:ext cx="2362200" cy="18288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68" name="Line 113"/>
          <p:cNvSpPr>
            <a:spLocks noChangeShapeType="1"/>
          </p:cNvSpPr>
          <p:nvPr/>
        </p:nvSpPr>
        <p:spPr bwMode="auto">
          <a:xfrm>
            <a:off x="3429000" y="4419600"/>
            <a:ext cx="2362200" cy="11430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69" name="Line 114"/>
          <p:cNvSpPr>
            <a:spLocks noChangeShapeType="1"/>
          </p:cNvSpPr>
          <p:nvPr/>
        </p:nvSpPr>
        <p:spPr bwMode="auto">
          <a:xfrm>
            <a:off x="3429000" y="5181600"/>
            <a:ext cx="2362200" cy="7620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70" name="Rectangle 115"/>
          <p:cNvSpPr>
            <a:spLocks noChangeArrowheads="1"/>
          </p:cNvSpPr>
          <p:nvPr/>
        </p:nvSpPr>
        <p:spPr bwMode="auto">
          <a:xfrm rot="-406361">
            <a:off x="3336925" y="2443163"/>
            <a:ext cx="2381250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2000" b="1">
                <a:solidFill>
                  <a:srgbClr val="FF0000"/>
                </a:solidFill>
                <a:latin typeface="Courier New" pitchFamily="49" charset="0"/>
              </a:rPr>
              <a:t>f</a:t>
            </a:r>
            <a:r>
              <a:rPr lang="en-US" altLang="zh-CN" sz="1600">
                <a:latin typeface="Courier New" pitchFamily="49" charset="0"/>
              </a:rPr>
              <a:t>(pavarotti17)=</a:t>
            </a:r>
            <a:r>
              <a:rPr lang="zh-CN" altLang="en-US" sz="1600">
                <a:latin typeface="Courier New" pitchFamily="49" charset="0"/>
              </a:rPr>
              <a:t>库</a:t>
            </a:r>
            <a:r>
              <a:rPr lang="en-US" altLang="zh-CN" sz="1600">
                <a:latin typeface="Courier New" pitchFamily="49" charset="0"/>
              </a:rPr>
              <a:t>1</a:t>
            </a:r>
          </a:p>
        </p:txBody>
      </p:sp>
      <p:sp>
        <p:nvSpPr>
          <p:cNvPr id="36971" name="Rectangle 116"/>
          <p:cNvSpPr>
            <a:spLocks noChangeArrowheads="1"/>
          </p:cNvSpPr>
          <p:nvPr/>
        </p:nvSpPr>
        <p:spPr bwMode="auto">
          <a:xfrm rot="-955059">
            <a:off x="3360738" y="2938463"/>
            <a:ext cx="2381250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2000" b="1">
                <a:solidFill>
                  <a:srgbClr val="FF0000"/>
                </a:solidFill>
                <a:latin typeface="Courier New" pitchFamily="49" charset="0"/>
              </a:rPr>
              <a:t>f</a:t>
            </a:r>
            <a:r>
              <a:rPr lang="en-US" altLang="zh-CN" sz="1600">
                <a:latin typeface="Courier New" pitchFamily="49" charset="0"/>
              </a:rPr>
              <a:t>(test1234)=</a:t>
            </a:r>
            <a:r>
              <a:rPr lang="zh-CN" altLang="en-US" sz="1600">
                <a:latin typeface="Courier New" pitchFamily="49" charset="0"/>
              </a:rPr>
              <a:t>库</a:t>
            </a:r>
            <a:r>
              <a:rPr lang="en-US" altLang="zh-CN" sz="1600">
                <a:latin typeface="Courier New" pitchFamily="49" charset="0"/>
              </a:rPr>
              <a:t>1</a:t>
            </a:r>
          </a:p>
        </p:txBody>
      </p:sp>
      <p:sp>
        <p:nvSpPr>
          <p:cNvPr id="36972" name="Rectangle 117"/>
          <p:cNvSpPr>
            <a:spLocks noChangeArrowheads="1"/>
          </p:cNvSpPr>
          <p:nvPr/>
        </p:nvSpPr>
        <p:spPr bwMode="auto">
          <a:xfrm rot="-955059">
            <a:off x="3360738" y="3427413"/>
            <a:ext cx="2381250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2000" b="1">
                <a:solidFill>
                  <a:srgbClr val="FF0000"/>
                </a:solidFill>
                <a:latin typeface="Courier New" pitchFamily="49" charset="0"/>
              </a:rPr>
              <a:t>f</a:t>
            </a:r>
            <a:r>
              <a:rPr lang="en-US" altLang="zh-CN" sz="1600">
                <a:latin typeface="Courier New" pitchFamily="49" charset="0"/>
              </a:rPr>
              <a:t>(test1234)=</a:t>
            </a:r>
            <a:r>
              <a:rPr lang="zh-CN" altLang="en-US" sz="1600">
                <a:latin typeface="Courier New" pitchFamily="49" charset="0"/>
              </a:rPr>
              <a:t>库</a:t>
            </a:r>
            <a:r>
              <a:rPr lang="en-US" altLang="zh-CN" sz="1600">
                <a:latin typeface="Courier New" pitchFamily="49" charset="0"/>
              </a:rPr>
              <a:t>1</a:t>
            </a:r>
          </a:p>
        </p:txBody>
      </p:sp>
      <p:sp>
        <p:nvSpPr>
          <p:cNvPr id="36973" name="Rectangle 118"/>
          <p:cNvSpPr>
            <a:spLocks noChangeArrowheads="1"/>
          </p:cNvSpPr>
          <p:nvPr/>
        </p:nvSpPr>
        <p:spPr bwMode="auto">
          <a:xfrm rot="-1553140">
            <a:off x="3365500" y="3927475"/>
            <a:ext cx="2381250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2000" b="1">
                <a:solidFill>
                  <a:srgbClr val="FF0000"/>
                </a:solidFill>
                <a:latin typeface="Courier New" pitchFamily="49" charset="0"/>
              </a:rPr>
              <a:t>f</a:t>
            </a:r>
            <a:r>
              <a:rPr lang="en-US" altLang="zh-CN" sz="1600">
                <a:latin typeface="Courier New" pitchFamily="49" charset="0"/>
              </a:rPr>
              <a:t>(pavarotti17)=</a:t>
            </a:r>
            <a:r>
              <a:rPr lang="zh-CN" altLang="en-US" sz="1600">
                <a:latin typeface="Courier New" pitchFamily="49" charset="0"/>
              </a:rPr>
              <a:t>库</a:t>
            </a:r>
            <a:r>
              <a:rPr lang="en-US" altLang="zh-CN" sz="1600">
                <a:latin typeface="Courier New" pitchFamily="49" charset="0"/>
              </a:rPr>
              <a:t>1</a:t>
            </a:r>
          </a:p>
        </p:txBody>
      </p:sp>
      <p:sp>
        <p:nvSpPr>
          <p:cNvPr id="36974" name="Rectangle 119"/>
          <p:cNvSpPr>
            <a:spLocks noChangeArrowheads="1"/>
          </p:cNvSpPr>
          <p:nvPr/>
        </p:nvSpPr>
        <p:spPr bwMode="auto">
          <a:xfrm rot="1028098">
            <a:off x="3343275" y="5256213"/>
            <a:ext cx="2381250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2000" b="1">
                <a:solidFill>
                  <a:srgbClr val="FF0000"/>
                </a:solidFill>
                <a:latin typeface="Courier New" pitchFamily="49" charset="0"/>
              </a:rPr>
              <a:t>f</a:t>
            </a:r>
            <a:r>
              <a:rPr lang="en-US" altLang="zh-CN" sz="1600">
                <a:latin typeface="Courier New" pitchFamily="49" charset="0"/>
              </a:rPr>
              <a:t>(abcd)=</a:t>
            </a:r>
            <a:r>
              <a:rPr lang="zh-CN" altLang="en-US" sz="1600">
                <a:latin typeface="Courier New" pitchFamily="49" charset="0"/>
              </a:rPr>
              <a:t>库</a:t>
            </a:r>
            <a:r>
              <a:rPr lang="en-US" altLang="zh-CN" sz="1600">
                <a:latin typeface="Courier New" pitchFamily="49" charset="0"/>
              </a:rPr>
              <a:t>2</a:t>
            </a:r>
          </a:p>
        </p:txBody>
      </p:sp>
      <p:sp>
        <p:nvSpPr>
          <p:cNvPr id="36975" name="Rectangle 120"/>
          <p:cNvSpPr>
            <a:spLocks noChangeArrowheads="1"/>
          </p:cNvSpPr>
          <p:nvPr/>
        </p:nvSpPr>
        <p:spPr bwMode="auto">
          <a:xfrm rot="1579897">
            <a:off x="3643313" y="4797425"/>
            <a:ext cx="2381250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2000" b="1">
                <a:solidFill>
                  <a:srgbClr val="FF0000"/>
                </a:solidFill>
                <a:latin typeface="Courier New" pitchFamily="49" charset="0"/>
              </a:rPr>
              <a:t>f</a:t>
            </a:r>
            <a:r>
              <a:rPr lang="en-US" altLang="zh-CN" sz="1600">
                <a:latin typeface="Courier New" pitchFamily="49" charset="0"/>
              </a:rPr>
              <a:t>(abcd)=</a:t>
            </a:r>
            <a:r>
              <a:rPr lang="zh-CN" altLang="en-US" sz="1600">
                <a:latin typeface="Courier New" pitchFamily="49" charset="0"/>
              </a:rPr>
              <a:t>库</a:t>
            </a:r>
            <a:r>
              <a:rPr lang="en-US" altLang="zh-CN" sz="1600">
                <a:latin typeface="Courier New" pitchFamily="49" charset="0"/>
              </a:rPr>
              <a:t>2</a:t>
            </a:r>
          </a:p>
        </p:txBody>
      </p:sp>
      <p:sp>
        <p:nvSpPr>
          <p:cNvPr id="36976" name="Text Box 121"/>
          <p:cNvSpPr txBox="1">
            <a:spLocks noChangeArrowheads="1"/>
          </p:cNvSpPr>
          <p:nvPr/>
        </p:nvSpPr>
        <p:spPr bwMode="auto">
          <a:xfrm>
            <a:off x="3429000" y="1524000"/>
            <a:ext cx="1143000" cy="366713"/>
          </a:xfrm>
          <a:prstGeom prst="rect">
            <a:avLst/>
          </a:prstGeom>
          <a:noFill/>
          <a:ln w="3175" algn="ctr">
            <a:solidFill>
              <a:srgbClr val="FF0000"/>
            </a:solidFill>
            <a:prstDash val="dash"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>
                <a:solidFill>
                  <a:srgbClr val="FF0000"/>
                </a:solidFill>
              </a:rPr>
              <a:t>路由算法</a:t>
            </a:r>
          </a:p>
        </p:txBody>
      </p:sp>
      <p:sp>
        <p:nvSpPr>
          <p:cNvPr id="36977" name="Line 122"/>
          <p:cNvSpPr>
            <a:spLocks noChangeShapeType="1"/>
          </p:cNvSpPr>
          <p:nvPr/>
        </p:nvSpPr>
        <p:spPr bwMode="auto">
          <a:xfrm flipH="1">
            <a:off x="3581400" y="1905000"/>
            <a:ext cx="228600" cy="762000"/>
          </a:xfrm>
          <a:prstGeom prst="line">
            <a:avLst/>
          </a:prstGeom>
          <a:noFill/>
          <a:ln w="3175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ea typeface="微软雅黑"/>
                <a:cs typeface="微软雅黑"/>
              </a:rPr>
              <a:t>路由算法</a:t>
            </a:r>
          </a:p>
        </p:txBody>
      </p:sp>
      <p:sp>
        <p:nvSpPr>
          <p:cNvPr id="37890" name="Text Box 3"/>
          <p:cNvSpPr txBox="1">
            <a:spLocks noChangeArrowheads="1"/>
          </p:cNvSpPr>
          <p:nvPr/>
        </p:nvSpPr>
        <p:spPr bwMode="auto">
          <a:xfrm>
            <a:off x="1295400" y="1676400"/>
            <a:ext cx="1905000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000">
                <a:latin typeface="Courier New" pitchFamily="49" charset="0"/>
              </a:rPr>
              <a:t>pavarotti17</a:t>
            </a:r>
          </a:p>
        </p:txBody>
      </p:sp>
      <p:sp>
        <p:nvSpPr>
          <p:cNvPr id="37891" name="Rectangle 4"/>
          <p:cNvSpPr>
            <a:spLocks noChangeArrowheads="1"/>
          </p:cNvSpPr>
          <p:nvPr/>
        </p:nvSpPr>
        <p:spPr bwMode="auto">
          <a:xfrm rot="-406361">
            <a:off x="3336925" y="2443163"/>
            <a:ext cx="2381250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2000" b="1">
                <a:solidFill>
                  <a:srgbClr val="FF0000"/>
                </a:solidFill>
                <a:latin typeface="Courier New" pitchFamily="49" charset="0"/>
              </a:rPr>
              <a:t>f</a:t>
            </a:r>
            <a:r>
              <a:rPr lang="en-US" altLang="zh-CN" sz="1600">
                <a:latin typeface="Courier New" pitchFamily="49" charset="0"/>
              </a:rPr>
              <a:t>(pavarotti17)</a:t>
            </a:r>
            <a:r>
              <a:rPr lang="en-US" altLang="zh-CN" sz="1600">
                <a:solidFill>
                  <a:schemeClr val="bg1"/>
                </a:solidFill>
                <a:latin typeface="Courier New" pitchFamily="49" charset="0"/>
              </a:rPr>
              <a:t>=</a:t>
            </a:r>
            <a:r>
              <a:rPr lang="zh-CN" altLang="en-US" sz="1600">
                <a:solidFill>
                  <a:schemeClr val="bg1"/>
                </a:solidFill>
                <a:latin typeface="Courier New" pitchFamily="49" charset="0"/>
              </a:rPr>
              <a:t>库</a:t>
            </a:r>
            <a:r>
              <a:rPr lang="en-US" altLang="zh-CN" sz="1600">
                <a:solidFill>
                  <a:schemeClr val="bg1"/>
                </a:solidFill>
                <a:latin typeface="Courier New" pitchFamily="49" charset="0"/>
              </a:rPr>
              <a:t>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ea typeface="微软雅黑"/>
                <a:cs typeface="微软雅黑"/>
              </a:rPr>
              <a:t>路由算法</a:t>
            </a:r>
          </a:p>
        </p:txBody>
      </p:sp>
      <p:sp>
        <p:nvSpPr>
          <p:cNvPr id="38914" name="Text Box 3"/>
          <p:cNvSpPr txBox="1">
            <a:spLocks noChangeArrowheads="1"/>
          </p:cNvSpPr>
          <p:nvPr/>
        </p:nvSpPr>
        <p:spPr bwMode="auto">
          <a:xfrm>
            <a:off x="1295400" y="1676400"/>
            <a:ext cx="1905000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000" b="1">
                <a:solidFill>
                  <a:srgbClr val="FF0000"/>
                </a:solidFill>
                <a:latin typeface="Courier New" pitchFamily="49" charset="0"/>
              </a:rPr>
              <a:t>pavarott</a:t>
            </a:r>
            <a:r>
              <a:rPr lang="en-US" altLang="zh-CN" sz="2000">
                <a:solidFill>
                  <a:srgbClr val="969696"/>
                </a:solidFill>
                <a:latin typeface="Courier New" pitchFamily="49" charset="0"/>
              </a:rPr>
              <a:t>i17</a:t>
            </a:r>
          </a:p>
        </p:txBody>
      </p:sp>
      <p:sp>
        <p:nvSpPr>
          <p:cNvPr id="38915" name="AutoShape 4"/>
          <p:cNvSpPr>
            <a:spLocks/>
          </p:cNvSpPr>
          <p:nvPr/>
        </p:nvSpPr>
        <p:spPr bwMode="auto">
          <a:xfrm rot="-5400000">
            <a:off x="1905000" y="1600200"/>
            <a:ext cx="152400" cy="1066800"/>
          </a:xfrm>
          <a:prstGeom prst="leftBrace">
            <a:avLst>
              <a:gd name="adj1" fmla="val 58333"/>
              <a:gd name="adj2" fmla="val 50000"/>
            </a:avLst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vert="eaVert" wrap="none" anchor="ctr"/>
          <a:lstStyle/>
          <a:p>
            <a:pPr algn="ctr"/>
            <a:endParaRPr lang="zh-CN" altLang="zh-CN">
              <a:solidFill>
                <a:srgbClr val="FF0000"/>
              </a:solidFill>
            </a:endParaRPr>
          </a:p>
        </p:txBody>
      </p:sp>
      <p:sp>
        <p:nvSpPr>
          <p:cNvPr id="38916" name="Text Box 5"/>
          <p:cNvSpPr txBox="1">
            <a:spLocks noChangeArrowheads="1"/>
          </p:cNvSpPr>
          <p:nvPr/>
        </p:nvSpPr>
        <p:spPr bwMode="auto">
          <a:xfrm>
            <a:off x="1295400" y="2193925"/>
            <a:ext cx="1447800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>
                <a:solidFill>
                  <a:srgbClr val="FF0000"/>
                </a:solidFill>
                <a:latin typeface="Times New Roman" pitchFamily="18" charset="0"/>
                <a:ea typeface="宋体" charset="-122"/>
              </a:rPr>
              <a:t>部分截取</a:t>
            </a:r>
          </a:p>
        </p:txBody>
      </p:sp>
      <p:sp>
        <p:nvSpPr>
          <p:cNvPr id="38917" name="Text Box 6"/>
          <p:cNvSpPr txBox="1">
            <a:spLocks noChangeArrowheads="1"/>
          </p:cNvSpPr>
          <p:nvPr/>
        </p:nvSpPr>
        <p:spPr bwMode="auto">
          <a:xfrm>
            <a:off x="533400" y="1676400"/>
            <a:ext cx="5181600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>
                <a:latin typeface="Courier New" pitchFamily="49" charset="0"/>
              </a:rPr>
              <a:t>hash(        ) = 3170972965401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ea typeface="微软雅黑"/>
                <a:cs typeface="微软雅黑"/>
              </a:rPr>
              <a:t>路由算法</a:t>
            </a:r>
          </a:p>
        </p:txBody>
      </p:sp>
      <p:sp>
        <p:nvSpPr>
          <p:cNvPr id="39938" name="Text Box 3"/>
          <p:cNvSpPr txBox="1">
            <a:spLocks noChangeArrowheads="1"/>
          </p:cNvSpPr>
          <p:nvPr/>
        </p:nvSpPr>
        <p:spPr bwMode="auto">
          <a:xfrm>
            <a:off x="533400" y="1676400"/>
            <a:ext cx="7086600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>
                <a:solidFill>
                  <a:schemeClr val="bg2"/>
                </a:solidFill>
                <a:latin typeface="Courier New" pitchFamily="49" charset="0"/>
              </a:rPr>
              <a:t>hash(pavarott) =</a:t>
            </a:r>
            <a:r>
              <a:rPr lang="en-US" altLang="zh-CN" sz="2000">
                <a:latin typeface="Courier New" pitchFamily="49" charset="0"/>
              </a:rPr>
              <a:t> </a:t>
            </a:r>
            <a:r>
              <a:rPr lang="en-US" altLang="zh-CN" sz="2000" b="1">
                <a:latin typeface="Courier New" pitchFamily="49" charset="0"/>
              </a:rPr>
              <a:t>3170972965401</a:t>
            </a:r>
            <a:r>
              <a:rPr lang="en-US" altLang="zh-CN" sz="2000">
                <a:latin typeface="Courier New" pitchFamily="49" charset="0"/>
              </a:rPr>
              <a:t> </a:t>
            </a:r>
            <a:r>
              <a:rPr lang="en-US" altLang="zh-CN" sz="2000" b="1">
                <a:latin typeface="Courier New" pitchFamily="49" charset="0"/>
              </a:rPr>
              <a:t>% 1024 = </a:t>
            </a:r>
            <a:r>
              <a:rPr lang="en-US" altLang="zh-CN" sz="2000" b="1">
                <a:solidFill>
                  <a:srgbClr val="FF0000"/>
                </a:solidFill>
                <a:latin typeface="Courier New" pitchFamily="49" charset="0"/>
              </a:rPr>
              <a:t>537</a:t>
            </a:r>
          </a:p>
        </p:txBody>
      </p:sp>
      <p:sp>
        <p:nvSpPr>
          <p:cNvPr id="39939" name="Line 4"/>
          <p:cNvSpPr>
            <a:spLocks noChangeShapeType="1"/>
          </p:cNvSpPr>
          <p:nvPr/>
        </p:nvSpPr>
        <p:spPr bwMode="auto">
          <a:xfrm>
            <a:off x="990600" y="2895600"/>
            <a:ext cx="7315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40" name="Text Box 5"/>
          <p:cNvSpPr txBox="1">
            <a:spLocks noChangeArrowheads="1"/>
          </p:cNvSpPr>
          <p:nvPr/>
        </p:nvSpPr>
        <p:spPr bwMode="auto">
          <a:xfrm>
            <a:off x="914400" y="2514600"/>
            <a:ext cx="746760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600">
                <a:solidFill>
                  <a:schemeClr val="bg2"/>
                </a:solidFill>
                <a:latin typeface="Times New Roman" pitchFamily="18" charset="0"/>
              </a:rPr>
              <a:t>0                                                                                                                                    1023</a:t>
            </a:r>
            <a:endParaRPr lang="en-US" altLang="zh-CN" sz="1600" b="1">
              <a:solidFill>
                <a:schemeClr val="bg2"/>
              </a:solidFill>
              <a:latin typeface="Times New Roman" pitchFamily="18" charset="0"/>
            </a:endParaRPr>
          </a:p>
        </p:txBody>
      </p:sp>
      <p:sp>
        <p:nvSpPr>
          <p:cNvPr id="39941" name="AutoShape 6"/>
          <p:cNvSpPr>
            <a:spLocks/>
          </p:cNvSpPr>
          <p:nvPr/>
        </p:nvSpPr>
        <p:spPr bwMode="auto">
          <a:xfrm rot="5400000">
            <a:off x="4343400" y="-1371600"/>
            <a:ext cx="609600" cy="7315200"/>
          </a:xfrm>
          <a:prstGeom prst="leftBrace">
            <a:avLst>
              <a:gd name="adj1" fmla="val 100000"/>
              <a:gd name="adj2" fmla="val 3172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ea typeface="微软雅黑"/>
                <a:cs typeface="微软雅黑"/>
              </a:rPr>
              <a:t>路由算法</a:t>
            </a:r>
          </a:p>
        </p:txBody>
      </p:sp>
      <p:sp>
        <p:nvSpPr>
          <p:cNvPr id="40962" name="Text Box 3"/>
          <p:cNvSpPr txBox="1">
            <a:spLocks noChangeArrowheads="1"/>
          </p:cNvSpPr>
          <p:nvPr/>
        </p:nvSpPr>
        <p:spPr bwMode="auto">
          <a:xfrm>
            <a:off x="533400" y="1676400"/>
            <a:ext cx="7086600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>
                <a:solidFill>
                  <a:schemeClr val="bg2"/>
                </a:solidFill>
                <a:latin typeface="Courier New" pitchFamily="49" charset="0"/>
              </a:rPr>
              <a:t>hash(pavarott) =</a:t>
            </a:r>
            <a:r>
              <a:rPr lang="en-US" altLang="zh-CN" sz="2000">
                <a:latin typeface="Courier New" pitchFamily="49" charset="0"/>
              </a:rPr>
              <a:t> </a:t>
            </a:r>
            <a:r>
              <a:rPr lang="en-US" altLang="zh-CN" sz="2000" b="1">
                <a:latin typeface="Courier New" pitchFamily="49" charset="0"/>
              </a:rPr>
              <a:t>3170972965401</a:t>
            </a:r>
            <a:r>
              <a:rPr lang="en-US" altLang="zh-CN" sz="2000">
                <a:latin typeface="Courier New" pitchFamily="49" charset="0"/>
              </a:rPr>
              <a:t> </a:t>
            </a:r>
            <a:r>
              <a:rPr lang="en-US" altLang="zh-CN" sz="2000" b="1">
                <a:latin typeface="Courier New" pitchFamily="49" charset="0"/>
              </a:rPr>
              <a:t>% 1024 = </a:t>
            </a:r>
            <a:r>
              <a:rPr lang="en-US" altLang="zh-CN" sz="2000" b="1">
                <a:solidFill>
                  <a:srgbClr val="FF0000"/>
                </a:solidFill>
                <a:latin typeface="Courier New" pitchFamily="49" charset="0"/>
              </a:rPr>
              <a:t>537</a:t>
            </a:r>
          </a:p>
        </p:txBody>
      </p:sp>
      <p:sp>
        <p:nvSpPr>
          <p:cNvPr id="40963" name="Line 4"/>
          <p:cNvSpPr>
            <a:spLocks noChangeShapeType="1"/>
          </p:cNvSpPr>
          <p:nvPr/>
        </p:nvSpPr>
        <p:spPr bwMode="auto">
          <a:xfrm>
            <a:off x="990600" y="2895600"/>
            <a:ext cx="7315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64" name="Text Box 5"/>
          <p:cNvSpPr txBox="1">
            <a:spLocks noChangeArrowheads="1"/>
          </p:cNvSpPr>
          <p:nvPr/>
        </p:nvSpPr>
        <p:spPr bwMode="auto">
          <a:xfrm>
            <a:off x="914400" y="2514600"/>
            <a:ext cx="198120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600">
                <a:solidFill>
                  <a:schemeClr val="bg2"/>
                </a:solidFill>
                <a:latin typeface="Times New Roman" pitchFamily="18" charset="0"/>
              </a:rPr>
              <a:t>0                           255</a:t>
            </a:r>
            <a:endParaRPr lang="en-US" altLang="zh-CN" sz="1600" b="1">
              <a:solidFill>
                <a:schemeClr val="bg2"/>
              </a:solidFill>
              <a:latin typeface="Times New Roman" pitchFamily="18" charset="0"/>
            </a:endParaRPr>
          </a:p>
        </p:txBody>
      </p:sp>
      <p:sp>
        <p:nvSpPr>
          <p:cNvPr id="40965" name="Line 6"/>
          <p:cNvSpPr>
            <a:spLocks noChangeShapeType="1"/>
          </p:cNvSpPr>
          <p:nvPr/>
        </p:nvSpPr>
        <p:spPr bwMode="auto">
          <a:xfrm>
            <a:off x="8305800" y="2438400"/>
            <a:ext cx="0" cy="3200400"/>
          </a:xfrm>
          <a:prstGeom prst="line">
            <a:avLst/>
          </a:prstGeom>
          <a:noFill/>
          <a:ln w="63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66" name="Line 7"/>
          <p:cNvSpPr>
            <a:spLocks noChangeShapeType="1"/>
          </p:cNvSpPr>
          <p:nvPr/>
        </p:nvSpPr>
        <p:spPr bwMode="auto">
          <a:xfrm>
            <a:off x="6477000" y="2438400"/>
            <a:ext cx="0" cy="3200400"/>
          </a:xfrm>
          <a:prstGeom prst="line">
            <a:avLst/>
          </a:prstGeom>
          <a:noFill/>
          <a:ln w="63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67" name="Line 8"/>
          <p:cNvSpPr>
            <a:spLocks noChangeShapeType="1"/>
          </p:cNvSpPr>
          <p:nvPr/>
        </p:nvSpPr>
        <p:spPr bwMode="auto">
          <a:xfrm>
            <a:off x="4648200" y="2438400"/>
            <a:ext cx="0" cy="3276600"/>
          </a:xfrm>
          <a:prstGeom prst="line">
            <a:avLst/>
          </a:prstGeom>
          <a:noFill/>
          <a:ln w="63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68" name="Line 9"/>
          <p:cNvSpPr>
            <a:spLocks noChangeShapeType="1"/>
          </p:cNvSpPr>
          <p:nvPr/>
        </p:nvSpPr>
        <p:spPr bwMode="auto">
          <a:xfrm>
            <a:off x="2819400" y="2438400"/>
            <a:ext cx="0" cy="3352800"/>
          </a:xfrm>
          <a:prstGeom prst="line">
            <a:avLst/>
          </a:prstGeom>
          <a:noFill/>
          <a:ln w="63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69" name="Line 10"/>
          <p:cNvSpPr>
            <a:spLocks noChangeShapeType="1"/>
          </p:cNvSpPr>
          <p:nvPr/>
        </p:nvSpPr>
        <p:spPr bwMode="auto">
          <a:xfrm>
            <a:off x="990600" y="2438400"/>
            <a:ext cx="0" cy="3276600"/>
          </a:xfrm>
          <a:prstGeom prst="line">
            <a:avLst/>
          </a:prstGeom>
          <a:noFill/>
          <a:ln w="63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70" name="Text Box 11"/>
          <p:cNvSpPr txBox="1">
            <a:spLocks noChangeArrowheads="1"/>
          </p:cNvSpPr>
          <p:nvPr/>
        </p:nvSpPr>
        <p:spPr bwMode="auto">
          <a:xfrm>
            <a:off x="2743200" y="2514600"/>
            <a:ext cx="198120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600">
                <a:solidFill>
                  <a:schemeClr val="bg2"/>
                </a:solidFill>
                <a:latin typeface="Times New Roman" pitchFamily="18" charset="0"/>
              </a:rPr>
              <a:t>256                       511</a:t>
            </a:r>
            <a:endParaRPr lang="en-US" altLang="zh-CN" sz="1600" b="1">
              <a:solidFill>
                <a:schemeClr val="bg2"/>
              </a:solidFill>
              <a:latin typeface="Times New Roman" pitchFamily="18" charset="0"/>
            </a:endParaRPr>
          </a:p>
        </p:txBody>
      </p:sp>
      <p:sp>
        <p:nvSpPr>
          <p:cNvPr id="40971" name="Text Box 12"/>
          <p:cNvSpPr txBox="1">
            <a:spLocks noChangeArrowheads="1"/>
          </p:cNvSpPr>
          <p:nvPr/>
        </p:nvSpPr>
        <p:spPr bwMode="auto">
          <a:xfrm>
            <a:off x="4572000" y="2514600"/>
            <a:ext cx="198120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600">
                <a:solidFill>
                  <a:schemeClr val="bg2"/>
                </a:solidFill>
                <a:latin typeface="Times New Roman" pitchFamily="18" charset="0"/>
              </a:rPr>
              <a:t>512                       767</a:t>
            </a:r>
            <a:endParaRPr lang="en-US" altLang="zh-CN" sz="1600" b="1">
              <a:solidFill>
                <a:schemeClr val="bg2"/>
              </a:solidFill>
              <a:latin typeface="Times New Roman" pitchFamily="18" charset="0"/>
            </a:endParaRPr>
          </a:p>
        </p:txBody>
      </p:sp>
      <p:sp>
        <p:nvSpPr>
          <p:cNvPr id="40972" name="Text Box 13"/>
          <p:cNvSpPr txBox="1">
            <a:spLocks noChangeArrowheads="1"/>
          </p:cNvSpPr>
          <p:nvPr/>
        </p:nvSpPr>
        <p:spPr bwMode="auto">
          <a:xfrm>
            <a:off x="6400800" y="2514600"/>
            <a:ext cx="198120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600">
                <a:solidFill>
                  <a:schemeClr val="bg2"/>
                </a:solidFill>
                <a:latin typeface="Times New Roman" pitchFamily="18" charset="0"/>
              </a:rPr>
              <a:t>768                     1023</a:t>
            </a:r>
            <a:endParaRPr lang="en-US" altLang="zh-CN" sz="1600" b="1">
              <a:solidFill>
                <a:schemeClr val="bg2"/>
              </a:solidFill>
              <a:latin typeface="Times New Roman" pitchFamily="18" charset="0"/>
            </a:endParaRPr>
          </a:p>
        </p:txBody>
      </p:sp>
      <p:sp>
        <p:nvSpPr>
          <p:cNvPr id="40973" name="Text Box 14"/>
          <p:cNvSpPr txBox="1">
            <a:spLocks noChangeArrowheads="1"/>
          </p:cNvSpPr>
          <p:nvPr/>
        </p:nvSpPr>
        <p:spPr bwMode="auto">
          <a:xfrm>
            <a:off x="7086600" y="2971800"/>
            <a:ext cx="762000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>
                <a:latin typeface="Times New Roman" pitchFamily="18" charset="0"/>
              </a:rPr>
              <a:t>256</a:t>
            </a:r>
            <a:endParaRPr lang="en-US" altLang="zh-CN" sz="2400" b="1">
              <a:latin typeface="Times New Roman" pitchFamily="18" charset="0"/>
            </a:endParaRPr>
          </a:p>
        </p:txBody>
      </p:sp>
      <p:sp>
        <p:nvSpPr>
          <p:cNvPr id="40974" name="Line 15"/>
          <p:cNvSpPr>
            <a:spLocks noChangeShapeType="1"/>
          </p:cNvSpPr>
          <p:nvPr/>
        </p:nvSpPr>
        <p:spPr bwMode="auto">
          <a:xfrm flipH="1">
            <a:off x="6477000" y="3200400"/>
            <a:ext cx="609600" cy="0"/>
          </a:xfrm>
          <a:prstGeom prst="line">
            <a:avLst/>
          </a:prstGeom>
          <a:noFill/>
          <a:ln w="3175">
            <a:solidFill>
              <a:schemeClr val="bg2"/>
            </a:solidFill>
            <a:prstDash val="dash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75" name="Line 16"/>
          <p:cNvSpPr>
            <a:spLocks noChangeShapeType="1"/>
          </p:cNvSpPr>
          <p:nvPr/>
        </p:nvSpPr>
        <p:spPr bwMode="auto">
          <a:xfrm>
            <a:off x="7772400" y="3200400"/>
            <a:ext cx="533400" cy="0"/>
          </a:xfrm>
          <a:prstGeom prst="line">
            <a:avLst/>
          </a:prstGeom>
          <a:noFill/>
          <a:ln w="3175">
            <a:solidFill>
              <a:schemeClr val="bg2"/>
            </a:solidFill>
            <a:prstDash val="dash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76" name="Text Box 17"/>
          <p:cNvSpPr txBox="1">
            <a:spLocks noChangeArrowheads="1"/>
          </p:cNvSpPr>
          <p:nvPr/>
        </p:nvSpPr>
        <p:spPr bwMode="auto">
          <a:xfrm>
            <a:off x="5257800" y="2971800"/>
            <a:ext cx="762000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>
                <a:latin typeface="Times New Roman" pitchFamily="18" charset="0"/>
              </a:rPr>
              <a:t>256</a:t>
            </a:r>
            <a:endParaRPr lang="en-US" altLang="zh-CN" sz="2400" b="1">
              <a:latin typeface="Times New Roman" pitchFamily="18" charset="0"/>
            </a:endParaRPr>
          </a:p>
        </p:txBody>
      </p:sp>
      <p:sp>
        <p:nvSpPr>
          <p:cNvPr id="40977" name="Line 18"/>
          <p:cNvSpPr>
            <a:spLocks noChangeShapeType="1"/>
          </p:cNvSpPr>
          <p:nvPr/>
        </p:nvSpPr>
        <p:spPr bwMode="auto">
          <a:xfrm flipH="1">
            <a:off x="4648200" y="3200400"/>
            <a:ext cx="685800" cy="0"/>
          </a:xfrm>
          <a:prstGeom prst="line">
            <a:avLst/>
          </a:prstGeom>
          <a:noFill/>
          <a:ln w="3175">
            <a:solidFill>
              <a:schemeClr val="bg2"/>
            </a:solidFill>
            <a:prstDash val="dash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78" name="Line 19"/>
          <p:cNvSpPr>
            <a:spLocks noChangeShapeType="1"/>
          </p:cNvSpPr>
          <p:nvPr/>
        </p:nvSpPr>
        <p:spPr bwMode="auto">
          <a:xfrm>
            <a:off x="5943600" y="3200400"/>
            <a:ext cx="533400" cy="0"/>
          </a:xfrm>
          <a:prstGeom prst="line">
            <a:avLst/>
          </a:prstGeom>
          <a:noFill/>
          <a:ln w="3175">
            <a:solidFill>
              <a:schemeClr val="bg2"/>
            </a:solidFill>
            <a:prstDash val="dash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79" name="Text Box 20"/>
          <p:cNvSpPr txBox="1">
            <a:spLocks noChangeArrowheads="1"/>
          </p:cNvSpPr>
          <p:nvPr/>
        </p:nvSpPr>
        <p:spPr bwMode="auto">
          <a:xfrm>
            <a:off x="3429000" y="2971800"/>
            <a:ext cx="762000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>
                <a:latin typeface="Times New Roman" pitchFamily="18" charset="0"/>
              </a:rPr>
              <a:t>256</a:t>
            </a:r>
            <a:endParaRPr lang="en-US" altLang="zh-CN" sz="2400" b="1">
              <a:latin typeface="Times New Roman" pitchFamily="18" charset="0"/>
            </a:endParaRPr>
          </a:p>
        </p:txBody>
      </p:sp>
      <p:sp>
        <p:nvSpPr>
          <p:cNvPr id="40980" name="Line 21"/>
          <p:cNvSpPr>
            <a:spLocks noChangeShapeType="1"/>
          </p:cNvSpPr>
          <p:nvPr/>
        </p:nvSpPr>
        <p:spPr bwMode="auto">
          <a:xfrm flipH="1">
            <a:off x="2819400" y="3200400"/>
            <a:ext cx="609600" cy="0"/>
          </a:xfrm>
          <a:prstGeom prst="line">
            <a:avLst/>
          </a:prstGeom>
          <a:noFill/>
          <a:ln w="3175">
            <a:solidFill>
              <a:schemeClr val="bg2"/>
            </a:solidFill>
            <a:prstDash val="dash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81" name="Line 22"/>
          <p:cNvSpPr>
            <a:spLocks noChangeShapeType="1"/>
          </p:cNvSpPr>
          <p:nvPr/>
        </p:nvSpPr>
        <p:spPr bwMode="auto">
          <a:xfrm>
            <a:off x="4114800" y="3200400"/>
            <a:ext cx="533400" cy="0"/>
          </a:xfrm>
          <a:prstGeom prst="line">
            <a:avLst/>
          </a:prstGeom>
          <a:noFill/>
          <a:ln w="3175">
            <a:solidFill>
              <a:schemeClr val="bg2"/>
            </a:solidFill>
            <a:prstDash val="dash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82" name="Text Box 23"/>
          <p:cNvSpPr txBox="1">
            <a:spLocks noChangeArrowheads="1"/>
          </p:cNvSpPr>
          <p:nvPr/>
        </p:nvSpPr>
        <p:spPr bwMode="auto">
          <a:xfrm>
            <a:off x="1524000" y="2971800"/>
            <a:ext cx="762000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>
                <a:latin typeface="Times New Roman" pitchFamily="18" charset="0"/>
              </a:rPr>
              <a:t>256</a:t>
            </a:r>
            <a:endParaRPr lang="en-US" altLang="zh-CN" sz="2400" b="1">
              <a:latin typeface="Times New Roman" pitchFamily="18" charset="0"/>
            </a:endParaRPr>
          </a:p>
        </p:txBody>
      </p:sp>
      <p:sp>
        <p:nvSpPr>
          <p:cNvPr id="40983" name="Line 24"/>
          <p:cNvSpPr>
            <a:spLocks noChangeShapeType="1"/>
          </p:cNvSpPr>
          <p:nvPr/>
        </p:nvSpPr>
        <p:spPr bwMode="auto">
          <a:xfrm flipH="1">
            <a:off x="990600" y="3200400"/>
            <a:ext cx="609600" cy="0"/>
          </a:xfrm>
          <a:prstGeom prst="line">
            <a:avLst/>
          </a:prstGeom>
          <a:noFill/>
          <a:ln w="3175">
            <a:solidFill>
              <a:schemeClr val="bg2"/>
            </a:solidFill>
            <a:prstDash val="dash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84" name="Line 25"/>
          <p:cNvSpPr>
            <a:spLocks noChangeShapeType="1"/>
          </p:cNvSpPr>
          <p:nvPr/>
        </p:nvSpPr>
        <p:spPr bwMode="auto">
          <a:xfrm>
            <a:off x="2209800" y="3200400"/>
            <a:ext cx="609600" cy="0"/>
          </a:xfrm>
          <a:prstGeom prst="line">
            <a:avLst/>
          </a:prstGeom>
          <a:noFill/>
          <a:ln w="3175">
            <a:solidFill>
              <a:schemeClr val="bg2"/>
            </a:solidFill>
            <a:prstDash val="dash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85" name="AutoShape 26"/>
          <p:cNvSpPr>
            <a:spLocks noChangeArrowheads="1"/>
          </p:cNvSpPr>
          <p:nvPr/>
        </p:nvSpPr>
        <p:spPr bwMode="auto">
          <a:xfrm>
            <a:off x="1219200" y="4648200"/>
            <a:ext cx="1295400" cy="990600"/>
          </a:xfrm>
          <a:prstGeom prst="can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40986" name="Text Box 27"/>
          <p:cNvSpPr txBox="1">
            <a:spLocks noChangeArrowheads="1"/>
          </p:cNvSpPr>
          <p:nvPr/>
        </p:nvSpPr>
        <p:spPr bwMode="auto">
          <a:xfrm>
            <a:off x="1066800" y="4708525"/>
            <a:ext cx="1676400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>
                <a:latin typeface="Times New Roman" pitchFamily="18" charset="0"/>
              </a:rPr>
              <a:t>分库</a:t>
            </a:r>
            <a:r>
              <a:rPr lang="en-US" altLang="zh-CN" sz="2000">
                <a:latin typeface="Times New Roman" pitchFamily="18" charset="0"/>
              </a:rPr>
              <a:t>1</a:t>
            </a:r>
            <a:endParaRPr lang="en-US" altLang="zh-CN" sz="2000" b="1">
              <a:latin typeface="Times New Roman" pitchFamily="18" charset="0"/>
            </a:endParaRPr>
          </a:p>
        </p:txBody>
      </p:sp>
      <p:sp>
        <p:nvSpPr>
          <p:cNvPr id="40987" name="AutoShape 28"/>
          <p:cNvSpPr>
            <a:spLocks noChangeArrowheads="1"/>
          </p:cNvSpPr>
          <p:nvPr/>
        </p:nvSpPr>
        <p:spPr bwMode="auto">
          <a:xfrm>
            <a:off x="3124200" y="4648200"/>
            <a:ext cx="1295400" cy="990600"/>
          </a:xfrm>
          <a:prstGeom prst="can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40988" name="Text Box 29"/>
          <p:cNvSpPr txBox="1">
            <a:spLocks noChangeArrowheads="1"/>
          </p:cNvSpPr>
          <p:nvPr/>
        </p:nvSpPr>
        <p:spPr bwMode="auto">
          <a:xfrm>
            <a:off x="2971800" y="4708525"/>
            <a:ext cx="1676400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>
                <a:latin typeface="Times New Roman" pitchFamily="18" charset="0"/>
              </a:rPr>
              <a:t>分库</a:t>
            </a:r>
            <a:r>
              <a:rPr lang="en-US" altLang="zh-CN" sz="2000">
                <a:latin typeface="Times New Roman" pitchFamily="18" charset="0"/>
              </a:rPr>
              <a:t>2</a:t>
            </a:r>
            <a:endParaRPr lang="en-US" altLang="zh-CN" sz="2000" b="1">
              <a:latin typeface="Times New Roman" pitchFamily="18" charset="0"/>
            </a:endParaRPr>
          </a:p>
        </p:txBody>
      </p:sp>
      <p:sp>
        <p:nvSpPr>
          <p:cNvPr id="40989" name="AutoShape 30"/>
          <p:cNvSpPr>
            <a:spLocks noChangeArrowheads="1"/>
          </p:cNvSpPr>
          <p:nvPr/>
        </p:nvSpPr>
        <p:spPr bwMode="auto">
          <a:xfrm>
            <a:off x="4953000" y="4648200"/>
            <a:ext cx="1295400" cy="990600"/>
          </a:xfrm>
          <a:prstGeom prst="can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40990" name="Text Box 31"/>
          <p:cNvSpPr txBox="1">
            <a:spLocks noChangeArrowheads="1"/>
          </p:cNvSpPr>
          <p:nvPr/>
        </p:nvSpPr>
        <p:spPr bwMode="auto">
          <a:xfrm>
            <a:off x="4800600" y="4708525"/>
            <a:ext cx="1676400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>
                <a:latin typeface="Times New Roman" pitchFamily="18" charset="0"/>
              </a:rPr>
              <a:t>分库</a:t>
            </a:r>
            <a:r>
              <a:rPr lang="en-US" altLang="zh-CN" sz="2000">
                <a:latin typeface="Times New Roman" pitchFamily="18" charset="0"/>
              </a:rPr>
              <a:t>3</a:t>
            </a:r>
            <a:endParaRPr lang="en-US" altLang="zh-CN" sz="2000" b="1">
              <a:latin typeface="Times New Roman" pitchFamily="18" charset="0"/>
            </a:endParaRPr>
          </a:p>
        </p:txBody>
      </p:sp>
      <p:sp>
        <p:nvSpPr>
          <p:cNvPr id="40991" name="AutoShape 32"/>
          <p:cNvSpPr>
            <a:spLocks noChangeArrowheads="1"/>
          </p:cNvSpPr>
          <p:nvPr/>
        </p:nvSpPr>
        <p:spPr bwMode="auto">
          <a:xfrm>
            <a:off x="6781800" y="4648200"/>
            <a:ext cx="1295400" cy="990600"/>
          </a:xfrm>
          <a:prstGeom prst="can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40992" name="Text Box 33"/>
          <p:cNvSpPr txBox="1">
            <a:spLocks noChangeArrowheads="1"/>
          </p:cNvSpPr>
          <p:nvPr/>
        </p:nvSpPr>
        <p:spPr bwMode="auto">
          <a:xfrm>
            <a:off x="6629400" y="4708525"/>
            <a:ext cx="1676400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>
                <a:latin typeface="Times New Roman" pitchFamily="18" charset="0"/>
              </a:rPr>
              <a:t>分库</a:t>
            </a:r>
            <a:r>
              <a:rPr lang="en-US" altLang="zh-CN" sz="2000">
                <a:latin typeface="Times New Roman" pitchFamily="18" charset="0"/>
              </a:rPr>
              <a:t>4</a:t>
            </a:r>
            <a:endParaRPr lang="en-US" altLang="zh-CN" sz="2000" b="1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AutoShape 2"/>
          <p:cNvSpPr>
            <a:spLocks noChangeArrowheads="1"/>
          </p:cNvSpPr>
          <p:nvPr/>
        </p:nvSpPr>
        <p:spPr bwMode="auto">
          <a:xfrm>
            <a:off x="4953000" y="4648200"/>
            <a:ext cx="1295400" cy="990600"/>
          </a:xfrm>
          <a:prstGeom prst="can">
            <a:avLst>
              <a:gd name="adj" fmla="val 50000"/>
            </a:avLst>
          </a:prstGeom>
          <a:solidFill>
            <a:srgbClr val="FF0000">
              <a:alpha val="59999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41986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ea typeface="微软雅黑"/>
                <a:cs typeface="微软雅黑"/>
              </a:rPr>
              <a:t>路由算法</a:t>
            </a:r>
          </a:p>
        </p:txBody>
      </p:sp>
      <p:sp>
        <p:nvSpPr>
          <p:cNvPr id="41987" name="Text Box 4"/>
          <p:cNvSpPr txBox="1">
            <a:spLocks noChangeArrowheads="1"/>
          </p:cNvSpPr>
          <p:nvPr/>
        </p:nvSpPr>
        <p:spPr bwMode="auto">
          <a:xfrm>
            <a:off x="533400" y="1676400"/>
            <a:ext cx="7086600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>
                <a:solidFill>
                  <a:schemeClr val="bg2"/>
                </a:solidFill>
                <a:latin typeface="Courier New" pitchFamily="49" charset="0"/>
              </a:rPr>
              <a:t>hash(pavarott) =</a:t>
            </a:r>
            <a:r>
              <a:rPr lang="en-US" altLang="zh-CN" sz="2000">
                <a:latin typeface="Courier New" pitchFamily="49" charset="0"/>
              </a:rPr>
              <a:t> </a:t>
            </a:r>
            <a:r>
              <a:rPr lang="en-US" altLang="zh-CN" sz="2000" b="1">
                <a:latin typeface="Courier New" pitchFamily="49" charset="0"/>
              </a:rPr>
              <a:t>3170972965401 % 1024 = </a:t>
            </a:r>
            <a:r>
              <a:rPr lang="en-US" altLang="zh-CN" sz="2000" b="1">
                <a:solidFill>
                  <a:srgbClr val="FF0000"/>
                </a:solidFill>
                <a:latin typeface="Courier New" pitchFamily="49" charset="0"/>
              </a:rPr>
              <a:t>537</a:t>
            </a:r>
          </a:p>
        </p:txBody>
      </p:sp>
      <p:sp>
        <p:nvSpPr>
          <p:cNvPr id="41988" name="Line 5"/>
          <p:cNvSpPr>
            <a:spLocks noChangeShapeType="1"/>
          </p:cNvSpPr>
          <p:nvPr/>
        </p:nvSpPr>
        <p:spPr bwMode="auto">
          <a:xfrm>
            <a:off x="990600" y="2895600"/>
            <a:ext cx="7315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989" name="Text Box 6"/>
          <p:cNvSpPr txBox="1">
            <a:spLocks noChangeArrowheads="1"/>
          </p:cNvSpPr>
          <p:nvPr/>
        </p:nvSpPr>
        <p:spPr bwMode="auto">
          <a:xfrm>
            <a:off x="914400" y="2514600"/>
            <a:ext cx="198120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600">
                <a:solidFill>
                  <a:schemeClr val="bg2"/>
                </a:solidFill>
                <a:latin typeface="Times New Roman" pitchFamily="18" charset="0"/>
              </a:rPr>
              <a:t>0                           255</a:t>
            </a:r>
            <a:endParaRPr lang="en-US" altLang="zh-CN" sz="1600" b="1">
              <a:solidFill>
                <a:schemeClr val="bg2"/>
              </a:solidFill>
              <a:latin typeface="Times New Roman" pitchFamily="18" charset="0"/>
            </a:endParaRPr>
          </a:p>
        </p:txBody>
      </p:sp>
      <p:sp>
        <p:nvSpPr>
          <p:cNvPr id="41990" name="Text Box 7"/>
          <p:cNvSpPr txBox="1">
            <a:spLocks noChangeArrowheads="1"/>
          </p:cNvSpPr>
          <p:nvPr/>
        </p:nvSpPr>
        <p:spPr bwMode="auto">
          <a:xfrm>
            <a:off x="2743200" y="2514600"/>
            <a:ext cx="198120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600">
                <a:solidFill>
                  <a:schemeClr val="bg2"/>
                </a:solidFill>
                <a:latin typeface="Times New Roman" pitchFamily="18" charset="0"/>
              </a:rPr>
              <a:t>256                       511</a:t>
            </a:r>
            <a:endParaRPr lang="en-US" altLang="zh-CN" sz="1600" b="1">
              <a:solidFill>
                <a:schemeClr val="bg2"/>
              </a:solidFill>
              <a:latin typeface="Times New Roman" pitchFamily="18" charset="0"/>
            </a:endParaRPr>
          </a:p>
        </p:txBody>
      </p:sp>
      <p:sp>
        <p:nvSpPr>
          <p:cNvPr id="41991" name="Text Box 8"/>
          <p:cNvSpPr txBox="1">
            <a:spLocks noChangeArrowheads="1"/>
          </p:cNvSpPr>
          <p:nvPr/>
        </p:nvSpPr>
        <p:spPr bwMode="auto">
          <a:xfrm>
            <a:off x="4572000" y="2514600"/>
            <a:ext cx="198120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600">
                <a:solidFill>
                  <a:schemeClr val="bg2"/>
                </a:solidFill>
                <a:latin typeface="Times New Roman" pitchFamily="18" charset="0"/>
              </a:rPr>
              <a:t>512                       767</a:t>
            </a:r>
            <a:endParaRPr lang="en-US" altLang="zh-CN" sz="1600" b="1">
              <a:solidFill>
                <a:schemeClr val="bg2"/>
              </a:solidFill>
              <a:latin typeface="Times New Roman" pitchFamily="18" charset="0"/>
            </a:endParaRPr>
          </a:p>
        </p:txBody>
      </p:sp>
      <p:sp>
        <p:nvSpPr>
          <p:cNvPr id="41992" name="Text Box 9"/>
          <p:cNvSpPr txBox="1">
            <a:spLocks noChangeArrowheads="1"/>
          </p:cNvSpPr>
          <p:nvPr/>
        </p:nvSpPr>
        <p:spPr bwMode="auto">
          <a:xfrm>
            <a:off x="6400800" y="2514600"/>
            <a:ext cx="198120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600">
                <a:solidFill>
                  <a:schemeClr val="bg2"/>
                </a:solidFill>
                <a:latin typeface="Times New Roman" pitchFamily="18" charset="0"/>
              </a:rPr>
              <a:t>768                     1023</a:t>
            </a:r>
            <a:endParaRPr lang="en-US" altLang="zh-CN" sz="1600" b="1">
              <a:solidFill>
                <a:schemeClr val="bg2"/>
              </a:solidFill>
              <a:latin typeface="Times New Roman" pitchFamily="18" charset="0"/>
            </a:endParaRPr>
          </a:p>
        </p:txBody>
      </p:sp>
      <p:sp>
        <p:nvSpPr>
          <p:cNvPr id="41993" name="Text Box 10"/>
          <p:cNvSpPr txBox="1">
            <a:spLocks noChangeArrowheads="1"/>
          </p:cNvSpPr>
          <p:nvPr/>
        </p:nvSpPr>
        <p:spPr bwMode="auto">
          <a:xfrm>
            <a:off x="7086600" y="2971800"/>
            <a:ext cx="762000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>
                <a:latin typeface="Times New Roman" pitchFamily="18" charset="0"/>
              </a:rPr>
              <a:t>256</a:t>
            </a:r>
            <a:endParaRPr lang="en-US" altLang="zh-CN" sz="2400" b="1">
              <a:latin typeface="Times New Roman" pitchFamily="18" charset="0"/>
            </a:endParaRPr>
          </a:p>
        </p:txBody>
      </p:sp>
      <p:sp>
        <p:nvSpPr>
          <p:cNvPr id="41994" name="Line 11"/>
          <p:cNvSpPr>
            <a:spLocks noChangeShapeType="1"/>
          </p:cNvSpPr>
          <p:nvPr/>
        </p:nvSpPr>
        <p:spPr bwMode="auto">
          <a:xfrm flipH="1">
            <a:off x="6477000" y="3200400"/>
            <a:ext cx="609600" cy="0"/>
          </a:xfrm>
          <a:prstGeom prst="line">
            <a:avLst/>
          </a:prstGeom>
          <a:noFill/>
          <a:ln w="3175">
            <a:solidFill>
              <a:schemeClr val="bg2"/>
            </a:solidFill>
            <a:prstDash val="dash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995" name="Line 12"/>
          <p:cNvSpPr>
            <a:spLocks noChangeShapeType="1"/>
          </p:cNvSpPr>
          <p:nvPr/>
        </p:nvSpPr>
        <p:spPr bwMode="auto">
          <a:xfrm>
            <a:off x="7772400" y="3200400"/>
            <a:ext cx="533400" cy="0"/>
          </a:xfrm>
          <a:prstGeom prst="line">
            <a:avLst/>
          </a:prstGeom>
          <a:noFill/>
          <a:ln w="3175">
            <a:solidFill>
              <a:schemeClr val="bg2"/>
            </a:solidFill>
            <a:prstDash val="dash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996" name="Text Box 13"/>
          <p:cNvSpPr txBox="1">
            <a:spLocks noChangeArrowheads="1"/>
          </p:cNvSpPr>
          <p:nvPr/>
        </p:nvSpPr>
        <p:spPr bwMode="auto">
          <a:xfrm>
            <a:off x="5257800" y="2971800"/>
            <a:ext cx="762000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>
                <a:latin typeface="Times New Roman" pitchFamily="18" charset="0"/>
              </a:rPr>
              <a:t>256</a:t>
            </a:r>
            <a:endParaRPr lang="en-US" altLang="zh-CN" sz="2400" b="1">
              <a:latin typeface="Times New Roman" pitchFamily="18" charset="0"/>
            </a:endParaRPr>
          </a:p>
        </p:txBody>
      </p:sp>
      <p:sp>
        <p:nvSpPr>
          <p:cNvPr id="41997" name="Line 14"/>
          <p:cNvSpPr>
            <a:spLocks noChangeShapeType="1"/>
          </p:cNvSpPr>
          <p:nvPr/>
        </p:nvSpPr>
        <p:spPr bwMode="auto">
          <a:xfrm flipH="1">
            <a:off x="4648200" y="3200400"/>
            <a:ext cx="685800" cy="0"/>
          </a:xfrm>
          <a:prstGeom prst="line">
            <a:avLst/>
          </a:prstGeom>
          <a:noFill/>
          <a:ln w="3175">
            <a:solidFill>
              <a:schemeClr val="bg2"/>
            </a:solidFill>
            <a:prstDash val="dash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998" name="Line 15"/>
          <p:cNvSpPr>
            <a:spLocks noChangeShapeType="1"/>
          </p:cNvSpPr>
          <p:nvPr/>
        </p:nvSpPr>
        <p:spPr bwMode="auto">
          <a:xfrm>
            <a:off x="5943600" y="3200400"/>
            <a:ext cx="533400" cy="0"/>
          </a:xfrm>
          <a:prstGeom prst="line">
            <a:avLst/>
          </a:prstGeom>
          <a:noFill/>
          <a:ln w="3175">
            <a:solidFill>
              <a:schemeClr val="bg2"/>
            </a:solidFill>
            <a:prstDash val="dash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999" name="Text Box 16"/>
          <p:cNvSpPr txBox="1">
            <a:spLocks noChangeArrowheads="1"/>
          </p:cNvSpPr>
          <p:nvPr/>
        </p:nvSpPr>
        <p:spPr bwMode="auto">
          <a:xfrm>
            <a:off x="3429000" y="2971800"/>
            <a:ext cx="762000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>
                <a:latin typeface="Times New Roman" pitchFamily="18" charset="0"/>
              </a:rPr>
              <a:t>256</a:t>
            </a:r>
            <a:endParaRPr lang="en-US" altLang="zh-CN" sz="2400" b="1">
              <a:latin typeface="Times New Roman" pitchFamily="18" charset="0"/>
            </a:endParaRPr>
          </a:p>
        </p:txBody>
      </p:sp>
      <p:sp>
        <p:nvSpPr>
          <p:cNvPr id="42000" name="Line 17"/>
          <p:cNvSpPr>
            <a:spLocks noChangeShapeType="1"/>
          </p:cNvSpPr>
          <p:nvPr/>
        </p:nvSpPr>
        <p:spPr bwMode="auto">
          <a:xfrm flipH="1">
            <a:off x="2819400" y="3200400"/>
            <a:ext cx="609600" cy="0"/>
          </a:xfrm>
          <a:prstGeom prst="line">
            <a:avLst/>
          </a:prstGeom>
          <a:noFill/>
          <a:ln w="3175">
            <a:solidFill>
              <a:schemeClr val="bg2"/>
            </a:solidFill>
            <a:prstDash val="dash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01" name="Line 18"/>
          <p:cNvSpPr>
            <a:spLocks noChangeShapeType="1"/>
          </p:cNvSpPr>
          <p:nvPr/>
        </p:nvSpPr>
        <p:spPr bwMode="auto">
          <a:xfrm>
            <a:off x="4114800" y="3200400"/>
            <a:ext cx="533400" cy="0"/>
          </a:xfrm>
          <a:prstGeom prst="line">
            <a:avLst/>
          </a:prstGeom>
          <a:noFill/>
          <a:ln w="3175">
            <a:solidFill>
              <a:schemeClr val="bg2"/>
            </a:solidFill>
            <a:prstDash val="dash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02" name="Text Box 19"/>
          <p:cNvSpPr txBox="1">
            <a:spLocks noChangeArrowheads="1"/>
          </p:cNvSpPr>
          <p:nvPr/>
        </p:nvSpPr>
        <p:spPr bwMode="auto">
          <a:xfrm>
            <a:off x="1524000" y="2971800"/>
            <a:ext cx="762000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>
                <a:latin typeface="Times New Roman" pitchFamily="18" charset="0"/>
              </a:rPr>
              <a:t>256</a:t>
            </a:r>
            <a:endParaRPr lang="en-US" altLang="zh-CN" sz="2400" b="1">
              <a:latin typeface="Times New Roman" pitchFamily="18" charset="0"/>
            </a:endParaRPr>
          </a:p>
        </p:txBody>
      </p:sp>
      <p:sp>
        <p:nvSpPr>
          <p:cNvPr id="42003" name="Line 20"/>
          <p:cNvSpPr>
            <a:spLocks noChangeShapeType="1"/>
          </p:cNvSpPr>
          <p:nvPr/>
        </p:nvSpPr>
        <p:spPr bwMode="auto">
          <a:xfrm flipH="1">
            <a:off x="990600" y="3200400"/>
            <a:ext cx="609600" cy="0"/>
          </a:xfrm>
          <a:prstGeom prst="line">
            <a:avLst/>
          </a:prstGeom>
          <a:noFill/>
          <a:ln w="3175">
            <a:solidFill>
              <a:schemeClr val="bg2"/>
            </a:solidFill>
            <a:prstDash val="dash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04" name="Line 21"/>
          <p:cNvSpPr>
            <a:spLocks noChangeShapeType="1"/>
          </p:cNvSpPr>
          <p:nvPr/>
        </p:nvSpPr>
        <p:spPr bwMode="auto">
          <a:xfrm>
            <a:off x="2209800" y="3200400"/>
            <a:ext cx="609600" cy="0"/>
          </a:xfrm>
          <a:prstGeom prst="line">
            <a:avLst/>
          </a:prstGeom>
          <a:noFill/>
          <a:ln w="3175">
            <a:solidFill>
              <a:schemeClr val="bg2"/>
            </a:solidFill>
            <a:prstDash val="dash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05" name="Oval 22"/>
          <p:cNvSpPr>
            <a:spLocks noChangeArrowheads="1"/>
          </p:cNvSpPr>
          <p:nvPr/>
        </p:nvSpPr>
        <p:spPr bwMode="auto">
          <a:xfrm>
            <a:off x="6629400" y="1676400"/>
            <a:ext cx="685800" cy="381000"/>
          </a:xfrm>
          <a:prstGeom prst="ellipse">
            <a:avLst/>
          </a:prstGeom>
          <a:noFill/>
          <a:ln w="6350" algn="ctr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42006" name="Line 23"/>
          <p:cNvSpPr>
            <a:spLocks noChangeShapeType="1"/>
          </p:cNvSpPr>
          <p:nvPr/>
        </p:nvSpPr>
        <p:spPr bwMode="auto">
          <a:xfrm flipH="1">
            <a:off x="5257800" y="1981200"/>
            <a:ext cx="1447800" cy="685800"/>
          </a:xfrm>
          <a:prstGeom prst="line">
            <a:avLst/>
          </a:prstGeom>
          <a:noFill/>
          <a:ln w="6350">
            <a:solidFill>
              <a:srgbClr val="FF0000"/>
            </a:solidFill>
            <a:prstDash val="dash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07" name="AutoShape 24"/>
          <p:cNvSpPr>
            <a:spLocks noChangeArrowheads="1"/>
          </p:cNvSpPr>
          <p:nvPr/>
        </p:nvSpPr>
        <p:spPr bwMode="auto">
          <a:xfrm>
            <a:off x="1219200" y="4648200"/>
            <a:ext cx="1295400" cy="990600"/>
          </a:xfrm>
          <a:prstGeom prst="can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42008" name="Text Box 25"/>
          <p:cNvSpPr txBox="1">
            <a:spLocks noChangeArrowheads="1"/>
          </p:cNvSpPr>
          <p:nvPr/>
        </p:nvSpPr>
        <p:spPr bwMode="auto">
          <a:xfrm>
            <a:off x="1066800" y="4708525"/>
            <a:ext cx="1676400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>
                <a:latin typeface="Times New Roman" pitchFamily="18" charset="0"/>
              </a:rPr>
              <a:t>分库</a:t>
            </a:r>
            <a:r>
              <a:rPr lang="en-US" altLang="zh-CN" sz="2000">
                <a:latin typeface="Times New Roman" pitchFamily="18" charset="0"/>
              </a:rPr>
              <a:t>1</a:t>
            </a:r>
            <a:endParaRPr lang="en-US" altLang="zh-CN" sz="2000" b="1">
              <a:latin typeface="Times New Roman" pitchFamily="18" charset="0"/>
            </a:endParaRPr>
          </a:p>
        </p:txBody>
      </p:sp>
      <p:sp>
        <p:nvSpPr>
          <p:cNvPr id="42009" name="AutoShape 26"/>
          <p:cNvSpPr>
            <a:spLocks noChangeArrowheads="1"/>
          </p:cNvSpPr>
          <p:nvPr/>
        </p:nvSpPr>
        <p:spPr bwMode="auto">
          <a:xfrm>
            <a:off x="3124200" y="4648200"/>
            <a:ext cx="1295400" cy="990600"/>
          </a:xfrm>
          <a:prstGeom prst="can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42010" name="Text Box 27"/>
          <p:cNvSpPr txBox="1">
            <a:spLocks noChangeArrowheads="1"/>
          </p:cNvSpPr>
          <p:nvPr/>
        </p:nvSpPr>
        <p:spPr bwMode="auto">
          <a:xfrm>
            <a:off x="2971800" y="4708525"/>
            <a:ext cx="1676400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>
                <a:latin typeface="Times New Roman" pitchFamily="18" charset="0"/>
              </a:rPr>
              <a:t>分库</a:t>
            </a:r>
            <a:r>
              <a:rPr lang="en-US" altLang="zh-CN" sz="2000">
                <a:latin typeface="Times New Roman" pitchFamily="18" charset="0"/>
              </a:rPr>
              <a:t>2</a:t>
            </a:r>
            <a:endParaRPr lang="en-US" altLang="zh-CN" sz="2000" b="1">
              <a:latin typeface="Times New Roman" pitchFamily="18" charset="0"/>
            </a:endParaRPr>
          </a:p>
        </p:txBody>
      </p:sp>
      <p:sp>
        <p:nvSpPr>
          <p:cNvPr id="42011" name="AutoShape 28"/>
          <p:cNvSpPr>
            <a:spLocks noChangeArrowheads="1"/>
          </p:cNvSpPr>
          <p:nvPr/>
        </p:nvSpPr>
        <p:spPr bwMode="auto">
          <a:xfrm>
            <a:off x="6781800" y="4648200"/>
            <a:ext cx="1295400" cy="990600"/>
          </a:xfrm>
          <a:prstGeom prst="can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42012" name="Text Box 29"/>
          <p:cNvSpPr txBox="1">
            <a:spLocks noChangeArrowheads="1"/>
          </p:cNvSpPr>
          <p:nvPr/>
        </p:nvSpPr>
        <p:spPr bwMode="auto">
          <a:xfrm>
            <a:off x="4800600" y="4708525"/>
            <a:ext cx="1676400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>
                <a:latin typeface="Times New Roman" pitchFamily="18" charset="0"/>
              </a:rPr>
              <a:t>分库</a:t>
            </a:r>
            <a:r>
              <a:rPr lang="en-US" altLang="zh-CN" sz="2000">
                <a:latin typeface="Times New Roman" pitchFamily="18" charset="0"/>
              </a:rPr>
              <a:t>3</a:t>
            </a:r>
            <a:endParaRPr lang="en-US" altLang="zh-CN" sz="2000" b="1">
              <a:latin typeface="Times New Roman" pitchFamily="18" charset="0"/>
            </a:endParaRPr>
          </a:p>
        </p:txBody>
      </p:sp>
      <p:sp>
        <p:nvSpPr>
          <p:cNvPr id="42013" name="Text Box 30"/>
          <p:cNvSpPr txBox="1">
            <a:spLocks noChangeArrowheads="1"/>
          </p:cNvSpPr>
          <p:nvPr/>
        </p:nvSpPr>
        <p:spPr bwMode="auto">
          <a:xfrm>
            <a:off x="6629400" y="4708525"/>
            <a:ext cx="1676400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>
                <a:latin typeface="Times New Roman" pitchFamily="18" charset="0"/>
              </a:rPr>
              <a:t>分库</a:t>
            </a:r>
            <a:r>
              <a:rPr lang="en-US" altLang="zh-CN" sz="2000">
                <a:latin typeface="Times New Roman" pitchFamily="18" charset="0"/>
              </a:rPr>
              <a:t>4</a:t>
            </a:r>
            <a:endParaRPr lang="en-US" altLang="zh-CN" sz="2000" b="1">
              <a:latin typeface="Times New Roman" pitchFamily="18" charset="0"/>
            </a:endParaRPr>
          </a:p>
        </p:txBody>
      </p:sp>
      <p:sp>
        <p:nvSpPr>
          <p:cNvPr id="42014" name="Line 31"/>
          <p:cNvSpPr>
            <a:spLocks noChangeShapeType="1"/>
          </p:cNvSpPr>
          <p:nvPr/>
        </p:nvSpPr>
        <p:spPr bwMode="auto">
          <a:xfrm>
            <a:off x="8305800" y="2438400"/>
            <a:ext cx="0" cy="3200400"/>
          </a:xfrm>
          <a:prstGeom prst="line">
            <a:avLst/>
          </a:prstGeom>
          <a:noFill/>
          <a:ln w="63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15" name="Line 32"/>
          <p:cNvSpPr>
            <a:spLocks noChangeShapeType="1"/>
          </p:cNvSpPr>
          <p:nvPr/>
        </p:nvSpPr>
        <p:spPr bwMode="auto">
          <a:xfrm>
            <a:off x="6477000" y="2438400"/>
            <a:ext cx="0" cy="3200400"/>
          </a:xfrm>
          <a:prstGeom prst="line">
            <a:avLst/>
          </a:prstGeom>
          <a:noFill/>
          <a:ln w="63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16" name="Line 33"/>
          <p:cNvSpPr>
            <a:spLocks noChangeShapeType="1"/>
          </p:cNvSpPr>
          <p:nvPr/>
        </p:nvSpPr>
        <p:spPr bwMode="auto">
          <a:xfrm>
            <a:off x="4648200" y="2438400"/>
            <a:ext cx="0" cy="3276600"/>
          </a:xfrm>
          <a:prstGeom prst="line">
            <a:avLst/>
          </a:prstGeom>
          <a:noFill/>
          <a:ln w="63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17" name="Line 34"/>
          <p:cNvSpPr>
            <a:spLocks noChangeShapeType="1"/>
          </p:cNvSpPr>
          <p:nvPr/>
        </p:nvSpPr>
        <p:spPr bwMode="auto">
          <a:xfrm>
            <a:off x="2819400" y="2438400"/>
            <a:ext cx="0" cy="3352800"/>
          </a:xfrm>
          <a:prstGeom prst="line">
            <a:avLst/>
          </a:prstGeom>
          <a:noFill/>
          <a:ln w="63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18" name="Line 35"/>
          <p:cNvSpPr>
            <a:spLocks noChangeShapeType="1"/>
          </p:cNvSpPr>
          <p:nvPr/>
        </p:nvSpPr>
        <p:spPr bwMode="auto">
          <a:xfrm>
            <a:off x="990600" y="2438400"/>
            <a:ext cx="0" cy="3276600"/>
          </a:xfrm>
          <a:prstGeom prst="line">
            <a:avLst/>
          </a:prstGeom>
          <a:noFill/>
          <a:ln w="63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ea typeface="微软雅黑"/>
                <a:cs typeface="微软雅黑"/>
              </a:rPr>
              <a:t>路由算法</a:t>
            </a:r>
            <a:r>
              <a:rPr lang="en-US" altLang="zh-CN" smtClean="0">
                <a:latin typeface="微软雅黑"/>
                <a:ea typeface="微软雅黑"/>
                <a:cs typeface="微软雅黑"/>
              </a:rPr>
              <a:t>——</a:t>
            </a:r>
            <a:r>
              <a:rPr lang="zh-CN" altLang="en-US" smtClean="0">
                <a:ea typeface="微软雅黑"/>
                <a:cs typeface="微软雅黑"/>
              </a:rPr>
              <a:t>扩容</a:t>
            </a:r>
          </a:p>
        </p:txBody>
      </p:sp>
      <p:sp>
        <p:nvSpPr>
          <p:cNvPr id="43010" name="Text Box 3"/>
          <p:cNvSpPr txBox="1">
            <a:spLocks noChangeArrowheads="1"/>
          </p:cNvSpPr>
          <p:nvPr/>
        </p:nvSpPr>
        <p:spPr bwMode="auto">
          <a:xfrm>
            <a:off x="533400" y="1676400"/>
            <a:ext cx="7086600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>
                <a:solidFill>
                  <a:schemeClr val="bg2"/>
                </a:solidFill>
                <a:latin typeface="Courier New" pitchFamily="49" charset="0"/>
              </a:rPr>
              <a:t>hash(pavarott) =</a:t>
            </a:r>
            <a:r>
              <a:rPr lang="en-US" altLang="zh-CN" sz="2000">
                <a:latin typeface="Courier New" pitchFamily="49" charset="0"/>
              </a:rPr>
              <a:t> </a:t>
            </a:r>
            <a:r>
              <a:rPr lang="en-US" altLang="zh-CN" sz="2000" b="1">
                <a:latin typeface="Courier New" pitchFamily="49" charset="0"/>
              </a:rPr>
              <a:t>3170972965401 % 1024 = </a:t>
            </a:r>
            <a:r>
              <a:rPr lang="en-US" altLang="zh-CN" sz="2000" b="1">
                <a:solidFill>
                  <a:srgbClr val="FF0000"/>
                </a:solidFill>
                <a:latin typeface="Courier New" pitchFamily="49" charset="0"/>
              </a:rPr>
              <a:t>537</a:t>
            </a:r>
          </a:p>
        </p:txBody>
      </p:sp>
      <p:sp>
        <p:nvSpPr>
          <p:cNvPr id="43011" name="Line 4"/>
          <p:cNvSpPr>
            <a:spLocks noChangeShapeType="1"/>
          </p:cNvSpPr>
          <p:nvPr/>
        </p:nvSpPr>
        <p:spPr bwMode="auto">
          <a:xfrm>
            <a:off x="990600" y="2819400"/>
            <a:ext cx="7315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012" name="Text Box 5"/>
          <p:cNvSpPr txBox="1">
            <a:spLocks noChangeArrowheads="1"/>
          </p:cNvSpPr>
          <p:nvPr/>
        </p:nvSpPr>
        <p:spPr bwMode="auto">
          <a:xfrm>
            <a:off x="914400" y="2514600"/>
            <a:ext cx="198120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600">
                <a:solidFill>
                  <a:schemeClr val="bg2"/>
                </a:solidFill>
                <a:latin typeface="Times New Roman" pitchFamily="18" charset="0"/>
              </a:rPr>
              <a:t>0         127 128    255</a:t>
            </a:r>
            <a:endParaRPr lang="en-US" altLang="zh-CN" sz="1600" b="1">
              <a:solidFill>
                <a:schemeClr val="bg2"/>
              </a:solidFill>
              <a:latin typeface="Times New Roman" pitchFamily="18" charset="0"/>
            </a:endParaRPr>
          </a:p>
        </p:txBody>
      </p:sp>
      <p:sp>
        <p:nvSpPr>
          <p:cNvPr id="43013" name="Text Box 6"/>
          <p:cNvSpPr txBox="1">
            <a:spLocks noChangeArrowheads="1"/>
          </p:cNvSpPr>
          <p:nvPr/>
        </p:nvSpPr>
        <p:spPr bwMode="auto">
          <a:xfrm>
            <a:off x="2743200" y="2514600"/>
            <a:ext cx="198120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600">
                <a:solidFill>
                  <a:schemeClr val="bg2"/>
                </a:solidFill>
                <a:latin typeface="Times New Roman" pitchFamily="18" charset="0"/>
              </a:rPr>
              <a:t>256     383  384    511</a:t>
            </a:r>
            <a:endParaRPr lang="en-US" altLang="zh-CN" sz="1600" b="1">
              <a:solidFill>
                <a:schemeClr val="bg2"/>
              </a:solidFill>
              <a:latin typeface="Times New Roman" pitchFamily="18" charset="0"/>
            </a:endParaRPr>
          </a:p>
        </p:txBody>
      </p:sp>
      <p:sp>
        <p:nvSpPr>
          <p:cNvPr id="43014" name="Text Box 7"/>
          <p:cNvSpPr txBox="1">
            <a:spLocks noChangeArrowheads="1"/>
          </p:cNvSpPr>
          <p:nvPr/>
        </p:nvSpPr>
        <p:spPr bwMode="auto">
          <a:xfrm>
            <a:off x="4572000" y="2514600"/>
            <a:ext cx="198120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600">
                <a:solidFill>
                  <a:schemeClr val="bg2"/>
                </a:solidFill>
                <a:latin typeface="Times New Roman" pitchFamily="18" charset="0"/>
              </a:rPr>
              <a:t>512     639 640    767</a:t>
            </a:r>
            <a:endParaRPr lang="en-US" altLang="zh-CN" sz="1600" b="1">
              <a:solidFill>
                <a:schemeClr val="bg2"/>
              </a:solidFill>
              <a:latin typeface="Times New Roman" pitchFamily="18" charset="0"/>
            </a:endParaRPr>
          </a:p>
        </p:txBody>
      </p:sp>
      <p:sp>
        <p:nvSpPr>
          <p:cNvPr id="43015" name="Text Box 8"/>
          <p:cNvSpPr txBox="1">
            <a:spLocks noChangeArrowheads="1"/>
          </p:cNvSpPr>
          <p:nvPr/>
        </p:nvSpPr>
        <p:spPr bwMode="auto">
          <a:xfrm>
            <a:off x="6400800" y="2514600"/>
            <a:ext cx="198120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600">
                <a:solidFill>
                  <a:schemeClr val="bg2"/>
                </a:solidFill>
                <a:latin typeface="Times New Roman" pitchFamily="18" charset="0"/>
              </a:rPr>
              <a:t>768      895 896  1023</a:t>
            </a:r>
            <a:endParaRPr lang="en-US" altLang="zh-CN" sz="1600" b="1">
              <a:solidFill>
                <a:schemeClr val="bg2"/>
              </a:solidFill>
              <a:latin typeface="Times New Roman" pitchFamily="18" charset="0"/>
            </a:endParaRPr>
          </a:p>
        </p:txBody>
      </p:sp>
      <p:sp>
        <p:nvSpPr>
          <p:cNvPr id="43016" name="Text Box 9"/>
          <p:cNvSpPr txBox="1">
            <a:spLocks noChangeArrowheads="1"/>
          </p:cNvSpPr>
          <p:nvPr/>
        </p:nvSpPr>
        <p:spPr bwMode="auto">
          <a:xfrm>
            <a:off x="1219200" y="2940050"/>
            <a:ext cx="53340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600">
                <a:latin typeface="Times New Roman" pitchFamily="18" charset="0"/>
              </a:rPr>
              <a:t>128</a:t>
            </a:r>
            <a:endParaRPr lang="en-US" altLang="zh-CN" sz="1600" b="1">
              <a:latin typeface="Times New Roman" pitchFamily="18" charset="0"/>
            </a:endParaRPr>
          </a:p>
        </p:txBody>
      </p:sp>
      <p:sp>
        <p:nvSpPr>
          <p:cNvPr id="43017" name="Line 10"/>
          <p:cNvSpPr>
            <a:spLocks noChangeShapeType="1"/>
          </p:cNvSpPr>
          <p:nvPr/>
        </p:nvSpPr>
        <p:spPr bwMode="auto">
          <a:xfrm flipH="1">
            <a:off x="990600" y="3124200"/>
            <a:ext cx="304800" cy="0"/>
          </a:xfrm>
          <a:prstGeom prst="line">
            <a:avLst/>
          </a:prstGeom>
          <a:noFill/>
          <a:ln w="3175">
            <a:solidFill>
              <a:schemeClr val="bg2"/>
            </a:solidFill>
            <a:prstDash val="dash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018" name="Line 11"/>
          <p:cNvSpPr>
            <a:spLocks noChangeShapeType="1"/>
          </p:cNvSpPr>
          <p:nvPr/>
        </p:nvSpPr>
        <p:spPr bwMode="auto">
          <a:xfrm>
            <a:off x="1676400" y="3124200"/>
            <a:ext cx="228600" cy="0"/>
          </a:xfrm>
          <a:prstGeom prst="line">
            <a:avLst/>
          </a:prstGeom>
          <a:noFill/>
          <a:ln w="3175">
            <a:solidFill>
              <a:schemeClr val="bg2"/>
            </a:solidFill>
            <a:prstDash val="dash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019" name="Line 12"/>
          <p:cNvSpPr>
            <a:spLocks noChangeShapeType="1"/>
          </p:cNvSpPr>
          <p:nvPr/>
        </p:nvSpPr>
        <p:spPr bwMode="auto">
          <a:xfrm>
            <a:off x="1905000" y="2438400"/>
            <a:ext cx="0" cy="2133600"/>
          </a:xfrm>
          <a:prstGeom prst="line">
            <a:avLst/>
          </a:prstGeom>
          <a:noFill/>
          <a:ln w="63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020" name="Text Box 13"/>
          <p:cNvSpPr txBox="1">
            <a:spLocks noChangeArrowheads="1"/>
          </p:cNvSpPr>
          <p:nvPr/>
        </p:nvSpPr>
        <p:spPr bwMode="auto">
          <a:xfrm>
            <a:off x="2133600" y="2940050"/>
            <a:ext cx="53340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600">
                <a:latin typeface="Times New Roman" pitchFamily="18" charset="0"/>
              </a:rPr>
              <a:t>128</a:t>
            </a:r>
            <a:endParaRPr lang="en-US" altLang="zh-CN" sz="1600" b="1">
              <a:latin typeface="Times New Roman" pitchFamily="18" charset="0"/>
            </a:endParaRPr>
          </a:p>
        </p:txBody>
      </p:sp>
      <p:sp>
        <p:nvSpPr>
          <p:cNvPr id="43021" name="Line 14"/>
          <p:cNvSpPr>
            <a:spLocks noChangeShapeType="1"/>
          </p:cNvSpPr>
          <p:nvPr/>
        </p:nvSpPr>
        <p:spPr bwMode="auto">
          <a:xfrm flipH="1">
            <a:off x="1905000" y="3124200"/>
            <a:ext cx="304800" cy="0"/>
          </a:xfrm>
          <a:prstGeom prst="line">
            <a:avLst/>
          </a:prstGeom>
          <a:noFill/>
          <a:ln w="3175">
            <a:solidFill>
              <a:schemeClr val="bg2"/>
            </a:solidFill>
            <a:prstDash val="dash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022" name="Line 15"/>
          <p:cNvSpPr>
            <a:spLocks noChangeShapeType="1"/>
          </p:cNvSpPr>
          <p:nvPr/>
        </p:nvSpPr>
        <p:spPr bwMode="auto">
          <a:xfrm>
            <a:off x="2590800" y="3124200"/>
            <a:ext cx="228600" cy="0"/>
          </a:xfrm>
          <a:prstGeom prst="line">
            <a:avLst/>
          </a:prstGeom>
          <a:noFill/>
          <a:ln w="3175">
            <a:solidFill>
              <a:schemeClr val="bg2"/>
            </a:solidFill>
            <a:prstDash val="dash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023" name="Line 16"/>
          <p:cNvSpPr>
            <a:spLocks noChangeShapeType="1"/>
          </p:cNvSpPr>
          <p:nvPr/>
        </p:nvSpPr>
        <p:spPr bwMode="auto">
          <a:xfrm>
            <a:off x="3733800" y="2438400"/>
            <a:ext cx="0" cy="2133600"/>
          </a:xfrm>
          <a:prstGeom prst="line">
            <a:avLst/>
          </a:prstGeom>
          <a:noFill/>
          <a:ln w="63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024" name="Line 17"/>
          <p:cNvSpPr>
            <a:spLocks noChangeShapeType="1"/>
          </p:cNvSpPr>
          <p:nvPr/>
        </p:nvSpPr>
        <p:spPr bwMode="auto">
          <a:xfrm>
            <a:off x="5562600" y="2438400"/>
            <a:ext cx="0" cy="2133600"/>
          </a:xfrm>
          <a:prstGeom prst="line">
            <a:avLst/>
          </a:prstGeom>
          <a:noFill/>
          <a:ln w="63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025" name="Line 18"/>
          <p:cNvSpPr>
            <a:spLocks noChangeShapeType="1"/>
          </p:cNvSpPr>
          <p:nvPr/>
        </p:nvSpPr>
        <p:spPr bwMode="auto">
          <a:xfrm>
            <a:off x="7391400" y="2438400"/>
            <a:ext cx="0" cy="2133600"/>
          </a:xfrm>
          <a:prstGeom prst="line">
            <a:avLst/>
          </a:prstGeom>
          <a:noFill/>
          <a:ln w="63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026" name="Text Box 19"/>
          <p:cNvSpPr txBox="1">
            <a:spLocks noChangeArrowheads="1"/>
          </p:cNvSpPr>
          <p:nvPr/>
        </p:nvSpPr>
        <p:spPr bwMode="auto">
          <a:xfrm>
            <a:off x="3048000" y="2940050"/>
            <a:ext cx="53340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600">
                <a:latin typeface="Times New Roman" pitchFamily="18" charset="0"/>
              </a:rPr>
              <a:t>128</a:t>
            </a:r>
            <a:endParaRPr lang="en-US" altLang="zh-CN" sz="1600" b="1">
              <a:latin typeface="Times New Roman" pitchFamily="18" charset="0"/>
            </a:endParaRPr>
          </a:p>
        </p:txBody>
      </p:sp>
      <p:sp>
        <p:nvSpPr>
          <p:cNvPr id="43027" name="Line 20"/>
          <p:cNvSpPr>
            <a:spLocks noChangeShapeType="1"/>
          </p:cNvSpPr>
          <p:nvPr/>
        </p:nvSpPr>
        <p:spPr bwMode="auto">
          <a:xfrm flipH="1">
            <a:off x="2819400" y="3124200"/>
            <a:ext cx="304800" cy="0"/>
          </a:xfrm>
          <a:prstGeom prst="line">
            <a:avLst/>
          </a:prstGeom>
          <a:noFill/>
          <a:ln w="3175">
            <a:solidFill>
              <a:schemeClr val="bg2"/>
            </a:solidFill>
            <a:prstDash val="dash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028" name="Line 21"/>
          <p:cNvSpPr>
            <a:spLocks noChangeShapeType="1"/>
          </p:cNvSpPr>
          <p:nvPr/>
        </p:nvSpPr>
        <p:spPr bwMode="auto">
          <a:xfrm>
            <a:off x="3505200" y="3124200"/>
            <a:ext cx="228600" cy="0"/>
          </a:xfrm>
          <a:prstGeom prst="line">
            <a:avLst/>
          </a:prstGeom>
          <a:noFill/>
          <a:ln w="3175">
            <a:solidFill>
              <a:schemeClr val="bg2"/>
            </a:solidFill>
            <a:prstDash val="dash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029" name="Text Box 22"/>
          <p:cNvSpPr txBox="1">
            <a:spLocks noChangeArrowheads="1"/>
          </p:cNvSpPr>
          <p:nvPr/>
        </p:nvSpPr>
        <p:spPr bwMode="auto">
          <a:xfrm>
            <a:off x="3962400" y="2940050"/>
            <a:ext cx="53340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600">
                <a:latin typeface="Times New Roman" pitchFamily="18" charset="0"/>
              </a:rPr>
              <a:t>128</a:t>
            </a:r>
            <a:endParaRPr lang="en-US" altLang="zh-CN" sz="1600" b="1">
              <a:latin typeface="Times New Roman" pitchFamily="18" charset="0"/>
            </a:endParaRPr>
          </a:p>
        </p:txBody>
      </p:sp>
      <p:sp>
        <p:nvSpPr>
          <p:cNvPr id="43030" name="Line 23"/>
          <p:cNvSpPr>
            <a:spLocks noChangeShapeType="1"/>
          </p:cNvSpPr>
          <p:nvPr/>
        </p:nvSpPr>
        <p:spPr bwMode="auto">
          <a:xfrm flipH="1">
            <a:off x="3733800" y="3124200"/>
            <a:ext cx="304800" cy="0"/>
          </a:xfrm>
          <a:prstGeom prst="line">
            <a:avLst/>
          </a:prstGeom>
          <a:noFill/>
          <a:ln w="3175">
            <a:solidFill>
              <a:schemeClr val="bg2"/>
            </a:solidFill>
            <a:prstDash val="dash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031" name="Line 24"/>
          <p:cNvSpPr>
            <a:spLocks noChangeShapeType="1"/>
          </p:cNvSpPr>
          <p:nvPr/>
        </p:nvSpPr>
        <p:spPr bwMode="auto">
          <a:xfrm>
            <a:off x="4419600" y="3124200"/>
            <a:ext cx="228600" cy="0"/>
          </a:xfrm>
          <a:prstGeom prst="line">
            <a:avLst/>
          </a:prstGeom>
          <a:noFill/>
          <a:ln w="3175">
            <a:solidFill>
              <a:schemeClr val="bg2"/>
            </a:solidFill>
            <a:prstDash val="dash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032" name="Text Box 25"/>
          <p:cNvSpPr txBox="1">
            <a:spLocks noChangeArrowheads="1"/>
          </p:cNvSpPr>
          <p:nvPr/>
        </p:nvSpPr>
        <p:spPr bwMode="auto">
          <a:xfrm>
            <a:off x="4876800" y="2940050"/>
            <a:ext cx="53340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600">
                <a:latin typeface="Times New Roman" pitchFamily="18" charset="0"/>
              </a:rPr>
              <a:t>128</a:t>
            </a:r>
            <a:endParaRPr lang="en-US" altLang="zh-CN" sz="1600" b="1">
              <a:latin typeface="Times New Roman" pitchFamily="18" charset="0"/>
            </a:endParaRPr>
          </a:p>
        </p:txBody>
      </p:sp>
      <p:sp>
        <p:nvSpPr>
          <p:cNvPr id="43033" name="Line 26"/>
          <p:cNvSpPr>
            <a:spLocks noChangeShapeType="1"/>
          </p:cNvSpPr>
          <p:nvPr/>
        </p:nvSpPr>
        <p:spPr bwMode="auto">
          <a:xfrm flipH="1">
            <a:off x="4648200" y="3124200"/>
            <a:ext cx="304800" cy="0"/>
          </a:xfrm>
          <a:prstGeom prst="line">
            <a:avLst/>
          </a:prstGeom>
          <a:noFill/>
          <a:ln w="3175">
            <a:solidFill>
              <a:schemeClr val="bg2"/>
            </a:solidFill>
            <a:prstDash val="dash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034" name="Line 27"/>
          <p:cNvSpPr>
            <a:spLocks noChangeShapeType="1"/>
          </p:cNvSpPr>
          <p:nvPr/>
        </p:nvSpPr>
        <p:spPr bwMode="auto">
          <a:xfrm>
            <a:off x="5334000" y="3124200"/>
            <a:ext cx="228600" cy="0"/>
          </a:xfrm>
          <a:prstGeom prst="line">
            <a:avLst/>
          </a:prstGeom>
          <a:noFill/>
          <a:ln w="3175">
            <a:solidFill>
              <a:schemeClr val="bg2"/>
            </a:solidFill>
            <a:prstDash val="dash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035" name="Text Box 28"/>
          <p:cNvSpPr txBox="1">
            <a:spLocks noChangeArrowheads="1"/>
          </p:cNvSpPr>
          <p:nvPr/>
        </p:nvSpPr>
        <p:spPr bwMode="auto">
          <a:xfrm>
            <a:off x="5791200" y="2940050"/>
            <a:ext cx="53340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600">
                <a:latin typeface="Times New Roman" pitchFamily="18" charset="0"/>
              </a:rPr>
              <a:t>128</a:t>
            </a:r>
            <a:endParaRPr lang="en-US" altLang="zh-CN" sz="1600" b="1">
              <a:latin typeface="Times New Roman" pitchFamily="18" charset="0"/>
            </a:endParaRPr>
          </a:p>
        </p:txBody>
      </p:sp>
      <p:sp>
        <p:nvSpPr>
          <p:cNvPr id="43036" name="Line 29"/>
          <p:cNvSpPr>
            <a:spLocks noChangeShapeType="1"/>
          </p:cNvSpPr>
          <p:nvPr/>
        </p:nvSpPr>
        <p:spPr bwMode="auto">
          <a:xfrm flipH="1">
            <a:off x="5562600" y="3124200"/>
            <a:ext cx="304800" cy="0"/>
          </a:xfrm>
          <a:prstGeom prst="line">
            <a:avLst/>
          </a:prstGeom>
          <a:noFill/>
          <a:ln w="3175">
            <a:solidFill>
              <a:schemeClr val="bg2"/>
            </a:solidFill>
            <a:prstDash val="dash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037" name="Line 30"/>
          <p:cNvSpPr>
            <a:spLocks noChangeShapeType="1"/>
          </p:cNvSpPr>
          <p:nvPr/>
        </p:nvSpPr>
        <p:spPr bwMode="auto">
          <a:xfrm>
            <a:off x="6248400" y="3124200"/>
            <a:ext cx="228600" cy="0"/>
          </a:xfrm>
          <a:prstGeom prst="line">
            <a:avLst/>
          </a:prstGeom>
          <a:noFill/>
          <a:ln w="3175">
            <a:solidFill>
              <a:schemeClr val="bg2"/>
            </a:solidFill>
            <a:prstDash val="dash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038" name="Text Box 31"/>
          <p:cNvSpPr txBox="1">
            <a:spLocks noChangeArrowheads="1"/>
          </p:cNvSpPr>
          <p:nvPr/>
        </p:nvSpPr>
        <p:spPr bwMode="auto">
          <a:xfrm>
            <a:off x="6705600" y="2940050"/>
            <a:ext cx="53340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600">
                <a:latin typeface="Times New Roman" pitchFamily="18" charset="0"/>
              </a:rPr>
              <a:t>128</a:t>
            </a:r>
            <a:endParaRPr lang="en-US" altLang="zh-CN" sz="1600" b="1">
              <a:latin typeface="Times New Roman" pitchFamily="18" charset="0"/>
            </a:endParaRPr>
          </a:p>
        </p:txBody>
      </p:sp>
      <p:sp>
        <p:nvSpPr>
          <p:cNvPr id="43039" name="Line 32"/>
          <p:cNvSpPr>
            <a:spLocks noChangeShapeType="1"/>
          </p:cNvSpPr>
          <p:nvPr/>
        </p:nvSpPr>
        <p:spPr bwMode="auto">
          <a:xfrm flipH="1">
            <a:off x="6477000" y="3124200"/>
            <a:ext cx="304800" cy="0"/>
          </a:xfrm>
          <a:prstGeom prst="line">
            <a:avLst/>
          </a:prstGeom>
          <a:noFill/>
          <a:ln w="3175">
            <a:solidFill>
              <a:schemeClr val="bg2"/>
            </a:solidFill>
            <a:prstDash val="dash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040" name="Line 33"/>
          <p:cNvSpPr>
            <a:spLocks noChangeShapeType="1"/>
          </p:cNvSpPr>
          <p:nvPr/>
        </p:nvSpPr>
        <p:spPr bwMode="auto">
          <a:xfrm>
            <a:off x="7162800" y="3124200"/>
            <a:ext cx="228600" cy="0"/>
          </a:xfrm>
          <a:prstGeom prst="line">
            <a:avLst/>
          </a:prstGeom>
          <a:noFill/>
          <a:ln w="3175">
            <a:solidFill>
              <a:schemeClr val="bg2"/>
            </a:solidFill>
            <a:prstDash val="dash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041" name="Text Box 34"/>
          <p:cNvSpPr txBox="1">
            <a:spLocks noChangeArrowheads="1"/>
          </p:cNvSpPr>
          <p:nvPr/>
        </p:nvSpPr>
        <p:spPr bwMode="auto">
          <a:xfrm>
            <a:off x="7620000" y="2940050"/>
            <a:ext cx="53340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600">
                <a:latin typeface="Times New Roman" pitchFamily="18" charset="0"/>
              </a:rPr>
              <a:t>128</a:t>
            </a:r>
            <a:endParaRPr lang="en-US" altLang="zh-CN" sz="1600" b="1">
              <a:latin typeface="Times New Roman" pitchFamily="18" charset="0"/>
            </a:endParaRPr>
          </a:p>
        </p:txBody>
      </p:sp>
      <p:sp>
        <p:nvSpPr>
          <p:cNvPr id="43042" name="Line 35"/>
          <p:cNvSpPr>
            <a:spLocks noChangeShapeType="1"/>
          </p:cNvSpPr>
          <p:nvPr/>
        </p:nvSpPr>
        <p:spPr bwMode="auto">
          <a:xfrm flipH="1">
            <a:off x="7391400" y="3124200"/>
            <a:ext cx="304800" cy="0"/>
          </a:xfrm>
          <a:prstGeom prst="line">
            <a:avLst/>
          </a:prstGeom>
          <a:noFill/>
          <a:ln w="3175">
            <a:solidFill>
              <a:schemeClr val="bg2"/>
            </a:solidFill>
            <a:prstDash val="dash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043" name="Line 36"/>
          <p:cNvSpPr>
            <a:spLocks noChangeShapeType="1"/>
          </p:cNvSpPr>
          <p:nvPr/>
        </p:nvSpPr>
        <p:spPr bwMode="auto">
          <a:xfrm>
            <a:off x="8077200" y="3124200"/>
            <a:ext cx="228600" cy="0"/>
          </a:xfrm>
          <a:prstGeom prst="line">
            <a:avLst/>
          </a:prstGeom>
          <a:noFill/>
          <a:ln w="3175">
            <a:solidFill>
              <a:schemeClr val="bg2"/>
            </a:solidFill>
            <a:prstDash val="dash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044" name="AutoShape 37"/>
          <p:cNvSpPr>
            <a:spLocks noChangeArrowheads="1"/>
          </p:cNvSpPr>
          <p:nvPr/>
        </p:nvSpPr>
        <p:spPr bwMode="auto">
          <a:xfrm>
            <a:off x="1219200" y="4648200"/>
            <a:ext cx="1295400" cy="990600"/>
          </a:xfrm>
          <a:prstGeom prst="can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43045" name="Text Box 38"/>
          <p:cNvSpPr txBox="1">
            <a:spLocks noChangeArrowheads="1"/>
          </p:cNvSpPr>
          <p:nvPr/>
        </p:nvSpPr>
        <p:spPr bwMode="auto">
          <a:xfrm>
            <a:off x="1066800" y="4708525"/>
            <a:ext cx="1676400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>
                <a:latin typeface="Times New Roman" pitchFamily="18" charset="0"/>
              </a:rPr>
              <a:t>分库</a:t>
            </a:r>
            <a:r>
              <a:rPr lang="en-US" altLang="zh-CN" sz="2000">
                <a:latin typeface="Times New Roman" pitchFamily="18" charset="0"/>
              </a:rPr>
              <a:t>1</a:t>
            </a:r>
            <a:endParaRPr lang="en-US" altLang="zh-CN" sz="2000" b="1">
              <a:latin typeface="Times New Roman" pitchFamily="18" charset="0"/>
            </a:endParaRPr>
          </a:p>
        </p:txBody>
      </p:sp>
      <p:sp>
        <p:nvSpPr>
          <p:cNvPr id="43046" name="AutoShape 39"/>
          <p:cNvSpPr>
            <a:spLocks noChangeArrowheads="1"/>
          </p:cNvSpPr>
          <p:nvPr/>
        </p:nvSpPr>
        <p:spPr bwMode="auto">
          <a:xfrm>
            <a:off x="3124200" y="4648200"/>
            <a:ext cx="1295400" cy="990600"/>
          </a:xfrm>
          <a:prstGeom prst="can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43047" name="Text Box 40"/>
          <p:cNvSpPr txBox="1">
            <a:spLocks noChangeArrowheads="1"/>
          </p:cNvSpPr>
          <p:nvPr/>
        </p:nvSpPr>
        <p:spPr bwMode="auto">
          <a:xfrm>
            <a:off x="2971800" y="4708525"/>
            <a:ext cx="1676400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>
                <a:latin typeface="Times New Roman" pitchFamily="18" charset="0"/>
              </a:rPr>
              <a:t>分库</a:t>
            </a:r>
            <a:r>
              <a:rPr lang="en-US" altLang="zh-CN" sz="2000">
                <a:latin typeface="Times New Roman" pitchFamily="18" charset="0"/>
              </a:rPr>
              <a:t>2</a:t>
            </a:r>
            <a:endParaRPr lang="en-US" altLang="zh-CN" sz="2000" b="1">
              <a:latin typeface="Times New Roman" pitchFamily="18" charset="0"/>
            </a:endParaRPr>
          </a:p>
        </p:txBody>
      </p:sp>
      <p:sp>
        <p:nvSpPr>
          <p:cNvPr id="43048" name="AutoShape 41"/>
          <p:cNvSpPr>
            <a:spLocks noChangeArrowheads="1"/>
          </p:cNvSpPr>
          <p:nvPr/>
        </p:nvSpPr>
        <p:spPr bwMode="auto">
          <a:xfrm>
            <a:off x="4953000" y="4648200"/>
            <a:ext cx="1295400" cy="990600"/>
          </a:xfrm>
          <a:prstGeom prst="can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43049" name="Text Box 42"/>
          <p:cNvSpPr txBox="1">
            <a:spLocks noChangeArrowheads="1"/>
          </p:cNvSpPr>
          <p:nvPr/>
        </p:nvSpPr>
        <p:spPr bwMode="auto">
          <a:xfrm>
            <a:off x="4800600" y="4708525"/>
            <a:ext cx="1676400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>
                <a:latin typeface="Times New Roman" pitchFamily="18" charset="0"/>
              </a:rPr>
              <a:t>分库</a:t>
            </a:r>
            <a:r>
              <a:rPr lang="en-US" altLang="zh-CN" sz="2000">
                <a:latin typeface="Times New Roman" pitchFamily="18" charset="0"/>
              </a:rPr>
              <a:t>3</a:t>
            </a:r>
            <a:endParaRPr lang="en-US" altLang="zh-CN" sz="2000" b="1">
              <a:latin typeface="Times New Roman" pitchFamily="18" charset="0"/>
            </a:endParaRPr>
          </a:p>
        </p:txBody>
      </p:sp>
      <p:sp>
        <p:nvSpPr>
          <p:cNvPr id="43050" name="AutoShape 43"/>
          <p:cNvSpPr>
            <a:spLocks noChangeArrowheads="1"/>
          </p:cNvSpPr>
          <p:nvPr/>
        </p:nvSpPr>
        <p:spPr bwMode="auto">
          <a:xfrm>
            <a:off x="6781800" y="4648200"/>
            <a:ext cx="1295400" cy="990600"/>
          </a:xfrm>
          <a:prstGeom prst="can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43051" name="Text Box 44"/>
          <p:cNvSpPr txBox="1">
            <a:spLocks noChangeArrowheads="1"/>
          </p:cNvSpPr>
          <p:nvPr/>
        </p:nvSpPr>
        <p:spPr bwMode="auto">
          <a:xfrm>
            <a:off x="6629400" y="4708525"/>
            <a:ext cx="1676400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>
                <a:latin typeface="Times New Roman" pitchFamily="18" charset="0"/>
              </a:rPr>
              <a:t>分库</a:t>
            </a:r>
            <a:r>
              <a:rPr lang="en-US" altLang="zh-CN" sz="2000">
                <a:latin typeface="Times New Roman" pitchFamily="18" charset="0"/>
              </a:rPr>
              <a:t>4</a:t>
            </a:r>
            <a:endParaRPr lang="en-US" altLang="zh-CN" sz="2000" b="1">
              <a:latin typeface="Times New Roman" pitchFamily="18" charset="0"/>
            </a:endParaRPr>
          </a:p>
        </p:txBody>
      </p:sp>
      <p:sp>
        <p:nvSpPr>
          <p:cNvPr id="43052" name="Line 45"/>
          <p:cNvSpPr>
            <a:spLocks noChangeShapeType="1"/>
          </p:cNvSpPr>
          <p:nvPr/>
        </p:nvSpPr>
        <p:spPr bwMode="auto">
          <a:xfrm>
            <a:off x="8305800" y="2438400"/>
            <a:ext cx="0" cy="3200400"/>
          </a:xfrm>
          <a:prstGeom prst="line">
            <a:avLst/>
          </a:prstGeom>
          <a:noFill/>
          <a:ln w="63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053" name="Line 46"/>
          <p:cNvSpPr>
            <a:spLocks noChangeShapeType="1"/>
          </p:cNvSpPr>
          <p:nvPr/>
        </p:nvSpPr>
        <p:spPr bwMode="auto">
          <a:xfrm>
            <a:off x="6477000" y="2438400"/>
            <a:ext cx="0" cy="3200400"/>
          </a:xfrm>
          <a:prstGeom prst="line">
            <a:avLst/>
          </a:prstGeom>
          <a:noFill/>
          <a:ln w="63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054" name="Line 47"/>
          <p:cNvSpPr>
            <a:spLocks noChangeShapeType="1"/>
          </p:cNvSpPr>
          <p:nvPr/>
        </p:nvSpPr>
        <p:spPr bwMode="auto">
          <a:xfrm>
            <a:off x="4648200" y="2438400"/>
            <a:ext cx="0" cy="3276600"/>
          </a:xfrm>
          <a:prstGeom prst="line">
            <a:avLst/>
          </a:prstGeom>
          <a:noFill/>
          <a:ln w="63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055" name="Line 48"/>
          <p:cNvSpPr>
            <a:spLocks noChangeShapeType="1"/>
          </p:cNvSpPr>
          <p:nvPr/>
        </p:nvSpPr>
        <p:spPr bwMode="auto">
          <a:xfrm>
            <a:off x="2819400" y="2438400"/>
            <a:ext cx="0" cy="3352800"/>
          </a:xfrm>
          <a:prstGeom prst="line">
            <a:avLst/>
          </a:prstGeom>
          <a:noFill/>
          <a:ln w="63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056" name="Line 49"/>
          <p:cNvSpPr>
            <a:spLocks noChangeShapeType="1"/>
          </p:cNvSpPr>
          <p:nvPr/>
        </p:nvSpPr>
        <p:spPr bwMode="auto">
          <a:xfrm>
            <a:off x="990600" y="2438400"/>
            <a:ext cx="0" cy="3276600"/>
          </a:xfrm>
          <a:prstGeom prst="line">
            <a:avLst/>
          </a:prstGeom>
          <a:noFill/>
          <a:ln w="63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AutoShape 2"/>
          <p:cNvSpPr>
            <a:spLocks noChangeArrowheads="1"/>
          </p:cNvSpPr>
          <p:nvPr/>
        </p:nvSpPr>
        <p:spPr bwMode="auto">
          <a:xfrm>
            <a:off x="4724400" y="3352800"/>
            <a:ext cx="762000" cy="990600"/>
          </a:xfrm>
          <a:prstGeom prst="can">
            <a:avLst>
              <a:gd name="adj" fmla="val 65000"/>
            </a:avLst>
          </a:prstGeom>
          <a:solidFill>
            <a:srgbClr val="FF0000">
              <a:alpha val="59999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44034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ea typeface="微软雅黑"/>
                <a:cs typeface="微软雅黑"/>
              </a:rPr>
              <a:t>路由算法</a:t>
            </a:r>
            <a:r>
              <a:rPr lang="en-US" altLang="zh-CN" smtClean="0">
                <a:latin typeface="微软雅黑"/>
                <a:ea typeface="微软雅黑"/>
                <a:cs typeface="微软雅黑"/>
              </a:rPr>
              <a:t>——</a:t>
            </a:r>
            <a:r>
              <a:rPr lang="zh-CN" altLang="en-US" smtClean="0">
                <a:ea typeface="微软雅黑"/>
                <a:cs typeface="微软雅黑"/>
              </a:rPr>
              <a:t>扩容</a:t>
            </a:r>
          </a:p>
        </p:txBody>
      </p:sp>
      <p:sp>
        <p:nvSpPr>
          <p:cNvPr id="44035" name="Text Box 4"/>
          <p:cNvSpPr txBox="1">
            <a:spLocks noChangeArrowheads="1"/>
          </p:cNvSpPr>
          <p:nvPr/>
        </p:nvSpPr>
        <p:spPr bwMode="auto">
          <a:xfrm>
            <a:off x="533400" y="1676400"/>
            <a:ext cx="7086600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>
                <a:solidFill>
                  <a:schemeClr val="bg2"/>
                </a:solidFill>
                <a:latin typeface="Courier New" pitchFamily="49" charset="0"/>
              </a:rPr>
              <a:t>hash(pavarott) =</a:t>
            </a:r>
            <a:r>
              <a:rPr lang="en-US" altLang="zh-CN" sz="2000">
                <a:latin typeface="Courier New" pitchFamily="49" charset="0"/>
              </a:rPr>
              <a:t> </a:t>
            </a:r>
            <a:r>
              <a:rPr lang="en-US" altLang="zh-CN" sz="2000" b="1">
                <a:latin typeface="Courier New" pitchFamily="49" charset="0"/>
              </a:rPr>
              <a:t>3170972965401 % 1024 = </a:t>
            </a:r>
            <a:r>
              <a:rPr lang="en-US" altLang="zh-CN" sz="2000" b="1">
                <a:solidFill>
                  <a:srgbClr val="FF0000"/>
                </a:solidFill>
                <a:latin typeface="Courier New" pitchFamily="49" charset="0"/>
              </a:rPr>
              <a:t>537</a:t>
            </a:r>
          </a:p>
        </p:txBody>
      </p:sp>
      <p:sp>
        <p:nvSpPr>
          <p:cNvPr id="44036" name="Line 5"/>
          <p:cNvSpPr>
            <a:spLocks noChangeShapeType="1"/>
          </p:cNvSpPr>
          <p:nvPr/>
        </p:nvSpPr>
        <p:spPr bwMode="auto">
          <a:xfrm>
            <a:off x="990600" y="2895600"/>
            <a:ext cx="7315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37" name="Text Box 6"/>
          <p:cNvSpPr txBox="1">
            <a:spLocks noChangeArrowheads="1"/>
          </p:cNvSpPr>
          <p:nvPr/>
        </p:nvSpPr>
        <p:spPr bwMode="auto">
          <a:xfrm>
            <a:off x="914400" y="2514600"/>
            <a:ext cx="198120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600">
                <a:solidFill>
                  <a:schemeClr val="bg2"/>
                </a:solidFill>
                <a:latin typeface="Times New Roman" pitchFamily="18" charset="0"/>
              </a:rPr>
              <a:t>0         127 128    255</a:t>
            </a:r>
            <a:endParaRPr lang="en-US" altLang="zh-CN" sz="1600" b="1">
              <a:solidFill>
                <a:schemeClr val="bg2"/>
              </a:solidFill>
              <a:latin typeface="Times New Roman" pitchFamily="18" charset="0"/>
            </a:endParaRPr>
          </a:p>
        </p:txBody>
      </p:sp>
      <p:sp>
        <p:nvSpPr>
          <p:cNvPr id="44038" name="Text Box 7"/>
          <p:cNvSpPr txBox="1">
            <a:spLocks noChangeArrowheads="1"/>
          </p:cNvSpPr>
          <p:nvPr/>
        </p:nvSpPr>
        <p:spPr bwMode="auto">
          <a:xfrm>
            <a:off x="2743200" y="2514600"/>
            <a:ext cx="198120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600">
                <a:solidFill>
                  <a:schemeClr val="bg2"/>
                </a:solidFill>
                <a:latin typeface="Times New Roman" pitchFamily="18" charset="0"/>
              </a:rPr>
              <a:t>256     383  384    511</a:t>
            </a:r>
            <a:endParaRPr lang="en-US" altLang="zh-CN" sz="1600" b="1">
              <a:solidFill>
                <a:schemeClr val="bg2"/>
              </a:solidFill>
              <a:latin typeface="Times New Roman" pitchFamily="18" charset="0"/>
            </a:endParaRPr>
          </a:p>
        </p:txBody>
      </p:sp>
      <p:sp>
        <p:nvSpPr>
          <p:cNvPr id="44039" name="Text Box 8"/>
          <p:cNvSpPr txBox="1">
            <a:spLocks noChangeArrowheads="1"/>
          </p:cNvSpPr>
          <p:nvPr/>
        </p:nvSpPr>
        <p:spPr bwMode="auto">
          <a:xfrm>
            <a:off x="4572000" y="2514600"/>
            <a:ext cx="198120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600">
                <a:solidFill>
                  <a:schemeClr val="bg2"/>
                </a:solidFill>
                <a:latin typeface="Times New Roman" pitchFamily="18" charset="0"/>
              </a:rPr>
              <a:t>512     639 640    767</a:t>
            </a:r>
            <a:endParaRPr lang="en-US" altLang="zh-CN" sz="1600" b="1">
              <a:solidFill>
                <a:schemeClr val="bg2"/>
              </a:solidFill>
              <a:latin typeface="Times New Roman" pitchFamily="18" charset="0"/>
            </a:endParaRPr>
          </a:p>
        </p:txBody>
      </p:sp>
      <p:sp>
        <p:nvSpPr>
          <p:cNvPr id="44040" name="Text Box 9"/>
          <p:cNvSpPr txBox="1">
            <a:spLocks noChangeArrowheads="1"/>
          </p:cNvSpPr>
          <p:nvPr/>
        </p:nvSpPr>
        <p:spPr bwMode="auto">
          <a:xfrm>
            <a:off x="6400800" y="2514600"/>
            <a:ext cx="198120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600">
                <a:solidFill>
                  <a:schemeClr val="bg2"/>
                </a:solidFill>
                <a:latin typeface="Times New Roman" pitchFamily="18" charset="0"/>
              </a:rPr>
              <a:t>768      895 896  1023</a:t>
            </a:r>
            <a:endParaRPr lang="en-US" altLang="zh-CN" sz="1600" b="1">
              <a:solidFill>
                <a:schemeClr val="bg2"/>
              </a:solidFill>
              <a:latin typeface="Times New Roman" pitchFamily="18" charset="0"/>
            </a:endParaRPr>
          </a:p>
        </p:txBody>
      </p:sp>
      <p:sp>
        <p:nvSpPr>
          <p:cNvPr id="44041" name="Text Box 10"/>
          <p:cNvSpPr txBox="1">
            <a:spLocks noChangeArrowheads="1"/>
          </p:cNvSpPr>
          <p:nvPr/>
        </p:nvSpPr>
        <p:spPr bwMode="auto">
          <a:xfrm>
            <a:off x="1219200" y="2971800"/>
            <a:ext cx="53340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600">
                <a:latin typeface="Times New Roman" pitchFamily="18" charset="0"/>
              </a:rPr>
              <a:t>128</a:t>
            </a:r>
            <a:endParaRPr lang="en-US" altLang="zh-CN" sz="1600" b="1">
              <a:latin typeface="Times New Roman" pitchFamily="18" charset="0"/>
            </a:endParaRPr>
          </a:p>
        </p:txBody>
      </p:sp>
      <p:sp>
        <p:nvSpPr>
          <p:cNvPr id="44042" name="Line 11"/>
          <p:cNvSpPr>
            <a:spLocks noChangeShapeType="1"/>
          </p:cNvSpPr>
          <p:nvPr/>
        </p:nvSpPr>
        <p:spPr bwMode="auto">
          <a:xfrm flipH="1">
            <a:off x="990600" y="3155950"/>
            <a:ext cx="304800" cy="0"/>
          </a:xfrm>
          <a:prstGeom prst="line">
            <a:avLst/>
          </a:prstGeom>
          <a:noFill/>
          <a:ln w="3175">
            <a:solidFill>
              <a:schemeClr val="bg2"/>
            </a:solidFill>
            <a:prstDash val="dash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43" name="Line 12"/>
          <p:cNvSpPr>
            <a:spLocks noChangeShapeType="1"/>
          </p:cNvSpPr>
          <p:nvPr/>
        </p:nvSpPr>
        <p:spPr bwMode="auto">
          <a:xfrm>
            <a:off x="1676400" y="3155950"/>
            <a:ext cx="228600" cy="0"/>
          </a:xfrm>
          <a:prstGeom prst="line">
            <a:avLst/>
          </a:prstGeom>
          <a:noFill/>
          <a:ln w="3175">
            <a:solidFill>
              <a:schemeClr val="bg2"/>
            </a:solidFill>
            <a:prstDash val="dash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44" name="Line 13"/>
          <p:cNvSpPr>
            <a:spLocks noChangeShapeType="1"/>
          </p:cNvSpPr>
          <p:nvPr/>
        </p:nvSpPr>
        <p:spPr bwMode="auto">
          <a:xfrm>
            <a:off x="1905000" y="2438400"/>
            <a:ext cx="0" cy="2133600"/>
          </a:xfrm>
          <a:prstGeom prst="line">
            <a:avLst/>
          </a:prstGeom>
          <a:noFill/>
          <a:ln w="63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45" name="Text Box 14"/>
          <p:cNvSpPr txBox="1">
            <a:spLocks noChangeArrowheads="1"/>
          </p:cNvSpPr>
          <p:nvPr/>
        </p:nvSpPr>
        <p:spPr bwMode="auto">
          <a:xfrm>
            <a:off x="2133600" y="2971800"/>
            <a:ext cx="53340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600">
                <a:latin typeface="Times New Roman" pitchFamily="18" charset="0"/>
              </a:rPr>
              <a:t>128</a:t>
            </a:r>
            <a:endParaRPr lang="en-US" altLang="zh-CN" sz="1600" b="1">
              <a:latin typeface="Times New Roman" pitchFamily="18" charset="0"/>
            </a:endParaRPr>
          </a:p>
        </p:txBody>
      </p:sp>
      <p:sp>
        <p:nvSpPr>
          <p:cNvPr id="44046" name="Line 15"/>
          <p:cNvSpPr>
            <a:spLocks noChangeShapeType="1"/>
          </p:cNvSpPr>
          <p:nvPr/>
        </p:nvSpPr>
        <p:spPr bwMode="auto">
          <a:xfrm flipH="1">
            <a:off x="1905000" y="3155950"/>
            <a:ext cx="304800" cy="0"/>
          </a:xfrm>
          <a:prstGeom prst="line">
            <a:avLst/>
          </a:prstGeom>
          <a:noFill/>
          <a:ln w="3175">
            <a:solidFill>
              <a:schemeClr val="bg2"/>
            </a:solidFill>
            <a:prstDash val="dash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47" name="Line 16"/>
          <p:cNvSpPr>
            <a:spLocks noChangeShapeType="1"/>
          </p:cNvSpPr>
          <p:nvPr/>
        </p:nvSpPr>
        <p:spPr bwMode="auto">
          <a:xfrm>
            <a:off x="2590800" y="3155950"/>
            <a:ext cx="228600" cy="0"/>
          </a:xfrm>
          <a:prstGeom prst="line">
            <a:avLst/>
          </a:prstGeom>
          <a:noFill/>
          <a:ln w="3175">
            <a:solidFill>
              <a:schemeClr val="bg2"/>
            </a:solidFill>
            <a:prstDash val="dash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48" name="Line 17"/>
          <p:cNvSpPr>
            <a:spLocks noChangeShapeType="1"/>
          </p:cNvSpPr>
          <p:nvPr/>
        </p:nvSpPr>
        <p:spPr bwMode="auto">
          <a:xfrm>
            <a:off x="3733800" y="2438400"/>
            <a:ext cx="0" cy="2133600"/>
          </a:xfrm>
          <a:prstGeom prst="line">
            <a:avLst/>
          </a:prstGeom>
          <a:noFill/>
          <a:ln w="63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49" name="Line 18"/>
          <p:cNvSpPr>
            <a:spLocks noChangeShapeType="1"/>
          </p:cNvSpPr>
          <p:nvPr/>
        </p:nvSpPr>
        <p:spPr bwMode="auto">
          <a:xfrm>
            <a:off x="5562600" y="2438400"/>
            <a:ext cx="0" cy="2133600"/>
          </a:xfrm>
          <a:prstGeom prst="line">
            <a:avLst/>
          </a:prstGeom>
          <a:noFill/>
          <a:ln w="63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50" name="Line 19"/>
          <p:cNvSpPr>
            <a:spLocks noChangeShapeType="1"/>
          </p:cNvSpPr>
          <p:nvPr/>
        </p:nvSpPr>
        <p:spPr bwMode="auto">
          <a:xfrm>
            <a:off x="7391400" y="2438400"/>
            <a:ext cx="0" cy="2133600"/>
          </a:xfrm>
          <a:prstGeom prst="line">
            <a:avLst/>
          </a:prstGeom>
          <a:noFill/>
          <a:ln w="63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51" name="Text Box 20"/>
          <p:cNvSpPr txBox="1">
            <a:spLocks noChangeArrowheads="1"/>
          </p:cNvSpPr>
          <p:nvPr/>
        </p:nvSpPr>
        <p:spPr bwMode="auto">
          <a:xfrm>
            <a:off x="3048000" y="2971800"/>
            <a:ext cx="53340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600">
                <a:latin typeface="Times New Roman" pitchFamily="18" charset="0"/>
              </a:rPr>
              <a:t>128</a:t>
            </a:r>
            <a:endParaRPr lang="en-US" altLang="zh-CN" sz="1600" b="1">
              <a:latin typeface="Times New Roman" pitchFamily="18" charset="0"/>
            </a:endParaRPr>
          </a:p>
        </p:txBody>
      </p:sp>
      <p:sp>
        <p:nvSpPr>
          <p:cNvPr id="44052" name="Line 21"/>
          <p:cNvSpPr>
            <a:spLocks noChangeShapeType="1"/>
          </p:cNvSpPr>
          <p:nvPr/>
        </p:nvSpPr>
        <p:spPr bwMode="auto">
          <a:xfrm flipH="1">
            <a:off x="2819400" y="3155950"/>
            <a:ext cx="304800" cy="0"/>
          </a:xfrm>
          <a:prstGeom prst="line">
            <a:avLst/>
          </a:prstGeom>
          <a:noFill/>
          <a:ln w="3175">
            <a:solidFill>
              <a:schemeClr val="bg2"/>
            </a:solidFill>
            <a:prstDash val="dash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53" name="Line 22"/>
          <p:cNvSpPr>
            <a:spLocks noChangeShapeType="1"/>
          </p:cNvSpPr>
          <p:nvPr/>
        </p:nvSpPr>
        <p:spPr bwMode="auto">
          <a:xfrm>
            <a:off x="3505200" y="3155950"/>
            <a:ext cx="228600" cy="0"/>
          </a:xfrm>
          <a:prstGeom prst="line">
            <a:avLst/>
          </a:prstGeom>
          <a:noFill/>
          <a:ln w="3175">
            <a:solidFill>
              <a:schemeClr val="bg2"/>
            </a:solidFill>
            <a:prstDash val="dash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54" name="Text Box 23"/>
          <p:cNvSpPr txBox="1">
            <a:spLocks noChangeArrowheads="1"/>
          </p:cNvSpPr>
          <p:nvPr/>
        </p:nvSpPr>
        <p:spPr bwMode="auto">
          <a:xfrm>
            <a:off x="3962400" y="2971800"/>
            <a:ext cx="53340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600">
                <a:latin typeface="Times New Roman" pitchFamily="18" charset="0"/>
              </a:rPr>
              <a:t>128</a:t>
            </a:r>
            <a:endParaRPr lang="en-US" altLang="zh-CN" sz="1600" b="1">
              <a:latin typeface="Times New Roman" pitchFamily="18" charset="0"/>
            </a:endParaRPr>
          </a:p>
        </p:txBody>
      </p:sp>
      <p:sp>
        <p:nvSpPr>
          <p:cNvPr id="44055" name="Line 24"/>
          <p:cNvSpPr>
            <a:spLocks noChangeShapeType="1"/>
          </p:cNvSpPr>
          <p:nvPr/>
        </p:nvSpPr>
        <p:spPr bwMode="auto">
          <a:xfrm flipH="1">
            <a:off x="3733800" y="3155950"/>
            <a:ext cx="304800" cy="0"/>
          </a:xfrm>
          <a:prstGeom prst="line">
            <a:avLst/>
          </a:prstGeom>
          <a:noFill/>
          <a:ln w="3175">
            <a:solidFill>
              <a:schemeClr val="bg2"/>
            </a:solidFill>
            <a:prstDash val="dash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56" name="Line 25"/>
          <p:cNvSpPr>
            <a:spLocks noChangeShapeType="1"/>
          </p:cNvSpPr>
          <p:nvPr/>
        </p:nvSpPr>
        <p:spPr bwMode="auto">
          <a:xfrm>
            <a:off x="4419600" y="3155950"/>
            <a:ext cx="228600" cy="0"/>
          </a:xfrm>
          <a:prstGeom prst="line">
            <a:avLst/>
          </a:prstGeom>
          <a:noFill/>
          <a:ln w="3175">
            <a:solidFill>
              <a:schemeClr val="bg2"/>
            </a:solidFill>
            <a:prstDash val="dash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57" name="Text Box 26"/>
          <p:cNvSpPr txBox="1">
            <a:spLocks noChangeArrowheads="1"/>
          </p:cNvSpPr>
          <p:nvPr/>
        </p:nvSpPr>
        <p:spPr bwMode="auto">
          <a:xfrm>
            <a:off x="4876800" y="2971800"/>
            <a:ext cx="53340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600">
                <a:latin typeface="Times New Roman" pitchFamily="18" charset="0"/>
              </a:rPr>
              <a:t>128</a:t>
            </a:r>
            <a:endParaRPr lang="en-US" altLang="zh-CN" sz="1600" b="1">
              <a:latin typeface="Times New Roman" pitchFamily="18" charset="0"/>
            </a:endParaRPr>
          </a:p>
        </p:txBody>
      </p:sp>
      <p:sp>
        <p:nvSpPr>
          <p:cNvPr id="44058" name="Line 27"/>
          <p:cNvSpPr>
            <a:spLocks noChangeShapeType="1"/>
          </p:cNvSpPr>
          <p:nvPr/>
        </p:nvSpPr>
        <p:spPr bwMode="auto">
          <a:xfrm flipH="1">
            <a:off x="4648200" y="3155950"/>
            <a:ext cx="304800" cy="0"/>
          </a:xfrm>
          <a:prstGeom prst="line">
            <a:avLst/>
          </a:prstGeom>
          <a:noFill/>
          <a:ln w="3175">
            <a:solidFill>
              <a:schemeClr val="bg2"/>
            </a:solidFill>
            <a:prstDash val="dash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59" name="Line 28"/>
          <p:cNvSpPr>
            <a:spLocks noChangeShapeType="1"/>
          </p:cNvSpPr>
          <p:nvPr/>
        </p:nvSpPr>
        <p:spPr bwMode="auto">
          <a:xfrm>
            <a:off x="5334000" y="3155950"/>
            <a:ext cx="228600" cy="0"/>
          </a:xfrm>
          <a:prstGeom prst="line">
            <a:avLst/>
          </a:prstGeom>
          <a:noFill/>
          <a:ln w="3175">
            <a:solidFill>
              <a:schemeClr val="bg2"/>
            </a:solidFill>
            <a:prstDash val="dash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60" name="Text Box 29"/>
          <p:cNvSpPr txBox="1">
            <a:spLocks noChangeArrowheads="1"/>
          </p:cNvSpPr>
          <p:nvPr/>
        </p:nvSpPr>
        <p:spPr bwMode="auto">
          <a:xfrm>
            <a:off x="5791200" y="2971800"/>
            <a:ext cx="53340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600">
                <a:latin typeface="Times New Roman" pitchFamily="18" charset="0"/>
              </a:rPr>
              <a:t>128</a:t>
            </a:r>
            <a:endParaRPr lang="en-US" altLang="zh-CN" sz="1600" b="1">
              <a:latin typeface="Times New Roman" pitchFamily="18" charset="0"/>
            </a:endParaRPr>
          </a:p>
        </p:txBody>
      </p:sp>
      <p:sp>
        <p:nvSpPr>
          <p:cNvPr id="44061" name="Line 30"/>
          <p:cNvSpPr>
            <a:spLocks noChangeShapeType="1"/>
          </p:cNvSpPr>
          <p:nvPr/>
        </p:nvSpPr>
        <p:spPr bwMode="auto">
          <a:xfrm flipH="1">
            <a:off x="5562600" y="3155950"/>
            <a:ext cx="304800" cy="0"/>
          </a:xfrm>
          <a:prstGeom prst="line">
            <a:avLst/>
          </a:prstGeom>
          <a:noFill/>
          <a:ln w="3175">
            <a:solidFill>
              <a:schemeClr val="bg2"/>
            </a:solidFill>
            <a:prstDash val="dash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62" name="Line 31"/>
          <p:cNvSpPr>
            <a:spLocks noChangeShapeType="1"/>
          </p:cNvSpPr>
          <p:nvPr/>
        </p:nvSpPr>
        <p:spPr bwMode="auto">
          <a:xfrm>
            <a:off x="6248400" y="3155950"/>
            <a:ext cx="228600" cy="0"/>
          </a:xfrm>
          <a:prstGeom prst="line">
            <a:avLst/>
          </a:prstGeom>
          <a:noFill/>
          <a:ln w="3175">
            <a:solidFill>
              <a:schemeClr val="bg2"/>
            </a:solidFill>
            <a:prstDash val="dash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63" name="Text Box 32"/>
          <p:cNvSpPr txBox="1">
            <a:spLocks noChangeArrowheads="1"/>
          </p:cNvSpPr>
          <p:nvPr/>
        </p:nvSpPr>
        <p:spPr bwMode="auto">
          <a:xfrm>
            <a:off x="6705600" y="2971800"/>
            <a:ext cx="53340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600">
                <a:latin typeface="Times New Roman" pitchFamily="18" charset="0"/>
              </a:rPr>
              <a:t>128</a:t>
            </a:r>
            <a:endParaRPr lang="en-US" altLang="zh-CN" sz="1600" b="1">
              <a:latin typeface="Times New Roman" pitchFamily="18" charset="0"/>
            </a:endParaRPr>
          </a:p>
        </p:txBody>
      </p:sp>
      <p:sp>
        <p:nvSpPr>
          <p:cNvPr id="44064" name="Line 33"/>
          <p:cNvSpPr>
            <a:spLocks noChangeShapeType="1"/>
          </p:cNvSpPr>
          <p:nvPr/>
        </p:nvSpPr>
        <p:spPr bwMode="auto">
          <a:xfrm flipH="1">
            <a:off x="6477000" y="3155950"/>
            <a:ext cx="304800" cy="0"/>
          </a:xfrm>
          <a:prstGeom prst="line">
            <a:avLst/>
          </a:prstGeom>
          <a:noFill/>
          <a:ln w="3175">
            <a:solidFill>
              <a:schemeClr val="bg2"/>
            </a:solidFill>
            <a:prstDash val="dash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65" name="Line 34"/>
          <p:cNvSpPr>
            <a:spLocks noChangeShapeType="1"/>
          </p:cNvSpPr>
          <p:nvPr/>
        </p:nvSpPr>
        <p:spPr bwMode="auto">
          <a:xfrm>
            <a:off x="7162800" y="3155950"/>
            <a:ext cx="228600" cy="0"/>
          </a:xfrm>
          <a:prstGeom prst="line">
            <a:avLst/>
          </a:prstGeom>
          <a:noFill/>
          <a:ln w="3175">
            <a:solidFill>
              <a:schemeClr val="bg2"/>
            </a:solidFill>
            <a:prstDash val="dash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66" name="Text Box 35"/>
          <p:cNvSpPr txBox="1">
            <a:spLocks noChangeArrowheads="1"/>
          </p:cNvSpPr>
          <p:nvPr/>
        </p:nvSpPr>
        <p:spPr bwMode="auto">
          <a:xfrm>
            <a:off x="7620000" y="2971800"/>
            <a:ext cx="53340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600">
                <a:latin typeface="Times New Roman" pitchFamily="18" charset="0"/>
              </a:rPr>
              <a:t>128</a:t>
            </a:r>
            <a:endParaRPr lang="en-US" altLang="zh-CN" sz="1600" b="1">
              <a:latin typeface="Times New Roman" pitchFamily="18" charset="0"/>
            </a:endParaRPr>
          </a:p>
        </p:txBody>
      </p:sp>
      <p:sp>
        <p:nvSpPr>
          <p:cNvPr id="44067" name="Line 36"/>
          <p:cNvSpPr>
            <a:spLocks noChangeShapeType="1"/>
          </p:cNvSpPr>
          <p:nvPr/>
        </p:nvSpPr>
        <p:spPr bwMode="auto">
          <a:xfrm flipH="1">
            <a:off x="7391400" y="3155950"/>
            <a:ext cx="304800" cy="0"/>
          </a:xfrm>
          <a:prstGeom prst="line">
            <a:avLst/>
          </a:prstGeom>
          <a:noFill/>
          <a:ln w="3175">
            <a:solidFill>
              <a:schemeClr val="bg2"/>
            </a:solidFill>
            <a:prstDash val="dash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68" name="Line 37"/>
          <p:cNvSpPr>
            <a:spLocks noChangeShapeType="1"/>
          </p:cNvSpPr>
          <p:nvPr/>
        </p:nvSpPr>
        <p:spPr bwMode="auto">
          <a:xfrm>
            <a:off x="8077200" y="3155950"/>
            <a:ext cx="228600" cy="0"/>
          </a:xfrm>
          <a:prstGeom prst="line">
            <a:avLst/>
          </a:prstGeom>
          <a:noFill/>
          <a:ln w="3175">
            <a:solidFill>
              <a:schemeClr val="bg2"/>
            </a:solidFill>
            <a:prstDash val="dash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69" name="Line 38"/>
          <p:cNvSpPr>
            <a:spLocks noChangeShapeType="1"/>
          </p:cNvSpPr>
          <p:nvPr/>
        </p:nvSpPr>
        <p:spPr bwMode="auto">
          <a:xfrm>
            <a:off x="8305800" y="2438400"/>
            <a:ext cx="0" cy="3200400"/>
          </a:xfrm>
          <a:prstGeom prst="line">
            <a:avLst/>
          </a:prstGeom>
          <a:noFill/>
          <a:ln w="63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70" name="Line 39"/>
          <p:cNvSpPr>
            <a:spLocks noChangeShapeType="1"/>
          </p:cNvSpPr>
          <p:nvPr/>
        </p:nvSpPr>
        <p:spPr bwMode="auto">
          <a:xfrm>
            <a:off x="6477000" y="2438400"/>
            <a:ext cx="0" cy="3200400"/>
          </a:xfrm>
          <a:prstGeom prst="line">
            <a:avLst/>
          </a:prstGeom>
          <a:noFill/>
          <a:ln w="63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71" name="Line 40"/>
          <p:cNvSpPr>
            <a:spLocks noChangeShapeType="1"/>
          </p:cNvSpPr>
          <p:nvPr/>
        </p:nvSpPr>
        <p:spPr bwMode="auto">
          <a:xfrm>
            <a:off x="4648200" y="2438400"/>
            <a:ext cx="0" cy="3276600"/>
          </a:xfrm>
          <a:prstGeom prst="line">
            <a:avLst/>
          </a:prstGeom>
          <a:noFill/>
          <a:ln w="63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72" name="Line 41"/>
          <p:cNvSpPr>
            <a:spLocks noChangeShapeType="1"/>
          </p:cNvSpPr>
          <p:nvPr/>
        </p:nvSpPr>
        <p:spPr bwMode="auto">
          <a:xfrm>
            <a:off x="2819400" y="2438400"/>
            <a:ext cx="0" cy="3352800"/>
          </a:xfrm>
          <a:prstGeom prst="line">
            <a:avLst/>
          </a:prstGeom>
          <a:noFill/>
          <a:ln w="63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73" name="Line 42"/>
          <p:cNvSpPr>
            <a:spLocks noChangeShapeType="1"/>
          </p:cNvSpPr>
          <p:nvPr/>
        </p:nvSpPr>
        <p:spPr bwMode="auto">
          <a:xfrm>
            <a:off x="990600" y="2438400"/>
            <a:ext cx="0" cy="3276600"/>
          </a:xfrm>
          <a:prstGeom prst="line">
            <a:avLst/>
          </a:prstGeom>
          <a:noFill/>
          <a:ln w="63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74" name="AutoShape 43"/>
          <p:cNvSpPr>
            <a:spLocks noChangeArrowheads="1"/>
          </p:cNvSpPr>
          <p:nvPr/>
        </p:nvSpPr>
        <p:spPr bwMode="auto">
          <a:xfrm>
            <a:off x="1066800" y="3352800"/>
            <a:ext cx="762000" cy="990600"/>
          </a:xfrm>
          <a:prstGeom prst="can">
            <a:avLst>
              <a:gd name="adj" fmla="val 6500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44075" name="Text Box 44"/>
          <p:cNvSpPr txBox="1">
            <a:spLocks noChangeArrowheads="1"/>
          </p:cNvSpPr>
          <p:nvPr/>
        </p:nvSpPr>
        <p:spPr bwMode="auto">
          <a:xfrm>
            <a:off x="1066800" y="3413125"/>
            <a:ext cx="76200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1600">
                <a:latin typeface="Times New Roman" pitchFamily="18" charset="0"/>
              </a:rPr>
              <a:t>分库</a:t>
            </a:r>
            <a:r>
              <a:rPr lang="en-US" altLang="zh-CN" sz="1600">
                <a:latin typeface="Times New Roman" pitchFamily="18" charset="0"/>
              </a:rPr>
              <a:t>1</a:t>
            </a:r>
            <a:endParaRPr lang="en-US" altLang="zh-CN" sz="1600" b="1">
              <a:latin typeface="Times New Roman" pitchFamily="18" charset="0"/>
            </a:endParaRPr>
          </a:p>
        </p:txBody>
      </p:sp>
      <p:sp>
        <p:nvSpPr>
          <p:cNvPr id="44076" name="AutoShape 45"/>
          <p:cNvSpPr>
            <a:spLocks noChangeArrowheads="1"/>
          </p:cNvSpPr>
          <p:nvPr/>
        </p:nvSpPr>
        <p:spPr bwMode="auto">
          <a:xfrm>
            <a:off x="1981200" y="3352800"/>
            <a:ext cx="762000" cy="990600"/>
          </a:xfrm>
          <a:prstGeom prst="can">
            <a:avLst>
              <a:gd name="adj" fmla="val 6500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44077" name="Text Box 46"/>
          <p:cNvSpPr txBox="1">
            <a:spLocks noChangeArrowheads="1"/>
          </p:cNvSpPr>
          <p:nvPr/>
        </p:nvSpPr>
        <p:spPr bwMode="auto">
          <a:xfrm>
            <a:off x="1981200" y="3413125"/>
            <a:ext cx="76200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1600">
                <a:latin typeface="Times New Roman" pitchFamily="18" charset="0"/>
              </a:rPr>
              <a:t>分库</a:t>
            </a:r>
            <a:r>
              <a:rPr lang="en-US" altLang="zh-CN" sz="1600">
                <a:latin typeface="Times New Roman" pitchFamily="18" charset="0"/>
              </a:rPr>
              <a:t>2</a:t>
            </a:r>
            <a:endParaRPr lang="en-US" altLang="zh-CN" sz="1600" b="1">
              <a:latin typeface="Times New Roman" pitchFamily="18" charset="0"/>
            </a:endParaRPr>
          </a:p>
        </p:txBody>
      </p:sp>
      <p:sp>
        <p:nvSpPr>
          <p:cNvPr id="44078" name="AutoShape 47"/>
          <p:cNvSpPr>
            <a:spLocks noChangeArrowheads="1"/>
          </p:cNvSpPr>
          <p:nvPr/>
        </p:nvSpPr>
        <p:spPr bwMode="auto">
          <a:xfrm>
            <a:off x="2895600" y="3352800"/>
            <a:ext cx="762000" cy="990600"/>
          </a:xfrm>
          <a:prstGeom prst="can">
            <a:avLst>
              <a:gd name="adj" fmla="val 6500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44079" name="Text Box 48"/>
          <p:cNvSpPr txBox="1">
            <a:spLocks noChangeArrowheads="1"/>
          </p:cNvSpPr>
          <p:nvPr/>
        </p:nvSpPr>
        <p:spPr bwMode="auto">
          <a:xfrm>
            <a:off x="2895600" y="3413125"/>
            <a:ext cx="76200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1600">
                <a:latin typeface="Times New Roman" pitchFamily="18" charset="0"/>
              </a:rPr>
              <a:t>分库</a:t>
            </a:r>
            <a:r>
              <a:rPr lang="en-US" altLang="zh-CN" sz="1600">
                <a:latin typeface="Times New Roman" pitchFamily="18" charset="0"/>
              </a:rPr>
              <a:t>3</a:t>
            </a:r>
            <a:endParaRPr lang="en-US" altLang="zh-CN" sz="1600" b="1">
              <a:latin typeface="Times New Roman" pitchFamily="18" charset="0"/>
            </a:endParaRPr>
          </a:p>
        </p:txBody>
      </p:sp>
      <p:sp>
        <p:nvSpPr>
          <p:cNvPr id="44080" name="AutoShape 49"/>
          <p:cNvSpPr>
            <a:spLocks noChangeArrowheads="1"/>
          </p:cNvSpPr>
          <p:nvPr/>
        </p:nvSpPr>
        <p:spPr bwMode="auto">
          <a:xfrm>
            <a:off x="3810000" y="3352800"/>
            <a:ext cx="762000" cy="990600"/>
          </a:xfrm>
          <a:prstGeom prst="can">
            <a:avLst>
              <a:gd name="adj" fmla="val 6500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44081" name="Text Box 50"/>
          <p:cNvSpPr txBox="1">
            <a:spLocks noChangeArrowheads="1"/>
          </p:cNvSpPr>
          <p:nvPr/>
        </p:nvSpPr>
        <p:spPr bwMode="auto">
          <a:xfrm>
            <a:off x="3810000" y="3413125"/>
            <a:ext cx="76200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1600">
                <a:latin typeface="Times New Roman" pitchFamily="18" charset="0"/>
              </a:rPr>
              <a:t>分库</a:t>
            </a:r>
            <a:r>
              <a:rPr lang="en-US" altLang="zh-CN" sz="1600">
                <a:latin typeface="Times New Roman" pitchFamily="18" charset="0"/>
              </a:rPr>
              <a:t>4</a:t>
            </a:r>
            <a:endParaRPr lang="en-US" altLang="zh-CN" sz="1600" b="1">
              <a:latin typeface="Times New Roman" pitchFamily="18" charset="0"/>
            </a:endParaRPr>
          </a:p>
        </p:txBody>
      </p:sp>
      <p:sp>
        <p:nvSpPr>
          <p:cNvPr id="44082" name="AutoShape 51"/>
          <p:cNvSpPr>
            <a:spLocks noChangeArrowheads="1"/>
          </p:cNvSpPr>
          <p:nvPr/>
        </p:nvSpPr>
        <p:spPr bwMode="auto">
          <a:xfrm>
            <a:off x="7467600" y="3352800"/>
            <a:ext cx="762000" cy="990600"/>
          </a:xfrm>
          <a:prstGeom prst="can">
            <a:avLst>
              <a:gd name="adj" fmla="val 6500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44083" name="Text Box 52"/>
          <p:cNvSpPr txBox="1">
            <a:spLocks noChangeArrowheads="1"/>
          </p:cNvSpPr>
          <p:nvPr/>
        </p:nvSpPr>
        <p:spPr bwMode="auto">
          <a:xfrm>
            <a:off x="4724400" y="3413125"/>
            <a:ext cx="76200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1600">
                <a:latin typeface="Times New Roman" pitchFamily="18" charset="0"/>
              </a:rPr>
              <a:t>分库</a:t>
            </a:r>
            <a:r>
              <a:rPr lang="en-US" altLang="zh-CN" sz="1600">
                <a:latin typeface="Times New Roman" pitchFamily="18" charset="0"/>
              </a:rPr>
              <a:t>5</a:t>
            </a:r>
            <a:endParaRPr lang="en-US" altLang="zh-CN" sz="1600" b="1">
              <a:latin typeface="Times New Roman" pitchFamily="18" charset="0"/>
            </a:endParaRPr>
          </a:p>
        </p:txBody>
      </p:sp>
      <p:sp>
        <p:nvSpPr>
          <p:cNvPr id="44084" name="AutoShape 53"/>
          <p:cNvSpPr>
            <a:spLocks noChangeArrowheads="1"/>
          </p:cNvSpPr>
          <p:nvPr/>
        </p:nvSpPr>
        <p:spPr bwMode="auto">
          <a:xfrm>
            <a:off x="5638800" y="3352800"/>
            <a:ext cx="762000" cy="990600"/>
          </a:xfrm>
          <a:prstGeom prst="can">
            <a:avLst>
              <a:gd name="adj" fmla="val 6500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44085" name="Text Box 54"/>
          <p:cNvSpPr txBox="1">
            <a:spLocks noChangeArrowheads="1"/>
          </p:cNvSpPr>
          <p:nvPr/>
        </p:nvSpPr>
        <p:spPr bwMode="auto">
          <a:xfrm>
            <a:off x="5638800" y="3413125"/>
            <a:ext cx="76200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1600">
                <a:latin typeface="Times New Roman" pitchFamily="18" charset="0"/>
              </a:rPr>
              <a:t>分库</a:t>
            </a:r>
            <a:r>
              <a:rPr lang="en-US" altLang="zh-CN" sz="1600">
                <a:latin typeface="Times New Roman" pitchFamily="18" charset="0"/>
              </a:rPr>
              <a:t>6</a:t>
            </a:r>
            <a:endParaRPr lang="en-US" altLang="zh-CN" sz="1600" b="1">
              <a:latin typeface="Times New Roman" pitchFamily="18" charset="0"/>
            </a:endParaRPr>
          </a:p>
        </p:txBody>
      </p:sp>
      <p:sp>
        <p:nvSpPr>
          <p:cNvPr id="44086" name="AutoShape 55"/>
          <p:cNvSpPr>
            <a:spLocks noChangeArrowheads="1"/>
          </p:cNvSpPr>
          <p:nvPr/>
        </p:nvSpPr>
        <p:spPr bwMode="auto">
          <a:xfrm>
            <a:off x="6553200" y="3352800"/>
            <a:ext cx="762000" cy="990600"/>
          </a:xfrm>
          <a:prstGeom prst="can">
            <a:avLst>
              <a:gd name="adj" fmla="val 6500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44087" name="Text Box 56"/>
          <p:cNvSpPr txBox="1">
            <a:spLocks noChangeArrowheads="1"/>
          </p:cNvSpPr>
          <p:nvPr/>
        </p:nvSpPr>
        <p:spPr bwMode="auto">
          <a:xfrm>
            <a:off x="6553200" y="3413125"/>
            <a:ext cx="76200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1600">
                <a:latin typeface="Times New Roman" pitchFamily="18" charset="0"/>
              </a:rPr>
              <a:t>分库</a:t>
            </a:r>
            <a:r>
              <a:rPr lang="en-US" altLang="zh-CN" sz="1600">
                <a:latin typeface="Times New Roman" pitchFamily="18" charset="0"/>
              </a:rPr>
              <a:t>7</a:t>
            </a:r>
            <a:endParaRPr lang="en-US" altLang="zh-CN" sz="1600" b="1">
              <a:latin typeface="Times New Roman" pitchFamily="18" charset="0"/>
            </a:endParaRPr>
          </a:p>
        </p:txBody>
      </p:sp>
      <p:sp>
        <p:nvSpPr>
          <p:cNvPr id="44088" name="Text Box 57"/>
          <p:cNvSpPr txBox="1">
            <a:spLocks noChangeArrowheads="1"/>
          </p:cNvSpPr>
          <p:nvPr/>
        </p:nvSpPr>
        <p:spPr bwMode="auto">
          <a:xfrm>
            <a:off x="7467600" y="3413125"/>
            <a:ext cx="76200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1600">
                <a:latin typeface="Times New Roman" pitchFamily="18" charset="0"/>
              </a:rPr>
              <a:t>分库</a:t>
            </a:r>
            <a:r>
              <a:rPr lang="en-US" altLang="zh-CN" sz="1600">
                <a:latin typeface="Times New Roman" pitchFamily="18" charset="0"/>
              </a:rPr>
              <a:t>8</a:t>
            </a:r>
            <a:endParaRPr lang="en-US" altLang="zh-CN" sz="1600" b="1">
              <a:latin typeface="Times New Roman" pitchFamily="18" charset="0"/>
            </a:endParaRPr>
          </a:p>
        </p:txBody>
      </p:sp>
      <p:sp>
        <p:nvSpPr>
          <p:cNvPr id="44089" name="AutoShape 58"/>
          <p:cNvSpPr>
            <a:spLocks noChangeArrowheads="1"/>
          </p:cNvSpPr>
          <p:nvPr/>
        </p:nvSpPr>
        <p:spPr bwMode="auto">
          <a:xfrm>
            <a:off x="1219200" y="4648200"/>
            <a:ext cx="1295400" cy="990600"/>
          </a:xfrm>
          <a:prstGeom prst="can">
            <a:avLst>
              <a:gd name="adj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en-US" altLang="zh-CN"/>
          </a:p>
          <a:p>
            <a:pPr algn="ctr"/>
            <a:r>
              <a:rPr lang="zh-CN" altLang="en-US"/>
              <a:t>原</a:t>
            </a:r>
          </a:p>
        </p:txBody>
      </p:sp>
      <p:sp>
        <p:nvSpPr>
          <p:cNvPr id="44090" name="Text Box 59"/>
          <p:cNvSpPr txBox="1">
            <a:spLocks noChangeArrowheads="1"/>
          </p:cNvSpPr>
          <p:nvPr/>
        </p:nvSpPr>
        <p:spPr bwMode="auto">
          <a:xfrm>
            <a:off x="1066800" y="4708525"/>
            <a:ext cx="1676400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>
                <a:latin typeface="Times New Roman" pitchFamily="18" charset="0"/>
              </a:rPr>
              <a:t>分库</a:t>
            </a:r>
            <a:r>
              <a:rPr lang="en-US" altLang="zh-CN" sz="2000">
                <a:latin typeface="Times New Roman" pitchFamily="18" charset="0"/>
              </a:rPr>
              <a:t>1</a:t>
            </a:r>
            <a:endParaRPr lang="en-US" altLang="zh-CN" sz="2000" b="1">
              <a:latin typeface="Times New Roman" pitchFamily="18" charset="0"/>
            </a:endParaRPr>
          </a:p>
        </p:txBody>
      </p:sp>
      <p:sp>
        <p:nvSpPr>
          <p:cNvPr id="44091" name="Text Box 60"/>
          <p:cNvSpPr txBox="1">
            <a:spLocks noChangeArrowheads="1"/>
          </p:cNvSpPr>
          <p:nvPr/>
        </p:nvSpPr>
        <p:spPr bwMode="auto">
          <a:xfrm>
            <a:off x="2971800" y="4708525"/>
            <a:ext cx="1676400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>
                <a:latin typeface="Times New Roman" pitchFamily="18" charset="0"/>
              </a:rPr>
              <a:t>分库</a:t>
            </a:r>
            <a:r>
              <a:rPr lang="en-US" altLang="zh-CN" sz="2000">
                <a:latin typeface="Times New Roman" pitchFamily="18" charset="0"/>
              </a:rPr>
              <a:t>2</a:t>
            </a:r>
            <a:endParaRPr lang="en-US" altLang="zh-CN" sz="2000" b="1">
              <a:latin typeface="Times New Roman" pitchFamily="18" charset="0"/>
            </a:endParaRPr>
          </a:p>
        </p:txBody>
      </p:sp>
      <p:sp>
        <p:nvSpPr>
          <p:cNvPr id="44092" name="Text Box 61"/>
          <p:cNvSpPr txBox="1">
            <a:spLocks noChangeArrowheads="1"/>
          </p:cNvSpPr>
          <p:nvPr/>
        </p:nvSpPr>
        <p:spPr bwMode="auto">
          <a:xfrm>
            <a:off x="4800600" y="4708525"/>
            <a:ext cx="1676400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>
                <a:latin typeface="Times New Roman" pitchFamily="18" charset="0"/>
              </a:rPr>
              <a:t>分库</a:t>
            </a:r>
            <a:r>
              <a:rPr lang="en-US" altLang="zh-CN" sz="2000">
                <a:latin typeface="Times New Roman" pitchFamily="18" charset="0"/>
              </a:rPr>
              <a:t>3</a:t>
            </a:r>
            <a:endParaRPr lang="en-US" altLang="zh-CN" sz="2000" b="1">
              <a:latin typeface="Times New Roman" pitchFamily="18" charset="0"/>
            </a:endParaRPr>
          </a:p>
        </p:txBody>
      </p:sp>
      <p:sp>
        <p:nvSpPr>
          <p:cNvPr id="44093" name="Text Box 62"/>
          <p:cNvSpPr txBox="1">
            <a:spLocks noChangeArrowheads="1"/>
          </p:cNvSpPr>
          <p:nvPr/>
        </p:nvSpPr>
        <p:spPr bwMode="auto">
          <a:xfrm>
            <a:off x="6629400" y="4708525"/>
            <a:ext cx="1676400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>
                <a:latin typeface="Times New Roman" pitchFamily="18" charset="0"/>
              </a:rPr>
              <a:t>分库</a:t>
            </a:r>
            <a:r>
              <a:rPr lang="en-US" altLang="zh-CN" sz="2000">
                <a:latin typeface="Times New Roman" pitchFamily="18" charset="0"/>
              </a:rPr>
              <a:t>4</a:t>
            </a:r>
            <a:endParaRPr lang="en-US" altLang="zh-CN" sz="2000" b="1">
              <a:latin typeface="Times New Roman" pitchFamily="18" charset="0"/>
            </a:endParaRPr>
          </a:p>
        </p:txBody>
      </p:sp>
      <p:sp>
        <p:nvSpPr>
          <p:cNvPr id="44094" name="AutoShape 63"/>
          <p:cNvSpPr>
            <a:spLocks noChangeArrowheads="1"/>
          </p:cNvSpPr>
          <p:nvPr/>
        </p:nvSpPr>
        <p:spPr bwMode="auto">
          <a:xfrm>
            <a:off x="3124200" y="4648200"/>
            <a:ext cx="1295400" cy="990600"/>
          </a:xfrm>
          <a:prstGeom prst="can">
            <a:avLst>
              <a:gd name="adj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en-US" altLang="zh-CN"/>
          </a:p>
          <a:p>
            <a:pPr algn="ctr"/>
            <a:r>
              <a:rPr lang="zh-CN" altLang="en-US"/>
              <a:t>原</a:t>
            </a:r>
          </a:p>
        </p:txBody>
      </p:sp>
      <p:sp>
        <p:nvSpPr>
          <p:cNvPr id="44095" name="AutoShape 64"/>
          <p:cNvSpPr>
            <a:spLocks noChangeArrowheads="1"/>
          </p:cNvSpPr>
          <p:nvPr/>
        </p:nvSpPr>
        <p:spPr bwMode="auto">
          <a:xfrm>
            <a:off x="4953000" y="4648200"/>
            <a:ext cx="1295400" cy="990600"/>
          </a:xfrm>
          <a:prstGeom prst="can">
            <a:avLst>
              <a:gd name="adj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en-US" altLang="zh-CN"/>
          </a:p>
          <a:p>
            <a:pPr algn="ctr"/>
            <a:r>
              <a:rPr lang="zh-CN" altLang="en-US"/>
              <a:t>原</a:t>
            </a:r>
          </a:p>
        </p:txBody>
      </p:sp>
      <p:sp>
        <p:nvSpPr>
          <p:cNvPr id="44096" name="AutoShape 65"/>
          <p:cNvSpPr>
            <a:spLocks noChangeArrowheads="1"/>
          </p:cNvSpPr>
          <p:nvPr/>
        </p:nvSpPr>
        <p:spPr bwMode="auto">
          <a:xfrm>
            <a:off x="6781800" y="4648200"/>
            <a:ext cx="1295400" cy="990600"/>
          </a:xfrm>
          <a:prstGeom prst="can">
            <a:avLst>
              <a:gd name="adj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en-US" altLang="zh-CN"/>
          </a:p>
          <a:p>
            <a:pPr algn="ctr"/>
            <a:r>
              <a:rPr lang="zh-CN" altLang="en-US"/>
              <a:t>原</a:t>
            </a:r>
          </a:p>
        </p:txBody>
      </p:sp>
      <p:sp>
        <p:nvSpPr>
          <p:cNvPr id="44097" name="Oval 66"/>
          <p:cNvSpPr>
            <a:spLocks noChangeArrowheads="1"/>
          </p:cNvSpPr>
          <p:nvPr/>
        </p:nvSpPr>
        <p:spPr bwMode="auto">
          <a:xfrm>
            <a:off x="6629400" y="1676400"/>
            <a:ext cx="685800" cy="381000"/>
          </a:xfrm>
          <a:prstGeom prst="ellipse">
            <a:avLst/>
          </a:prstGeom>
          <a:noFill/>
          <a:ln w="6350" algn="ctr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44098" name="Line 67"/>
          <p:cNvSpPr>
            <a:spLocks noChangeShapeType="1"/>
          </p:cNvSpPr>
          <p:nvPr/>
        </p:nvSpPr>
        <p:spPr bwMode="auto">
          <a:xfrm flipH="1">
            <a:off x="5257800" y="1981200"/>
            <a:ext cx="1447800" cy="685800"/>
          </a:xfrm>
          <a:prstGeom prst="line">
            <a:avLst/>
          </a:prstGeom>
          <a:noFill/>
          <a:ln w="6350">
            <a:solidFill>
              <a:srgbClr val="FF0000"/>
            </a:solidFill>
            <a:prstDash val="dash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cxnSp>
        <p:nvCxnSpPr>
          <p:cNvPr id="44099" name="AutoShape 68"/>
          <p:cNvCxnSpPr>
            <a:cxnSpLocks noChangeShapeType="1"/>
            <a:stCxn id="44089" idx="1"/>
            <a:endCxn id="44074" idx="3"/>
          </p:cNvCxnSpPr>
          <p:nvPr/>
        </p:nvCxnSpPr>
        <p:spPr bwMode="auto">
          <a:xfrm flipH="1" flipV="1">
            <a:off x="1447800" y="4343400"/>
            <a:ext cx="41910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44100" name="AutoShape 69"/>
          <p:cNvCxnSpPr>
            <a:cxnSpLocks noChangeShapeType="1"/>
            <a:stCxn id="44089" idx="1"/>
            <a:endCxn id="44076" idx="3"/>
          </p:cNvCxnSpPr>
          <p:nvPr/>
        </p:nvCxnSpPr>
        <p:spPr bwMode="auto">
          <a:xfrm flipV="1">
            <a:off x="1866900" y="4343400"/>
            <a:ext cx="49530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44101" name="AutoShape 70"/>
          <p:cNvCxnSpPr>
            <a:cxnSpLocks noChangeShapeType="1"/>
            <a:stCxn id="44094" idx="1"/>
            <a:endCxn id="44078" idx="3"/>
          </p:cNvCxnSpPr>
          <p:nvPr/>
        </p:nvCxnSpPr>
        <p:spPr bwMode="auto">
          <a:xfrm flipH="1" flipV="1">
            <a:off x="3276600" y="4343400"/>
            <a:ext cx="49530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44102" name="AutoShape 71"/>
          <p:cNvCxnSpPr>
            <a:cxnSpLocks noChangeShapeType="1"/>
            <a:stCxn id="44094" idx="1"/>
            <a:endCxn id="44080" idx="3"/>
          </p:cNvCxnSpPr>
          <p:nvPr/>
        </p:nvCxnSpPr>
        <p:spPr bwMode="auto">
          <a:xfrm flipV="1">
            <a:off x="3771900" y="4343400"/>
            <a:ext cx="41910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44103" name="AutoShape 72"/>
          <p:cNvCxnSpPr>
            <a:cxnSpLocks noChangeShapeType="1"/>
            <a:stCxn id="44095" idx="1"/>
            <a:endCxn id="44033" idx="3"/>
          </p:cNvCxnSpPr>
          <p:nvPr/>
        </p:nvCxnSpPr>
        <p:spPr bwMode="auto">
          <a:xfrm flipH="1" flipV="1">
            <a:off x="5105400" y="4343400"/>
            <a:ext cx="49530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44104" name="AutoShape 73"/>
          <p:cNvCxnSpPr>
            <a:cxnSpLocks noChangeShapeType="1"/>
            <a:stCxn id="44095" idx="1"/>
            <a:endCxn id="44084" idx="3"/>
          </p:cNvCxnSpPr>
          <p:nvPr/>
        </p:nvCxnSpPr>
        <p:spPr bwMode="auto">
          <a:xfrm flipV="1">
            <a:off x="5600700" y="4343400"/>
            <a:ext cx="41910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44105" name="AutoShape 74"/>
          <p:cNvCxnSpPr>
            <a:cxnSpLocks noChangeShapeType="1"/>
            <a:stCxn id="44096" idx="1"/>
            <a:endCxn id="44086" idx="3"/>
          </p:cNvCxnSpPr>
          <p:nvPr/>
        </p:nvCxnSpPr>
        <p:spPr bwMode="auto">
          <a:xfrm flipH="1" flipV="1">
            <a:off x="6934200" y="4343400"/>
            <a:ext cx="49530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44106" name="AutoShape 75"/>
          <p:cNvCxnSpPr>
            <a:cxnSpLocks noChangeShapeType="1"/>
            <a:stCxn id="44096" idx="1"/>
            <a:endCxn id="44082" idx="3"/>
          </p:cNvCxnSpPr>
          <p:nvPr/>
        </p:nvCxnSpPr>
        <p:spPr bwMode="auto">
          <a:xfrm flipV="1">
            <a:off x="7429500" y="4343400"/>
            <a:ext cx="41910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ea typeface="微软雅黑"/>
                <a:cs typeface="微软雅黑"/>
              </a:rPr>
              <a:t>路由算法</a:t>
            </a:r>
            <a:r>
              <a:rPr lang="en-US" altLang="zh-CN" smtClean="0">
                <a:latin typeface="微软雅黑"/>
                <a:ea typeface="微软雅黑"/>
                <a:cs typeface="微软雅黑"/>
              </a:rPr>
              <a:t>——</a:t>
            </a:r>
            <a:r>
              <a:rPr lang="zh-CN" altLang="en-US" smtClean="0">
                <a:ea typeface="微软雅黑"/>
                <a:cs typeface="微软雅黑"/>
              </a:rPr>
              <a:t>非均匀分布</a:t>
            </a:r>
          </a:p>
        </p:txBody>
      </p:sp>
      <p:sp>
        <p:nvSpPr>
          <p:cNvPr id="45058" name="Text Box 3"/>
          <p:cNvSpPr txBox="1">
            <a:spLocks noChangeArrowheads="1"/>
          </p:cNvSpPr>
          <p:nvPr/>
        </p:nvSpPr>
        <p:spPr bwMode="auto">
          <a:xfrm>
            <a:off x="533400" y="1676400"/>
            <a:ext cx="7086600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>
                <a:solidFill>
                  <a:schemeClr val="bg2"/>
                </a:solidFill>
                <a:latin typeface="Courier New" pitchFamily="49" charset="0"/>
              </a:rPr>
              <a:t>hash(pavarott) =</a:t>
            </a:r>
            <a:r>
              <a:rPr lang="en-US" altLang="zh-CN" sz="2000">
                <a:latin typeface="Courier New" pitchFamily="49" charset="0"/>
              </a:rPr>
              <a:t> </a:t>
            </a:r>
            <a:r>
              <a:rPr lang="en-US" altLang="zh-CN" sz="2000" b="1">
                <a:latin typeface="Courier New" pitchFamily="49" charset="0"/>
              </a:rPr>
              <a:t>3170972965401 % 1024 = 537</a:t>
            </a:r>
          </a:p>
        </p:txBody>
      </p:sp>
      <p:sp>
        <p:nvSpPr>
          <p:cNvPr id="45059" name="Line 4"/>
          <p:cNvSpPr>
            <a:spLocks noChangeShapeType="1"/>
          </p:cNvSpPr>
          <p:nvPr/>
        </p:nvSpPr>
        <p:spPr bwMode="auto">
          <a:xfrm>
            <a:off x="990600" y="2895600"/>
            <a:ext cx="7315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60" name="Text Box 5"/>
          <p:cNvSpPr txBox="1">
            <a:spLocks noChangeArrowheads="1"/>
          </p:cNvSpPr>
          <p:nvPr/>
        </p:nvSpPr>
        <p:spPr bwMode="auto">
          <a:xfrm>
            <a:off x="914400" y="2514600"/>
            <a:ext cx="381000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600">
                <a:solidFill>
                  <a:schemeClr val="bg2"/>
                </a:solidFill>
                <a:latin typeface="Times New Roman" pitchFamily="18" charset="0"/>
              </a:rPr>
              <a:t>0                                                               511</a:t>
            </a:r>
            <a:endParaRPr lang="en-US" altLang="zh-CN" sz="1600" b="1">
              <a:solidFill>
                <a:schemeClr val="bg2"/>
              </a:solidFill>
              <a:latin typeface="Times New Roman" pitchFamily="18" charset="0"/>
            </a:endParaRPr>
          </a:p>
        </p:txBody>
      </p:sp>
      <p:sp>
        <p:nvSpPr>
          <p:cNvPr id="45061" name="Text Box 6"/>
          <p:cNvSpPr txBox="1">
            <a:spLocks noChangeArrowheads="1"/>
          </p:cNvSpPr>
          <p:nvPr/>
        </p:nvSpPr>
        <p:spPr bwMode="auto">
          <a:xfrm>
            <a:off x="4572000" y="2514600"/>
            <a:ext cx="198120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600">
                <a:solidFill>
                  <a:schemeClr val="bg2"/>
                </a:solidFill>
                <a:latin typeface="Times New Roman" pitchFamily="18" charset="0"/>
              </a:rPr>
              <a:t>512                      767</a:t>
            </a:r>
            <a:endParaRPr lang="en-US" altLang="zh-CN" sz="1600" b="1">
              <a:solidFill>
                <a:schemeClr val="bg2"/>
              </a:solidFill>
              <a:latin typeface="Times New Roman" pitchFamily="18" charset="0"/>
            </a:endParaRPr>
          </a:p>
        </p:txBody>
      </p:sp>
      <p:sp>
        <p:nvSpPr>
          <p:cNvPr id="45062" name="Text Box 7"/>
          <p:cNvSpPr txBox="1">
            <a:spLocks noChangeArrowheads="1"/>
          </p:cNvSpPr>
          <p:nvPr/>
        </p:nvSpPr>
        <p:spPr bwMode="auto">
          <a:xfrm>
            <a:off x="6400800" y="2514600"/>
            <a:ext cx="198120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600">
                <a:solidFill>
                  <a:schemeClr val="bg2"/>
                </a:solidFill>
                <a:latin typeface="Times New Roman" pitchFamily="18" charset="0"/>
              </a:rPr>
              <a:t>768     895 896   1023</a:t>
            </a:r>
            <a:endParaRPr lang="en-US" altLang="zh-CN" sz="1600" b="1">
              <a:solidFill>
                <a:schemeClr val="bg2"/>
              </a:solidFill>
              <a:latin typeface="Times New Roman" pitchFamily="18" charset="0"/>
            </a:endParaRPr>
          </a:p>
        </p:txBody>
      </p:sp>
      <p:sp>
        <p:nvSpPr>
          <p:cNvPr id="45063" name="Line 8"/>
          <p:cNvSpPr>
            <a:spLocks noChangeShapeType="1"/>
          </p:cNvSpPr>
          <p:nvPr/>
        </p:nvSpPr>
        <p:spPr bwMode="auto">
          <a:xfrm>
            <a:off x="7391400" y="2438400"/>
            <a:ext cx="0" cy="1905000"/>
          </a:xfrm>
          <a:prstGeom prst="line">
            <a:avLst/>
          </a:prstGeom>
          <a:noFill/>
          <a:ln w="63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64" name="Text Box 9"/>
          <p:cNvSpPr txBox="1">
            <a:spLocks noChangeArrowheads="1"/>
          </p:cNvSpPr>
          <p:nvPr/>
        </p:nvSpPr>
        <p:spPr bwMode="auto">
          <a:xfrm>
            <a:off x="2438400" y="3016250"/>
            <a:ext cx="53340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600">
                <a:latin typeface="Times New Roman" pitchFamily="18" charset="0"/>
              </a:rPr>
              <a:t>512</a:t>
            </a:r>
            <a:endParaRPr lang="en-US" altLang="zh-CN" sz="1600" b="1">
              <a:latin typeface="Times New Roman" pitchFamily="18" charset="0"/>
            </a:endParaRPr>
          </a:p>
        </p:txBody>
      </p:sp>
      <p:sp>
        <p:nvSpPr>
          <p:cNvPr id="45065" name="Line 10"/>
          <p:cNvSpPr>
            <a:spLocks noChangeShapeType="1"/>
          </p:cNvSpPr>
          <p:nvPr/>
        </p:nvSpPr>
        <p:spPr bwMode="auto">
          <a:xfrm flipH="1">
            <a:off x="990600" y="3200400"/>
            <a:ext cx="1447800" cy="0"/>
          </a:xfrm>
          <a:prstGeom prst="line">
            <a:avLst/>
          </a:prstGeom>
          <a:noFill/>
          <a:ln w="3175">
            <a:solidFill>
              <a:schemeClr val="bg2"/>
            </a:solidFill>
            <a:prstDash val="dash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66" name="Line 11"/>
          <p:cNvSpPr>
            <a:spLocks noChangeShapeType="1"/>
          </p:cNvSpPr>
          <p:nvPr/>
        </p:nvSpPr>
        <p:spPr bwMode="auto">
          <a:xfrm>
            <a:off x="2895600" y="3200400"/>
            <a:ext cx="1752600" cy="0"/>
          </a:xfrm>
          <a:prstGeom prst="line">
            <a:avLst/>
          </a:prstGeom>
          <a:noFill/>
          <a:ln w="3175">
            <a:solidFill>
              <a:schemeClr val="bg2"/>
            </a:solidFill>
            <a:prstDash val="dash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67" name="Text Box 12"/>
          <p:cNvSpPr txBox="1">
            <a:spLocks noChangeArrowheads="1"/>
          </p:cNvSpPr>
          <p:nvPr/>
        </p:nvSpPr>
        <p:spPr bwMode="auto">
          <a:xfrm>
            <a:off x="5257800" y="3016250"/>
            <a:ext cx="53340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600">
                <a:latin typeface="Times New Roman" pitchFamily="18" charset="0"/>
              </a:rPr>
              <a:t>256</a:t>
            </a:r>
            <a:endParaRPr lang="en-US" altLang="zh-CN" sz="1600" b="1">
              <a:latin typeface="Times New Roman" pitchFamily="18" charset="0"/>
            </a:endParaRPr>
          </a:p>
        </p:txBody>
      </p:sp>
      <p:sp>
        <p:nvSpPr>
          <p:cNvPr id="45068" name="Line 13"/>
          <p:cNvSpPr>
            <a:spLocks noChangeShapeType="1"/>
          </p:cNvSpPr>
          <p:nvPr/>
        </p:nvSpPr>
        <p:spPr bwMode="auto">
          <a:xfrm flipH="1">
            <a:off x="4648200" y="3200400"/>
            <a:ext cx="685800" cy="0"/>
          </a:xfrm>
          <a:prstGeom prst="line">
            <a:avLst/>
          </a:prstGeom>
          <a:noFill/>
          <a:ln w="3175">
            <a:solidFill>
              <a:schemeClr val="bg2"/>
            </a:solidFill>
            <a:prstDash val="dash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69" name="Line 14"/>
          <p:cNvSpPr>
            <a:spLocks noChangeShapeType="1"/>
          </p:cNvSpPr>
          <p:nvPr/>
        </p:nvSpPr>
        <p:spPr bwMode="auto">
          <a:xfrm>
            <a:off x="5715000" y="3200400"/>
            <a:ext cx="762000" cy="0"/>
          </a:xfrm>
          <a:prstGeom prst="line">
            <a:avLst/>
          </a:prstGeom>
          <a:noFill/>
          <a:ln w="3175">
            <a:solidFill>
              <a:schemeClr val="bg2"/>
            </a:solidFill>
            <a:prstDash val="dash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70" name="Text Box 15"/>
          <p:cNvSpPr txBox="1">
            <a:spLocks noChangeArrowheads="1"/>
          </p:cNvSpPr>
          <p:nvPr/>
        </p:nvSpPr>
        <p:spPr bwMode="auto">
          <a:xfrm>
            <a:off x="6705600" y="3016250"/>
            <a:ext cx="53340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600">
                <a:latin typeface="Times New Roman" pitchFamily="18" charset="0"/>
              </a:rPr>
              <a:t>128</a:t>
            </a:r>
            <a:endParaRPr lang="en-US" altLang="zh-CN" sz="1600" b="1">
              <a:latin typeface="Times New Roman" pitchFamily="18" charset="0"/>
            </a:endParaRPr>
          </a:p>
        </p:txBody>
      </p:sp>
      <p:sp>
        <p:nvSpPr>
          <p:cNvPr id="45071" name="Line 16"/>
          <p:cNvSpPr>
            <a:spLocks noChangeShapeType="1"/>
          </p:cNvSpPr>
          <p:nvPr/>
        </p:nvSpPr>
        <p:spPr bwMode="auto">
          <a:xfrm flipH="1">
            <a:off x="6477000" y="3200400"/>
            <a:ext cx="304800" cy="0"/>
          </a:xfrm>
          <a:prstGeom prst="line">
            <a:avLst/>
          </a:prstGeom>
          <a:noFill/>
          <a:ln w="3175">
            <a:solidFill>
              <a:schemeClr val="bg2"/>
            </a:solidFill>
            <a:prstDash val="dash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72" name="Line 17"/>
          <p:cNvSpPr>
            <a:spLocks noChangeShapeType="1"/>
          </p:cNvSpPr>
          <p:nvPr/>
        </p:nvSpPr>
        <p:spPr bwMode="auto">
          <a:xfrm>
            <a:off x="7162800" y="3200400"/>
            <a:ext cx="228600" cy="0"/>
          </a:xfrm>
          <a:prstGeom prst="line">
            <a:avLst/>
          </a:prstGeom>
          <a:noFill/>
          <a:ln w="3175">
            <a:solidFill>
              <a:schemeClr val="bg2"/>
            </a:solidFill>
            <a:prstDash val="dash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73" name="Text Box 18"/>
          <p:cNvSpPr txBox="1">
            <a:spLocks noChangeArrowheads="1"/>
          </p:cNvSpPr>
          <p:nvPr/>
        </p:nvSpPr>
        <p:spPr bwMode="auto">
          <a:xfrm>
            <a:off x="7620000" y="3016250"/>
            <a:ext cx="53340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600">
                <a:latin typeface="Times New Roman" pitchFamily="18" charset="0"/>
              </a:rPr>
              <a:t>128</a:t>
            </a:r>
            <a:endParaRPr lang="en-US" altLang="zh-CN" sz="1600" b="1">
              <a:latin typeface="Times New Roman" pitchFamily="18" charset="0"/>
            </a:endParaRPr>
          </a:p>
        </p:txBody>
      </p:sp>
      <p:sp>
        <p:nvSpPr>
          <p:cNvPr id="45074" name="Line 19"/>
          <p:cNvSpPr>
            <a:spLocks noChangeShapeType="1"/>
          </p:cNvSpPr>
          <p:nvPr/>
        </p:nvSpPr>
        <p:spPr bwMode="auto">
          <a:xfrm flipH="1">
            <a:off x="7391400" y="3200400"/>
            <a:ext cx="304800" cy="0"/>
          </a:xfrm>
          <a:prstGeom prst="line">
            <a:avLst/>
          </a:prstGeom>
          <a:noFill/>
          <a:ln w="3175">
            <a:solidFill>
              <a:schemeClr val="bg2"/>
            </a:solidFill>
            <a:prstDash val="dash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75" name="Line 20"/>
          <p:cNvSpPr>
            <a:spLocks noChangeShapeType="1"/>
          </p:cNvSpPr>
          <p:nvPr/>
        </p:nvSpPr>
        <p:spPr bwMode="auto">
          <a:xfrm>
            <a:off x="8077200" y="3200400"/>
            <a:ext cx="228600" cy="0"/>
          </a:xfrm>
          <a:prstGeom prst="line">
            <a:avLst/>
          </a:prstGeom>
          <a:noFill/>
          <a:ln w="3175">
            <a:solidFill>
              <a:schemeClr val="bg2"/>
            </a:solidFill>
            <a:prstDash val="dash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76" name="Line 21"/>
          <p:cNvSpPr>
            <a:spLocks noChangeShapeType="1"/>
          </p:cNvSpPr>
          <p:nvPr/>
        </p:nvSpPr>
        <p:spPr bwMode="auto">
          <a:xfrm>
            <a:off x="8305800" y="2438400"/>
            <a:ext cx="0" cy="1905000"/>
          </a:xfrm>
          <a:prstGeom prst="line">
            <a:avLst/>
          </a:prstGeom>
          <a:noFill/>
          <a:ln w="63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77" name="Line 22"/>
          <p:cNvSpPr>
            <a:spLocks noChangeShapeType="1"/>
          </p:cNvSpPr>
          <p:nvPr/>
        </p:nvSpPr>
        <p:spPr bwMode="auto">
          <a:xfrm>
            <a:off x="6477000" y="2438400"/>
            <a:ext cx="0" cy="2286000"/>
          </a:xfrm>
          <a:prstGeom prst="line">
            <a:avLst/>
          </a:prstGeom>
          <a:noFill/>
          <a:ln w="63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78" name="Line 23"/>
          <p:cNvSpPr>
            <a:spLocks noChangeShapeType="1"/>
          </p:cNvSpPr>
          <p:nvPr/>
        </p:nvSpPr>
        <p:spPr bwMode="auto">
          <a:xfrm>
            <a:off x="4648200" y="2438400"/>
            <a:ext cx="0" cy="2819400"/>
          </a:xfrm>
          <a:prstGeom prst="line">
            <a:avLst/>
          </a:prstGeom>
          <a:noFill/>
          <a:ln w="63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79" name="Line 24"/>
          <p:cNvSpPr>
            <a:spLocks noChangeShapeType="1"/>
          </p:cNvSpPr>
          <p:nvPr/>
        </p:nvSpPr>
        <p:spPr bwMode="auto">
          <a:xfrm>
            <a:off x="990600" y="2438400"/>
            <a:ext cx="0" cy="2819400"/>
          </a:xfrm>
          <a:prstGeom prst="line">
            <a:avLst/>
          </a:prstGeom>
          <a:noFill/>
          <a:ln w="63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80" name="AutoShape 25"/>
          <p:cNvSpPr>
            <a:spLocks noChangeArrowheads="1"/>
          </p:cNvSpPr>
          <p:nvPr/>
        </p:nvSpPr>
        <p:spPr bwMode="auto">
          <a:xfrm>
            <a:off x="1143000" y="3505200"/>
            <a:ext cx="3352800" cy="1447800"/>
          </a:xfrm>
          <a:prstGeom prst="can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45081" name="Text Box 26"/>
          <p:cNvSpPr txBox="1">
            <a:spLocks noChangeArrowheads="1"/>
          </p:cNvSpPr>
          <p:nvPr/>
        </p:nvSpPr>
        <p:spPr bwMode="auto">
          <a:xfrm>
            <a:off x="2438400" y="3733800"/>
            <a:ext cx="76200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1600">
                <a:latin typeface="Times New Roman" pitchFamily="18" charset="0"/>
              </a:rPr>
              <a:t>分库</a:t>
            </a:r>
            <a:r>
              <a:rPr lang="en-US" altLang="zh-CN" sz="1600">
                <a:latin typeface="Times New Roman" pitchFamily="18" charset="0"/>
              </a:rPr>
              <a:t>1</a:t>
            </a:r>
            <a:endParaRPr lang="en-US" altLang="zh-CN" sz="1600" b="1">
              <a:latin typeface="Times New Roman" pitchFamily="18" charset="0"/>
            </a:endParaRPr>
          </a:p>
        </p:txBody>
      </p:sp>
      <p:sp>
        <p:nvSpPr>
          <p:cNvPr id="45082" name="AutoShape 27"/>
          <p:cNvSpPr>
            <a:spLocks noChangeArrowheads="1"/>
          </p:cNvSpPr>
          <p:nvPr/>
        </p:nvSpPr>
        <p:spPr bwMode="auto">
          <a:xfrm>
            <a:off x="4800600" y="3505200"/>
            <a:ext cx="1524000" cy="1066800"/>
          </a:xfrm>
          <a:prstGeom prst="can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45083" name="Text Box 28"/>
          <p:cNvSpPr txBox="1">
            <a:spLocks noChangeArrowheads="1"/>
          </p:cNvSpPr>
          <p:nvPr/>
        </p:nvSpPr>
        <p:spPr bwMode="auto">
          <a:xfrm>
            <a:off x="5181600" y="3565525"/>
            <a:ext cx="76200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1600">
                <a:latin typeface="Times New Roman" pitchFamily="18" charset="0"/>
              </a:rPr>
              <a:t>分库</a:t>
            </a:r>
            <a:r>
              <a:rPr lang="en-US" altLang="zh-CN" sz="1600">
                <a:latin typeface="Times New Roman" pitchFamily="18" charset="0"/>
              </a:rPr>
              <a:t>2</a:t>
            </a:r>
            <a:endParaRPr lang="en-US" altLang="zh-CN" sz="1600" b="1">
              <a:latin typeface="Times New Roman" pitchFamily="18" charset="0"/>
            </a:endParaRPr>
          </a:p>
        </p:txBody>
      </p:sp>
      <p:sp>
        <p:nvSpPr>
          <p:cNvPr id="45084" name="AutoShape 29"/>
          <p:cNvSpPr>
            <a:spLocks noChangeArrowheads="1"/>
          </p:cNvSpPr>
          <p:nvPr/>
        </p:nvSpPr>
        <p:spPr bwMode="auto">
          <a:xfrm>
            <a:off x="6553200" y="3505200"/>
            <a:ext cx="762000" cy="685800"/>
          </a:xfrm>
          <a:prstGeom prst="can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45085" name="Text Box 30"/>
          <p:cNvSpPr txBox="1">
            <a:spLocks noChangeArrowheads="1"/>
          </p:cNvSpPr>
          <p:nvPr/>
        </p:nvSpPr>
        <p:spPr bwMode="auto">
          <a:xfrm>
            <a:off x="6553200" y="3505200"/>
            <a:ext cx="76200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1600">
                <a:latin typeface="Times New Roman" pitchFamily="18" charset="0"/>
              </a:rPr>
              <a:t>分库</a:t>
            </a:r>
            <a:r>
              <a:rPr lang="en-US" altLang="zh-CN" sz="1600">
                <a:latin typeface="Times New Roman" pitchFamily="18" charset="0"/>
              </a:rPr>
              <a:t>3</a:t>
            </a:r>
            <a:endParaRPr lang="en-US" altLang="zh-CN" sz="1600" b="1">
              <a:latin typeface="Times New Roman" pitchFamily="18" charset="0"/>
            </a:endParaRPr>
          </a:p>
        </p:txBody>
      </p:sp>
      <p:sp>
        <p:nvSpPr>
          <p:cNvPr id="45086" name="AutoShape 31"/>
          <p:cNvSpPr>
            <a:spLocks noChangeArrowheads="1"/>
          </p:cNvSpPr>
          <p:nvPr/>
        </p:nvSpPr>
        <p:spPr bwMode="auto">
          <a:xfrm>
            <a:off x="7467600" y="3505200"/>
            <a:ext cx="762000" cy="685800"/>
          </a:xfrm>
          <a:prstGeom prst="can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45087" name="Text Box 32"/>
          <p:cNvSpPr txBox="1">
            <a:spLocks noChangeArrowheads="1"/>
          </p:cNvSpPr>
          <p:nvPr/>
        </p:nvSpPr>
        <p:spPr bwMode="auto">
          <a:xfrm>
            <a:off x="7467600" y="3505200"/>
            <a:ext cx="76200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1600">
                <a:latin typeface="Times New Roman" pitchFamily="18" charset="0"/>
              </a:rPr>
              <a:t>分库</a:t>
            </a:r>
            <a:r>
              <a:rPr lang="en-US" altLang="zh-CN" sz="1600">
                <a:latin typeface="Times New Roman" pitchFamily="18" charset="0"/>
              </a:rPr>
              <a:t>4</a:t>
            </a:r>
            <a:endParaRPr lang="en-US" altLang="zh-CN" sz="1600" b="1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latin typeface="微软雅黑"/>
                <a:ea typeface="微软雅黑"/>
                <a:cs typeface="微软雅黑"/>
              </a:rPr>
              <a:t>拆分表的数据访问</a:t>
            </a:r>
            <a:r>
              <a:rPr lang="en-US" altLang="zh-CN" smtClean="0">
                <a:latin typeface="微软雅黑"/>
                <a:ea typeface="微软雅黑"/>
                <a:cs typeface="微软雅黑"/>
              </a:rPr>
              <a:t>——SQL</a:t>
            </a:r>
            <a:r>
              <a:rPr lang="zh-CN" altLang="en-US" smtClean="0">
                <a:latin typeface="微软雅黑"/>
                <a:ea typeface="微软雅黑"/>
                <a:cs typeface="微软雅黑"/>
              </a:rPr>
              <a:t>转发</a:t>
            </a:r>
          </a:p>
        </p:txBody>
      </p:sp>
      <p:graphicFrame>
        <p:nvGraphicFramePr>
          <p:cNvPr id="327683" name="Group 3"/>
          <p:cNvGraphicFramePr>
            <a:graphicFrameLocks noGrp="1"/>
          </p:cNvGraphicFramePr>
          <p:nvPr/>
        </p:nvGraphicFramePr>
        <p:xfrm>
          <a:off x="6264275" y="1908175"/>
          <a:ext cx="2574925" cy="1828800"/>
        </p:xfrm>
        <a:graphic>
          <a:graphicData uri="http://schemas.openxmlformats.org/drawingml/2006/table">
            <a:tbl>
              <a:tblPr/>
              <a:tblGrid>
                <a:gridCol w="466725"/>
                <a:gridCol w="1377950"/>
                <a:gridCol w="730250"/>
              </a:tblGrid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MEMBE_ID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INFO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pavarotti17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test1234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test1234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pavarotti17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7713" name="Group 33"/>
          <p:cNvGraphicFramePr>
            <a:graphicFrameLocks noGrp="1"/>
          </p:cNvGraphicFramePr>
          <p:nvPr/>
        </p:nvGraphicFramePr>
        <p:xfrm>
          <a:off x="6267450" y="4406900"/>
          <a:ext cx="2520950" cy="1463675"/>
        </p:xfrm>
        <a:graphic>
          <a:graphicData uri="http://schemas.openxmlformats.org/drawingml/2006/table">
            <a:tbl>
              <a:tblPr/>
              <a:tblGrid>
                <a:gridCol w="412750"/>
                <a:gridCol w="1377950"/>
                <a:gridCol w="730250"/>
              </a:tblGrid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MEMBE_ID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INFO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abcd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abcd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68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20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abcd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6130" name="Rectangle 59"/>
          <p:cNvSpPr>
            <a:spLocks noChangeArrowheads="1"/>
          </p:cNvSpPr>
          <p:nvPr/>
        </p:nvSpPr>
        <p:spPr bwMode="auto">
          <a:xfrm>
            <a:off x="2819400" y="3657600"/>
            <a:ext cx="838200" cy="5334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微软雅黑"/>
              </a:rPr>
              <a:t>Cobar</a:t>
            </a:r>
          </a:p>
        </p:txBody>
      </p:sp>
      <p:sp>
        <p:nvSpPr>
          <p:cNvPr id="46131" name="Rectangle 60"/>
          <p:cNvSpPr>
            <a:spLocks noChangeArrowheads="1"/>
          </p:cNvSpPr>
          <p:nvPr/>
        </p:nvSpPr>
        <p:spPr bwMode="auto">
          <a:xfrm>
            <a:off x="381000" y="3657600"/>
            <a:ext cx="762000" cy="5334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微软雅黑"/>
              </a:rPr>
              <a:t>App</a:t>
            </a:r>
          </a:p>
        </p:txBody>
      </p:sp>
      <p:cxnSp>
        <p:nvCxnSpPr>
          <p:cNvPr id="46132" name="AutoShape 61"/>
          <p:cNvCxnSpPr>
            <a:cxnSpLocks noChangeShapeType="1"/>
            <a:stCxn id="46131" idx="3"/>
            <a:endCxn id="46130" idx="1"/>
          </p:cNvCxnSpPr>
          <p:nvPr/>
        </p:nvCxnSpPr>
        <p:spPr bwMode="auto">
          <a:xfrm>
            <a:off x="1143000" y="3924300"/>
            <a:ext cx="16764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46133" name="Text Box 62"/>
          <p:cNvSpPr txBox="1">
            <a:spLocks noChangeArrowheads="1"/>
          </p:cNvSpPr>
          <p:nvPr/>
        </p:nvSpPr>
        <p:spPr bwMode="auto">
          <a:xfrm>
            <a:off x="304800" y="3048000"/>
            <a:ext cx="3505200" cy="581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>
                <a:latin typeface="Courier New" pitchFamily="49" charset="0"/>
              </a:rPr>
              <a:t>select * from tb1 where</a:t>
            </a:r>
            <a:br>
              <a:rPr lang="en-US" altLang="zh-CN" sz="1600">
                <a:latin typeface="Courier New" pitchFamily="49" charset="0"/>
              </a:rPr>
            </a:br>
            <a:r>
              <a:rPr lang="en-US" altLang="zh-CN" sz="1600">
                <a:latin typeface="Courier New" pitchFamily="49" charset="0"/>
              </a:rPr>
              <a:t>     </a:t>
            </a:r>
            <a:r>
              <a:rPr lang="en-US" altLang="zh-CN" sz="1600">
                <a:solidFill>
                  <a:srgbClr val="FF0000"/>
                </a:solidFill>
                <a:latin typeface="Courier New" pitchFamily="49" charset="0"/>
              </a:rPr>
              <a:t>member_id</a:t>
            </a:r>
            <a:r>
              <a:rPr lang="en-US" altLang="zh-CN" sz="1600">
                <a:latin typeface="Courier New" pitchFamily="49" charset="0"/>
              </a:rPr>
              <a:t>=‘</a:t>
            </a:r>
            <a:r>
              <a:rPr lang="en-US" altLang="zh-CN" sz="1600">
                <a:solidFill>
                  <a:srgbClr val="FF0000"/>
                </a:solidFill>
                <a:latin typeface="Courier New" pitchFamily="49" charset="0"/>
              </a:rPr>
              <a:t>test1234</a:t>
            </a:r>
            <a:r>
              <a:rPr lang="en-US" altLang="zh-CN" sz="1600">
                <a:latin typeface="Courier New" pitchFamily="49" charset="0"/>
              </a:rPr>
              <a:t>’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latin typeface="微软雅黑"/>
                <a:ea typeface="微软雅黑"/>
                <a:cs typeface="微软雅黑"/>
              </a:rPr>
              <a:t>拆分表的数据访问</a:t>
            </a:r>
            <a:r>
              <a:rPr lang="en-US" altLang="zh-CN" smtClean="0">
                <a:latin typeface="微软雅黑"/>
                <a:ea typeface="微软雅黑"/>
                <a:cs typeface="微软雅黑"/>
              </a:rPr>
              <a:t>——SQL</a:t>
            </a:r>
            <a:r>
              <a:rPr lang="zh-CN" altLang="en-US" smtClean="0">
                <a:latin typeface="微软雅黑"/>
                <a:ea typeface="微软雅黑"/>
                <a:cs typeface="微软雅黑"/>
              </a:rPr>
              <a:t>转发</a:t>
            </a:r>
          </a:p>
        </p:txBody>
      </p:sp>
      <p:graphicFrame>
        <p:nvGraphicFramePr>
          <p:cNvPr id="329731" name="Group 3"/>
          <p:cNvGraphicFramePr>
            <a:graphicFrameLocks noGrp="1"/>
          </p:cNvGraphicFramePr>
          <p:nvPr/>
        </p:nvGraphicFramePr>
        <p:xfrm>
          <a:off x="6264275" y="1908175"/>
          <a:ext cx="2574925" cy="1828800"/>
        </p:xfrm>
        <a:graphic>
          <a:graphicData uri="http://schemas.openxmlformats.org/drawingml/2006/table">
            <a:tbl>
              <a:tblPr/>
              <a:tblGrid>
                <a:gridCol w="466725"/>
                <a:gridCol w="1377950"/>
                <a:gridCol w="730250"/>
              </a:tblGrid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MEMBE_ID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INFO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pavarotti17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test1234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test1234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pavarotti17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9761" name="Group 33"/>
          <p:cNvGraphicFramePr>
            <a:graphicFrameLocks noGrp="1"/>
          </p:cNvGraphicFramePr>
          <p:nvPr/>
        </p:nvGraphicFramePr>
        <p:xfrm>
          <a:off x="6267450" y="4406900"/>
          <a:ext cx="2520950" cy="1463675"/>
        </p:xfrm>
        <a:graphic>
          <a:graphicData uri="http://schemas.openxmlformats.org/drawingml/2006/table">
            <a:tbl>
              <a:tblPr/>
              <a:tblGrid>
                <a:gridCol w="412750"/>
                <a:gridCol w="1377950"/>
                <a:gridCol w="730250"/>
              </a:tblGrid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MEMBE_ID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INFO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abcd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abcd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68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20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abcd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8178" name="Rectangle 59"/>
          <p:cNvSpPr>
            <a:spLocks noChangeArrowheads="1"/>
          </p:cNvSpPr>
          <p:nvPr/>
        </p:nvSpPr>
        <p:spPr bwMode="auto">
          <a:xfrm>
            <a:off x="2819400" y="3657600"/>
            <a:ext cx="838200" cy="5334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微软雅黑"/>
              </a:rPr>
              <a:t>Cobar</a:t>
            </a:r>
          </a:p>
        </p:txBody>
      </p:sp>
      <p:sp>
        <p:nvSpPr>
          <p:cNvPr id="48179" name="Rectangle 60"/>
          <p:cNvSpPr>
            <a:spLocks noChangeArrowheads="1"/>
          </p:cNvSpPr>
          <p:nvPr/>
        </p:nvSpPr>
        <p:spPr bwMode="auto">
          <a:xfrm>
            <a:off x="381000" y="3657600"/>
            <a:ext cx="762000" cy="5334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微软雅黑"/>
              </a:rPr>
              <a:t>App</a:t>
            </a:r>
          </a:p>
        </p:txBody>
      </p:sp>
      <p:cxnSp>
        <p:nvCxnSpPr>
          <p:cNvPr id="48180" name="AutoShape 61"/>
          <p:cNvCxnSpPr>
            <a:cxnSpLocks noChangeShapeType="1"/>
            <a:stCxn id="48179" idx="3"/>
            <a:endCxn id="48178" idx="1"/>
          </p:cNvCxnSpPr>
          <p:nvPr/>
        </p:nvCxnSpPr>
        <p:spPr bwMode="auto">
          <a:xfrm>
            <a:off x="1143000" y="3924300"/>
            <a:ext cx="16764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48181" name="AutoShape 62"/>
          <p:cNvCxnSpPr>
            <a:cxnSpLocks noChangeShapeType="1"/>
            <a:stCxn id="48178" idx="3"/>
          </p:cNvCxnSpPr>
          <p:nvPr/>
        </p:nvCxnSpPr>
        <p:spPr bwMode="auto">
          <a:xfrm flipV="1">
            <a:off x="3657600" y="2895600"/>
            <a:ext cx="2514600" cy="10287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329791" name="Text Box 63"/>
          <p:cNvSpPr txBox="1">
            <a:spLocks noChangeArrowheads="1"/>
          </p:cNvSpPr>
          <p:nvPr/>
        </p:nvSpPr>
        <p:spPr bwMode="auto">
          <a:xfrm>
            <a:off x="304800" y="3048000"/>
            <a:ext cx="3505200" cy="581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>
                <a:latin typeface="Courier New" pitchFamily="49" charset="0"/>
              </a:rPr>
              <a:t>select * from tb1 where</a:t>
            </a:r>
            <a:br>
              <a:rPr lang="en-US" altLang="zh-CN" sz="1600">
                <a:latin typeface="Courier New" pitchFamily="49" charset="0"/>
              </a:rPr>
            </a:br>
            <a:r>
              <a:rPr lang="en-US" altLang="zh-CN" sz="1600">
                <a:latin typeface="Courier New" pitchFamily="49" charset="0"/>
              </a:rPr>
              <a:t>     </a:t>
            </a:r>
            <a:r>
              <a:rPr lang="en-US" altLang="zh-CN" sz="1600">
                <a:solidFill>
                  <a:srgbClr val="FF0000"/>
                </a:solidFill>
                <a:latin typeface="Courier New" pitchFamily="49" charset="0"/>
              </a:rPr>
              <a:t>member_id</a:t>
            </a:r>
            <a:r>
              <a:rPr lang="en-US" altLang="zh-CN" sz="1600">
                <a:latin typeface="Courier New" pitchFamily="49" charset="0"/>
              </a:rPr>
              <a:t>=‘</a:t>
            </a:r>
            <a:r>
              <a:rPr lang="en-US" altLang="zh-CN" sz="1600">
                <a:solidFill>
                  <a:srgbClr val="FF0000"/>
                </a:solidFill>
                <a:latin typeface="Courier New" pitchFamily="49" charset="0"/>
              </a:rPr>
              <a:t>test1234</a:t>
            </a:r>
            <a:r>
              <a:rPr lang="en-US" altLang="zh-CN" sz="1600">
                <a:latin typeface="Courier New" pitchFamily="49" charset="0"/>
              </a:rPr>
              <a:t>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556E-17 -4.44444E-6 L 0.29167 -0.03333 " pathEditMode="relative" ptsTypes="AA">
                                      <p:cBhvr>
                                        <p:cTn id="6" dur="100" fill="hold"/>
                                        <p:tgtEl>
                                          <p:spTgt spid="3297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979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3522" name="Group 2"/>
          <p:cNvGraphicFramePr>
            <a:graphicFrameLocks noGrp="1"/>
          </p:cNvGraphicFramePr>
          <p:nvPr/>
        </p:nvGraphicFramePr>
        <p:xfrm>
          <a:off x="6324600" y="2060575"/>
          <a:ext cx="2574925" cy="1828800"/>
        </p:xfrm>
        <a:graphic>
          <a:graphicData uri="http://schemas.openxmlformats.org/drawingml/2006/table">
            <a:tbl>
              <a:tblPr/>
              <a:tblGrid>
                <a:gridCol w="466725"/>
                <a:gridCol w="1377950"/>
                <a:gridCol w="730250"/>
              </a:tblGrid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MEMBE_ID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INFO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pavarotti17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test1234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test1234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pavarotti17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63552" name="Group 32"/>
          <p:cNvGraphicFramePr>
            <a:graphicFrameLocks noGrp="1"/>
          </p:cNvGraphicFramePr>
          <p:nvPr/>
        </p:nvGraphicFramePr>
        <p:xfrm>
          <a:off x="6327775" y="4559300"/>
          <a:ext cx="2520950" cy="1463675"/>
        </p:xfrm>
        <a:graphic>
          <a:graphicData uri="http://schemas.openxmlformats.org/drawingml/2006/table">
            <a:tbl>
              <a:tblPr/>
              <a:tblGrid>
                <a:gridCol w="412750"/>
                <a:gridCol w="1377950"/>
                <a:gridCol w="730250"/>
              </a:tblGrid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MEMBE_ID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INFO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abcd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abcd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68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20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abcd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9201" name="Rectangle 58"/>
          <p:cNvSpPr>
            <a:spLocks noChangeArrowheads="1"/>
          </p:cNvSpPr>
          <p:nvPr/>
        </p:nvSpPr>
        <p:spPr bwMode="auto">
          <a:xfrm>
            <a:off x="2971800" y="3810000"/>
            <a:ext cx="838200" cy="5334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微软雅黑"/>
              </a:rPr>
              <a:t>Cobar</a:t>
            </a:r>
          </a:p>
        </p:txBody>
      </p:sp>
      <p:sp>
        <p:nvSpPr>
          <p:cNvPr id="49202" name="Rectangle 59"/>
          <p:cNvSpPr>
            <a:spLocks noChangeArrowheads="1"/>
          </p:cNvSpPr>
          <p:nvPr/>
        </p:nvSpPr>
        <p:spPr bwMode="auto">
          <a:xfrm>
            <a:off x="533400" y="3810000"/>
            <a:ext cx="762000" cy="5334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微软雅黑"/>
              </a:rPr>
              <a:t>App</a:t>
            </a:r>
          </a:p>
        </p:txBody>
      </p:sp>
      <p:cxnSp>
        <p:nvCxnSpPr>
          <p:cNvPr id="49203" name="AutoShape 60"/>
          <p:cNvCxnSpPr>
            <a:cxnSpLocks noChangeShapeType="1"/>
            <a:stCxn id="49202" idx="3"/>
            <a:endCxn id="49201" idx="1"/>
          </p:cNvCxnSpPr>
          <p:nvPr/>
        </p:nvCxnSpPr>
        <p:spPr bwMode="auto">
          <a:xfrm>
            <a:off x="1295400" y="4076700"/>
            <a:ext cx="16764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49204" name="Text Box 63"/>
          <p:cNvSpPr txBox="1">
            <a:spLocks noChangeArrowheads="1"/>
          </p:cNvSpPr>
          <p:nvPr/>
        </p:nvSpPr>
        <p:spPr bwMode="auto">
          <a:xfrm>
            <a:off x="152400" y="2819400"/>
            <a:ext cx="4343400" cy="8255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>
                <a:latin typeface="Courier New" pitchFamily="49" charset="0"/>
              </a:rPr>
              <a:t>SELECT * FROM tb1 </a:t>
            </a:r>
            <a:br>
              <a:rPr lang="en-US" altLang="zh-CN" sz="1600">
                <a:latin typeface="Courier New" pitchFamily="49" charset="0"/>
              </a:rPr>
            </a:br>
            <a:r>
              <a:rPr lang="en-US" altLang="zh-CN" sz="1600">
                <a:latin typeface="Courier New" pitchFamily="49" charset="0"/>
              </a:rPr>
              <a:t> WHERE </a:t>
            </a:r>
            <a:r>
              <a:rPr lang="en-US" altLang="zh-CN" sz="1600">
                <a:solidFill>
                  <a:srgbClr val="FF0000"/>
                </a:solidFill>
                <a:latin typeface="Courier New" pitchFamily="49" charset="0"/>
              </a:rPr>
              <a:t>member_id</a:t>
            </a:r>
            <a:r>
              <a:rPr lang="en-US" altLang="zh-CN" sz="1600">
                <a:latin typeface="Courier New" pitchFamily="49" charset="0"/>
              </a:rPr>
              <a:t> IN </a:t>
            </a:r>
            <a:br>
              <a:rPr lang="en-US" altLang="zh-CN" sz="1600">
                <a:latin typeface="Courier New" pitchFamily="49" charset="0"/>
              </a:rPr>
            </a:br>
            <a:r>
              <a:rPr lang="en-US" altLang="zh-CN" sz="1600">
                <a:latin typeface="Courier New" pitchFamily="49" charset="0"/>
              </a:rPr>
              <a:t> (‘test1234’,’pavarotti17’,’abcd’)</a:t>
            </a:r>
          </a:p>
        </p:txBody>
      </p:sp>
      <p:sp>
        <p:nvSpPr>
          <p:cNvPr id="49205" name="Rectangle 6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latin typeface="微软雅黑"/>
                <a:ea typeface="微软雅黑"/>
                <a:cs typeface="微软雅黑"/>
              </a:rPr>
              <a:t>拆分表的数据访问</a:t>
            </a:r>
            <a:r>
              <a:rPr lang="en-US" altLang="zh-CN" smtClean="0">
                <a:latin typeface="微软雅黑"/>
                <a:ea typeface="微软雅黑"/>
                <a:cs typeface="微软雅黑"/>
              </a:rPr>
              <a:t>——SQL</a:t>
            </a:r>
            <a:r>
              <a:rPr lang="zh-CN" altLang="en-US" smtClean="0">
                <a:latin typeface="微软雅黑"/>
                <a:ea typeface="微软雅黑"/>
                <a:cs typeface="微软雅黑"/>
              </a:rPr>
              <a:t>转发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5570" name="Group 2"/>
          <p:cNvGraphicFramePr>
            <a:graphicFrameLocks noGrp="1"/>
          </p:cNvGraphicFramePr>
          <p:nvPr/>
        </p:nvGraphicFramePr>
        <p:xfrm>
          <a:off x="6324600" y="2060575"/>
          <a:ext cx="2574925" cy="1828800"/>
        </p:xfrm>
        <a:graphic>
          <a:graphicData uri="http://schemas.openxmlformats.org/drawingml/2006/table">
            <a:tbl>
              <a:tblPr/>
              <a:tblGrid>
                <a:gridCol w="466725"/>
                <a:gridCol w="1377950"/>
                <a:gridCol w="730250"/>
              </a:tblGrid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MEMBE_ID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INFO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pavarotti17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test1234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test1234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pavarotti17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65600" name="Group 32"/>
          <p:cNvGraphicFramePr>
            <a:graphicFrameLocks noGrp="1"/>
          </p:cNvGraphicFramePr>
          <p:nvPr/>
        </p:nvGraphicFramePr>
        <p:xfrm>
          <a:off x="6327775" y="4559300"/>
          <a:ext cx="2520950" cy="1463675"/>
        </p:xfrm>
        <a:graphic>
          <a:graphicData uri="http://schemas.openxmlformats.org/drawingml/2006/table">
            <a:tbl>
              <a:tblPr/>
              <a:tblGrid>
                <a:gridCol w="412750"/>
                <a:gridCol w="1377950"/>
                <a:gridCol w="730250"/>
              </a:tblGrid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MEMBE_ID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INFO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abcd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abcd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68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20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abcd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0225" name="Rectangle 58"/>
          <p:cNvSpPr>
            <a:spLocks noChangeArrowheads="1"/>
          </p:cNvSpPr>
          <p:nvPr/>
        </p:nvSpPr>
        <p:spPr bwMode="auto">
          <a:xfrm>
            <a:off x="2971800" y="3810000"/>
            <a:ext cx="838200" cy="5334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微软雅黑"/>
              </a:rPr>
              <a:t>Cobar</a:t>
            </a:r>
          </a:p>
        </p:txBody>
      </p:sp>
      <p:sp>
        <p:nvSpPr>
          <p:cNvPr id="50226" name="Rectangle 59"/>
          <p:cNvSpPr>
            <a:spLocks noChangeArrowheads="1"/>
          </p:cNvSpPr>
          <p:nvPr/>
        </p:nvSpPr>
        <p:spPr bwMode="auto">
          <a:xfrm>
            <a:off x="533400" y="3810000"/>
            <a:ext cx="762000" cy="5334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微软雅黑"/>
              </a:rPr>
              <a:t>App</a:t>
            </a:r>
          </a:p>
        </p:txBody>
      </p:sp>
      <p:cxnSp>
        <p:nvCxnSpPr>
          <p:cNvPr id="50227" name="AutoShape 60"/>
          <p:cNvCxnSpPr>
            <a:cxnSpLocks noChangeShapeType="1"/>
            <a:stCxn id="50226" idx="3"/>
            <a:endCxn id="50225" idx="1"/>
          </p:cNvCxnSpPr>
          <p:nvPr/>
        </p:nvCxnSpPr>
        <p:spPr bwMode="auto">
          <a:xfrm>
            <a:off x="1295400" y="4076700"/>
            <a:ext cx="16764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50228" name="AutoShape 61"/>
          <p:cNvCxnSpPr>
            <a:cxnSpLocks noChangeShapeType="1"/>
            <a:stCxn id="50225" idx="3"/>
          </p:cNvCxnSpPr>
          <p:nvPr/>
        </p:nvCxnSpPr>
        <p:spPr bwMode="auto">
          <a:xfrm flipV="1">
            <a:off x="3810000" y="2973388"/>
            <a:ext cx="2514600" cy="11033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50229" name="AutoShape 62"/>
          <p:cNvCxnSpPr>
            <a:cxnSpLocks noChangeShapeType="1"/>
            <a:stCxn id="50225" idx="3"/>
          </p:cNvCxnSpPr>
          <p:nvPr/>
        </p:nvCxnSpPr>
        <p:spPr bwMode="auto">
          <a:xfrm>
            <a:off x="3810000" y="4076700"/>
            <a:ext cx="2517775" cy="13954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50230" name="Text Box 63"/>
          <p:cNvSpPr txBox="1">
            <a:spLocks noChangeArrowheads="1"/>
          </p:cNvSpPr>
          <p:nvPr/>
        </p:nvSpPr>
        <p:spPr bwMode="auto">
          <a:xfrm>
            <a:off x="3048000" y="2819400"/>
            <a:ext cx="3429000" cy="8255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>
                <a:latin typeface="Courier New" pitchFamily="49" charset="0"/>
              </a:rPr>
              <a:t>select * from tb1</a:t>
            </a:r>
            <a:br>
              <a:rPr lang="en-US" altLang="zh-CN" sz="1600">
                <a:latin typeface="Courier New" pitchFamily="49" charset="0"/>
              </a:rPr>
            </a:br>
            <a:r>
              <a:rPr lang="en-US" altLang="zh-CN" sz="1600">
                <a:latin typeface="Courier New" pitchFamily="49" charset="0"/>
              </a:rPr>
              <a:t> where </a:t>
            </a:r>
            <a:r>
              <a:rPr lang="en-US" altLang="zh-CN" sz="1600">
                <a:solidFill>
                  <a:srgbClr val="FF0000"/>
                </a:solidFill>
                <a:latin typeface="Courier New" pitchFamily="49" charset="0"/>
              </a:rPr>
              <a:t>member_id</a:t>
            </a:r>
            <a:r>
              <a:rPr lang="en-US" altLang="zh-CN" sz="1600">
                <a:latin typeface="Courier New" pitchFamily="49" charset="0"/>
              </a:rPr>
              <a:t> in </a:t>
            </a:r>
            <a:br>
              <a:rPr lang="en-US" altLang="zh-CN" sz="1600">
                <a:latin typeface="Courier New" pitchFamily="49" charset="0"/>
              </a:rPr>
            </a:br>
            <a:r>
              <a:rPr lang="en-US" altLang="zh-CN" sz="1600">
                <a:latin typeface="Courier New" pitchFamily="49" charset="0"/>
              </a:rPr>
              <a:t>(‘test1234’,’pavarotti17’)</a:t>
            </a:r>
          </a:p>
        </p:txBody>
      </p:sp>
      <p:sp>
        <p:nvSpPr>
          <p:cNvPr id="50231" name="Text Box 64"/>
          <p:cNvSpPr txBox="1">
            <a:spLocks noChangeArrowheads="1"/>
          </p:cNvSpPr>
          <p:nvPr/>
        </p:nvSpPr>
        <p:spPr bwMode="auto">
          <a:xfrm>
            <a:off x="3505200" y="4572000"/>
            <a:ext cx="3124200" cy="8255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>
                <a:latin typeface="Courier New" pitchFamily="49" charset="0"/>
              </a:rPr>
              <a:t>select * from tb1</a:t>
            </a:r>
            <a:br>
              <a:rPr lang="en-US" altLang="zh-CN" sz="1600">
                <a:latin typeface="Courier New" pitchFamily="49" charset="0"/>
              </a:rPr>
            </a:br>
            <a:r>
              <a:rPr lang="en-US" altLang="zh-CN" sz="1600">
                <a:latin typeface="Courier New" pitchFamily="49" charset="0"/>
              </a:rPr>
              <a:t> where </a:t>
            </a:r>
            <a:r>
              <a:rPr lang="en-US" altLang="zh-CN" sz="1600">
                <a:solidFill>
                  <a:srgbClr val="FF0000"/>
                </a:solidFill>
                <a:latin typeface="Courier New" pitchFamily="49" charset="0"/>
              </a:rPr>
              <a:t>member_id</a:t>
            </a:r>
            <a:r>
              <a:rPr lang="en-US" altLang="zh-CN" sz="1600">
                <a:latin typeface="Courier New" pitchFamily="49" charset="0"/>
              </a:rPr>
              <a:t> in </a:t>
            </a:r>
            <a:br>
              <a:rPr lang="en-US" altLang="zh-CN" sz="1600">
                <a:latin typeface="Courier New" pitchFamily="49" charset="0"/>
              </a:rPr>
            </a:br>
            <a:r>
              <a:rPr lang="en-US" altLang="zh-CN" sz="1600">
                <a:latin typeface="Courier New" pitchFamily="49" charset="0"/>
              </a:rPr>
              <a:t> (‘abcd’)</a:t>
            </a:r>
          </a:p>
        </p:txBody>
      </p:sp>
      <p:sp>
        <p:nvSpPr>
          <p:cNvPr id="50232" name="Rectangle 6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latin typeface="微软雅黑"/>
                <a:ea typeface="微软雅黑"/>
                <a:cs typeface="微软雅黑"/>
              </a:rPr>
              <a:t>拆分表的数据访问</a:t>
            </a:r>
            <a:r>
              <a:rPr lang="en-US" altLang="zh-CN" smtClean="0">
                <a:latin typeface="微软雅黑"/>
                <a:ea typeface="微软雅黑"/>
                <a:cs typeface="微软雅黑"/>
              </a:rPr>
              <a:t>——SQL</a:t>
            </a:r>
            <a:r>
              <a:rPr lang="zh-CN" altLang="en-US" smtClean="0">
                <a:latin typeface="微软雅黑"/>
                <a:ea typeface="微软雅黑"/>
                <a:cs typeface="微软雅黑"/>
              </a:rPr>
              <a:t>转发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4546" name="Group 2"/>
          <p:cNvGraphicFramePr>
            <a:graphicFrameLocks noGrp="1"/>
          </p:cNvGraphicFramePr>
          <p:nvPr/>
        </p:nvGraphicFramePr>
        <p:xfrm>
          <a:off x="6324600" y="2060575"/>
          <a:ext cx="2574925" cy="1828800"/>
        </p:xfrm>
        <a:graphic>
          <a:graphicData uri="http://schemas.openxmlformats.org/drawingml/2006/table">
            <a:tbl>
              <a:tblPr/>
              <a:tblGrid>
                <a:gridCol w="466725"/>
                <a:gridCol w="1377950"/>
                <a:gridCol w="730250"/>
              </a:tblGrid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MEMBE_ID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INFO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pavarotti17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test1234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test1234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pavarotti17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64576" name="Group 32"/>
          <p:cNvGraphicFramePr>
            <a:graphicFrameLocks noGrp="1"/>
          </p:cNvGraphicFramePr>
          <p:nvPr/>
        </p:nvGraphicFramePr>
        <p:xfrm>
          <a:off x="6327775" y="4559300"/>
          <a:ext cx="2520950" cy="1463675"/>
        </p:xfrm>
        <a:graphic>
          <a:graphicData uri="http://schemas.openxmlformats.org/drawingml/2006/table">
            <a:tbl>
              <a:tblPr/>
              <a:tblGrid>
                <a:gridCol w="412750"/>
                <a:gridCol w="1377950"/>
                <a:gridCol w="730250"/>
              </a:tblGrid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MEMBE_ID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INFO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abcd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abcd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68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20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abcd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1249" name="Rectangle 58"/>
          <p:cNvSpPr>
            <a:spLocks noChangeArrowheads="1"/>
          </p:cNvSpPr>
          <p:nvPr/>
        </p:nvSpPr>
        <p:spPr bwMode="auto">
          <a:xfrm>
            <a:off x="2895600" y="3657600"/>
            <a:ext cx="1143000" cy="9144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微软雅黑"/>
              </a:rPr>
              <a:t>Result</a:t>
            </a:r>
            <a:br>
              <a:rPr lang="en-US" altLang="zh-CN">
                <a:latin typeface="微软雅黑"/>
              </a:rPr>
            </a:br>
            <a:r>
              <a:rPr lang="en-US" altLang="zh-CN">
                <a:latin typeface="微软雅黑"/>
              </a:rPr>
              <a:t>Merger</a:t>
            </a:r>
          </a:p>
        </p:txBody>
      </p:sp>
      <p:sp>
        <p:nvSpPr>
          <p:cNvPr id="51250" name="Rectangle 59"/>
          <p:cNvSpPr>
            <a:spLocks noChangeArrowheads="1"/>
          </p:cNvSpPr>
          <p:nvPr/>
        </p:nvSpPr>
        <p:spPr bwMode="auto">
          <a:xfrm>
            <a:off x="533400" y="3733800"/>
            <a:ext cx="762000" cy="7620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latin typeface="微软雅黑"/>
              </a:rPr>
              <a:t>前台</a:t>
            </a:r>
            <a:br>
              <a:rPr lang="zh-CN" altLang="en-US">
                <a:latin typeface="微软雅黑"/>
              </a:rPr>
            </a:br>
            <a:r>
              <a:rPr lang="zh-CN" altLang="en-US">
                <a:latin typeface="微软雅黑"/>
              </a:rPr>
              <a:t>通信</a:t>
            </a:r>
          </a:p>
        </p:txBody>
      </p:sp>
      <p:cxnSp>
        <p:nvCxnSpPr>
          <p:cNvPr id="51251" name="AutoShape 60"/>
          <p:cNvCxnSpPr>
            <a:cxnSpLocks noChangeShapeType="1"/>
            <a:stCxn id="51250" idx="3"/>
            <a:endCxn id="51249" idx="1"/>
          </p:cNvCxnSpPr>
          <p:nvPr/>
        </p:nvCxnSpPr>
        <p:spPr bwMode="auto">
          <a:xfrm>
            <a:off x="1295400" y="4114800"/>
            <a:ext cx="16002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</p:cxnSp>
      <p:cxnSp>
        <p:nvCxnSpPr>
          <p:cNvPr id="51252" name="AutoShape 61"/>
          <p:cNvCxnSpPr>
            <a:cxnSpLocks noChangeShapeType="1"/>
            <a:stCxn id="51249" idx="3"/>
          </p:cNvCxnSpPr>
          <p:nvPr/>
        </p:nvCxnSpPr>
        <p:spPr bwMode="auto">
          <a:xfrm flipV="1">
            <a:off x="4038600" y="2973388"/>
            <a:ext cx="2286000" cy="11414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</p:cxnSp>
      <p:cxnSp>
        <p:nvCxnSpPr>
          <p:cNvPr id="51253" name="AutoShape 62"/>
          <p:cNvCxnSpPr>
            <a:cxnSpLocks noChangeShapeType="1"/>
            <a:stCxn id="51249" idx="3"/>
          </p:cNvCxnSpPr>
          <p:nvPr/>
        </p:nvCxnSpPr>
        <p:spPr bwMode="auto">
          <a:xfrm>
            <a:off x="4038600" y="4114800"/>
            <a:ext cx="2289175" cy="13573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</p:cxnSp>
      <p:sp>
        <p:nvSpPr>
          <p:cNvPr id="51254" name="Text Box 63"/>
          <p:cNvSpPr txBox="1">
            <a:spLocks noChangeArrowheads="1"/>
          </p:cNvSpPr>
          <p:nvPr/>
        </p:nvSpPr>
        <p:spPr bwMode="auto">
          <a:xfrm>
            <a:off x="4419600" y="2895600"/>
            <a:ext cx="1447800" cy="8255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zh-CN" sz="1600">
                <a:latin typeface="Courier New" pitchFamily="49" charset="0"/>
              </a:rPr>
              <a:t>ResultSet:row1</a:t>
            </a:r>
            <a:br>
              <a:rPr lang="en-US" altLang="zh-CN" sz="1600">
                <a:latin typeface="Courier New" pitchFamily="49" charset="0"/>
              </a:rPr>
            </a:br>
            <a:r>
              <a:rPr lang="en-US" altLang="zh-CN" sz="1600">
                <a:latin typeface="Courier New" pitchFamily="49" charset="0"/>
              </a:rPr>
              <a:t>row2</a:t>
            </a:r>
          </a:p>
        </p:txBody>
      </p:sp>
      <p:sp>
        <p:nvSpPr>
          <p:cNvPr id="51255" name="Text Box 64"/>
          <p:cNvSpPr txBox="1">
            <a:spLocks noChangeArrowheads="1"/>
          </p:cNvSpPr>
          <p:nvPr/>
        </p:nvSpPr>
        <p:spPr bwMode="auto">
          <a:xfrm>
            <a:off x="4419600" y="4343400"/>
            <a:ext cx="1447800" cy="10699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zh-CN" sz="1600">
                <a:latin typeface="Courier New" pitchFamily="49" charset="0"/>
              </a:rPr>
              <a:t>ResultSet:row3</a:t>
            </a:r>
            <a:br>
              <a:rPr lang="en-US" altLang="zh-CN" sz="1600">
                <a:latin typeface="Courier New" pitchFamily="49" charset="0"/>
              </a:rPr>
            </a:br>
            <a:r>
              <a:rPr lang="en-US" altLang="zh-CN" sz="1600">
                <a:latin typeface="Courier New" pitchFamily="49" charset="0"/>
              </a:rPr>
              <a:t>row4</a:t>
            </a:r>
            <a:br>
              <a:rPr lang="en-US" altLang="zh-CN" sz="1600">
                <a:latin typeface="Courier New" pitchFamily="49" charset="0"/>
              </a:rPr>
            </a:br>
            <a:r>
              <a:rPr lang="en-US" altLang="zh-CN" sz="1600">
                <a:latin typeface="Courier New" pitchFamily="49" charset="0"/>
              </a:rPr>
              <a:t>row5</a:t>
            </a:r>
          </a:p>
        </p:txBody>
      </p:sp>
      <p:sp>
        <p:nvSpPr>
          <p:cNvPr id="51256" name="Line 65"/>
          <p:cNvSpPr>
            <a:spLocks noChangeShapeType="1"/>
          </p:cNvSpPr>
          <p:nvPr/>
        </p:nvSpPr>
        <p:spPr bwMode="auto">
          <a:xfrm flipH="1">
            <a:off x="228600" y="41148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57" name="Text Box 66"/>
          <p:cNvSpPr txBox="1">
            <a:spLocks noChangeArrowheads="1"/>
          </p:cNvSpPr>
          <p:nvPr/>
        </p:nvSpPr>
        <p:spPr bwMode="auto">
          <a:xfrm>
            <a:off x="1295400" y="3352800"/>
            <a:ext cx="1447800" cy="15589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zh-CN" sz="1600">
                <a:latin typeface="Courier New" pitchFamily="49" charset="0"/>
              </a:rPr>
              <a:t>ResultSet:row3</a:t>
            </a:r>
            <a:br>
              <a:rPr lang="en-US" altLang="zh-CN" sz="1600">
                <a:latin typeface="Courier New" pitchFamily="49" charset="0"/>
              </a:rPr>
            </a:br>
            <a:r>
              <a:rPr lang="en-US" altLang="zh-CN" sz="1600">
                <a:latin typeface="Courier New" pitchFamily="49" charset="0"/>
              </a:rPr>
              <a:t>row1</a:t>
            </a:r>
            <a:br>
              <a:rPr lang="en-US" altLang="zh-CN" sz="1600">
                <a:latin typeface="Courier New" pitchFamily="49" charset="0"/>
              </a:rPr>
            </a:br>
            <a:r>
              <a:rPr lang="en-US" altLang="zh-CN" sz="1600">
                <a:latin typeface="Courier New" pitchFamily="49" charset="0"/>
              </a:rPr>
              <a:t>row4</a:t>
            </a:r>
            <a:br>
              <a:rPr lang="en-US" altLang="zh-CN" sz="1600">
                <a:latin typeface="Courier New" pitchFamily="49" charset="0"/>
              </a:rPr>
            </a:br>
            <a:r>
              <a:rPr lang="en-US" altLang="zh-CN" sz="1600">
                <a:latin typeface="Courier New" pitchFamily="49" charset="0"/>
              </a:rPr>
              <a:t>row5</a:t>
            </a:r>
            <a:br>
              <a:rPr lang="en-US" altLang="zh-CN" sz="1600">
                <a:latin typeface="Courier New" pitchFamily="49" charset="0"/>
              </a:rPr>
            </a:br>
            <a:r>
              <a:rPr lang="en-US" altLang="zh-CN" sz="1600">
                <a:latin typeface="Courier New" pitchFamily="49" charset="0"/>
              </a:rPr>
              <a:t>row2</a:t>
            </a:r>
          </a:p>
        </p:txBody>
      </p:sp>
      <p:sp>
        <p:nvSpPr>
          <p:cNvPr id="51258" name="Rectangle 6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 eaLnBrk="1" hangingPunct="1"/>
            <a:r>
              <a:rPr lang="zh-CN" altLang="en-US" smtClean="0">
                <a:latin typeface="微软雅黑"/>
                <a:ea typeface="微软雅黑"/>
                <a:cs typeface="微软雅黑"/>
              </a:rPr>
              <a:t>拆分表的数据访问</a:t>
            </a:r>
            <a:r>
              <a:rPr lang="en-US" altLang="zh-CN" smtClean="0">
                <a:latin typeface="微软雅黑"/>
                <a:ea typeface="微软雅黑"/>
                <a:cs typeface="微软雅黑"/>
              </a:rPr>
              <a:t>——</a:t>
            </a:r>
            <a:r>
              <a:rPr lang="zh-CN" altLang="en-US" smtClean="0">
                <a:latin typeface="微软雅黑"/>
                <a:ea typeface="微软雅黑"/>
                <a:cs typeface="微软雅黑"/>
              </a:rPr>
              <a:t>结果返回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smtClean="0">
                <a:latin typeface="微软雅黑"/>
                <a:ea typeface="微软雅黑"/>
                <a:cs typeface="微软雅黑"/>
              </a:rPr>
              <a:t>多维水平拆分</a:t>
            </a:r>
          </a:p>
        </p:txBody>
      </p:sp>
      <p:sp>
        <p:nvSpPr>
          <p:cNvPr id="52226" name="Text Box 3"/>
          <p:cNvSpPr txBox="1">
            <a:spLocks noChangeArrowheads="1"/>
          </p:cNvSpPr>
          <p:nvPr/>
        </p:nvSpPr>
        <p:spPr bwMode="auto">
          <a:xfrm>
            <a:off x="990600" y="1752600"/>
            <a:ext cx="1447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000">
                <a:ea typeface="宋体" charset="-122"/>
              </a:rPr>
              <a:t>visit</a:t>
            </a:r>
            <a:r>
              <a:rPr lang="zh-CN" altLang="en-US" sz="2000">
                <a:ea typeface="宋体" charset="-122"/>
              </a:rPr>
              <a:t>表</a:t>
            </a:r>
          </a:p>
        </p:txBody>
      </p:sp>
      <p:graphicFrame>
        <p:nvGraphicFramePr>
          <p:cNvPr id="436418" name="Group 194"/>
          <p:cNvGraphicFramePr>
            <a:graphicFrameLocks noGrp="1"/>
          </p:cNvGraphicFramePr>
          <p:nvPr/>
        </p:nvGraphicFramePr>
        <p:xfrm>
          <a:off x="533400" y="2200275"/>
          <a:ext cx="2622550" cy="3292475"/>
        </p:xfrm>
        <a:graphic>
          <a:graphicData uri="http://schemas.openxmlformats.org/drawingml/2006/table">
            <a:tbl>
              <a:tblPr/>
              <a:tblGrid>
                <a:gridCol w="1162050"/>
                <a:gridCol w="730250"/>
                <a:gridCol w="730250"/>
              </a:tblGrid>
              <a:tr h="363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微软雅黑"/>
                          <a:cs typeface="微软雅黑"/>
                        </a:rPr>
                        <a:t>product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微软雅黑"/>
                          <a:cs typeface="微软雅黑"/>
                        </a:rPr>
                        <a:t>user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微软雅黑"/>
                          <a:cs typeface="微软雅黑"/>
                        </a:rPr>
                        <a:t>info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Coca-Cola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3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nsolas" pitchFamily="49" charset="0"/>
                          <a:ea typeface="幼圆" pitchFamily="49" charset="-122"/>
                          <a:cs typeface="微软雅黑"/>
                        </a:rPr>
                        <a:t>pepsi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C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3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D27D00"/>
                          </a:solidFill>
                          <a:effectLst/>
                          <a:latin typeface="Comic Sans MS" pitchFamily="66" charset="0"/>
                          <a:ea typeface="微软雅黑"/>
                          <a:cs typeface="微软雅黑"/>
                        </a:rPr>
                        <a:t>Fanta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Coca-Cola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3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Coca-Cola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C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3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D27D00"/>
                          </a:solidFill>
                          <a:effectLst/>
                          <a:latin typeface="Comic Sans MS" pitchFamily="66" charset="0"/>
                          <a:ea typeface="微软雅黑"/>
                          <a:cs typeface="微软雅黑"/>
                        </a:rPr>
                        <a:t>Fanta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B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7Up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3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nsolas" pitchFamily="49" charset="0"/>
                          <a:ea typeface="幼圆" pitchFamily="49" charset="-122"/>
                          <a:cs typeface="微软雅黑"/>
                        </a:rPr>
                        <a:t>pepsi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36270" name="Group 46"/>
          <p:cNvGraphicFramePr>
            <a:graphicFrameLocks noGrp="1"/>
          </p:cNvGraphicFramePr>
          <p:nvPr/>
        </p:nvGraphicFramePr>
        <p:xfrm>
          <a:off x="6096000" y="1143000"/>
          <a:ext cx="2622550" cy="1463675"/>
        </p:xfrm>
        <a:graphic>
          <a:graphicData uri="http://schemas.openxmlformats.org/drawingml/2006/table">
            <a:tbl>
              <a:tblPr/>
              <a:tblGrid>
                <a:gridCol w="1162050"/>
                <a:gridCol w="730250"/>
                <a:gridCol w="730250"/>
              </a:tblGrid>
              <a:tr h="363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微软雅黑"/>
                          <a:cs typeface="微软雅黑"/>
                        </a:rPr>
                        <a:t>product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微软雅黑"/>
                          <a:cs typeface="微软雅黑"/>
                        </a:rPr>
                        <a:t>user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微软雅黑"/>
                          <a:cs typeface="微软雅黑"/>
                        </a:rPr>
                        <a:t>info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Coca-Cola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A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Coca-Cola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A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3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Coca-Cola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C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36292" name="Group 68"/>
          <p:cNvGraphicFramePr>
            <a:graphicFrameLocks noGrp="1"/>
          </p:cNvGraphicFramePr>
          <p:nvPr/>
        </p:nvGraphicFramePr>
        <p:xfrm>
          <a:off x="6096000" y="2809875"/>
          <a:ext cx="2622550" cy="1096963"/>
        </p:xfrm>
        <a:graphic>
          <a:graphicData uri="http://schemas.openxmlformats.org/drawingml/2006/table">
            <a:tbl>
              <a:tblPr/>
              <a:tblGrid>
                <a:gridCol w="1162050"/>
                <a:gridCol w="730250"/>
                <a:gridCol w="730250"/>
              </a:tblGrid>
              <a:tr h="363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微软雅黑"/>
                          <a:cs typeface="微软雅黑"/>
                        </a:rPr>
                        <a:t>product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微软雅黑"/>
                          <a:cs typeface="微软雅黑"/>
                        </a:rPr>
                        <a:t>user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微软雅黑"/>
                          <a:cs typeface="微软雅黑"/>
                        </a:rPr>
                        <a:t>info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</a:tr>
              <a:tr h="363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nsolas" pitchFamily="49" charset="0"/>
                          <a:ea typeface="幼圆" pitchFamily="49" charset="-122"/>
                          <a:cs typeface="微软雅黑"/>
                        </a:rPr>
                        <a:t>pepsi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C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3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nsolas" pitchFamily="49" charset="0"/>
                          <a:ea typeface="幼圆" pitchFamily="49" charset="-122"/>
                          <a:cs typeface="微软雅黑"/>
                        </a:rPr>
                        <a:t>pepsi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A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36310" name="Group 86"/>
          <p:cNvGraphicFramePr>
            <a:graphicFrameLocks noGrp="1"/>
          </p:cNvGraphicFramePr>
          <p:nvPr/>
        </p:nvGraphicFramePr>
        <p:xfrm>
          <a:off x="6096000" y="4191000"/>
          <a:ext cx="2622550" cy="1096963"/>
        </p:xfrm>
        <a:graphic>
          <a:graphicData uri="http://schemas.openxmlformats.org/drawingml/2006/table">
            <a:tbl>
              <a:tblPr/>
              <a:tblGrid>
                <a:gridCol w="1162050"/>
                <a:gridCol w="730250"/>
                <a:gridCol w="730250"/>
              </a:tblGrid>
              <a:tr h="363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微软雅黑"/>
                          <a:cs typeface="微软雅黑"/>
                        </a:rPr>
                        <a:t>product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微软雅黑"/>
                          <a:cs typeface="微软雅黑"/>
                        </a:rPr>
                        <a:t>user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微软雅黑"/>
                          <a:cs typeface="微软雅黑"/>
                        </a:rPr>
                        <a:t>info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</a:tr>
              <a:tr h="363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D27D00"/>
                          </a:solidFill>
                          <a:effectLst/>
                          <a:latin typeface="Comic Sans MS" pitchFamily="66" charset="0"/>
                          <a:ea typeface="微软雅黑"/>
                          <a:cs typeface="微软雅黑"/>
                        </a:rPr>
                        <a:t>Fanta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3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D27D00"/>
                          </a:solidFill>
                          <a:effectLst/>
                          <a:latin typeface="Comic Sans MS" pitchFamily="66" charset="0"/>
                          <a:ea typeface="微软雅黑"/>
                          <a:cs typeface="微软雅黑"/>
                        </a:rPr>
                        <a:t>Fanta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B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36328" name="Group 104"/>
          <p:cNvGraphicFramePr>
            <a:graphicFrameLocks noGrp="1"/>
          </p:cNvGraphicFramePr>
          <p:nvPr/>
        </p:nvGraphicFramePr>
        <p:xfrm>
          <a:off x="6096000" y="5518150"/>
          <a:ext cx="2622550" cy="731838"/>
        </p:xfrm>
        <a:graphic>
          <a:graphicData uri="http://schemas.openxmlformats.org/drawingml/2006/table">
            <a:tbl>
              <a:tblPr/>
              <a:tblGrid>
                <a:gridCol w="1162050"/>
                <a:gridCol w="730250"/>
                <a:gridCol w="730250"/>
              </a:tblGrid>
              <a:tr h="363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微软雅黑"/>
                          <a:cs typeface="微软雅黑"/>
                        </a:rPr>
                        <a:t>product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微软雅黑"/>
                          <a:cs typeface="微软雅黑"/>
                        </a:rPr>
                        <a:t>user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微软雅黑"/>
                          <a:cs typeface="微软雅黑"/>
                        </a:rPr>
                        <a:t>info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7Up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cxnSp>
        <p:nvCxnSpPr>
          <p:cNvPr id="52343" name="AutoShape 118"/>
          <p:cNvCxnSpPr>
            <a:cxnSpLocks noChangeShapeType="1"/>
          </p:cNvCxnSpPr>
          <p:nvPr/>
        </p:nvCxnSpPr>
        <p:spPr bwMode="auto">
          <a:xfrm flipV="1">
            <a:off x="3155950" y="2055813"/>
            <a:ext cx="2940050" cy="1787525"/>
          </a:xfrm>
          <a:prstGeom prst="straightConnector1">
            <a:avLst/>
          </a:prstGeom>
          <a:noFill/>
          <a:ln w="15875">
            <a:solidFill>
              <a:srgbClr val="C0C0C0"/>
            </a:solidFill>
            <a:round/>
            <a:headEnd/>
            <a:tailEnd type="triangle" w="med" len="med"/>
          </a:ln>
        </p:spPr>
      </p:cxnSp>
      <p:cxnSp>
        <p:nvCxnSpPr>
          <p:cNvPr id="52344" name="AutoShape 119"/>
          <p:cNvCxnSpPr>
            <a:cxnSpLocks noChangeShapeType="1"/>
          </p:cNvCxnSpPr>
          <p:nvPr/>
        </p:nvCxnSpPr>
        <p:spPr bwMode="auto">
          <a:xfrm flipV="1">
            <a:off x="3155950" y="3357563"/>
            <a:ext cx="2940050" cy="485775"/>
          </a:xfrm>
          <a:prstGeom prst="straightConnector1">
            <a:avLst/>
          </a:prstGeom>
          <a:noFill/>
          <a:ln w="15875">
            <a:solidFill>
              <a:srgbClr val="C0C0C0"/>
            </a:solidFill>
            <a:round/>
            <a:headEnd/>
            <a:tailEnd type="triangle" w="med" len="med"/>
          </a:ln>
        </p:spPr>
      </p:cxnSp>
      <p:cxnSp>
        <p:nvCxnSpPr>
          <p:cNvPr id="52345" name="AutoShape 120"/>
          <p:cNvCxnSpPr>
            <a:cxnSpLocks noChangeShapeType="1"/>
          </p:cNvCxnSpPr>
          <p:nvPr/>
        </p:nvCxnSpPr>
        <p:spPr bwMode="auto">
          <a:xfrm>
            <a:off x="3155950" y="3843338"/>
            <a:ext cx="2940050" cy="895350"/>
          </a:xfrm>
          <a:prstGeom prst="straightConnector1">
            <a:avLst/>
          </a:prstGeom>
          <a:noFill/>
          <a:ln w="15875">
            <a:solidFill>
              <a:srgbClr val="C0C0C0"/>
            </a:solidFill>
            <a:round/>
            <a:headEnd/>
            <a:tailEnd type="triangle" w="med" len="med"/>
          </a:ln>
        </p:spPr>
      </p:cxnSp>
      <p:cxnSp>
        <p:nvCxnSpPr>
          <p:cNvPr id="52346" name="AutoShape 121"/>
          <p:cNvCxnSpPr>
            <a:cxnSpLocks noChangeShapeType="1"/>
          </p:cNvCxnSpPr>
          <p:nvPr/>
        </p:nvCxnSpPr>
        <p:spPr bwMode="auto">
          <a:xfrm>
            <a:off x="3155950" y="3843338"/>
            <a:ext cx="2940050" cy="2222500"/>
          </a:xfrm>
          <a:prstGeom prst="straightConnector1">
            <a:avLst/>
          </a:prstGeom>
          <a:noFill/>
          <a:ln w="15875">
            <a:solidFill>
              <a:srgbClr val="C0C0C0"/>
            </a:solidFill>
            <a:round/>
            <a:headEnd/>
            <a:tailEnd type="triangle" w="med" len="med"/>
          </a:ln>
        </p:spPr>
      </p:cxnSp>
      <p:sp>
        <p:nvSpPr>
          <p:cNvPr id="52347" name="Text Box 122"/>
          <p:cNvSpPr txBox="1">
            <a:spLocks noChangeArrowheads="1"/>
          </p:cNvSpPr>
          <p:nvPr/>
        </p:nvSpPr>
        <p:spPr bwMode="auto">
          <a:xfrm>
            <a:off x="3429000" y="3198813"/>
            <a:ext cx="259080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>
                <a:latin typeface="Courier New" pitchFamily="49" charset="0"/>
                <a:ea typeface="宋体" charset="-122"/>
              </a:rPr>
              <a:t>SELECT * </a:t>
            </a:r>
            <a:br>
              <a:rPr lang="en-US" altLang="zh-CN" sz="2000">
                <a:latin typeface="Courier New" pitchFamily="49" charset="0"/>
                <a:ea typeface="宋体" charset="-122"/>
              </a:rPr>
            </a:br>
            <a:r>
              <a:rPr lang="en-US" altLang="zh-CN" sz="2000">
                <a:latin typeface="Courier New" pitchFamily="49" charset="0"/>
                <a:ea typeface="宋体" charset="-122"/>
              </a:rPr>
              <a:t>  FROM visit</a:t>
            </a:r>
            <a:br>
              <a:rPr lang="en-US" altLang="zh-CN" sz="2000">
                <a:latin typeface="Courier New" pitchFamily="49" charset="0"/>
                <a:ea typeface="宋体" charset="-122"/>
              </a:rPr>
            </a:br>
            <a:r>
              <a:rPr lang="en-US" altLang="zh-CN" sz="2000">
                <a:latin typeface="Courier New" pitchFamily="49" charset="0"/>
                <a:ea typeface="宋体" charset="-122"/>
              </a:rPr>
              <a:t> WHERE </a:t>
            </a:r>
            <a:r>
              <a:rPr lang="en-US" altLang="zh-CN" sz="200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user</a:t>
            </a:r>
            <a:r>
              <a:rPr lang="en-US" altLang="zh-CN" sz="2000">
                <a:latin typeface="Courier New" pitchFamily="49" charset="0"/>
                <a:ea typeface="宋体" charset="-122"/>
              </a:rPr>
              <a:t>=‘</a:t>
            </a:r>
            <a:r>
              <a:rPr lang="en-US" altLang="zh-CN" sz="200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A</a:t>
            </a:r>
            <a:r>
              <a:rPr lang="en-US" altLang="zh-CN" sz="2000">
                <a:latin typeface="Courier New" pitchFamily="49" charset="0"/>
                <a:ea typeface="宋体" charset="-122"/>
              </a:rPr>
              <a:t>’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smtClean="0">
                <a:latin typeface="微软雅黑"/>
                <a:ea typeface="微软雅黑"/>
                <a:cs typeface="微软雅黑"/>
              </a:rPr>
              <a:t>多维水平拆分</a:t>
            </a:r>
          </a:p>
        </p:txBody>
      </p:sp>
      <p:sp>
        <p:nvSpPr>
          <p:cNvPr id="53250" name="Text Box 3"/>
          <p:cNvSpPr txBox="1">
            <a:spLocks noChangeArrowheads="1"/>
          </p:cNvSpPr>
          <p:nvPr/>
        </p:nvSpPr>
        <p:spPr bwMode="auto">
          <a:xfrm>
            <a:off x="990600" y="1752600"/>
            <a:ext cx="1447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000">
                <a:ea typeface="宋体" charset="-122"/>
              </a:rPr>
              <a:t>visit</a:t>
            </a:r>
            <a:r>
              <a:rPr lang="zh-CN" altLang="en-US" sz="2000">
                <a:ea typeface="宋体" charset="-122"/>
              </a:rPr>
              <a:t>表</a:t>
            </a:r>
          </a:p>
        </p:txBody>
      </p:sp>
      <p:graphicFrame>
        <p:nvGraphicFramePr>
          <p:cNvPr id="437394" name="Group 146"/>
          <p:cNvGraphicFramePr>
            <a:graphicFrameLocks noGrp="1"/>
          </p:cNvGraphicFramePr>
          <p:nvPr/>
        </p:nvGraphicFramePr>
        <p:xfrm>
          <a:off x="533400" y="2200275"/>
          <a:ext cx="2622550" cy="3292475"/>
        </p:xfrm>
        <a:graphic>
          <a:graphicData uri="http://schemas.openxmlformats.org/drawingml/2006/table">
            <a:tbl>
              <a:tblPr/>
              <a:tblGrid>
                <a:gridCol w="1162050"/>
                <a:gridCol w="730250"/>
                <a:gridCol w="730250"/>
              </a:tblGrid>
              <a:tr h="363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微软雅黑"/>
                          <a:cs typeface="微软雅黑"/>
                        </a:rPr>
                        <a:t>product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微软雅黑"/>
                          <a:cs typeface="微软雅黑"/>
                        </a:rPr>
                        <a:t>user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微软雅黑"/>
                          <a:cs typeface="微软雅黑"/>
                        </a:rPr>
                        <a:t>info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Coca-Cola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3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nsolas" pitchFamily="49" charset="0"/>
                          <a:ea typeface="幼圆" pitchFamily="49" charset="-122"/>
                          <a:cs typeface="微软雅黑"/>
                        </a:rPr>
                        <a:t>pepsi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C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3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D27D00"/>
                          </a:solidFill>
                          <a:effectLst/>
                          <a:latin typeface="Comic Sans MS" pitchFamily="66" charset="0"/>
                          <a:ea typeface="微软雅黑"/>
                          <a:cs typeface="微软雅黑"/>
                        </a:rPr>
                        <a:t>Fanta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Coca-Cola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3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Coca-Cola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C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3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D27D00"/>
                          </a:solidFill>
                          <a:effectLst/>
                          <a:latin typeface="Comic Sans MS" pitchFamily="66" charset="0"/>
                          <a:ea typeface="微软雅黑"/>
                          <a:cs typeface="微软雅黑"/>
                        </a:rPr>
                        <a:t>Fanta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B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7Up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3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nsolas" pitchFamily="49" charset="0"/>
                          <a:ea typeface="幼圆" pitchFamily="49" charset="-122"/>
                          <a:cs typeface="微软雅黑"/>
                        </a:rPr>
                        <a:t>pepsi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37294" name="Group 46"/>
          <p:cNvGraphicFramePr>
            <a:graphicFrameLocks noGrp="1"/>
          </p:cNvGraphicFramePr>
          <p:nvPr/>
        </p:nvGraphicFramePr>
        <p:xfrm>
          <a:off x="6292850" y="1143000"/>
          <a:ext cx="2622550" cy="1463675"/>
        </p:xfrm>
        <a:graphic>
          <a:graphicData uri="http://schemas.openxmlformats.org/drawingml/2006/table">
            <a:tbl>
              <a:tblPr/>
              <a:tblGrid>
                <a:gridCol w="1162050"/>
                <a:gridCol w="730250"/>
                <a:gridCol w="730250"/>
              </a:tblGrid>
              <a:tr h="363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微软雅黑"/>
                          <a:cs typeface="微软雅黑"/>
                        </a:rPr>
                        <a:t>product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微软雅黑"/>
                          <a:cs typeface="微软雅黑"/>
                        </a:rPr>
                        <a:t>user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微软雅黑"/>
                          <a:cs typeface="微软雅黑"/>
                        </a:rPr>
                        <a:t>info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Coca-Cola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A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Coca-Cola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A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3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nsolas" pitchFamily="49" charset="0"/>
                          <a:ea typeface="幼圆" pitchFamily="49" charset="-122"/>
                          <a:cs typeface="微软雅黑"/>
                        </a:rPr>
                        <a:t>pepsi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幼圆" pitchFamily="49" charset="-122"/>
                        <a:cs typeface="微软雅黑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A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37316" name="Group 68"/>
          <p:cNvGraphicFramePr>
            <a:graphicFrameLocks noGrp="1"/>
          </p:cNvGraphicFramePr>
          <p:nvPr/>
        </p:nvGraphicFramePr>
        <p:xfrm>
          <a:off x="6261100" y="3924300"/>
          <a:ext cx="2622550" cy="1096963"/>
        </p:xfrm>
        <a:graphic>
          <a:graphicData uri="http://schemas.openxmlformats.org/drawingml/2006/table">
            <a:tbl>
              <a:tblPr/>
              <a:tblGrid>
                <a:gridCol w="1162050"/>
                <a:gridCol w="730250"/>
                <a:gridCol w="730250"/>
              </a:tblGrid>
              <a:tr h="363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微软雅黑"/>
                          <a:cs typeface="微软雅黑"/>
                        </a:rPr>
                        <a:t>product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微软雅黑"/>
                          <a:cs typeface="微软雅黑"/>
                        </a:rPr>
                        <a:t>user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微软雅黑"/>
                          <a:cs typeface="微软雅黑"/>
                        </a:rPr>
                        <a:t>info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</a:tr>
              <a:tr h="363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onsolas" pitchFamily="49" charset="0"/>
                          <a:ea typeface="幼圆" pitchFamily="49" charset="-122"/>
                          <a:cs typeface="微软雅黑"/>
                        </a:rPr>
                        <a:t>pepsi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C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3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Coca-Cola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C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37334" name="Group 86"/>
          <p:cNvGraphicFramePr>
            <a:graphicFrameLocks noGrp="1"/>
          </p:cNvGraphicFramePr>
          <p:nvPr/>
        </p:nvGraphicFramePr>
        <p:xfrm>
          <a:off x="6261100" y="5305425"/>
          <a:ext cx="2622550" cy="1096963"/>
        </p:xfrm>
        <a:graphic>
          <a:graphicData uri="http://schemas.openxmlformats.org/drawingml/2006/table">
            <a:tbl>
              <a:tblPr/>
              <a:tblGrid>
                <a:gridCol w="1162050"/>
                <a:gridCol w="730250"/>
                <a:gridCol w="730250"/>
              </a:tblGrid>
              <a:tr h="363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微软雅黑"/>
                          <a:cs typeface="微软雅黑"/>
                        </a:rPr>
                        <a:t>product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微软雅黑"/>
                          <a:cs typeface="微软雅黑"/>
                        </a:rPr>
                        <a:t>user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微软雅黑"/>
                          <a:cs typeface="微软雅黑"/>
                        </a:rPr>
                        <a:t>info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</a:tr>
              <a:tr h="363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D27D00"/>
                          </a:solidFill>
                          <a:effectLst/>
                          <a:latin typeface="Comic Sans MS" pitchFamily="66" charset="0"/>
                          <a:ea typeface="微软雅黑"/>
                          <a:cs typeface="微软雅黑"/>
                        </a:rPr>
                        <a:t>Fanta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3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7Up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37352" name="Group 104"/>
          <p:cNvGraphicFramePr>
            <a:graphicFrameLocks noGrp="1"/>
          </p:cNvGraphicFramePr>
          <p:nvPr/>
        </p:nvGraphicFramePr>
        <p:xfrm>
          <a:off x="6261100" y="2898775"/>
          <a:ext cx="2622550" cy="731838"/>
        </p:xfrm>
        <a:graphic>
          <a:graphicData uri="http://schemas.openxmlformats.org/drawingml/2006/table">
            <a:tbl>
              <a:tblPr/>
              <a:tblGrid>
                <a:gridCol w="1162050"/>
                <a:gridCol w="730250"/>
                <a:gridCol w="730250"/>
              </a:tblGrid>
              <a:tr h="363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微软雅黑"/>
                          <a:cs typeface="微软雅黑"/>
                        </a:rPr>
                        <a:t>product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微软雅黑"/>
                          <a:cs typeface="微软雅黑"/>
                        </a:rPr>
                        <a:t>user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微软雅黑"/>
                          <a:cs typeface="微软雅黑"/>
                        </a:rPr>
                        <a:t>info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D27D00"/>
                          </a:solidFill>
                          <a:effectLst/>
                          <a:latin typeface="Comic Sans MS" pitchFamily="66" charset="0"/>
                          <a:ea typeface="微软雅黑"/>
                          <a:cs typeface="微软雅黑"/>
                        </a:rPr>
                        <a:t>Fanta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B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cxnSp>
        <p:nvCxnSpPr>
          <p:cNvPr id="53369" name="AutoShape 118"/>
          <p:cNvCxnSpPr>
            <a:cxnSpLocks noChangeShapeType="1"/>
          </p:cNvCxnSpPr>
          <p:nvPr/>
        </p:nvCxnSpPr>
        <p:spPr bwMode="auto">
          <a:xfrm flipV="1">
            <a:off x="3155950" y="2055813"/>
            <a:ext cx="3136900" cy="1787525"/>
          </a:xfrm>
          <a:prstGeom prst="straightConnector1">
            <a:avLst/>
          </a:prstGeom>
          <a:noFill/>
          <a:ln w="15875">
            <a:solidFill>
              <a:srgbClr val="C0C0C0"/>
            </a:solidFill>
            <a:round/>
            <a:headEnd/>
            <a:tailEnd type="triangle" w="med" len="med"/>
          </a:ln>
        </p:spPr>
      </p:cxnSp>
      <p:cxnSp>
        <p:nvCxnSpPr>
          <p:cNvPr id="53370" name="AutoShape 119"/>
          <p:cNvCxnSpPr>
            <a:cxnSpLocks noChangeShapeType="1"/>
          </p:cNvCxnSpPr>
          <p:nvPr/>
        </p:nvCxnSpPr>
        <p:spPr bwMode="auto">
          <a:xfrm>
            <a:off x="3155950" y="3843338"/>
            <a:ext cx="3105150" cy="628650"/>
          </a:xfrm>
          <a:prstGeom prst="straightConnector1">
            <a:avLst/>
          </a:prstGeom>
          <a:noFill/>
          <a:ln w="15875">
            <a:solidFill>
              <a:srgbClr val="C0C0C0"/>
            </a:solidFill>
            <a:round/>
            <a:headEnd/>
            <a:tailEnd type="triangle" w="med" len="med"/>
          </a:ln>
        </p:spPr>
      </p:cxnSp>
      <p:cxnSp>
        <p:nvCxnSpPr>
          <p:cNvPr id="53371" name="AutoShape 120"/>
          <p:cNvCxnSpPr>
            <a:cxnSpLocks noChangeShapeType="1"/>
          </p:cNvCxnSpPr>
          <p:nvPr/>
        </p:nvCxnSpPr>
        <p:spPr bwMode="auto">
          <a:xfrm>
            <a:off x="3155950" y="3843338"/>
            <a:ext cx="3105150" cy="2009775"/>
          </a:xfrm>
          <a:prstGeom prst="straightConnector1">
            <a:avLst/>
          </a:prstGeom>
          <a:noFill/>
          <a:ln w="15875">
            <a:solidFill>
              <a:srgbClr val="C0C0C0"/>
            </a:solidFill>
            <a:round/>
            <a:headEnd/>
            <a:tailEnd type="triangle" w="med" len="med"/>
          </a:ln>
        </p:spPr>
      </p:cxnSp>
      <p:cxnSp>
        <p:nvCxnSpPr>
          <p:cNvPr id="53372" name="AutoShape 121"/>
          <p:cNvCxnSpPr>
            <a:cxnSpLocks noChangeShapeType="1"/>
          </p:cNvCxnSpPr>
          <p:nvPr/>
        </p:nvCxnSpPr>
        <p:spPr bwMode="auto">
          <a:xfrm flipV="1">
            <a:off x="3155950" y="3446463"/>
            <a:ext cx="3105150" cy="396875"/>
          </a:xfrm>
          <a:prstGeom prst="straightConnector1">
            <a:avLst/>
          </a:prstGeom>
          <a:noFill/>
          <a:ln w="15875">
            <a:solidFill>
              <a:srgbClr val="C0C0C0"/>
            </a:solidFill>
            <a:round/>
            <a:headEnd/>
            <a:tailEnd type="triangle" w="med" len="med"/>
          </a:ln>
        </p:spPr>
      </p:cxnSp>
      <p:sp>
        <p:nvSpPr>
          <p:cNvPr id="53373" name="Text Box 122"/>
          <p:cNvSpPr txBox="1">
            <a:spLocks noChangeArrowheads="1"/>
          </p:cNvSpPr>
          <p:nvPr/>
        </p:nvSpPr>
        <p:spPr bwMode="auto">
          <a:xfrm>
            <a:off x="3276600" y="3198813"/>
            <a:ext cx="3200400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  <a:cs typeface="Courier New" pitchFamily="49" charset="0"/>
              </a:rPr>
              <a:t>SELECT * </a:t>
            </a:r>
            <a:br>
              <a:rPr lang="en-US" altLang="zh-CN">
                <a:latin typeface="Courier New" pitchFamily="49" charset="0"/>
                <a:ea typeface="宋体" charset="-122"/>
                <a:cs typeface="Courier New" pitchFamily="49" charset="0"/>
              </a:rPr>
            </a:br>
            <a:r>
              <a:rPr lang="en-US" altLang="zh-CN">
                <a:latin typeface="Courier New" pitchFamily="49" charset="0"/>
                <a:ea typeface="宋体" charset="-122"/>
                <a:cs typeface="Courier New" pitchFamily="49" charset="0"/>
              </a:rPr>
              <a:t>  FROM visit</a:t>
            </a:r>
            <a:br>
              <a:rPr lang="en-US" altLang="zh-CN">
                <a:latin typeface="Courier New" pitchFamily="49" charset="0"/>
                <a:ea typeface="宋体" charset="-122"/>
                <a:cs typeface="Courier New" pitchFamily="49" charset="0"/>
              </a:rPr>
            </a:br>
            <a:r>
              <a:rPr lang="en-US" altLang="zh-CN">
                <a:latin typeface="Courier New" pitchFamily="49" charset="0"/>
                <a:ea typeface="宋体" charset="-122"/>
                <a:cs typeface="Courier New" pitchFamily="49" charset="0"/>
              </a:rPr>
              <a:t> WHERE </a:t>
            </a:r>
            <a:r>
              <a:rPr lang="en-US" altLang="zh-CN">
                <a:solidFill>
                  <a:srgbClr val="FF000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product</a:t>
            </a:r>
            <a:r>
              <a:rPr lang="en-US" altLang="zh-CN">
                <a:solidFill>
                  <a:srgbClr val="339933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/>
            </a:r>
            <a:br>
              <a:rPr lang="en-US" altLang="zh-CN">
                <a:solidFill>
                  <a:srgbClr val="339933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</a:br>
            <a:r>
              <a:rPr lang="en-US" altLang="zh-CN">
                <a:solidFill>
                  <a:srgbClr val="339933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</a:t>
            </a:r>
            <a:r>
              <a:rPr lang="en-US" altLang="zh-CN">
                <a:latin typeface="Courier New" pitchFamily="49" charset="0"/>
                <a:ea typeface="宋体" charset="-122"/>
                <a:cs typeface="Courier New" pitchFamily="49" charset="0"/>
              </a:rPr>
              <a:t>= ‘</a:t>
            </a:r>
            <a:r>
              <a:rPr lang="en-US" altLang="zh-CN">
                <a:solidFill>
                  <a:srgbClr val="FF000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Coca-Cola</a:t>
            </a:r>
            <a:r>
              <a:rPr lang="en-US" altLang="zh-CN">
                <a:latin typeface="Courier New" pitchFamily="49" charset="0"/>
                <a:ea typeface="宋体" charset="-122"/>
                <a:cs typeface="Courier New" pitchFamily="49" charset="0"/>
              </a:rPr>
              <a:t>’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Text Box 2"/>
          <p:cNvSpPr txBox="1">
            <a:spLocks noChangeArrowheads="1"/>
          </p:cNvSpPr>
          <p:nvPr/>
        </p:nvSpPr>
        <p:spPr bwMode="auto">
          <a:xfrm>
            <a:off x="2819400" y="4845050"/>
            <a:ext cx="990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>
                <a:latin typeface="Times New Roman" pitchFamily="18" charset="0"/>
                <a:ea typeface="宋体" charset="-122"/>
              </a:rPr>
              <a:t>分库</a:t>
            </a:r>
            <a:r>
              <a:rPr lang="en-US" altLang="zh-CN" sz="2000">
                <a:latin typeface="Times New Roman" pitchFamily="18" charset="0"/>
                <a:ea typeface="宋体" charset="-122"/>
              </a:rPr>
              <a:t>1</a:t>
            </a:r>
          </a:p>
        </p:txBody>
      </p:sp>
      <p:sp>
        <p:nvSpPr>
          <p:cNvPr id="54274" name="Text Box 3"/>
          <p:cNvSpPr txBox="1">
            <a:spLocks noChangeArrowheads="1"/>
          </p:cNvSpPr>
          <p:nvPr/>
        </p:nvSpPr>
        <p:spPr bwMode="auto">
          <a:xfrm>
            <a:off x="4038600" y="4860925"/>
            <a:ext cx="990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>
                <a:latin typeface="Times New Roman" pitchFamily="18" charset="0"/>
                <a:ea typeface="宋体" charset="-122"/>
              </a:rPr>
              <a:t>分库</a:t>
            </a:r>
            <a:r>
              <a:rPr lang="en-US" altLang="zh-CN" sz="2000">
                <a:latin typeface="Times New Roman" pitchFamily="18" charset="0"/>
                <a:ea typeface="宋体" charset="-122"/>
              </a:rPr>
              <a:t>2</a:t>
            </a:r>
          </a:p>
        </p:txBody>
      </p:sp>
      <p:sp>
        <p:nvSpPr>
          <p:cNvPr id="54275" name="Text Box 4"/>
          <p:cNvSpPr txBox="1">
            <a:spLocks noChangeArrowheads="1"/>
          </p:cNvSpPr>
          <p:nvPr/>
        </p:nvSpPr>
        <p:spPr bwMode="auto">
          <a:xfrm>
            <a:off x="5257800" y="4860925"/>
            <a:ext cx="990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>
                <a:latin typeface="Times New Roman" pitchFamily="18" charset="0"/>
                <a:ea typeface="宋体" charset="-122"/>
              </a:rPr>
              <a:t>分库</a:t>
            </a:r>
            <a:r>
              <a:rPr lang="en-US" altLang="zh-CN" sz="2000">
                <a:latin typeface="Times New Roman" pitchFamily="18" charset="0"/>
                <a:ea typeface="宋体" charset="-122"/>
              </a:rPr>
              <a:t>3</a:t>
            </a:r>
          </a:p>
        </p:txBody>
      </p:sp>
      <p:sp>
        <p:nvSpPr>
          <p:cNvPr id="54276" name="Text Box 5"/>
          <p:cNvSpPr txBox="1">
            <a:spLocks noChangeArrowheads="1"/>
          </p:cNvSpPr>
          <p:nvPr/>
        </p:nvSpPr>
        <p:spPr bwMode="auto">
          <a:xfrm>
            <a:off x="6477000" y="4860925"/>
            <a:ext cx="990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>
                <a:latin typeface="Times New Roman" pitchFamily="18" charset="0"/>
                <a:ea typeface="宋体" charset="-122"/>
              </a:rPr>
              <a:t>分库</a:t>
            </a:r>
            <a:r>
              <a:rPr lang="en-US" altLang="zh-CN" sz="2000">
                <a:latin typeface="Times New Roman" pitchFamily="18" charset="0"/>
                <a:ea typeface="宋体" charset="-122"/>
              </a:rPr>
              <a:t>4</a:t>
            </a:r>
          </a:p>
        </p:txBody>
      </p:sp>
      <p:sp>
        <p:nvSpPr>
          <p:cNvPr id="54277" name="Text Box 6"/>
          <p:cNvSpPr txBox="1">
            <a:spLocks noChangeArrowheads="1"/>
          </p:cNvSpPr>
          <p:nvPr/>
        </p:nvSpPr>
        <p:spPr bwMode="auto">
          <a:xfrm>
            <a:off x="2819400" y="4022725"/>
            <a:ext cx="990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>
                <a:latin typeface="Times New Roman" pitchFamily="18" charset="0"/>
                <a:ea typeface="宋体" charset="-122"/>
              </a:rPr>
              <a:t>分库</a:t>
            </a:r>
            <a:r>
              <a:rPr lang="en-US" altLang="zh-CN" sz="2000">
                <a:latin typeface="Times New Roman" pitchFamily="18" charset="0"/>
                <a:ea typeface="宋体" charset="-122"/>
              </a:rPr>
              <a:t>5</a:t>
            </a:r>
          </a:p>
        </p:txBody>
      </p:sp>
      <p:sp>
        <p:nvSpPr>
          <p:cNvPr id="54278" name="Text Box 7"/>
          <p:cNvSpPr txBox="1">
            <a:spLocks noChangeArrowheads="1"/>
          </p:cNvSpPr>
          <p:nvPr/>
        </p:nvSpPr>
        <p:spPr bwMode="auto">
          <a:xfrm>
            <a:off x="4038600" y="4038600"/>
            <a:ext cx="990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>
                <a:latin typeface="Times New Roman" pitchFamily="18" charset="0"/>
                <a:ea typeface="宋体" charset="-122"/>
              </a:rPr>
              <a:t>分库</a:t>
            </a:r>
            <a:r>
              <a:rPr lang="en-US" altLang="zh-CN" sz="2000">
                <a:latin typeface="Times New Roman" pitchFamily="18" charset="0"/>
                <a:ea typeface="宋体" charset="-122"/>
              </a:rPr>
              <a:t>6</a:t>
            </a:r>
          </a:p>
        </p:txBody>
      </p:sp>
      <p:sp>
        <p:nvSpPr>
          <p:cNvPr id="54279" name="Text Box 8"/>
          <p:cNvSpPr txBox="1">
            <a:spLocks noChangeArrowheads="1"/>
          </p:cNvSpPr>
          <p:nvPr/>
        </p:nvSpPr>
        <p:spPr bwMode="auto">
          <a:xfrm>
            <a:off x="5257800" y="4038600"/>
            <a:ext cx="990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>
                <a:latin typeface="Times New Roman" pitchFamily="18" charset="0"/>
                <a:ea typeface="宋体" charset="-122"/>
              </a:rPr>
              <a:t>分库</a:t>
            </a:r>
            <a:r>
              <a:rPr lang="en-US" altLang="zh-CN" sz="2000">
                <a:latin typeface="Times New Roman" pitchFamily="18" charset="0"/>
                <a:ea typeface="宋体" charset="-122"/>
              </a:rPr>
              <a:t>7</a:t>
            </a:r>
          </a:p>
        </p:txBody>
      </p:sp>
      <p:sp>
        <p:nvSpPr>
          <p:cNvPr id="54280" name="Text Box 9"/>
          <p:cNvSpPr txBox="1">
            <a:spLocks noChangeArrowheads="1"/>
          </p:cNvSpPr>
          <p:nvPr/>
        </p:nvSpPr>
        <p:spPr bwMode="auto">
          <a:xfrm>
            <a:off x="6477000" y="4038600"/>
            <a:ext cx="990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>
                <a:latin typeface="Times New Roman" pitchFamily="18" charset="0"/>
                <a:ea typeface="宋体" charset="-122"/>
              </a:rPr>
              <a:t>分库</a:t>
            </a:r>
            <a:r>
              <a:rPr lang="en-US" altLang="zh-CN" sz="2000">
                <a:latin typeface="Times New Roman" pitchFamily="18" charset="0"/>
                <a:ea typeface="宋体" charset="-122"/>
              </a:rPr>
              <a:t>8</a:t>
            </a:r>
          </a:p>
        </p:txBody>
      </p:sp>
      <p:sp>
        <p:nvSpPr>
          <p:cNvPr id="54281" name="Text Box 10"/>
          <p:cNvSpPr txBox="1">
            <a:spLocks noChangeArrowheads="1"/>
          </p:cNvSpPr>
          <p:nvPr/>
        </p:nvSpPr>
        <p:spPr bwMode="auto">
          <a:xfrm>
            <a:off x="2819400" y="3244850"/>
            <a:ext cx="990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>
                <a:latin typeface="Times New Roman" pitchFamily="18" charset="0"/>
                <a:ea typeface="宋体" charset="-122"/>
              </a:rPr>
              <a:t>分库</a:t>
            </a:r>
            <a:r>
              <a:rPr lang="en-US" altLang="zh-CN" sz="2000">
                <a:latin typeface="Times New Roman" pitchFamily="18" charset="0"/>
                <a:ea typeface="宋体" charset="-122"/>
              </a:rPr>
              <a:t>9</a:t>
            </a:r>
          </a:p>
        </p:txBody>
      </p:sp>
      <p:sp>
        <p:nvSpPr>
          <p:cNvPr id="54282" name="Text Box 11"/>
          <p:cNvSpPr txBox="1">
            <a:spLocks noChangeArrowheads="1"/>
          </p:cNvSpPr>
          <p:nvPr/>
        </p:nvSpPr>
        <p:spPr bwMode="auto">
          <a:xfrm>
            <a:off x="4038600" y="3260725"/>
            <a:ext cx="990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>
                <a:latin typeface="Times New Roman" pitchFamily="18" charset="0"/>
                <a:ea typeface="宋体" charset="-122"/>
              </a:rPr>
              <a:t>分库</a:t>
            </a:r>
            <a:r>
              <a:rPr lang="en-US" altLang="zh-CN" sz="2000">
                <a:latin typeface="Times New Roman" pitchFamily="18" charset="0"/>
                <a:ea typeface="宋体" charset="-122"/>
              </a:rPr>
              <a:t>10</a:t>
            </a:r>
          </a:p>
        </p:txBody>
      </p:sp>
      <p:sp>
        <p:nvSpPr>
          <p:cNvPr id="54283" name="Text Box 12"/>
          <p:cNvSpPr txBox="1">
            <a:spLocks noChangeArrowheads="1"/>
          </p:cNvSpPr>
          <p:nvPr/>
        </p:nvSpPr>
        <p:spPr bwMode="auto">
          <a:xfrm>
            <a:off x="5257800" y="3260725"/>
            <a:ext cx="990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>
                <a:latin typeface="Times New Roman" pitchFamily="18" charset="0"/>
                <a:ea typeface="宋体" charset="-122"/>
              </a:rPr>
              <a:t>分库</a:t>
            </a:r>
            <a:r>
              <a:rPr lang="en-US" altLang="zh-CN" sz="2000">
                <a:latin typeface="Times New Roman" pitchFamily="18" charset="0"/>
                <a:ea typeface="宋体" charset="-122"/>
              </a:rPr>
              <a:t>11</a:t>
            </a:r>
          </a:p>
        </p:txBody>
      </p:sp>
      <p:sp>
        <p:nvSpPr>
          <p:cNvPr id="54284" name="Text Box 13"/>
          <p:cNvSpPr txBox="1">
            <a:spLocks noChangeArrowheads="1"/>
          </p:cNvSpPr>
          <p:nvPr/>
        </p:nvSpPr>
        <p:spPr bwMode="auto">
          <a:xfrm>
            <a:off x="6477000" y="3260725"/>
            <a:ext cx="990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>
                <a:latin typeface="Times New Roman" pitchFamily="18" charset="0"/>
                <a:ea typeface="宋体" charset="-122"/>
              </a:rPr>
              <a:t>分库</a:t>
            </a:r>
            <a:r>
              <a:rPr lang="en-US" altLang="zh-CN" sz="2000">
                <a:latin typeface="Times New Roman" pitchFamily="18" charset="0"/>
                <a:ea typeface="宋体" charset="-122"/>
              </a:rPr>
              <a:t>12</a:t>
            </a:r>
          </a:p>
        </p:txBody>
      </p:sp>
      <p:sp>
        <p:nvSpPr>
          <p:cNvPr id="54285" name="Text Box 14"/>
          <p:cNvSpPr txBox="1">
            <a:spLocks noChangeArrowheads="1"/>
          </p:cNvSpPr>
          <p:nvPr/>
        </p:nvSpPr>
        <p:spPr bwMode="auto">
          <a:xfrm>
            <a:off x="2819400" y="2422525"/>
            <a:ext cx="990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>
                <a:latin typeface="Times New Roman" pitchFamily="18" charset="0"/>
                <a:ea typeface="宋体" charset="-122"/>
              </a:rPr>
              <a:t>分库</a:t>
            </a:r>
            <a:r>
              <a:rPr lang="en-US" altLang="zh-CN" sz="2000">
                <a:latin typeface="Times New Roman" pitchFamily="18" charset="0"/>
                <a:ea typeface="宋体" charset="-122"/>
              </a:rPr>
              <a:t>13</a:t>
            </a:r>
          </a:p>
        </p:txBody>
      </p:sp>
      <p:sp>
        <p:nvSpPr>
          <p:cNvPr id="54286" name="Text Box 15"/>
          <p:cNvSpPr txBox="1">
            <a:spLocks noChangeArrowheads="1"/>
          </p:cNvSpPr>
          <p:nvPr/>
        </p:nvSpPr>
        <p:spPr bwMode="auto">
          <a:xfrm>
            <a:off x="4038600" y="2438400"/>
            <a:ext cx="990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>
                <a:latin typeface="Times New Roman" pitchFamily="18" charset="0"/>
                <a:ea typeface="宋体" charset="-122"/>
              </a:rPr>
              <a:t>分库</a:t>
            </a:r>
            <a:r>
              <a:rPr lang="en-US" altLang="zh-CN" sz="2000">
                <a:latin typeface="Times New Roman" pitchFamily="18" charset="0"/>
                <a:ea typeface="宋体" charset="-122"/>
              </a:rPr>
              <a:t>14</a:t>
            </a:r>
          </a:p>
        </p:txBody>
      </p:sp>
      <p:sp>
        <p:nvSpPr>
          <p:cNvPr id="54287" name="Text Box 16"/>
          <p:cNvSpPr txBox="1">
            <a:spLocks noChangeArrowheads="1"/>
          </p:cNvSpPr>
          <p:nvPr/>
        </p:nvSpPr>
        <p:spPr bwMode="auto">
          <a:xfrm>
            <a:off x="5257800" y="2438400"/>
            <a:ext cx="990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>
                <a:latin typeface="Times New Roman" pitchFamily="18" charset="0"/>
                <a:ea typeface="宋体" charset="-122"/>
              </a:rPr>
              <a:t>分库</a:t>
            </a:r>
            <a:r>
              <a:rPr lang="en-US" altLang="zh-CN" sz="2000">
                <a:latin typeface="Times New Roman" pitchFamily="18" charset="0"/>
                <a:ea typeface="宋体" charset="-122"/>
              </a:rPr>
              <a:t>15</a:t>
            </a:r>
          </a:p>
        </p:txBody>
      </p:sp>
      <p:sp>
        <p:nvSpPr>
          <p:cNvPr id="54288" name="Text Box 17"/>
          <p:cNvSpPr txBox="1">
            <a:spLocks noChangeArrowheads="1"/>
          </p:cNvSpPr>
          <p:nvPr/>
        </p:nvSpPr>
        <p:spPr bwMode="auto">
          <a:xfrm>
            <a:off x="6477000" y="2438400"/>
            <a:ext cx="990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>
                <a:latin typeface="Times New Roman" pitchFamily="18" charset="0"/>
                <a:ea typeface="宋体" charset="-122"/>
              </a:rPr>
              <a:t>分库</a:t>
            </a:r>
            <a:r>
              <a:rPr lang="en-US" altLang="zh-CN" sz="2000">
                <a:latin typeface="Times New Roman" pitchFamily="18" charset="0"/>
                <a:ea typeface="宋体" charset="-122"/>
              </a:rPr>
              <a:t>16</a:t>
            </a:r>
          </a:p>
        </p:txBody>
      </p:sp>
      <p:sp>
        <p:nvSpPr>
          <p:cNvPr id="54289" name="Line 18"/>
          <p:cNvSpPr>
            <a:spLocks noChangeShapeType="1"/>
          </p:cNvSpPr>
          <p:nvPr/>
        </p:nvSpPr>
        <p:spPr bwMode="auto">
          <a:xfrm>
            <a:off x="2743200" y="5394325"/>
            <a:ext cx="563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290" name="Line 19"/>
          <p:cNvSpPr>
            <a:spLocks noChangeShapeType="1"/>
          </p:cNvSpPr>
          <p:nvPr/>
        </p:nvSpPr>
        <p:spPr bwMode="auto">
          <a:xfrm flipH="1" flipV="1">
            <a:off x="2743200" y="1584325"/>
            <a:ext cx="0" cy="381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291" name="Line 20"/>
          <p:cNvSpPr>
            <a:spLocks noChangeShapeType="1"/>
          </p:cNvSpPr>
          <p:nvPr/>
        </p:nvSpPr>
        <p:spPr bwMode="auto">
          <a:xfrm>
            <a:off x="2743200" y="2193925"/>
            <a:ext cx="5029200" cy="0"/>
          </a:xfrm>
          <a:prstGeom prst="line">
            <a:avLst/>
          </a:prstGeom>
          <a:noFill/>
          <a:ln w="3175">
            <a:solidFill>
              <a:schemeClr val="tx1"/>
            </a:solidFill>
            <a:prstDash val="dashDot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292" name="Line 21"/>
          <p:cNvSpPr>
            <a:spLocks noChangeShapeType="1"/>
          </p:cNvSpPr>
          <p:nvPr/>
        </p:nvSpPr>
        <p:spPr bwMode="auto">
          <a:xfrm>
            <a:off x="2743200" y="3794125"/>
            <a:ext cx="5029200" cy="0"/>
          </a:xfrm>
          <a:prstGeom prst="line">
            <a:avLst/>
          </a:prstGeom>
          <a:noFill/>
          <a:ln w="3175">
            <a:solidFill>
              <a:schemeClr val="tx1"/>
            </a:solidFill>
            <a:prstDash val="dashDot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293" name="Line 22"/>
          <p:cNvSpPr>
            <a:spLocks noChangeShapeType="1"/>
          </p:cNvSpPr>
          <p:nvPr/>
        </p:nvSpPr>
        <p:spPr bwMode="auto">
          <a:xfrm flipV="1">
            <a:off x="5181600" y="1965325"/>
            <a:ext cx="0" cy="3429000"/>
          </a:xfrm>
          <a:prstGeom prst="line">
            <a:avLst/>
          </a:prstGeom>
          <a:noFill/>
          <a:ln w="3175">
            <a:solidFill>
              <a:schemeClr val="tx1"/>
            </a:solidFill>
            <a:prstDash val="dashDot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294" name="Line 23"/>
          <p:cNvSpPr>
            <a:spLocks noChangeShapeType="1"/>
          </p:cNvSpPr>
          <p:nvPr/>
        </p:nvSpPr>
        <p:spPr bwMode="auto">
          <a:xfrm flipV="1">
            <a:off x="7620000" y="1965325"/>
            <a:ext cx="0" cy="3429000"/>
          </a:xfrm>
          <a:prstGeom prst="line">
            <a:avLst/>
          </a:prstGeom>
          <a:noFill/>
          <a:ln w="3175">
            <a:solidFill>
              <a:schemeClr val="tx1"/>
            </a:solidFill>
            <a:prstDash val="dashDot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295" name="Line 24"/>
          <p:cNvSpPr>
            <a:spLocks noChangeShapeType="1"/>
          </p:cNvSpPr>
          <p:nvPr/>
        </p:nvSpPr>
        <p:spPr bwMode="auto">
          <a:xfrm flipV="1">
            <a:off x="3962400" y="1965325"/>
            <a:ext cx="0" cy="3429000"/>
          </a:xfrm>
          <a:prstGeom prst="line">
            <a:avLst/>
          </a:prstGeom>
          <a:noFill/>
          <a:ln w="3175">
            <a:solidFill>
              <a:schemeClr val="tx1"/>
            </a:solidFill>
            <a:prstDash val="dashDot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296" name="Line 25"/>
          <p:cNvSpPr>
            <a:spLocks noChangeShapeType="1"/>
          </p:cNvSpPr>
          <p:nvPr/>
        </p:nvSpPr>
        <p:spPr bwMode="auto">
          <a:xfrm flipV="1">
            <a:off x="6400800" y="1965325"/>
            <a:ext cx="0" cy="3429000"/>
          </a:xfrm>
          <a:prstGeom prst="line">
            <a:avLst/>
          </a:prstGeom>
          <a:noFill/>
          <a:ln w="3175">
            <a:solidFill>
              <a:schemeClr val="tx1"/>
            </a:solidFill>
            <a:prstDash val="dashDot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297" name="Line 26"/>
          <p:cNvSpPr>
            <a:spLocks noChangeShapeType="1"/>
          </p:cNvSpPr>
          <p:nvPr/>
        </p:nvSpPr>
        <p:spPr bwMode="auto">
          <a:xfrm>
            <a:off x="2743200" y="3032125"/>
            <a:ext cx="5029200" cy="0"/>
          </a:xfrm>
          <a:prstGeom prst="line">
            <a:avLst/>
          </a:prstGeom>
          <a:noFill/>
          <a:ln w="3175">
            <a:solidFill>
              <a:schemeClr val="tx1"/>
            </a:solidFill>
            <a:prstDash val="dashDot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298" name="Line 27"/>
          <p:cNvSpPr>
            <a:spLocks noChangeShapeType="1"/>
          </p:cNvSpPr>
          <p:nvPr/>
        </p:nvSpPr>
        <p:spPr bwMode="auto">
          <a:xfrm>
            <a:off x="2743200" y="4632325"/>
            <a:ext cx="5029200" cy="0"/>
          </a:xfrm>
          <a:prstGeom prst="line">
            <a:avLst/>
          </a:prstGeom>
          <a:noFill/>
          <a:ln w="3175">
            <a:solidFill>
              <a:schemeClr val="tx1"/>
            </a:solidFill>
            <a:prstDash val="dashDot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299" name="Text Box 28"/>
          <p:cNvSpPr txBox="1">
            <a:spLocks noChangeArrowheads="1"/>
          </p:cNvSpPr>
          <p:nvPr/>
        </p:nvSpPr>
        <p:spPr bwMode="auto">
          <a:xfrm>
            <a:off x="6934200" y="5318125"/>
            <a:ext cx="24384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宋体" charset="-122"/>
                <a:ea typeface="宋体" charset="-122"/>
              </a:rPr>
              <a:t>product</a:t>
            </a:r>
            <a:r>
              <a:rPr lang="zh-CN" altLang="en-US">
                <a:latin typeface="宋体" charset="-122"/>
                <a:ea typeface="宋体" charset="-122"/>
              </a:rPr>
              <a:t>值</a:t>
            </a:r>
            <a:br>
              <a:rPr lang="zh-CN" altLang="en-US">
                <a:latin typeface="宋体" charset="-122"/>
                <a:ea typeface="宋体" charset="-122"/>
              </a:rPr>
            </a:br>
            <a:r>
              <a:rPr lang="en-US" altLang="zh-CN">
                <a:latin typeface="宋体" charset="-122"/>
                <a:ea typeface="宋体" charset="-122"/>
              </a:rPr>
              <a:t>Hash</a:t>
            </a:r>
            <a:r>
              <a:rPr lang="zh-CN" altLang="en-US">
                <a:latin typeface="宋体" charset="-122"/>
                <a:ea typeface="宋体" charset="-122"/>
              </a:rPr>
              <a:t>取模</a:t>
            </a:r>
          </a:p>
        </p:txBody>
      </p:sp>
      <p:sp>
        <p:nvSpPr>
          <p:cNvPr id="54300" name="Text Box 29"/>
          <p:cNvSpPr txBox="1">
            <a:spLocks noChangeArrowheads="1"/>
          </p:cNvSpPr>
          <p:nvPr/>
        </p:nvSpPr>
        <p:spPr bwMode="auto">
          <a:xfrm>
            <a:off x="1371600" y="1476375"/>
            <a:ext cx="16764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宋体" charset="-122"/>
                <a:ea typeface="宋体" charset="-122"/>
              </a:rPr>
              <a:t>user</a:t>
            </a:r>
            <a:r>
              <a:rPr lang="zh-CN" altLang="en-US">
                <a:latin typeface="宋体" charset="-122"/>
                <a:ea typeface="宋体" charset="-122"/>
              </a:rPr>
              <a:t>值</a:t>
            </a:r>
            <a:br>
              <a:rPr lang="zh-CN" altLang="en-US">
                <a:latin typeface="宋体" charset="-122"/>
                <a:ea typeface="宋体" charset="-122"/>
              </a:rPr>
            </a:br>
            <a:r>
              <a:rPr lang="en-US" altLang="zh-CN">
                <a:latin typeface="宋体" charset="-122"/>
                <a:ea typeface="宋体" charset="-122"/>
              </a:rPr>
              <a:t>Hash</a:t>
            </a:r>
            <a:r>
              <a:rPr lang="zh-CN" altLang="en-US">
                <a:latin typeface="宋体" charset="-122"/>
                <a:ea typeface="宋体" charset="-122"/>
              </a:rPr>
              <a:t>取模</a:t>
            </a:r>
          </a:p>
        </p:txBody>
      </p:sp>
      <p:sp>
        <p:nvSpPr>
          <p:cNvPr id="54301" name="Text Box 30"/>
          <p:cNvSpPr txBox="1">
            <a:spLocks noChangeArrowheads="1"/>
          </p:cNvSpPr>
          <p:nvPr/>
        </p:nvSpPr>
        <p:spPr bwMode="auto">
          <a:xfrm>
            <a:off x="2209800" y="4784725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>
                <a:latin typeface="Courier New" pitchFamily="49" charset="0"/>
                <a:ea typeface="宋体" charset="-122"/>
              </a:rPr>
              <a:t>0</a:t>
            </a:r>
          </a:p>
        </p:txBody>
      </p:sp>
      <p:sp>
        <p:nvSpPr>
          <p:cNvPr id="54302" name="Text Box 31"/>
          <p:cNvSpPr txBox="1">
            <a:spLocks noChangeArrowheads="1"/>
          </p:cNvSpPr>
          <p:nvPr/>
        </p:nvSpPr>
        <p:spPr bwMode="auto">
          <a:xfrm>
            <a:off x="2209800" y="4022725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>
                <a:latin typeface="Courier New" pitchFamily="49" charset="0"/>
                <a:ea typeface="宋体" charset="-122"/>
              </a:rPr>
              <a:t>1</a:t>
            </a:r>
          </a:p>
        </p:txBody>
      </p:sp>
      <p:sp>
        <p:nvSpPr>
          <p:cNvPr id="54303" name="Text Box 32"/>
          <p:cNvSpPr txBox="1">
            <a:spLocks noChangeArrowheads="1"/>
          </p:cNvSpPr>
          <p:nvPr/>
        </p:nvSpPr>
        <p:spPr bwMode="auto">
          <a:xfrm>
            <a:off x="2209800" y="3260725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>
                <a:latin typeface="Courier New" pitchFamily="49" charset="0"/>
                <a:ea typeface="宋体" charset="-122"/>
              </a:rPr>
              <a:t>2</a:t>
            </a:r>
          </a:p>
        </p:txBody>
      </p:sp>
      <p:sp>
        <p:nvSpPr>
          <p:cNvPr id="54304" name="Text Box 33"/>
          <p:cNvSpPr txBox="1">
            <a:spLocks noChangeArrowheads="1"/>
          </p:cNvSpPr>
          <p:nvPr/>
        </p:nvSpPr>
        <p:spPr bwMode="auto">
          <a:xfrm>
            <a:off x="2209800" y="2422525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>
                <a:latin typeface="Courier New" pitchFamily="49" charset="0"/>
                <a:ea typeface="宋体" charset="-122"/>
              </a:rPr>
              <a:t>3</a:t>
            </a:r>
          </a:p>
        </p:txBody>
      </p:sp>
      <p:sp>
        <p:nvSpPr>
          <p:cNvPr id="54305" name="Text Box 34"/>
          <p:cNvSpPr txBox="1">
            <a:spLocks noChangeArrowheads="1"/>
          </p:cNvSpPr>
          <p:nvPr/>
        </p:nvSpPr>
        <p:spPr bwMode="auto">
          <a:xfrm>
            <a:off x="2971800" y="5470525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>
                <a:latin typeface="Courier New" pitchFamily="49" charset="0"/>
                <a:ea typeface="宋体" charset="-122"/>
              </a:rPr>
              <a:t>0</a:t>
            </a:r>
          </a:p>
        </p:txBody>
      </p:sp>
      <p:sp>
        <p:nvSpPr>
          <p:cNvPr id="54306" name="Text Box 35"/>
          <p:cNvSpPr txBox="1">
            <a:spLocks noChangeArrowheads="1"/>
          </p:cNvSpPr>
          <p:nvPr/>
        </p:nvSpPr>
        <p:spPr bwMode="auto">
          <a:xfrm>
            <a:off x="4267200" y="5470525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>
                <a:latin typeface="Courier New" pitchFamily="49" charset="0"/>
                <a:ea typeface="宋体" charset="-122"/>
              </a:rPr>
              <a:t>1</a:t>
            </a:r>
          </a:p>
        </p:txBody>
      </p:sp>
      <p:sp>
        <p:nvSpPr>
          <p:cNvPr id="54307" name="Text Box 36"/>
          <p:cNvSpPr txBox="1">
            <a:spLocks noChangeArrowheads="1"/>
          </p:cNvSpPr>
          <p:nvPr/>
        </p:nvSpPr>
        <p:spPr bwMode="auto">
          <a:xfrm>
            <a:off x="5486400" y="5470525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>
                <a:latin typeface="Courier New" pitchFamily="49" charset="0"/>
                <a:ea typeface="宋体" charset="-122"/>
              </a:rPr>
              <a:t>2</a:t>
            </a:r>
          </a:p>
        </p:txBody>
      </p:sp>
      <p:sp>
        <p:nvSpPr>
          <p:cNvPr id="54308" name="Text Box 37"/>
          <p:cNvSpPr txBox="1">
            <a:spLocks noChangeArrowheads="1"/>
          </p:cNvSpPr>
          <p:nvPr/>
        </p:nvSpPr>
        <p:spPr bwMode="auto">
          <a:xfrm>
            <a:off x="6781800" y="5470525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>
                <a:latin typeface="Courier New" pitchFamily="49" charset="0"/>
                <a:ea typeface="宋体" charset="-122"/>
              </a:rPr>
              <a:t>3</a:t>
            </a:r>
          </a:p>
        </p:txBody>
      </p:sp>
      <p:sp>
        <p:nvSpPr>
          <p:cNvPr id="54309" name="Line 38"/>
          <p:cNvSpPr>
            <a:spLocks noChangeShapeType="1"/>
          </p:cNvSpPr>
          <p:nvPr/>
        </p:nvSpPr>
        <p:spPr bwMode="auto">
          <a:xfrm>
            <a:off x="2743200" y="3032125"/>
            <a:ext cx="5029200" cy="0"/>
          </a:xfrm>
          <a:prstGeom prst="line">
            <a:avLst/>
          </a:prstGeom>
          <a:noFill/>
          <a:ln w="3175">
            <a:solidFill>
              <a:schemeClr val="tx1"/>
            </a:solidFill>
            <a:prstDash val="dashDot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310" name="Text Box 39"/>
          <p:cNvSpPr txBox="1">
            <a:spLocks noChangeArrowheads="1"/>
          </p:cNvSpPr>
          <p:nvPr/>
        </p:nvSpPr>
        <p:spPr bwMode="auto">
          <a:xfrm>
            <a:off x="533400" y="5105400"/>
            <a:ext cx="1447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ea typeface="宋体" charset="-122"/>
              </a:rPr>
              <a:t>visit</a:t>
            </a:r>
            <a:r>
              <a:rPr lang="zh-CN" altLang="en-US">
                <a:ea typeface="宋体" charset="-122"/>
              </a:rPr>
              <a:t>表</a:t>
            </a:r>
          </a:p>
        </p:txBody>
      </p:sp>
      <p:graphicFrame>
        <p:nvGraphicFramePr>
          <p:cNvPr id="438312" name="Group 40"/>
          <p:cNvGraphicFramePr>
            <a:graphicFrameLocks noGrp="1"/>
          </p:cNvGraphicFramePr>
          <p:nvPr/>
        </p:nvGraphicFramePr>
        <p:xfrm>
          <a:off x="228600" y="5562600"/>
          <a:ext cx="1931988" cy="685800"/>
        </p:xfrm>
        <a:graphic>
          <a:graphicData uri="http://schemas.openxmlformats.org/drawingml/2006/table">
            <a:tbl>
              <a:tblPr/>
              <a:tblGrid>
                <a:gridCol w="746125"/>
                <a:gridCol w="1185863"/>
              </a:tblGrid>
              <a:tr h="206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USER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PRODUCT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50195"/>
                      </a:schemeClr>
                    </a:solidFill>
                  </a:tcPr>
                </a:tc>
              </a:tr>
              <a:tr h="3508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微软雅黑"/>
                        <a:cs typeface="微软雅黑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微软雅黑"/>
                        <a:cs typeface="微软雅黑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4322" name="Rectangle 51"/>
          <p:cNvSpPr>
            <a:spLocks noGrp="1" noChangeArrowheads="1"/>
          </p:cNvSpPr>
          <p:nvPr>
            <p:ph type="body" idx="1"/>
          </p:nvPr>
        </p:nvSpPr>
        <p:spPr>
          <a:xfrm>
            <a:off x="457200" y="609600"/>
            <a:ext cx="8229600" cy="685800"/>
          </a:xfrm>
        </p:spPr>
        <p:txBody>
          <a:bodyPr/>
          <a:lstStyle/>
          <a:p>
            <a:pPr eaLnBrk="1" hangingPunct="1"/>
            <a:r>
              <a:rPr lang="zh-CN" altLang="en-US" smtClean="0">
                <a:ea typeface="微软雅黑"/>
                <a:cs typeface="微软雅黑"/>
              </a:rPr>
              <a:t>一张表的多个字段</a:t>
            </a:r>
            <a:r>
              <a:rPr lang="zh-CN" altLang="en-US" b="1" smtClean="0">
                <a:ea typeface="微软雅黑"/>
                <a:cs typeface="微软雅黑"/>
              </a:rPr>
              <a:t>同时</a:t>
            </a:r>
            <a:r>
              <a:rPr lang="zh-CN" altLang="en-US" smtClean="0">
                <a:ea typeface="微软雅黑"/>
                <a:cs typeface="微软雅黑"/>
              </a:rPr>
              <a:t>作为拆分字段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Text Box 2"/>
          <p:cNvSpPr txBox="1">
            <a:spLocks noChangeArrowheads="1"/>
          </p:cNvSpPr>
          <p:nvPr/>
        </p:nvSpPr>
        <p:spPr bwMode="auto">
          <a:xfrm>
            <a:off x="304800" y="4022725"/>
            <a:ext cx="2438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Hash(“A”)%4 =</a:t>
            </a:r>
            <a:r>
              <a:rPr lang="en-US" altLang="zh-CN" sz="2000">
                <a:latin typeface="Courier New" pitchFamily="49" charset="0"/>
                <a:ea typeface="宋体" charset="-122"/>
              </a:rPr>
              <a:t> </a:t>
            </a:r>
            <a:endParaRPr lang="en-US" altLang="zh-CN" sz="2000">
              <a:solidFill>
                <a:srgbClr val="FF0000"/>
              </a:solidFill>
              <a:latin typeface="Courier New" pitchFamily="49" charset="0"/>
              <a:ea typeface="宋体" charset="-122"/>
            </a:endParaRPr>
          </a:p>
        </p:txBody>
      </p:sp>
      <p:sp>
        <p:nvSpPr>
          <p:cNvPr id="55298" name="Text Box 3"/>
          <p:cNvSpPr txBox="1">
            <a:spLocks noChangeArrowheads="1"/>
          </p:cNvSpPr>
          <p:nvPr/>
        </p:nvSpPr>
        <p:spPr bwMode="auto">
          <a:xfrm>
            <a:off x="2819400" y="4845050"/>
            <a:ext cx="990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>
                <a:solidFill>
                  <a:srgbClr val="B2B2B2"/>
                </a:solidFill>
                <a:latin typeface="Times New Roman" pitchFamily="18" charset="0"/>
                <a:ea typeface="宋体" charset="-122"/>
              </a:rPr>
              <a:t>分库</a:t>
            </a:r>
            <a:r>
              <a:rPr lang="en-US" altLang="zh-CN" sz="2000">
                <a:solidFill>
                  <a:srgbClr val="B2B2B2"/>
                </a:solidFill>
                <a:latin typeface="Times New Roman" pitchFamily="18" charset="0"/>
                <a:ea typeface="宋体" charset="-122"/>
              </a:rPr>
              <a:t>1</a:t>
            </a:r>
          </a:p>
        </p:txBody>
      </p:sp>
      <p:sp>
        <p:nvSpPr>
          <p:cNvPr id="55299" name="Text Box 4"/>
          <p:cNvSpPr txBox="1">
            <a:spLocks noChangeArrowheads="1"/>
          </p:cNvSpPr>
          <p:nvPr/>
        </p:nvSpPr>
        <p:spPr bwMode="auto">
          <a:xfrm>
            <a:off x="4038600" y="4860925"/>
            <a:ext cx="990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>
                <a:solidFill>
                  <a:srgbClr val="B2B2B2"/>
                </a:solidFill>
                <a:latin typeface="Times New Roman" pitchFamily="18" charset="0"/>
                <a:ea typeface="宋体" charset="-122"/>
              </a:rPr>
              <a:t>分库</a:t>
            </a:r>
            <a:r>
              <a:rPr lang="en-US" altLang="zh-CN" sz="2000">
                <a:solidFill>
                  <a:srgbClr val="B2B2B2"/>
                </a:solidFill>
                <a:latin typeface="Times New Roman" pitchFamily="18" charset="0"/>
                <a:ea typeface="宋体" charset="-122"/>
              </a:rPr>
              <a:t>2</a:t>
            </a:r>
          </a:p>
        </p:txBody>
      </p:sp>
      <p:sp>
        <p:nvSpPr>
          <p:cNvPr id="55300" name="Text Box 5"/>
          <p:cNvSpPr txBox="1">
            <a:spLocks noChangeArrowheads="1"/>
          </p:cNvSpPr>
          <p:nvPr/>
        </p:nvSpPr>
        <p:spPr bwMode="auto">
          <a:xfrm>
            <a:off x="5257800" y="4860925"/>
            <a:ext cx="990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>
                <a:solidFill>
                  <a:srgbClr val="969696"/>
                </a:solidFill>
                <a:latin typeface="Times New Roman" pitchFamily="18" charset="0"/>
                <a:ea typeface="宋体" charset="-122"/>
              </a:rPr>
              <a:t>分库</a:t>
            </a:r>
            <a:r>
              <a:rPr lang="en-US" altLang="zh-CN" sz="2000">
                <a:solidFill>
                  <a:srgbClr val="969696"/>
                </a:solidFill>
                <a:latin typeface="Times New Roman" pitchFamily="18" charset="0"/>
                <a:ea typeface="宋体" charset="-122"/>
              </a:rPr>
              <a:t>3</a:t>
            </a:r>
          </a:p>
        </p:txBody>
      </p:sp>
      <p:sp>
        <p:nvSpPr>
          <p:cNvPr id="55301" name="Text Box 6"/>
          <p:cNvSpPr txBox="1">
            <a:spLocks noChangeArrowheads="1"/>
          </p:cNvSpPr>
          <p:nvPr/>
        </p:nvSpPr>
        <p:spPr bwMode="auto">
          <a:xfrm>
            <a:off x="6477000" y="4860925"/>
            <a:ext cx="990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>
                <a:solidFill>
                  <a:srgbClr val="B2B2B2"/>
                </a:solidFill>
                <a:latin typeface="Times New Roman" pitchFamily="18" charset="0"/>
                <a:ea typeface="宋体" charset="-122"/>
              </a:rPr>
              <a:t>分库</a:t>
            </a:r>
            <a:r>
              <a:rPr lang="en-US" altLang="zh-CN" sz="2000">
                <a:solidFill>
                  <a:srgbClr val="B2B2B2"/>
                </a:solidFill>
                <a:latin typeface="Times New Roman" pitchFamily="18" charset="0"/>
                <a:ea typeface="宋体" charset="-122"/>
              </a:rPr>
              <a:t>4</a:t>
            </a:r>
          </a:p>
        </p:txBody>
      </p:sp>
      <p:sp>
        <p:nvSpPr>
          <p:cNvPr id="55302" name="Text Box 7"/>
          <p:cNvSpPr txBox="1">
            <a:spLocks noChangeArrowheads="1"/>
          </p:cNvSpPr>
          <p:nvPr/>
        </p:nvSpPr>
        <p:spPr bwMode="auto">
          <a:xfrm>
            <a:off x="2819400" y="4022725"/>
            <a:ext cx="990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>
                <a:solidFill>
                  <a:srgbClr val="B2B2B2"/>
                </a:solidFill>
                <a:latin typeface="Times New Roman" pitchFamily="18" charset="0"/>
                <a:ea typeface="宋体" charset="-122"/>
              </a:rPr>
              <a:t>分库</a:t>
            </a:r>
            <a:r>
              <a:rPr lang="en-US" altLang="zh-CN" sz="2000">
                <a:solidFill>
                  <a:srgbClr val="B2B2B2"/>
                </a:solidFill>
                <a:latin typeface="Times New Roman" pitchFamily="18" charset="0"/>
                <a:ea typeface="宋体" charset="-122"/>
              </a:rPr>
              <a:t>5</a:t>
            </a:r>
          </a:p>
        </p:txBody>
      </p:sp>
      <p:sp>
        <p:nvSpPr>
          <p:cNvPr id="55303" name="Text Box 8"/>
          <p:cNvSpPr txBox="1">
            <a:spLocks noChangeArrowheads="1"/>
          </p:cNvSpPr>
          <p:nvPr/>
        </p:nvSpPr>
        <p:spPr bwMode="auto">
          <a:xfrm>
            <a:off x="4038600" y="4038600"/>
            <a:ext cx="990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>
                <a:solidFill>
                  <a:srgbClr val="B2B2B2"/>
                </a:solidFill>
                <a:latin typeface="Times New Roman" pitchFamily="18" charset="0"/>
                <a:ea typeface="宋体" charset="-122"/>
              </a:rPr>
              <a:t>分库</a:t>
            </a:r>
            <a:r>
              <a:rPr lang="en-US" altLang="zh-CN" sz="2000">
                <a:solidFill>
                  <a:srgbClr val="B2B2B2"/>
                </a:solidFill>
                <a:latin typeface="Times New Roman" pitchFamily="18" charset="0"/>
                <a:ea typeface="宋体" charset="-122"/>
              </a:rPr>
              <a:t>6</a:t>
            </a:r>
          </a:p>
        </p:txBody>
      </p:sp>
      <p:sp>
        <p:nvSpPr>
          <p:cNvPr id="55304" name="Text Box 9"/>
          <p:cNvSpPr txBox="1">
            <a:spLocks noChangeArrowheads="1"/>
          </p:cNvSpPr>
          <p:nvPr/>
        </p:nvSpPr>
        <p:spPr bwMode="auto">
          <a:xfrm>
            <a:off x="5257800" y="4038600"/>
            <a:ext cx="990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>
                <a:solidFill>
                  <a:srgbClr val="FF0000"/>
                </a:solidFill>
                <a:latin typeface="Times New Roman" pitchFamily="18" charset="0"/>
                <a:ea typeface="宋体" charset="-122"/>
              </a:rPr>
              <a:t>分库</a:t>
            </a:r>
            <a:r>
              <a:rPr lang="en-US" altLang="zh-CN" sz="2000">
                <a:solidFill>
                  <a:srgbClr val="FF0000"/>
                </a:solidFill>
                <a:latin typeface="Times New Roman" pitchFamily="18" charset="0"/>
                <a:ea typeface="宋体" charset="-122"/>
              </a:rPr>
              <a:t>7</a:t>
            </a:r>
          </a:p>
        </p:txBody>
      </p:sp>
      <p:sp>
        <p:nvSpPr>
          <p:cNvPr id="55305" name="Text Box 10"/>
          <p:cNvSpPr txBox="1">
            <a:spLocks noChangeArrowheads="1"/>
          </p:cNvSpPr>
          <p:nvPr/>
        </p:nvSpPr>
        <p:spPr bwMode="auto">
          <a:xfrm>
            <a:off x="6477000" y="4038600"/>
            <a:ext cx="990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>
                <a:solidFill>
                  <a:srgbClr val="B2B2B2"/>
                </a:solidFill>
                <a:latin typeface="Times New Roman" pitchFamily="18" charset="0"/>
                <a:ea typeface="宋体" charset="-122"/>
              </a:rPr>
              <a:t>分库</a:t>
            </a:r>
            <a:r>
              <a:rPr lang="en-US" altLang="zh-CN" sz="2000">
                <a:solidFill>
                  <a:srgbClr val="B2B2B2"/>
                </a:solidFill>
                <a:latin typeface="Times New Roman" pitchFamily="18" charset="0"/>
                <a:ea typeface="宋体" charset="-122"/>
              </a:rPr>
              <a:t>8</a:t>
            </a:r>
          </a:p>
        </p:txBody>
      </p:sp>
      <p:sp>
        <p:nvSpPr>
          <p:cNvPr id="55306" name="Text Box 11"/>
          <p:cNvSpPr txBox="1">
            <a:spLocks noChangeArrowheads="1"/>
          </p:cNvSpPr>
          <p:nvPr/>
        </p:nvSpPr>
        <p:spPr bwMode="auto">
          <a:xfrm>
            <a:off x="2819400" y="3244850"/>
            <a:ext cx="990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>
                <a:solidFill>
                  <a:srgbClr val="B2B2B2"/>
                </a:solidFill>
                <a:latin typeface="Times New Roman" pitchFamily="18" charset="0"/>
                <a:ea typeface="宋体" charset="-122"/>
              </a:rPr>
              <a:t>分库</a:t>
            </a:r>
            <a:r>
              <a:rPr lang="en-US" altLang="zh-CN" sz="2000">
                <a:solidFill>
                  <a:srgbClr val="B2B2B2"/>
                </a:solidFill>
                <a:latin typeface="Times New Roman" pitchFamily="18" charset="0"/>
                <a:ea typeface="宋体" charset="-122"/>
              </a:rPr>
              <a:t>9</a:t>
            </a:r>
          </a:p>
        </p:txBody>
      </p:sp>
      <p:sp>
        <p:nvSpPr>
          <p:cNvPr id="55307" name="Text Box 12"/>
          <p:cNvSpPr txBox="1">
            <a:spLocks noChangeArrowheads="1"/>
          </p:cNvSpPr>
          <p:nvPr/>
        </p:nvSpPr>
        <p:spPr bwMode="auto">
          <a:xfrm>
            <a:off x="4038600" y="3260725"/>
            <a:ext cx="990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>
                <a:solidFill>
                  <a:srgbClr val="B2B2B2"/>
                </a:solidFill>
                <a:latin typeface="Times New Roman" pitchFamily="18" charset="0"/>
                <a:ea typeface="宋体" charset="-122"/>
              </a:rPr>
              <a:t>分库</a:t>
            </a:r>
            <a:r>
              <a:rPr lang="en-US" altLang="zh-CN" sz="2000">
                <a:solidFill>
                  <a:srgbClr val="B2B2B2"/>
                </a:solidFill>
                <a:latin typeface="Times New Roman" pitchFamily="18" charset="0"/>
                <a:ea typeface="宋体" charset="-122"/>
              </a:rPr>
              <a:t>10</a:t>
            </a:r>
          </a:p>
        </p:txBody>
      </p:sp>
      <p:sp>
        <p:nvSpPr>
          <p:cNvPr id="55308" name="Text Box 13"/>
          <p:cNvSpPr txBox="1">
            <a:spLocks noChangeArrowheads="1"/>
          </p:cNvSpPr>
          <p:nvPr/>
        </p:nvSpPr>
        <p:spPr bwMode="auto">
          <a:xfrm>
            <a:off x="5257800" y="3260725"/>
            <a:ext cx="990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>
                <a:solidFill>
                  <a:srgbClr val="969696"/>
                </a:solidFill>
                <a:latin typeface="Times New Roman" pitchFamily="18" charset="0"/>
                <a:ea typeface="宋体" charset="-122"/>
              </a:rPr>
              <a:t>分库</a:t>
            </a:r>
            <a:r>
              <a:rPr lang="en-US" altLang="zh-CN" sz="2000">
                <a:solidFill>
                  <a:srgbClr val="969696"/>
                </a:solidFill>
                <a:latin typeface="Times New Roman" pitchFamily="18" charset="0"/>
                <a:ea typeface="宋体" charset="-122"/>
              </a:rPr>
              <a:t>11</a:t>
            </a:r>
          </a:p>
        </p:txBody>
      </p:sp>
      <p:sp>
        <p:nvSpPr>
          <p:cNvPr id="55309" name="Text Box 14"/>
          <p:cNvSpPr txBox="1">
            <a:spLocks noChangeArrowheads="1"/>
          </p:cNvSpPr>
          <p:nvPr/>
        </p:nvSpPr>
        <p:spPr bwMode="auto">
          <a:xfrm>
            <a:off x="6477000" y="3260725"/>
            <a:ext cx="990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>
                <a:solidFill>
                  <a:srgbClr val="B2B2B2"/>
                </a:solidFill>
                <a:latin typeface="Times New Roman" pitchFamily="18" charset="0"/>
                <a:ea typeface="宋体" charset="-122"/>
              </a:rPr>
              <a:t>分库</a:t>
            </a:r>
            <a:r>
              <a:rPr lang="en-US" altLang="zh-CN" sz="2000">
                <a:solidFill>
                  <a:srgbClr val="B2B2B2"/>
                </a:solidFill>
                <a:latin typeface="Times New Roman" pitchFamily="18" charset="0"/>
                <a:ea typeface="宋体" charset="-122"/>
              </a:rPr>
              <a:t>12</a:t>
            </a:r>
          </a:p>
        </p:txBody>
      </p:sp>
      <p:sp>
        <p:nvSpPr>
          <p:cNvPr id="55310" name="Text Box 15"/>
          <p:cNvSpPr txBox="1">
            <a:spLocks noChangeArrowheads="1"/>
          </p:cNvSpPr>
          <p:nvPr/>
        </p:nvSpPr>
        <p:spPr bwMode="auto">
          <a:xfrm>
            <a:off x="2819400" y="2422525"/>
            <a:ext cx="990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>
                <a:solidFill>
                  <a:srgbClr val="B2B2B2"/>
                </a:solidFill>
                <a:latin typeface="Times New Roman" pitchFamily="18" charset="0"/>
                <a:ea typeface="宋体" charset="-122"/>
              </a:rPr>
              <a:t>分库</a:t>
            </a:r>
            <a:r>
              <a:rPr lang="en-US" altLang="zh-CN" sz="2000">
                <a:solidFill>
                  <a:srgbClr val="B2B2B2"/>
                </a:solidFill>
                <a:latin typeface="Times New Roman" pitchFamily="18" charset="0"/>
                <a:ea typeface="宋体" charset="-122"/>
              </a:rPr>
              <a:t>13</a:t>
            </a:r>
          </a:p>
        </p:txBody>
      </p:sp>
      <p:sp>
        <p:nvSpPr>
          <p:cNvPr id="55311" name="Text Box 16"/>
          <p:cNvSpPr txBox="1">
            <a:spLocks noChangeArrowheads="1"/>
          </p:cNvSpPr>
          <p:nvPr/>
        </p:nvSpPr>
        <p:spPr bwMode="auto">
          <a:xfrm>
            <a:off x="4038600" y="2438400"/>
            <a:ext cx="990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>
                <a:solidFill>
                  <a:srgbClr val="B2B2B2"/>
                </a:solidFill>
                <a:latin typeface="Times New Roman" pitchFamily="18" charset="0"/>
                <a:ea typeface="宋体" charset="-122"/>
              </a:rPr>
              <a:t>分库</a:t>
            </a:r>
            <a:r>
              <a:rPr lang="en-US" altLang="zh-CN" sz="2000">
                <a:solidFill>
                  <a:srgbClr val="B2B2B2"/>
                </a:solidFill>
                <a:latin typeface="Times New Roman" pitchFamily="18" charset="0"/>
                <a:ea typeface="宋体" charset="-122"/>
              </a:rPr>
              <a:t>14</a:t>
            </a:r>
          </a:p>
        </p:txBody>
      </p:sp>
      <p:sp>
        <p:nvSpPr>
          <p:cNvPr id="55312" name="Text Box 17"/>
          <p:cNvSpPr txBox="1">
            <a:spLocks noChangeArrowheads="1"/>
          </p:cNvSpPr>
          <p:nvPr/>
        </p:nvSpPr>
        <p:spPr bwMode="auto">
          <a:xfrm>
            <a:off x="5257800" y="2438400"/>
            <a:ext cx="990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>
                <a:solidFill>
                  <a:srgbClr val="969696"/>
                </a:solidFill>
                <a:latin typeface="Times New Roman" pitchFamily="18" charset="0"/>
                <a:ea typeface="宋体" charset="-122"/>
              </a:rPr>
              <a:t>分库</a:t>
            </a:r>
            <a:r>
              <a:rPr lang="en-US" altLang="zh-CN" sz="2000">
                <a:solidFill>
                  <a:srgbClr val="969696"/>
                </a:solidFill>
                <a:latin typeface="Times New Roman" pitchFamily="18" charset="0"/>
                <a:ea typeface="宋体" charset="-122"/>
              </a:rPr>
              <a:t>15</a:t>
            </a:r>
          </a:p>
        </p:txBody>
      </p:sp>
      <p:sp>
        <p:nvSpPr>
          <p:cNvPr id="55313" name="Text Box 18"/>
          <p:cNvSpPr txBox="1">
            <a:spLocks noChangeArrowheads="1"/>
          </p:cNvSpPr>
          <p:nvPr/>
        </p:nvSpPr>
        <p:spPr bwMode="auto">
          <a:xfrm>
            <a:off x="6477000" y="2438400"/>
            <a:ext cx="990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>
                <a:solidFill>
                  <a:srgbClr val="B2B2B2"/>
                </a:solidFill>
                <a:latin typeface="Times New Roman" pitchFamily="18" charset="0"/>
                <a:ea typeface="宋体" charset="-122"/>
              </a:rPr>
              <a:t>分库</a:t>
            </a:r>
            <a:r>
              <a:rPr lang="en-US" altLang="zh-CN" sz="2000">
                <a:solidFill>
                  <a:srgbClr val="B2B2B2"/>
                </a:solidFill>
                <a:latin typeface="Times New Roman" pitchFamily="18" charset="0"/>
                <a:ea typeface="宋体" charset="-122"/>
              </a:rPr>
              <a:t>16</a:t>
            </a:r>
          </a:p>
        </p:txBody>
      </p:sp>
      <p:sp>
        <p:nvSpPr>
          <p:cNvPr id="55314" name="Line 19"/>
          <p:cNvSpPr>
            <a:spLocks noChangeShapeType="1"/>
          </p:cNvSpPr>
          <p:nvPr/>
        </p:nvSpPr>
        <p:spPr bwMode="auto">
          <a:xfrm>
            <a:off x="2743200" y="5394325"/>
            <a:ext cx="563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315" name="Line 20"/>
          <p:cNvSpPr>
            <a:spLocks noChangeShapeType="1"/>
          </p:cNvSpPr>
          <p:nvPr/>
        </p:nvSpPr>
        <p:spPr bwMode="auto">
          <a:xfrm flipH="1" flipV="1">
            <a:off x="2743200" y="1584325"/>
            <a:ext cx="0" cy="381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316" name="Line 21"/>
          <p:cNvSpPr>
            <a:spLocks noChangeShapeType="1"/>
          </p:cNvSpPr>
          <p:nvPr/>
        </p:nvSpPr>
        <p:spPr bwMode="auto">
          <a:xfrm>
            <a:off x="2743200" y="2193925"/>
            <a:ext cx="5029200" cy="0"/>
          </a:xfrm>
          <a:prstGeom prst="line">
            <a:avLst/>
          </a:prstGeom>
          <a:noFill/>
          <a:ln w="3175">
            <a:solidFill>
              <a:schemeClr val="tx1"/>
            </a:solidFill>
            <a:prstDash val="dashDot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317" name="Line 22"/>
          <p:cNvSpPr>
            <a:spLocks noChangeShapeType="1"/>
          </p:cNvSpPr>
          <p:nvPr/>
        </p:nvSpPr>
        <p:spPr bwMode="auto">
          <a:xfrm>
            <a:off x="2743200" y="3794125"/>
            <a:ext cx="5029200" cy="0"/>
          </a:xfrm>
          <a:prstGeom prst="line">
            <a:avLst/>
          </a:prstGeom>
          <a:noFill/>
          <a:ln w="3175">
            <a:solidFill>
              <a:schemeClr val="tx1"/>
            </a:solidFill>
            <a:prstDash val="dashDot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318" name="Line 23"/>
          <p:cNvSpPr>
            <a:spLocks noChangeShapeType="1"/>
          </p:cNvSpPr>
          <p:nvPr/>
        </p:nvSpPr>
        <p:spPr bwMode="auto">
          <a:xfrm flipV="1">
            <a:off x="5181600" y="1965325"/>
            <a:ext cx="0" cy="3429000"/>
          </a:xfrm>
          <a:prstGeom prst="line">
            <a:avLst/>
          </a:prstGeom>
          <a:noFill/>
          <a:ln w="3175">
            <a:solidFill>
              <a:schemeClr val="tx1"/>
            </a:solidFill>
            <a:prstDash val="dashDot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319" name="Line 24"/>
          <p:cNvSpPr>
            <a:spLocks noChangeShapeType="1"/>
          </p:cNvSpPr>
          <p:nvPr/>
        </p:nvSpPr>
        <p:spPr bwMode="auto">
          <a:xfrm flipV="1">
            <a:off x="7620000" y="1965325"/>
            <a:ext cx="0" cy="3429000"/>
          </a:xfrm>
          <a:prstGeom prst="line">
            <a:avLst/>
          </a:prstGeom>
          <a:noFill/>
          <a:ln w="3175">
            <a:solidFill>
              <a:schemeClr val="tx1"/>
            </a:solidFill>
            <a:prstDash val="dashDot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320" name="Line 25"/>
          <p:cNvSpPr>
            <a:spLocks noChangeShapeType="1"/>
          </p:cNvSpPr>
          <p:nvPr/>
        </p:nvSpPr>
        <p:spPr bwMode="auto">
          <a:xfrm flipV="1">
            <a:off x="3962400" y="1965325"/>
            <a:ext cx="0" cy="3429000"/>
          </a:xfrm>
          <a:prstGeom prst="line">
            <a:avLst/>
          </a:prstGeom>
          <a:noFill/>
          <a:ln w="3175">
            <a:solidFill>
              <a:schemeClr val="tx1"/>
            </a:solidFill>
            <a:prstDash val="dashDot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321" name="Line 26"/>
          <p:cNvSpPr>
            <a:spLocks noChangeShapeType="1"/>
          </p:cNvSpPr>
          <p:nvPr/>
        </p:nvSpPr>
        <p:spPr bwMode="auto">
          <a:xfrm flipV="1">
            <a:off x="6400800" y="1965325"/>
            <a:ext cx="0" cy="3429000"/>
          </a:xfrm>
          <a:prstGeom prst="line">
            <a:avLst/>
          </a:prstGeom>
          <a:noFill/>
          <a:ln w="3175">
            <a:solidFill>
              <a:schemeClr val="tx1"/>
            </a:solidFill>
            <a:prstDash val="dashDot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322" name="Line 27"/>
          <p:cNvSpPr>
            <a:spLocks noChangeShapeType="1"/>
          </p:cNvSpPr>
          <p:nvPr/>
        </p:nvSpPr>
        <p:spPr bwMode="auto">
          <a:xfrm>
            <a:off x="2743200" y="3032125"/>
            <a:ext cx="5029200" cy="0"/>
          </a:xfrm>
          <a:prstGeom prst="line">
            <a:avLst/>
          </a:prstGeom>
          <a:noFill/>
          <a:ln w="3175">
            <a:solidFill>
              <a:schemeClr val="tx1"/>
            </a:solidFill>
            <a:prstDash val="dashDot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323" name="Line 28"/>
          <p:cNvSpPr>
            <a:spLocks noChangeShapeType="1"/>
          </p:cNvSpPr>
          <p:nvPr/>
        </p:nvSpPr>
        <p:spPr bwMode="auto">
          <a:xfrm>
            <a:off x="2743200" y="4632325"/>
            <a:ext cx="5029200" cy="0"/>
          </a:xfrm>
          <a:prstGeom prst="line">
            <a:avLst/>
          </a:prstGeom>
          <a:noFill/>
          <a:ln w="3175">
            <a:solidFill>
              <a:schemeClr val="tx1"/>
            </a:solidFill>
            <a:prstDash val="dashDot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324" name="Text Box 29"/>
          <p:cNvSpPr txBox="1">
            <a:spLocks noChangeArrowheads="1"/>
          </p:cNvSpPr>
          <p:nvPr/>
        </p:nvSpPr>
        <p:spPr bwMode="auto">
          <a:xfrm>
            <a:off x="6934200" y="5318125"/>
            <a:ext cx="24384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宋体" charset="-122"/>
                <a:ea typeface="宋体" charset="-122"/>
              </a:rPr>
              <a:t>product</a:t>
            </a:r>
            <a:r>
              <a:rPr lang="zh-CN" altLang="en-US">
                <a:latin typeface="宋体" charset="-122"/>
                <a:ea typeface="宋体" charset="-122"/>
              </a:rPr>
              <a:t>值</a:t>
            </a:r>
            <a:br>
              <a:rPr lang="zh-CN" altLang="en-US">
                <a:latin typeface="宋体" charset="-122"/>
                <a:ea typeface="宋体" charset="-122"/>
              </a:rPr>
            </a:br>
            <a:r>
              <a:rPr lang="en-US" altLang="zh-CN">
                <a:latin typeface="宋体" charset="-122"/>
                <a:ea typeface="宋体" charset="-122"/>
              </a:rPr>
              <a:t>Hash</a:t>
            </a:r>
            <a:r>
              <a:rPr lang="zh-CN" altLang="en-US">
                <a:latin typeface="宋体" charset="-122"/>
                <a:ea typeface="宋体" charset="-122"/>
              </a:rPr>
              <a:t>取模</a:t>
            </a:r>
          </a:p>
        </p:txBody>
      </p:sp>
      <p:sp>
        <p:nvSpPr>
          <p:cNvPr id="55325" name="Text Box 30"/>
          <p:cNvSpPr txBox="1">
            <a:spLocks noChangeArrowheads="1"/>
          </p:cNvSpPr>
          <p:nvPr/>
        </p:nvSpPr>
        <p:spPr bwMode="auto">
          <a:xfrm>
            <a:off x="1371600" y="1476375"/>
            <a:ext cx="16764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宋体" charset="-122"/>
                <a:ea typeface="宋体" charset="-122"/>
              </a:rPr>
              <a:t>user</a:t>
            </a:r>
            <a:r>
              <a:rPr lang="zh-CN" altLang="en-US">
                <a:latin typeface="宋体" charset="-122"/>
                <a:ea typeface="宋体" charset="-122"/>
              </a:rPr>
              <a:t>值</a:t>
            </a:r>
            <a:br>
              <a:rPr lang="zh-CN" altLang="en-US">
                <a:latin typeface="宋体" charset="-122"/>
                <a:ea typeface="宋体" charset="-122"/>
              </a:rPr>
            </a:br>
            <a:r>
              <a:rPr lang="en-US" altLang="zh-CN">
                <a:latin typeface="宋体" charset="-122"/>
                <a:ea typeface="宋体" charset="-122"/>
              </a:rPr>
              <a:t>Hash</a:t>
            </a:r>
            <a:r>
              <a:rPr lang="zh-CN" altLang="en-US">
                <a:latin typeface="宋体" charset="-122"/>
                <a:ea typeface="宋体" charset="-122"/>
              </a:rPr>
              <a:t>取模</a:t>
            </a:r>
          </a:p>
        </p:txBody>
      </p:sp>
      <p:sp>
        <p:nvSpPr>
          <p:cNvPr id="55326" name="Text Box 31"/>
          <p:cNvSpPr txBox="1">
            <a:spLocks noChangeArrowheads="1"/>
          </p:cNvSpPr>
          <p:nvPr/>
        </p:nvSpPr>
        <p:spPr bwMode="auto">
          <a:xfrm>
            <a:off x="2209800" y="4784725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>
                <a:latin typeface="Courier New" pitchFamily="49" charset="0"/>
                <a:ea typeface="宋体" charset="-122"/>
              </a:rPr>
              <a:t>0</a:t>
            </a:r>
          </a:p>
        </p:txBody>
      </p:sp>
      <p:sp>
        <p:nvSpPr>
          <p:cNvPr id="55327" name="Text Box 32"/>
          <p:cNvSpPr txBox="1">
            <a:spLocks noChangeArrowheads="1"/>
          </p:cNvSpPr>
          <p:nvPr/>
        </p:nvSpPr>
        <p:spPr bwMode="auto">
          <a:xfrm>
            <a:off x="2209800" y="4022725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1</a:t>
            </a:r>
          </a:p>
        </p:txBody>
      </p:sp>
      <p:sp>
        <p:nvSpPr>
          <p:cNvPr id="55328" name="Text Box 33"/>
          <p:cNvSpPr txBox="1">
            <a:spLocks noChangeArrowheads="1"/>
          </p:cNvSpPr>
          <p:nvPr/>
        </p:nvSpPr>
        <p:spPr bwMode="auto">
          <a:xfrm>
            <a:off x="2209800" y="3260725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>
                <a:latin typeface="Courier New" pitchFamily="49" charset="0"/>
                <a:ea typeface="宋体" charset="-122"/>
              </a:rPr>
              <a:t>2</a:t>
            </a:r>
          </a:p>
        </p:txBody>
      </p:sp>
      <p:sp>
        <p:nvSpPr>
          <p:cNvPr id="55329" name="Text Box 34"/>
          <p:cNvSpPr txBox="1">
            <a:spLocks noChangeArrowheads="1"/>
          </p:cNvSpPr>
          <p:nvPr/>
        </p:nvSpPr>
        <p:spPr bwMode="auto">
          <a:xfrm>
            <a:off x="2209800" y="2422525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>
                <a:latin typeface="Courier New" pitchFamily="49" charset="0"/>
                <a:ea typeface="宋体" charset="-122"/>
              </a:rPr>
              <a:t>3</a:t>
            </a:r>
          </a:p>
        </p:txBody>
      </p:sp>
      <p:sp>
        <p:nvSpPr>
          <p:cNvPr id="55330" name="Text Box 35"/>
          <p:cNvSpPr txBox="1">
            <a:spLocks noChangeArrowheads="1"/>
          </p:cNvSpPr>
          <p:nvPr/>
        </p:nvSpPr>
        <p:spPr bwMode="auto">
          <a:xfrm>
            <a:off x="2971800" y="5470525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>
                <a:solidFill>
                  <a:srgbClr val="B2B2B2"/>
                </a:solidFill>
                <a:latin typeface="Courier New" pitchFamily="49" charset="0"/>
                <a:ea typeface="宋体" charset="-122"/>
              </a:rPr>
              <a:t>0</a:t>
            </a:r>
          </a:p>
        </p:txBody>
      </p:sp>
      <p:sp>
        <p:nvSpPr>
          <p:cNvPr id="55331" name="Text Box 36"/>
          <p:cNvSpPr txBox="1">
            <a:spLocks noChangeArrowheads="1"/>
          </p:cNvSpPr>
          <p:nvPr/>
        </p:nvSpPr>
        <p:spPr bwMode="auto">
          <a:xfrm>
            <a:off x="4267200" y="5470525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>
                <a:solidFill>
                  <a:srgbClr val="B2B2B2"/>
                </a:solidFill>
                <a:latin typeface="Courier New" pitchFamily="49" charset="0"/>
                <a:ea typeface="宋体" charset="-122"/>
              </a:rPr>
              <a:t>1</a:t>
            </a:r>
          </a:p>
        </p:txBody>
      </p:sp>
      <p:sp>
        <p:nvSpPr>
          <p:cNvPr id="55332" name="Text Box 37"/>
          <p:cNvSpPr txBox="1">
            <a:spLocks noChangeArrowheads="1"/>
          </p:cNvSpPr>
          <p:nvPr/>
        </p:nvSpPr>
        <p:spPr bwMode="auto">
          <a:xfrm>
            <a:off x="5486400" y="5470525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2</a:t>
            </a:r>
          </a:p>
        </p:txBody>
      </p:sp>
      <p:sp>
        <p:nvSpPr>
          <p:cNvPr id="55333" name="Text Box 38"/>
          <p:cNvSpPr txBox="1">
            <a:spLocks noChangeArrowheads="1"/>
          </p:cNvSpPr>
          <p:nvPr/>
        </p:nvSpPr>
        <p:spPr bwMode="auto">
          <a:xfrm>
            <a:off x="6781800" y="5470525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>
                <a:solidFill>
                  <a:srgbClr val="B2B2B2"/>
                </a:solidFill>
                <a:latin typeface="Courier New" pitchFamily="49" charset="0"/>
                <a:ea typeface="宋体" charset="-122"/>
              </a:rPr>
              <a:t>3</a:t>
            </a:r>
          </a:p>
        </p:txBody>
      </p:sp>
      <p:sp>
        <p:nvSpPr>
          <p:cNvPr id="55334" name="Line 39"/>
          <p:cNvSpPr>
            <a:spLocks noChangeShapeType="1"/>
          </p:cNvSpPr>
          <p:nvPr/>
        </p:nvSpPr>
        <p:spPr bwMode="auto">
          <a:xfrm>
            <a:off x="2743200" y="3032125"/>
            <a:ext cx="5029200" cy="0"/>
          </a:xfrm>
          <a:prstGeom prst="line">
            <a:avLst/>
          </a:prstGeom>
          <a:noFill/>
          <a:ln w="3175">
            <a:solidFill>
              <a:schemeClr val="tx1"/>
            </a:solidFill>
            <a:prstDash val="dashDot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335" name="Rectangle 40"/>
          <p:cNvSpPr>
            <a:spLocks noChangeArrowheads="1"/>
          </p:cNvSpPr>
          <p:nvPr/>
        </p:nvSpPr>
        <p:spPr bwMode="auto">
          <a:xfrm>
            <a:off x="5181600" y="3794125"/>
            <a:ext cx="1219200" cy="838200"/>
          </a:xfrm>
          <a:prstGeom prst="rect">
            <a:avLst/>
          </a:prstGeom>
          <a:solidFill>
            <a:srgbClr val="FF0000">
              <a:alpha val="20000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CocaCola</a:t>
            </a:r>
            <a:br>
              <a:rPr lang="en-US" altLang="zh-CN">
                <a:ea typeface="宋体" charset="-122"/>
              </a:rPr>
            </a:br>
            <a:r>
              <a:rPr lang="en-US" altLang="zh-CN">
                <a:ea typeface="宋体" charset="-122"/>
              </a:rPr>
              <a:t>A</a:t>
            </a:r>
          </a:p>
        </p:txBody>
      </p:sp>
      <p:sp>
        <p:nvSpPr>
          <p:cNvPr id="55336" name="Text Box 41"/>
          <p:cNvSpPr txBox="1">
            <a:spLocks noChangeArrowheads="1"/>
          </p:cNvSpPr>
          <p:nvPr/>
        </p:nvSpPr>
        <p:spPr bwMode="auto">
          <a:xfrm rot="-383430">
            <a:off x="2438400" y="5622925"/>
            <a:ext cx="4343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Hash(“CocaCola”)%4 =</a:t>
            </a:r>
            <a:r>
              <a:rPr lang="en-US" altLang="zh-CN" sz="2000">
                <a:latin typeface="Courier New" pitchFamily="49" charset="0"/>
                <a:ea typeface="宋体" charset="-122"/>
              </a:rPr>
              <a:t> </a:t>
            </a:r>
            <a:endParaRPr lang="en-US" altLang="zh-CN" sz="2000">
              <a:solidFill>
                <a:srgbClr val="FF0000"/>
              </a:solidFill>
              <a:latin typeface="Courier New" pitchFamily="49" charset="0"/>
              <a:ea typeface="宋体" charset="-122"/>
            </a:endParaRPr>
          </a:p>
        </p:txBody>
      </p:sp>
      <p:sp>
        <p:nvSpPr>
          <p:cNvPr id="55337" name="Text Box 42"/>
          <p:cNvSpPr txBox="1">
            <a:spLocks noChangeArrowheads="1"/>
          </p:cNvSpPr>
          <p:nvPr/>
        </p:nvSpPr>
        <p:spPr bwMode="auto">
          <a:xfrm>
            <a:off x="1676400" y="457200"/>
            <a:ext cx="71628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SELECT * FROM visit WHERE </a:t>
            </a:r>
            <a:br>
              <a:rPr lang="en-US" altLang="zh-CN">
                <a:latin typeface="Courier New" pitchFamily="49" charset="0"/>
                <a:ea typeface="宋体" charset="-122"/>
              </a:rPr>
            </a:br>
            <a:r>
              <a:rPr lang="en-US" altLang="zh-CN">
                <a:latin typeface="Courier New" pitchFamily="49" charset="0"/>
                <a:ea typeface="宋体" charset="-122"/>
              </a:rPr>
              <a:t>    </a:t>
            </a:r>
            <a:r>
              <a:rPr lang="en-US" altLang="zh-CN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product</a:t>
            </a:r>
            <a:r>
              <a:rPr lang="en-US" altLang="zh-CN">
                <a:latin typeface="Courier New" pitchFamily="49" charset="0"/>
                <a:ea typeface="宋体" charset="-122"/>
              </a:rPr>
              <a:t>=‘</a:t>
            </a:r>
            <a:r>
              <a:rPr lang="en-US" altLang="zh-CN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ColaCola</a:t>
            </a:r>
            <a:r>
              <a:rPr lang="en-US" altLang="zh-CN">
                <a:latin typeface="Courier New" pitchFamily="49" charset="0"/>
                <a:ea typeface="宋体" charset="-122"/>
              </a:rPr>
              <a:t>’ AND </a:t>
            </a:r>
            <a:r>
              <a:rPr lang="en-US" altLang="zh-CN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user</a:t>
            </a:r>
            <a:r>
              <a:rPr lang="en-US" altLang="zh-CN">
                <a:latin typeface="Courier New" pitchFamily="49" charset="0"/>
                <a:ea typeface="宋体" charset="-122"/>
              </a:rPr>
              <a:t>=‘</a:t>
            </a:r>
            <a:r>
              <a:rPr lang="en-US" altLang="zh-CN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A</a:t>
            </a:r>
            <a:r>
              <a:rPr lang="en-US" altLang="zh-CN">
                <a:latin typeface="Courier New" pitchFamily="49" charset="0"/>
                <a:ea typeface="宋体" charset="-122"/>
              </a:rPr>
              <a:t>’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Text Box 2"/>
          <p:cNvSpPr txBox="1">
            <a:spLocks noChangeArrowheads="1"/>
          </p:cNvSpPr>
          <p:nvPr/>
        </p:nvSpPr>
        <p:spPr bwMode="auto">
          <a:xfrm>
            <a:off x="2819400" y="4845050"/>
            <a:ext cx="990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>
                <a:solidFill>
                  <a:srgbClr val="B2B2B2"/>
                </a:solidFill>
                <a:latin typeface="Times New Roman" pitchFamily="18" charset="0"/>
                <a:ea typeface="宋体" charset="-122"/>
              </a:rPr>
              <a:t>分库</a:t>
            </a:r>
            <a:r>
              <a:rPr lang="en-US" altLang="zh-CN" sz="2000">
                <a:solidFill>
                  <a:srgbClr val="B2B2B2"/>
                </a:solidFill>
                <a:latin typeface="Times New Roman" pitchFamily="18" charset="0"/>
                <a:ea typeface="宋体" charset="-122"/>
              </a:rPr>
              <a:t>1</a:t>
            </a:r>
          </a:p>
        </p:txBody>
      </p:sp>
      <p:sp>
        <p:nvSpPr>
          <p:cNvPr id="56322" name="Text Box 3"/>
          <p:cNvSpPr txBox="1">
            <a:spLocks noChangeArrowheads="1"/>
          </p:cNvSpPr>
          <p:nvPr/>
        </p:nvSpPr>
        <p:spPr bwMode="auto">
          <a:xfrm>
            <a:off x="4038600" y="4860925"/>
            <a:ext cx="990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>
                <a:solidFill>
                  <a:srgbClr val="B2B2B2"/>
                </a:solidFill>
                <a:latin typeface="Times New Roman" pitchFamily="18" charset="0"/>
                <a:ea typeface="宋体" charset="-122"/>
              </a:rPr>
              <a:t>分库</a:t>
            </a:r>
            <a:r>
              <a:rPr lang="en-US" altLang="zh-CN" sz="2000">
                <a:solidFill>
                  <a:srgbClr val="B2B2B2"/>
                </a:solidFill>
                <a:latin typeface="Times New Roman" pitchFamily="18" charset="0"/>
                <a:ea typeface="宋体" charset="-122"/>
              </a:rPr>
              <a:t>2</a:t>
            </a:r>
          </a:p>
        </p:txBody>
      </p:sp>
      <p:sp>
        <p:nvSpPr>
          <p:cNvPr id="56323" name="Text Box 4"/>
          <p:cNvSpPr txBox="1">
            <a:spLocks noChangeArrowheads="1"/>
          </p:cNvSpPr>
          <p:nvPr/>
        </p:nvSpPr>
        <p:spPr bwMode="auto">
          <a:xfrm>
            <a:off x="5257800" y="4860925"/>
            <a:ext cx="990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>
                <a:solidFill>
                  <a:srgbClr val="FF0000"/>
                </a:solidFill>
                <a:latin typeface="Times New Roman" pitchFamily="18" charset="0"/>
                <a:ea typeface="宋体" charset="-122"/>
              </a:rPr>
              <a:t>分库</a:t>
            </a:r>
            <a:r>
              <a:rPr lang="en-US" altLang="zh-CN" sz="2000">
                <a:solidFill>
                  <a:srgbClr val="FF0000"/>
                </a:solidFill>
                <a:latin typeface="Times New Roman" pitchFamily="18" charset="0"/>
                <a:ea typeface="宋体" charset="-122"/>
              </a:rPr>
              <a:t>3</a:t>
            </a:r>
          </a:p>
        </p:txBody>
      </p:sp>
      <p:sp>
        <p:nvSpPr>
          <p:cNvPr id="56324" name="Text Box 5"/>
          <p:cNvSpPr txBox="1">
            <a:spLocks noChangeArrowheads="1"/>
          </p:cNvSpPr>
          <p:nvPr/>
        </p:nvSpPr>
        <p:spPr bwMode="auto">
          <a:xfrm>
            <a:off x="6477000" y="4860925"/>
            <a:ext cx="990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>
                <a:solidFill>
                  <a:srgbClr val="B2B2B2"/>
                </a:solidFill>
                <a:latin typeface="Times New Roman" pitchFamily="18" charset="0"/>
                <a:ea typeface="宋体" charset="-122"/>
              </a:rPr>
              <a:t>分库</a:t>
            </a:r>
            <a:r>
              <a:rPr lang="en-US" altLang="zh-CN" sz="2000">
                <a:solidFill>
                  <a:srgbClr val="B2B2B2"/>
                </a:solidFill>
                <a:latin typeface="Times New Roman" pitchFamily="18" charset="0"/>
                <a:ea typeface="宋体" charset="-122"/>
              </a:rPr>
              <a:t>4</a:t>
            </a:r>
          </a:p>
        </p:txBody>
      </p:sp>
      <p:sp>
        <p:nvSpPr>
          <p:cNvPr id="56325" name="Text Box 6"/>
          <p:cNvSpPr txBox="1">
            <a:spLocks noChangeArrowheads="1"/>
          </p:cNvSpPr>
          <p:nvPr/>
        </p:nvSpPr>
        <p:spPr bwMode="auto">
          <a:xfrm>
            <a:off x="2819400" y="4022725"/>
            <a:ext cx="990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>
                <a:solidFill>
                  <a:srgbClr val="B2B2B2"/>
                </a:solidFill>
                <a:latin typeface="Times New Roman" pitchFamily="18" charset="0"/>
                <a:ea typeface="宋体" charset="-122"/>
              </a:rPr>
              <a:t>分库</a:t>
            </a:r>
            <a:r>
              <a:rPr lang="en-US" altLang="zh-CN" sz="2000">
                <a:solidFill>
                  <a:srgbClr val="B2B2B2"/>
                </a:solidFill>
                <a:latin typeface="Times New Roman" pitchFamily="18" charset="0"/>
                <a:ea typeface="宋体" charset="-122"/>
              </a:rPr>
              <a:t>5</a:t>
            </a:r>
          </a:p>
        </p:txBody>
      </p:sp>
      <p:sp>
        <p:nvSpPr>
          <p:cNvPr id="56326" name="Text Box 7"/>
          <p:cNvSpPr txBox="1">
            <a:spLocks noChangeArrowheads="1"/>
          </p:cNvSpPr>
          <p:nvPr/>
        </p:nvSpPr>
        <p:spPr bwMode="auto">
          <a:xfrm>
            <a:off x="4038600" y="4038600"/>
            <a:ext cx="990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>
                <a:solidFill>
                  <a:srgbClr val="B2B2B2"/>
                </a:solidFill>
                <a:latin typeface="Times New Roman" pitchFamily="18" charset="0"/>
                <a:ea typeface="宋体" charset="-122"/>
              </a:rPr>
              <a:t>分库</a:t>
            </a:r>
            <a:r>
              <a:rPr lang="en-US" altLang="zh-CN" sz="2000">
                <a:solidFill>
                  <a:srgbClr val="B2B2B2"/>
                </a:solidFill>
                <a:latin typeface="Times New Roman" pitchFamily="18" charset="0"/>
                <a:ea typeface="宋体" charset="-122"/>
              </a:rPr>
              <a:t>6</a:t>
            </a:r>
          </a:p>
        </p:txBody>
      </p:sp>
      <p:sp>
        <p:nvSpPr>
          <p:cNvPr id="56327" name="Text Box 8"/>
          <p:cNvSpPr txBox="1">
            <a:spLocks noChangeArrowheads="1"/>
          </p:cNvSpPr>
          <p:nvPr/>
        </p:nvSpPr>
        <p:spPr bwMode="auto">
          <a:xfrm>
            <a:off x="5257800" y="4038600"/>
            <a:ext cx="990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>
                <a:solidFill>
                  <a:srgbClr val="FF0000"/>
                </a:solidFill>
                <a:latin typeface="Times New Roman" pitchFamily="18" charset="0"/>
                <a:ea typeface="宋体" charset="-122"/>
              </a:rPr>
              <a:t>分库</a:t>
            </a:r>
            <a:r>
              <a:rPr lang="en-US" altLang="zh-CN" sz="2000">
                <a:solidFill>
                  <a:srgbClr val="FF0000"/>
                </a:solidFill>
                <a:latin typeface="Times New Roman" pitchFamily="18" charset="0"/>
                <a:ea typeface="宋体" charset="-122"/>
              </a:rPr>
              <a:t>7</a:t>
            </a:r>
          </a:p>
        </p:txBody>
      </p:sp>
      <p:sp>
        <p:nvSpPr>
          <p:cNvPr id="56328" name="Text Box 9"/>
          <p:cNvSpPr txBox="1">
            <a:spLocks noChangeArrowheads="1"/>
          </p:cNvSpPr>
          <p:nvPr/>
        </p:nvSpPr>
        <p:spPr bwMode="auto">
          <a:xfrm>
            <a:off x="6477000" y="4038600"/>
            <a:ext cx="990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>
                <a:solidFill>
                  <a:srgbClr val="B2B2B2"/>
                </a:solidFill>
                <a:latin typeface="Times New Roman" pitchFamily="18" charset="0"/>
                <a:ea typeface="宋体" charset="-122"/>
              </a:rPr>
              <a:t>分库</a:t>
            </a:r>
            <a:r>
              <a:rPr lang="en-US" altLang="zh-CN" sz="2000">
                <a:solidFill>
                  <a:srgbClr val="B2B2B2"/>
                </a:solidFill>
                <a:latin typeface="Times New Roman" pitchFamily="18" charset="0"/>
                <a:ea typeface="宋体" charset="-122"/>
              </a:rPr>
              <a:t>8</a:t>
            </a:r>
          </a:p>
        </p:txBody>
      </p:sp>
      <p:sp>
        <p:nvSpPr>
          <p:cNvPr id="56329" name="Text Box 10"/>
          <p:cNvSpPr txBox="1">
            <a:spLocks noChangeArrowheads="1"/>
          </p:cNvSpPr>
          <p:nvPr/>
        </p:nvSpPr>
        <p:spPr bwMode="auto">
          <a:xfrm>
            <a:off x="2819400" y="3244850"/>
            <a:ext cx="990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>
                <a:solidFill>
                  <a:srgbClr val="B2B2B2"/>
                </a:solidFill>
                <a:latin typeface="Times New Roman" pitchFamily="18" charset="0"/>
                <a:ea typeface="宋体" charset="-122"/>
              </a:rPr>
              <a:t>分库</a:t>
            </a:r>
            <a:r>
              <a:rPr lang="en-US" altLang="zh-CN" sz="2000">
                <a:solidFill>
                  <a:srgbClr val="B2B2B2"/>
                </a:solidFill>
                <a:latin typeface="Times New Roman" pitchFamily="18" charset="0"/>
                <a:ea typeface="宋体" charset="-122"/>
              </a:rPr>
              <a:t>9</a:t>
            </a:r>
          </a:p>
        </p:txBody>
      </p:sp>
      <p:sp>
        <p:nvSpPr>
          <p:cNvPr id="56330" name="Text Box 11"/>
          <p:cNvSpPr txBox="1">
            <a:spLocks noChangeArrowheads="1"/>
          </p:cNvSpPr>
          <p:nvPr/>
        </p:nvSpPr>
        <p:spPr bwMode="auto">
          <a:xfrm>
            <a:off x="4038600" y="3260725"/>
            <a:ext cx="990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>
                <a:solidFill>
                  <a:srgbClr val="B2B2B2"/>
                </a:solidFill>
                <a:latin typeface="Times New Roman" pitchFamily="18" charset="0"/>
                <a:ea typeface="宋体" charset="-122"/>
              </a:rPr>
              <a:t>分库</a:t>
            </a:r>
            <a:r>
              <a:rPr lang="en-US" altLang="zh-CN" sz="2000">
                <a:solidFill>
                  <a:srgbClr val="B2B2B2"/>
                </a:solidFill>
                <a:latin typeface="Times New Roman" pitchFamily="18" charset="0"/>
                <a:ea typeface="宋体" charset="-122"/>
              </a:rPr>
              <a:t>10</a:t>
            </a:r>
          </a:p>
        </p:txBody>
      </p:sp>
      <p:sp>
        <p:nvSpPr>
          <p:cNvPr id="56331" name="Text Box 12"/>
          <p:cNvSpPr txBox="1">
            <a:spLocks noChangeArrowheads="1"/>
          </p:cNvSpPr>
          <p:nvPr/>
        </p:nvSpPr>
        <p:spPr bwMode="auto">
          <a:xfrm>
            <a:off x="5257800" y="3260725"/>
            <a:ext cx="990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>
                <a:solidFill>
                  <a:srgbClr val="FF0000"/>
                </a:solidFill>
                <a:latin typeface="Times New Roman" pitchFamily="18" charset="0"/>
                <a:ea typeface="宋体" charset="-122"/>
              </a:rPr>
              <a:t>分库</a:t>
            </a:r>
            <a:r>
              <a:rPr lang="en-US" altLang="zh-CN" sz="2000">
                <a:solidFill>
                  <a:srgbClr val="FF0000"/>
                </a:solidFill>
                <a:latin typeface="Times New Roman" pitchFamily="18" charset="0"/>
                <a:ea typeface="宋体" charset="-122"/>
              </a:rPr>
              <a:t>11</a:t>
            </a:r>
          </a:p>
        </p:txBody>
      </p:sp>
      <p:sp>
        <p:nvSpPr>
          <p:cNvPr id="56332" name="Text Box 13"/>
          <p:cNvSpPr txBox="1">
            <a:spLocks noChangeArrowheads="1"/>
          </p:cNvSpPr>
          <p:nvPr/>
        </p:nvSpPr>
        <p:spPr bwMode="auto">
          <a:xfrm>
            <a:off x="6477000" y="3260725"/>
            <a:ext cx="990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>
                <a:solidFill>
                  <a:srgbClr val="B2B2B2"/>
                </a:solidFill>
                <a:latin typeface="Times New Roman" pitchFamily="18" charset="0"/>
                <a:ea typeface="宋体" charset="-122"/>
              </a:rPr>
              <a:t>分库</a:t>
            </a:r>
            <a:r>
              <a:rPr lang="en-US" altLang="zh-CN" sz="2000">
                <a:solidFill>
                  <a:srgbClr val="B2B2B2"/>
                </a:solidFill>
                <a:latin typeface="Times New Roman" pitchFamily="18" charset="0"/>
                <a:ea typeface="宋体" charset="-122"/>
              </a:rPr>
              <a:t>12</a:t>
            </a:r>
          </a:p>
        </p:txBody>
      </p:sp>
      <p:sp>
        <p:nvSpPr>
          <p:cNvPr id="56333" name="Text Box 14"/>
          <p:cNvSpPr txBox="1">
            <a:spLocks noChangeArrowheads="1"/>
          </p:cNvSpPr>
          <p:nvPr/>
        </p:nvSpPr>
        <p:spPr bwMode="auto">
          <a:xfrm>
            <a:off x="2819400" y="2422525"/>
            <a:ext cx="990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>
                <a:solidFill>
                  <a:srgbClr val="B2B2B2"/>
                </a:solidFill>
                <a:latin typeface="Times New Roman" pitchFamily="18" charset="0"/>
                <a:ea typeface="宋体" charset="-122"/>
              </a:rPr>
              <a:t>分库</a:t>
            </a:r>
            <a:r>
              <a:rPr lang="en-US" altLang="zh-CN" sz="2000">
                <a:solidFill>
                  <a:srgbClr val="B2B2B2"/>
                </a:solidFill>
                <a:latin typeface="Times New Roman" pitchFamily="18" charset="0"/>
                <a:ea typeface="宋体" charset="-122"/>
              </a:rPr>
              <a:t>13</a:t>
            </a:r>
          </a:p>
        </p:txBody>
      </p:sp>
      <p:sp>
        <p:nvSpPr>
          <p:cNvPr id="56334" name="Text Box 15"/>
          <p:cNvSpPr txBox="1">
            <a:spLocks noChangeArrowheads="1"/>
          </p:cNvSpPr>
          <p:nvPr/>
        </p:nvSpPr>
        <p:spPr bwMode="auto">
          <a:xfrm>
            <a:off x="4038600" y="2438400"/>
            <a:ext cx="990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>
                <a:solidFill>
                  <a:srgbClr val="B2B2B2"/>
                </a:solidFill>
                <a:latin typeface="Times New Roman" pitchFamily="18" charset="0"/>
                <a:ea typeface="宋体" charset="-122"/>
              </a:rPr>
              <a:t>分库</a:t>
            </a:r>
            <a:r>
              <a:rPr lang="en-US" altLang="zh-CN" sz="2000">
                <a:solidFill>
                  <a:srgbClr val="B2B2B2"/>
                </a:solidFill>
                <a:latin typeface="Times New Roman" pitchFamily="18" charset="0"/>
                <a:ea typeface="宋体" charset="-122"/>
              </a:rPr>
              <a:t>14</a:t>
            </a:r>
          </a:p>
        </p:txBody>
      </p:sp>
      <p:sp>
        <p:nvSpPr>
          <p:cNvPr id="56335" name="Text Box 16"/>
          <p:cNvSpPr txBox="1">
            <a:spLocks noChangeArrowheads="1"/>
          </p:cNvSpPr>
          <p:nvPr/>
        </p:nvSpPr>
        <p:spPr bwMode="auto">
          <a:xfrm>
            <a:off x="5257800" y="2438400"/>
            <a:ext cx="990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>
                <a:solidFill>
                  <a:srgbClr val="FF0000"/>
                </a:solidFill>
                <a:latin typeface="Times New Roman" pitchFamily="18" charset="0"/>
                <a:ea typeface="宋体" charset="-122"/>
              </a:rPr>
              <a:t>分库</a:t>
            </a:r>
            <a:r>
              <a:rPr lang="en-US" altLang="zh-CN" sz="2000">
                <a:solidFill>
                  <a:srgbClr val="FF0000"/>
                </a:solidFill>
                <a:latin typeface="Times New Roman" pitchFamily="18" charset="0"/>
                <a:ea typeface="宋体" charset="-122"/>
              </a:rPr>
              <a:t>15</a:t>
            </a:r>
          </a:p>
        </p:txBody>
      </p:sp>
      <p:sp>
        <p:nvSpPr>
          <p:cNvPr id="56336" name="Text Box 17"/>
          <p:cNvSpPr txBox="1">
            <a:spLocks noChangeArrowheads="1"/>
          </p:cNvSpPr>
          <p:nvPr/>
        </p:nvSpPr>
        <p:spPr bwMode="auto">
          <a:xfrm>
            <a:off x="6477000" y="2438400"/>
            <a:ext cx="990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>
                <a:solidFill>
                  <a:srgbClr val="B2B2B2"/>
                </a:solidFill>
                <a:latin typeface="Times New Roman" pitchFamily="18" charset="0"/>
                <a:ea typeface="宋体" charset="-122"/>
              </a:rPr>
              <a:t>分库</a:t>
            </a:r>
            <a:r>
              <a:rPr lang="en-US" altLang="zh-CN" sz="2000">
                <a:solidFill>
                  <a:srgbClr val="B2B2B2"/>
                </a:solidFill>
                <a:latin typeface="Times New Roman" pitchFamily="18" charset="0"/>
                <a:ea typeface="宋体" charset="-122"/>
              </a:rPr>
              <a:t>16</a:t>
            </a:r>
          </a:p>
        </p:txBody>
      </p:sp>
      <p:sp>
        <p:nvSpPr>
          <p:cNvPr id="56337" name="Line 18"/>
          <p:cNvSpPr>
            <a:spLocks noChangeShapeType="1"/>
          </p:cNvSpPr>
          <p:nvPr/>
        </p:nvSpPr>
        <p:spPr bwMode="auto">
          <a:xfrm>
            <a:off x="2743200" y="5394325"/>
            <a:ext cx="563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338" name="Line 19"/>
          <p:cNvSpPr>
            <a:spLocks noChangeShapeType="1"/>
          </p:cNvSpPr>
          <p:nvPr/>
        </p:nvSpPr>
        <p:spPr bwMode="auto">
          <a:xfrm flipH="1" flipV="1">
            <a:off x="2743200" y="1584325"/>
            <a:ext cx="0" cy="381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339" name="Line 20"/>
          <p:cNvSpPr>
            <a:spLocks noChangeShapeType="1"/>
          </p:cNvSpPr>
          <p:nvPr/>
        </p:nvSpPr>
        <p:spPr bwMode="auto">
          <a:xfrm>
            <a:off x="2743200" y="2193925"/>
            <a:ext cx="5029200" cy="0"/>
          </a:xfrm>
          <a:prstGeom prst="line">
            <a:avLst/>
          </a:prstGeom>
          <a:noFill/>
          <a:ln w="3175">
            <a:solidFill>
              <a:schemeClr val="tx1"/>
            </a:solidFill>
            <a:prstDash val="dashDot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340" name="Line 21"/>
          <p:cNvSpPr>
            <a:spLocks noChangeShapeType="1"/>
          </p:cNvSpPr>
          <p:nvPr/>
        </p:nvSpPr>
        <p:spPr bwMode="auto">
          <a:xfrm>
            <a:off x="2743200" y="3794125"/>
            <a:ext cx="5029200" cy="0"/>
          </a:xfrm>
          <a:prstGeom prst="line">
            <a:avLst/>
          </a:prstGeom>
          <a:noFill/>
          <a:ln w="3175">
            <a:solidFill>
              <a:schemeClr val="tx1"/>
            </a:solidFill>
            <a:prstDash val="dashDot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341" name="Line 22"/>
          <p:cNvSpPr>
            <a:spLocks noChangeShapeType="1"/>
          </p:cNvSpPr>
          <p:nvPr/>
        </p:nvSpPr>
        <p:spPr bwMode="auto">
          <a:xfrm flipV="1">
            <a:off x="5181600" y="1965325"/>
            <a:ext cx="0" cy="3429000"/>
          </a:xfrm>
          <a:prstGeom prst="line">
            <a:avLst/>
          </a:prstGeom>
          <a:noFill/>
          <a:ln w="3175">
            <a:solidFill>
              <a:schemeClr val="tx1"/>
            </a:solidFill>
            <a:prstDash val="dashDot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342" name="Line 23"/>
          <p:cNvSpPr>
            <a:spLocks noChangeShapeType="1"/>
          </p:cNvSpPr>
          <p:nvPr/>
        </p:nvSpPr>
        <p:spPr bwMode="auto">
          <a:xfrm flipV="1">
            <a:off x="7620000" y="1965325"/>
            <a:ext cx="0" cy="3429000"/>
          </a:xfrm>
          <a:prstGeom prst="line">
            <a:avLst/>
          </a:prstGeom>
          <a:noFill/>
          <a:ln w="3175">
            <a:solidFill>
              <a:schemeClr val="tx1"/>
            </a:solidFill>
            <a:prstDash val="dashDot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343" name="Line 24"/>
          <p:cNvSpPr>
            <a:spLocks noChangeShapeType="1"/>
          </p:cNvSpPr>
          <p:nvPr/>
        </p:nvSpPr>
        <p:spPr bwMode="auto">
          <a:xfrm flipV="1">
            <a:off x="3962400" y="1965325"/>
            <a:ext cx="0" cy="3429000"/>
          </a:xfrm>
          <a:prstGeom prst="line">
            <a:avLst/>
          </a:prstGeom>
          <a:noFill/>
          <a:ln w="3175">
            <a:solidFill>
              <a:schemeClr val="tx1"/>
            </a:solidFill>
            <a:prstDash val="dashDot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344" name="Line 25"/>
          <p:cNvSpPr>
            <a:spLocks noChangeShapeType="1"/>
          </p:cNvSpPr>
          <p:nvPr/>
        </p:nvSpPr>
        <p:spPr bwMode="auto">
          <a:xfrm flipV="1">
            <a:off x="6400800" y="1965325"/>
            <a:ext cx="0" cy="3429000"/>
          </a:xfrm>
          <a:prstGeom prst="line">
            <a:avLst/>
          </a:prstGeom>
          <a:noFill/>
          <a:ln w="3175">
            <a:solidFill>
              <a:schemeClr val="tx1"/>
            </a:solidFill>
            <a:prstDash val="dashDot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345" name="Line 26"/>
          <p:cNvSpPr>
            <a:spLocks noChangeShapeType="1"/>
          </p:cNvSpPr>
          <p:nvPr/>
        </p:nvSpPr>
        <p:spPr bwMode="auto">
          <a:xfrm>
            <a:off x="2743200" y="3032125"/>
            <a:ext cx="5029200" cy="0"/>
          </a:xfrm>
          <a:prstGeom prst="line">
            <a:avLst/>
          </a:prstGeom>
          <a:noFill/>
          <a:ln w="3175">
            <a:solidFill>
              <a:schemeClr val="tx1"/>
            </a:solidFill>
            <a:prstDash val="dashDot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346" name="Line 27"/>
          <p:cNvSpPr>
            <a:spLocks noChangeShapeType="1"/>
          </p:cNvSpPr>
          <p:nvPr/>
        </p:nvSpPr>
        <p:spPr bwMode="auto">
          <a:xfrm>
            <a:off x="2743200" y="4632325"/>
            <a:ext cx="5029200" cy="0"/>
          </a:xfrm>
          <a:prstGeom prst="line">
            <a:avLst/>
          </a:prstGeom>
          <a:noFill/>
          <a:ln w="3175">
            <a:solidFill>
              <a:schemeClr val="tx1"/>
            </a:solidFill>
            <a:prstDash val="dashDot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347" name="Text Box 28"/>
          <p:cNvSpPr txBox="1">
            <a:spLocks noChangeArrowheads="1"/>
          </p:cNvSpPr>
          <p:nvPr/>
        </p:nvSpPr>
        <p:spPr bwMode="auto">
          <a:xfrm>
            <a:off x="6934200" y="5318125"/>
            <a:ext cx="24384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宋体" charset="-122"/>
                <a:ea typeface="宋体" charset="-122"/>
              </a:rPr>
              <a:t>product</a:t>
            </a:r>
            <a:r>
              <a:rPr lang="zh-CN" altLang="en-US">
                <a:latin typeface="宋体" charset="-122"/>
                <a:ea typeface="宋体" charset="-122"/>
              </a:rPr>
              <a:t>值</a:t>
            </a:r>
            <a:br>
              <a:rPr lang="zh-CN" altLang="en-US">
                <a:latin typeface="宋体" charset="-122"/>
                <a:ea typeface="宋体" charset="-122"/>
              </a:rPr>
            </a:br>
            <a:r>
              <a:rPr lang="en-US" altLang="zh-CN">
                <a:latin typeface="宋体" charset="-122"/>
                <a:ea typeface="宋体" charset="-122"/>
              </a:rPr>
              <a:t>Hash</a:t>
            </a:r>
            <a:r>
              <a:rPr lang="zh-CN" altLang="en-US">
                <a:latin typeface="宋体" charset="-122"/>
                <a:ea typeface="宋体" charset="-122"/>
              </a:rPr>
              <a:t>取模</a:t>
            </a:r>
          </a:p>
        </p:txBody>
      </p:sp>
      <p:sp>
        <p:nvSpPr>
          <p:cNvPr id="56348" name="Text Box 29"/>
          <p:cNvSpPr txBox="1">
            <a:spLocks noChangeArrowheads="1"/>
          </p:cNvSpPr>
          <p:nvPr/>
        </p:nvSpPr>
        <p:spPr bwMode="auto">
          <a:xfrm>
            <a:off x="1371600" y="1476375"/>
            <a:ext cx="16764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宋体" charset="-122"/>
                <a:ea typeface="宋体" charset="-122"/>
              </a:rPr>
              <a:t>user</a:t>
            </a:r>
            <a:r>
              <a:rPr lang="zh-CN" altLang="en-US">
                <a:latin typeface="宋体" charset="-122"/>
                <a:ea typeface="宋体" charset="-122"/>
              </a:rPr>
              <a:t>值</a:t>
            </a:r>
            <a:br>
              <a:rPr lang="zh-CN" altLang="en-US">
                <a:latin typeface="宋体" charset="-122"/>
                <a:ea typeface="宋体" charset="-122"/>
              </a:rPr>
            </a:br>
            <a:r>
              <a:rPr lang="en-US" altLang="zh-CN">
                <a:latin typeface="宋体" charset="-122"/>
                <a:ea typeface="宋体" charset="-122"/>
              </a:rPr>
              <a:t>Hash</a:t>
            </a:r>
            <a:r>
              <a:rPr lang="zh-CN" altLang="en-US">
                <a:latin typeface="宋体" charset="-122"/>
                <a:ea typeface="宋体" charset="-122"/>
              </a:rPr>
              <a:t>取模</a:t>
            </a:r>
          </a:p>
        </p:txBody>
      </p:sp>
      <p:sp>
        <p:nvSpPr>
          <p:cNvPr id="56349" name="Text Box 30"/>
          <p:cNvSpPr txBox="1">
            <a:spLocks noChangeArrowheads="1"/>
          </p:cNvSpPr>
          <p:nvPr/>
        </p:nvSpPr>
        <p:spPr bwMode="auto">
          <a:xfrm>
            <a:off x="2209800" y="4784725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>
                <a:latin typeface="Courier New" pitchFamily="49" charset="0"/>
                <a:ea typeface="宋体" charset="-122"/>
              </a:rPr>
              <a:t>0</a:t>
            </a:r>
          </a:p>
        </p:txBody>
      </p:sp>
      <p:sp>
        <p:nvSpPr>
          <p:cNvPr id="56350" name="Text Box 31"/>
          <p:cNvSpPr txBox="1">
            <a:spLocks noChangeArrowheads="1"/>
          </p:cNvSpPr>
          <p:nvPr/>
        </p:nvSpPr>
        <p:spPr bwMode="auto">
          <a:xfrm>
            <a:off x="2209800" y="4022725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>
                <a:latin typeface="Courier New" pitchFamily="49" charset="0"/>
                <a:ea typeface="宋体" charset="-122"/>
              </a:rPr>
              <a:t>1</a:t>
            </a:r>
          </a:p>
        </p:txBody>
      </p:sp>
      <p:sp>
        <p:nvSpPr>
          <p:cNvPr id="56351" name="Text Box 32"/>
          <p:cNvSpPr txBox="1">
            <a:spLocks noChangeArrowheads="1"/>
          </p:cNvSpPr>
          <p:nvPr/>
        </p:nvSpPr>
        <p:spPr bwMode="auto">
          <a:xfrm>
            <a:off x="2209800" y="3260725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>
                <a:latin typeface="Courier New" pitchFamily="49" charset="0"/>
                <a:ea typeface="宋体" charset="-122"/>
              </a:rPr>
              <a:t>2</a:t>
            </a:r>
          </a:p>
        </p:txBody>
      </p:sp>
      <p:sp>
        <p:nvSpPr>
          <p:cNvPr id="56352" name="Text Box 33"/>
          <p:cNvSpPr txBox="1">
            <a:spLocks noChangeArrowheads="1"/>
          </p:cNvSpPr>
          <p:nvPr/>
        </p:nvSpPr>
        <p:spPr bwMode="auto">
          <a:xfrm>
            <a:off x="2209800" y="2422525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>
                <a:latin typeface="Courier New" pitchFamily="49" charset="0"/>
                <a:ea typeface="宋体" charset="-122"/>
              </a:rPr>
              <a:t>3</a:t>
            </a:r>
          </a:p>
        </p:txBody>
      </p:sp>
      <p:sp>
        <p:nvSpPr>
          <p:cNvPr id="56353" name="Text Box 34"/>
          <p:cNvSpPr txBox="1">
            <a:spLocks noChangeArrowheads="1"/>
          </p:cNvSpPr>
          <p:nvPr/>
        </p:nvSpPr>
        <p:spPr bwMode="auto">
          <a:xfrm>
            <a:off x="2971800" y="5470525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>
                <a:solidFill>
                  <a:srgbClr val="B2B2B2"/>
                </a:solidFill>
                <a:latin typeface="Courier New" pitchFamily="49" charset="0"/>
                <a:ea typeface="宋体" charset="-122"/>
              </a:rPr>
              <a:t>0</a:t>
            </a:r>
          </a:p>
        </p:txBody>
      </p:sp>
      <p:sp>
        <p:nvSpPr>
          <p:cNvPr id="56354" name="Text Box 35"/>
          <p:cNvSpPr txBox="1">
            <a:spLocks noChangeArrowheads="1"/>
          </p:cNvSpPr>
          <p:nvPr/>
        </p:nvSpPr>
        <p:spPr bwMode="auto">
          <a:xfrm>
            <a:off x="4267200" y="5470525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>
                <a:solidFill>
                  <a:srgbClr val="B2B2B2"/>
                </a:solidFill>
                <a:latin typeface="Courier New" pitchFamily="49" charset="0"/>
                <a:ea typeface="宋体" charset="-122"/>
              </a:rPr>
              <a:t>1</a:t>
            </a:r>
          </a:p>
        </p:txBody>
      </p:sp>
      <p:sp>
        <p:nvSpPr>
          <p:cNvPr id="56355" name="Text Box 36"/>
          <p:cNvSpPr txBox="1">
            <a:spLocks noChangeArrowheads="1"/>
          </p:cNvSpPr>
          <p:nvPr/>
        </p:nvSpPr>
        <p:spPr bwMode="auto">
          <a:xfrm>
            <a:off x="5486400" y="5470525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2</a:t>
            </a:r>
          </a:p>
        </p:txBody>
      </p:sp>
      <p:sp>
        <p:nvSpPr>
          <p:cNvPr id="56356" name="Text Box 37"/>
          <p:cNvSpPr txBox="1">
            <a:spLocks noChangeArrowheads="1"/>
          </p:cNvSpPr>
          <p:nvPr/>
        </p:nvSpPr>
        <p:spPr bwMode="auto">
          <a:xfrm>
            <a:off x="6781800" y="5470525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>
                <a:solidFill>
                  <a:srgbClr val="B2B2B2"/>
                </a:solidFill>
                <a:latin typeface="Courier New" pitchFamily="49" charset="0"/>
                <a:ea typeface="宋体" charset="-122"/>
              </a:rPr>
              <a:t>3</a:t>
            </a:r>
          </a:p>
        </p:txBody>
      </p:sp>
      <p:sp>
        <p:nvSpPr>
          <p:cNvPr id="56357" name="Line 38"/>
          <p:cNvSpPr>
            <a:spLocks noChangeShapeType="1"/>
          </p:cNvSpPr>
          <p:nvPr/>
        </p:nvSpPr>
        <p:spPr bwMode="auto">
          <a:xfrm>
            <a:off x="2743200" y="3032125"/>
            <a:ext cx="5029200" cy="0"/>
          </a:xfrm>
          <a:prstGeom prst="line">
            <a:avLst/>
          </a:prstGeom>
          <a:noFill/>
          <a:ln w="3175">
            <a:solidFill>
              <a:schemeClr val="tx1"/>
            </a:solidFill>
            <a:prstDash val="dashDot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358" name="Rectangle 39"/>
          <p:cNvSpPr>
            <a:spLocks noChangeArrowheads="1"/>
          </p:cNvSpPr>
          <p:nvPr/>
        </p:nvSpPr>
        <p:spPr bwMode="auto">
          <a:xfrm>
            <a:off x="5181600" y="2209800"/>
            <a:ext cx="1219200" cy="3200400"/>
          </a:xfrm>
          <a:prstGeom prst="rect">
            <a:avLst/>
          </a:prstGeom>
          <a:solidFill>
            <a:srgbClr val="FF0000">
              <a:alpha val="20000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CocaCola</a:t>
            </a:r>
          </a:p>
        </p:txBody>
      </p:sp>
      <p:sp>
        <p:nvSpPr>
          <p:cNvPr id="56359" name="Text Box 40"/>
          <p:cNvSpPr txBox="1">
            <a:spLocks noChangeArrowheads="1"/>
          </p:cNvSpPr>
          <p:nvPr/>
        </p:nvSpPr>
        <p:spPr bwMode="auto">
          <a:xfrm rot="-383430">
            <a:off x="2438400" y="5622925"/>
            <a:ext cx="4343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Hash(“CocaCola”)%4 =</a:t>
            </a:r>
            <a:r>
              <a:rPr lang="en-US" altLang="zh-CN" sz="2000">
                <a:latin typeface="Courier New" pitchFamily="49" charset="0"/>
                <a:ea typeface="宋体" charset="-122"/>
              </a:rPr>
              <a:t> </a:t>
            </a:r>
            <a:endParaRPr lang="en-US" altLang="zh-CN" sz="2000">
              <a:solidFill>
                <a:srgbClr val="FF0000"/>
              </a:solidFill>
              <a:latin typeface="Courier New" pitchFamily="49" charset="0"/>
              <a:ea typeface="宋体" charset="-122"/>
            </a:endParaRPr>
          </a:p>
        </p:txBody>
      </p:sp>
      <p:sp>
        <p:nvSpPr>
          <p:cNvPr id="56360" name="Text Box 41"/>
          <p:cNvSpPr txBox="1">
            <a:spLocks noChangeArrowheads="1"/>
          </p:cNvSpPr>
          <p:nvPr/>
        </p:nvSpPr>
        <p:spPr bwMode="auto">
          <a:xfrm>
            <a:off x="1676400" y="457200"/>
            <a:ext cx="71628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SELECT * FROM visit WHERE </a:t>
            </a:r>
            <a:br>
              <a:rPr lang="en-US" altLang="zh-CN">
                <a:latin typeface="Courier New" pitchFamily="49" charset="0"/>
                <a:ea typeface="宋体" charset="-122"/>
              </a:rPr>
            </a:br>
            <a:r>
              <a:rPr lang="en-US" altLang="zh-CN">
                <a:latin typeface="Courier New" pitchFamily="49" charset="0"/>
                <a:ea typeface="宋体" charset="-122"/>
              </a:rPr>
              <a:t>    </a:t>
            </a:r>
            <a:r>
              <a:rPr lang="en-US" altLang="zh-CN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product</a:t>
            </a:r>
            <a:r>
              <a:rPr lang="en-US" altLang="zh-CN">
                <a:latin typeface="Courier New" pitchFamily="49" charset="0"/>
                <a:ea typeface="宋体" charset="-122"/>
              </a:rPr>
              <a:t>=‘</a:t>
            </a:r>
            <a:r>
              <a:rPr lang="en-US" altLang="zh-CN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ColaCola</a:t>
            </a:r>
            <a:r>
              <a:rPr lang="en-US" altLang="zh-CN">
                <a:latin typeface="Courier New" pitchFamily="49" charset="0"/>
                <a:ea typeface="宋体" charset="-122"/>
              </a:rPr>
              <a:t>’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Text Box 2"/>
          <p:cNvSpPr txBox="1">
            <a:spLocks noChangeArrowheads="1"/>
          </p:cNvSpPr>
          <p:nvPr/>
        </p:nvSpPr>
        <p:spPr bwMode="auto">
          <a:xfrm>
            <a:off x="304800" y="4022725"/>
            <a:ext cx="2438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Hash(“A”)%4 =</a:t>
            </a:r>
            <a:r>
              <a:rPr lang="en-US" altLang="zh-CN" sz="2000">
                <a:latin typeface="Courier New" pitchFamily="49" charset="0"/>
                <a:ea typeface="宋体" charset="-122"/>
              </a:rPr>
              <a:t> </a:t>
            </a:r>
            <a:endParaRPr lang="en-US" altLang="zh-CN" sz="2000">
              <a:solidFill>
                <a:srgbClr val="FF0000"/>
              </a:solidFill>
              <a:latin typeface="Courier New" pitchFamily="49" charset="0"/>
              <a:ea typeface="宋体" charset="-122"/>
            </a:endParaRPr>
          </a:p>
        </p:txBody>
      </p:sp>
      <p:sp>
        <p:nvSpPr>
          <p:cNvPr id="57346" name="Rectangle 3"/>
          <p:cNvSpPr>
            <a:spLocks noChangeArrowheads="1"/>
          </p:cNvSpPr>
          <p:nvPr/>
        </p:nvSpPr>
        <p:spPr bwMode="auto">
          <a:xfrm>
            <a:off x="2743200" y="3794125"/>
            <a:ext cx="4876800" cy="838200"/>
          </a:xfrm>
          <a:prstGeom prst="rect">
            <a:avLst/>
          </a:prstGeom>
          <a:solidFill>
            <a:srgbClr val="FF0000">
              <a:alpha val="20000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A</a:t>
            </a:r>
          </a:p>
        </p:txBody>
      </p:sp>
      <p:sp>
        <p:nvSpPr>
          <p:cNvPr id="57347" name="Text Box 4"/>
          <p:cNvSpPr txBox="1">
            <a:spLocks noChangeArrowheads="1"/>
          </p:cNvSpPr>
          <p:nvPr/>
        </p:nvSpPr>
        <p:spPr bwMode="auto">
          <a:xfrm>
            <a:off x="2819400" y="4845050"/>
            <a:ext cx="990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>
                <a:solidFill>
                  <a:srgbClr val="B2B2B2"/>
                </a:solidFill>
                <a:latin typeface="Times New Roman" pitchFamily="18" charset="0"/>
                <a:ea typeface="宋体" charset="-122"/>
              </a:rPr>
              <a:t>分库</a:t>
            </a:r>
            <a:r>
              <a:rPr lang="en-US" altLang="zh-CN" sz="2000">
                <a:solidFill>
                  <a:srgbClr val="B2B2B2"/>
                </a:solidFill>
                <a:latin typeface="Times New Roman" pitchFamily="18" charset="0"/>
                <a:ea typeface="宋体" charset="-122"/>
              </a:rPr>
              <a:t>1</a:t>
            </a:r>
          </a:p>
        </p:txBody>
      </p:sp>
      <p:sp>
        <p:nvSpPr>
          <p:cNvPr id="57348" name="Text Box 5"/>
          <p:cNvSpPr txBox="1">
            <a:spLocks noChangeArrowheads="1"/>
          </p:cNvSpPr>
          <p:nvPr/>
        </p:nvSpPr>
        <p:spPr bwMode="auto">
          <a:xfrm>
            <a:off x="4038600" y="4860925"/>
            <a:ext cx="990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>
                <a:solidFill>
                  <a:srgbClr val="B2B2B2"/>
                </a:solidFill>
                <a:latin typeface="Times New Roman" pitchFamily="18" charset="0"/>
                <a:ea typeface="宋体" charset="-122"/>
              </a:rPr>
              <a:t>分库</a:t>
            </a:r>
            <a:r>
              <a:rPr lang="en-US" altLang="zh-CN" sz="2000">
                <a:solidFill>
                  <a:srgbClr val="B2B2B2"/>
                </a:solidFill>
                <a:latin typeface="Times New Roman" pitchFamily="18" charset="0"/>
                <a:ea typeface="宋体" charset="-122"/>
              </a:rPr>
              <a:t>2</a:t>
            </a:r>
          </a:p>
        </p:txBody>
      </p:sp>
      <p:sp>
        <p:nvSpPr>
          <p:cNvPr id="57349" name="Text Box 6"/>
          <p:cNvSpPr txBox="1">
            <a:spLocks noChangeArrowheads="1"/>
          </p:cNvSpPr>
          <p:nvPr/>
        </p:nvSpPr>
        <p:spPr bwMode="auto">
          <a:xfrm>
            <a:off x="5257800" y="4860925"/>
            <a:ext cx="990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>
                <a:solidFill>
                  <a:srgbClr val="969696"/>
                </a:solidFill>
                <a:latin typeface="Times New Roman" pitchFamily="18" charset="0"/>
                <a:ea typeface="宋体" charset="-122"/>
              </a:rPr>
              <a:t>分库</a:t>
            </a:r>
            <a:r>
              <a:rPr lang="en-US" altLang="zh-CN" sz="2000">
                <a:solidFill>
                  <a:srgbClr val="969696"/>
                </a:solidFill>
                <a:latin typeface="Times New Roman" pitchFamily="18" charset="0"/>
                <a:ea typeface="宋体" charset="-122"/>
              </a:rPr>
              <a:t>3</a:t>
            </a:r>
          </a:p>
        </p:txBody>
      </p:sp>
      <p:sp>
        <p:nvSpPr>
          <p:cNvPr id="57350" name="Text Box 7"/>
          <p:cNvSpPr txBox="1">
            <a:spLocks noChangeArrowheads="1"/>
          </p:cNvSpPr>
          <p:nvPr/>
        </p:nvSpPr>
        <p:spPr bwMode="auto">
          <a:xfrm>
            <a:off x="6477000" y="4860925"/>
            <a:ext cx="990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>
                <a:solidFill>
                  <a:srgbClr val="B2B2B2"/>
                </a:solidFill>
                <a:latin typeface="Times New Roman" pitchFamily="18" charset="0"/>
                <a:ea typeface="宋体" charset="-122"/>
              </a:rPr>
              <a:t>分库</a:t>
            </a:r>
            <a:r>
              <a:rPr lang="en-US" altLang="zh-CN" sz="2000">
                <a:solidFill>
                  <a:srgbClr val="B2B2B2"/>
                </a:solidFill>
                <a:latin typeface="Times New Roman" pitchFamily="18" charset="0"/>
                <a:ea typeface="宋体" charset="-122"/>
              </a:rPr>
              <a:t>4</a:t>
            </a:r>
          </a:p>
        </p:txBody>
      </p:sp>
      <p:sp>
        <p:nvSpPr>
          <p:cNvPr id="57351" name="Text Box 8"/>
          <p:cNvSpPr txBox="1">
            <a:spLocks noChangeArrowheads="1"/>
          </p:cNvSpPr>
          <p:nvPr/>
        </p:nvSpPr>
        <p:spPr bwMode="auto">
          <a:xfrm>
            <a:off x="2819400" y="4022725"/>
            <a:ext cx="990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>
                <a:solidFill>
                  <a:srgbClr val="FF0000"/>
                </a:solidFill>
                <a:latin typeface="Times New Roman" pitchFamily="18" charset="0"/>
                <a:ea typeface="宋体" charset="-122"/>
              </a:rPr>
              <a:t>分库</a:t>
            </a:r>
            <a:r>
              <a:rPr lang="en-US" altLang="zh-CN" sz="2000">
                <a:solidFill>
                  <a:srgbClr val="FF0000"/>
                </a:solidFill>
                <a:latin typeface="Times New Roman" pitchFamily="18" charset="0"/>
                <a:ea typeface="宋体" charset="-122"/>
              </a:rPr>
              <a:t>5</a:t>
            </a:r>
          </a:p>
        </p:txBody>
      </p:sp>
      <p:sp>
        <p:nvSpPr>
          <p:cNvPr id="57352" name="Text Box 9"/>
          <p:cNvSpPr txBox="1">
            <a:spLocks noChangeArrowheads="1"/>
          </p:cNvSpPr>
          <p:nvPr/>
        </p:nvSpPr>
        <p:spPr bwMode="auto">
          <a:xfrm>
            <a:off x="4038600" y="4038600"/>
            <a:ext cx="990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>
                <a:solidFill>
                  <a:srgbClr val="FF0000"/>
                </a:solidFill>
                <a:latin typeface="Times New Roman" pitchFamily="18" charset="0"/>
                <a:ea typeface="宋体" charset="-122"/>
              </a:rPr>
              <a:t>分库</a:t>
            </a:r>
            <a:r>
              <a:rPr lang="en-US" altLang="zh-CN" sz="2000">
                <a:solidFill>
                  <a:srgbClr val="FF0000"/>
                </a:solidFill>
                <a:latin typeface="Times New Roman" pitchFamily="18" charset="0"/>
                <a:ea typeface="宋体" charset="-122"/>
              </a:rPr>
              <a:t>6</a:t>
            </a:r>
          </a:p>
        </p:txBody>
      </p:sp>
      <p:sp>
        <p:nvSpPr>
          <p:cNvPr id="57353" name="Text Box 10"/>
          <p:cNvSpPr txBox="1">
            <a:spLocks noChangeArrowheads="1"/>
          </p:cNvSpPr>
          <p:nvPr/>
        </p:nvSpPr>
        <p:spPr bwMode="auto">
          <a:xfrm>
            <a:off x="5257800" y="4038600"/>
            <a:ext cx="990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>
                <a:solidFill>
                  <a:srgbClr val="FF0000"/>
                </a:solidFill>
                <a:latin typeface="Times New Roman" pitchFamily="18" charset="0"/>
                <a:ea typeface="宋体" charset="-122"/>
              </a:rPr>
              <a:t>分库</a:t>
            </a:r>
            <a:r>
              <a:rPr lang="en-US" altLang="zh-CN" sz="2000">
                <a:solidFill>
                  <a:srgbClr val="FF0000"/>
                </a:solidFill>
                <a:latin typeface="Times New Roman" pitchFamily="18" charset="0"/>
                <a:ea typeface="宋体" charset="-122"/>
              </a:rPr>
              <a:t>7</a:t>
            </a:r>
          </a:p>
        </p:txBody>
      </p:sp>
      <p:sp>
        <p:nvSpPr>
          <p:cNvPr id="57354" name="Text Box 11"/>
          <p:cNvSpPr txBox="1">
            <a:spLocks noChangeArrowheads="1"/>
          </p:cNvSpPr>
          <p:nvPr/>
        </p:nvSpPr>
        <p:spPr bwMode="auto">
          <a:xfrm>
            <a:off x="6477000" y="4038600"/>
            <a:ext cx="990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>
                <a:solidFill>
                  <a:srgbClr val="FF0000"/>
                </a:solidFill>
                <a:latin typeface="Times New Roman" pitchFamily="18" charset="0"/>
                <a:ea typeface="宋体" charset="-122"/>
              </a:rPr>
              <a:t>分库</a:t>
            </a:r>
            <a:r>
              <a:rPr lang="en-US" altLang="zh-CN" sz="2000">
                <a:solidFill>
                  <a:srgbClr val="FF0000"/>
                </a:solidFill>
                <a:latin typeface="Times New Roman" pitchFamily="18" charset="0"/>
                <a:ea typeface="宋体" charset="-122"/>
              </a:rPr>
              <a:t>8</a:t>
            </a:r>
          </a:p>
        </p:txBody>
      </p:sp>
      <p:sp>
        <p:nvSpPr>
          <p:cNvPr id="57355" name="Text Box 12"/>
          <p:cNvSpPr txBox="1">
            <a:spLocks noChangeArrowheads="1"/>
          </p:cNvSpPr>
          <p:nvPr/>
        </p:nvSpPr>
        <p:spPr bwMode="auto">
          <a:xfrm>
            <a:off x="2819400" y="3244850"/>
            <a:ext cx="990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>
                <a:solidFill>
                  <a:srgbClr val="B2B2B2"/>
                </a:solidFill>
                <a:latin typeface="Times New Roman" pitchFamily="18" charset="0"/>
                <a:ea typeface="宋体" charset="-122"/>
              </a:rPr>
              <a:t>分库</a:t>
            </a:r>
            <a:r>
              <a:rPr lang="en-US" altLang="zh-CN" sz="2000">
                <a:solidFill>
                  <a:srgbClr val="B2B2B2"/>
                </a:solidFill>
                <a:latin typeface="Times New Roman" pitchFamily="18" charset="0"/>
                <a:ea typeface="宋体" charset="-122"/>
              </a:rPr>
              <a:t>9</a:t>
            </a:r>
          </a:p>
        </p:txBody>
      </p:sp>
      <p:sp>
        <p:nvSpPr>
          <p:cNvPr id="57356" name="Text Box 13"/>
          <p:cNvSpPr txBox="1">
            <a:spLocks noChangeArrowheads="1"/>
          </p:cNvSpPr>
          <p:nvPr/>
        </p:nvSpPr>
        <p:spPr bwMode="auto">
          <a:xfrm>
            <a:off x="4038600" y="3260725"/>
            <a:ext cx="990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>
                <a:solidFill>
                  <a:srgbClr val="B2B2B2"/>
                </a:solidFill>
                <a:latin typeface="Times New Roman" pitchFamily="18" charset="0"/>
                <a:ea typeface="宋体" charset="-122"/>
              </a:rPr>
              <a:t>分库</a:t>
            </a:r>
            <a:r>
              <a:rPr lang="en-US" altLang="zh-CN" sz="2000">
                <a:solidFill>
                  <a:srgbClr val="B2B2B2"/>
                </a:solidFill>
                <a:latin typeface="Times New Roman" pitchFamily="18" charset="0"/>
                <a:ea typeface="宋体" charset="-122"/>
              </a:rPr>
              <a:t>10</a:t>
            </a:r>
          </a:p>
        </p:txBody>
      </p:sp>
      <p:sp>
        <p:nvSpPr>
          <p:cNvPr id="57357" name="Text Box 14"/>
          <p:cNvSpPr txBox="1">
            <a:spLocks noChangeArrowheads="1"/>
          </p:cNvSpPr>
          <p:nvPr/>
        </p:nvSpPr>
        <p:spPr bwMode="auto">
          <a:xfrm>
            <a:off x="5257800" y="3260725"/>
            <a:ext cx="990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>
                <a:solidFill>
                  <a:srgbClr val="969696"/>
                </a:solidFill>
                <a:latin typeface="Times New Roman" pitchFamily="18" charset="0"/>
                <a:ea typeface="宋体" charset="-122"/>
              </a:rPr>
              <a:t>分库</a:t>
            </a:r>
            <a:r>
              <a:rPr lang="en-US" altLang="zh-CN" sz="2000">
                <a:solidFill>
                  <a:srgbClr val="969696"/>
                </a:solidFill>
                <a:latin typeface="Times New Roman" pitchFamily="18" charset="0"/>
                <a:ea typeface="宋体" charset="-122"/>
              </a:rPr>
              <a:t>11</a:t>
            </a:r>
          </a:p>
        </p:txBody>
      </p:sp>
      <p:sp>
        <p:nvSpPr>
          <p:cNvPr id="57358" name="Text Box 15"/>
          <p:cNvSpPr txBox="1">
            <a:spLocks noChangeArrowheads="1"/>
          </p:cNvSpPr>
          <p:nvPr/>
        </p:nvSpPr>
        <p:spPr bwMode="auto">
          <a:xfrm>
            <a:off x="6477000" y="3260725"/>
            <a:ext cx="990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>
                <a:solidFill>
                  <a:srgbClr val="B2B2B2"/>
                </a:solidFill>
                <a:latin typeface="Times New Roman" pitchFamily="18" charset="0"/>
                <a:ea typeface="宋体" charset="-122"/>
              </a:rPr>
              <a:t>分库</a:t>
            </a:r>
            <a:r>
              <a:rPr lang="en-US" altLang="zh-CN" sz="2000">
                <a:solidFill>
                  <a:srgbClr val="B2B2B2"/>
                </a:solidFill>
                <a:latin typeface="Times New Roman" pitchFamily="18" charset="0"/>
                <a:ea typeface="宋体" charset="-122"/>
              </a:rPr>
              <a:t>12</a:t>
            </a:r>
          </a:p>
        </p:txBody>
      </p:sp>
      <p:sp>
        <p:nvSpPr>
          <p:cNvPr id="57359" name="Text Box 16"/>
          <p:cNvSpPr txBox="1">
            <a:spLocks noChangeArrowheads="1"/>
          </p:cNvSpPr>
          <p:nvPr/>
        </p:nvSpPr>
        <p:spPr bwMode="auto">
          <a:xfrm>
            <a:off x="2819400" y="2422525"/>
            <a:ext cx="990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>
                <a:solidFill>
                  <a:srgbClr val="B2B2B2"/>
                </a:solidFill>
                <a:latin typeface="Times New Roman" pitchFamily="18" charset="0"/>
                <a:ea typeface="宋体" charset="-122"/>
              </a:rPr>
              <a:t>分库</a:t>
            </a:r>
            <a:r>
              <a:rPr lang="en-US" altLang="zh-CN" sz="2000">
                <a:solidFill>
                  <a:srgbClr val="B2B2B2"/>
                </a:solidFill>
                <a:latin typeface="Times New Roman" pitchFamily="18" charset="0"/>
                <a:ea typeface="宋体" charset="-122"/>
              </a:rPr>
              <a:t>13</a:t>
            </a:r>
          </a:p>
        </p:txBody>
      </p:sp>
      <p:sp>
        <p:nvSpPr>
          <p:cNvPr id="57360" name="Text Box 17"/>
          <p:cNvSpPr txBox="1">
            <a:spLocks noChangeArrowheads="1"/>
          </p:cNvSpPr>
          <p:nvPr/>
        </p:nvSpPr>
        <p:spPr bwMode="auto">
          <a:xfrm>
            <a:off x="4038600" y="2438400"/>
            <a:ext cx="990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>
                <a:solidFill>
                  <a:srgbClr val="B2B2B2"/>
                </a:solidFill>
                <a:latin typeface="Times New Roman" pitchFamily="18" charset="0"/>
                <a:ea typeface="宋体" charset="-122"/>
              </a:rPr>
              <a:t>分库</a:t>
            </a:r>
            <a:r>
              <a:rPr lang="en-US" altLang="zh-CN" sz="2000">
                <a:solidFill>
                  <a:srgbClr val="B2B2B2"/>
                </a:solidFill>
                <a:latin typeface="Times New Roman" pitchFamily="18" charset="0"/>
                <a:ea typeface="宋体" charset="-122"/>
              </a:rPr>
              <a:t>14</a:t>
            </a:r>
          </a:p>
        </p:txBody>
      </p:sp>
      <p:sp>
        <p:nvSpPr>
          <p:cNvPr id="57361" name="Text Box 18"/>
          <p:cNvSpPr txBox="1">
            <a:spLocks noChangeArrowheads="1"/>
          </p:cNvSpPr>
          <p:nvPr/>
        </p:nvSpPr>
        <p:spPr bwMode="auto">
          <a:xfrm>
            <a:off x="5257800" y="2438400"/>
            <a:ext cx="990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>
                <a:solidFill>
                  <a:srgbClr val="969696"/>
                </a:solidFill>
                <a:latin typeface="Times New Roman" pitchFamily="18" charset="0"/>
                <a:ea typeface="宋体" charset="-122"/>
              </a:rPr>
              <a:t>分库</a:t>
            </a:r>
            <a:r>
              <a:rPr lang="en-US" altLang="zh-CN" sz="2000">
                <a:solidFill>
                  <a:srgbClr val="969696"/>
                </a:solidFill>
                <a:latin typeface="Times New Roman" pitchFamily="18" charset="0"/>
                <a:ea typeface="宋体" charset="-122"/>
              </a:rPr>
              <a:t>15</a:t>
            </a:r>
          </a:p>
        </p:txBody>
      </p:sp>
      <p:sp>
        <p:nvSpPr>
          <p:cNvPr id="57362" name="Text Box 19"/>
          <p:cNvSpPr txBox="1">
            <a:spLocks noChangeArrowheads="1"/>
          </p:cNvSpPr>
          <p:nvPr/>
        </p:nvSpPr>
        <p:spPr bwMode="auto">
          <a:xfrm>
            <a:off x="6477000" y="2438400"/>
            <a:ext cx="990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>
                <a:solidFill>
                  <a:srgbClr val="B2B2B2"/>
                </a:solidFill>
                <a:latin typeface="Times New Roman" pitchFamily="18" charset="0"/>
                <a:ea typeface="宋体" charset="-122"/>
              </a:rPr>
              <a:t>分库</a:t>
            </a:r>
            <a:r>
              <a:rPr lang="en-US" altLang="zh-CN" sz="2000">
                <a:solidFill>
                  <a:srgbClr val="B2B2B2"/>
                </a:solidFill>
                <a:latin typeface="Times New Roman" pitchFamily="18" charset="0"/>
                <a:ea typeface="宋体" charset="-122"/>
              </a:rPr>
              <a:t>16</a:t>
            </a:r>
          </a:p>
        </p:txBody>
      </p:sp>
      <p:sp>
        <p:nvSpPr>
          <p:cNvPr id="57363" name="Line 20"/>
          <p:cNvSpPr>
            <a:spLocks noChangeShapeType="1"/>
          </p:cNvSpPr>
          <p:nvPr/>
        </p:nvSpPr>
        <p:spPr bwMode="auto">
          <a:xfrm>
            <a:off x="2743200" y="5394325"/>
            <a:ext cx="563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364" name="Line 21"/>
          <p:cNvSpPr>
            <a:spLocks noChangeShapeType="1"/>
          </p:cNvSpPr>
          <p:nvPr/>
        </p:nvSpPr>
        <p:spPr bwMode="auto">
          <a:xfrm flipH="1" flipV="1">
            <a:off x="2743200" y="1584325"/>
            <a:ext cx="0" cy="381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365" name="Line 22"/>
          <p:cNvSpPr>
            <a:spLocks noChangeShapeType="1"/>
          </p:cNvSpPr>
          <p:nvPr/>
        </p:nvSpPr>
        <p:spPr bwMode="auto">
          <a:xfrm>
            <a:off x="2743200" y="2193925"/>
            <a:ext cx="5029200" cy="0"/>
          </a:xfrm>
          <a:prstGeom prst="line">
            <a:avLst/>
          </a:prstGeom>
          <a:noFill/>
          <a:ln w="3175">
            <a:solidFill>
              <a:schemeClr val="tx1"/>
            </a:solidFill>
            <a:prstDash val="dashDot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366" name="Line 23"/>
          <p:cNvSpPr>
            <a:spLocks noChangeShapeType="1"/>
          </p:cNvSpPr>
          <p:nvPr/>
        </p:nvSpPr>
        <p:spPr bwMode="auto">
          <a:xfrm>
            <a:off x="2743200" y="3794125"/>
            <a:ext cx="5029200" cy="0"/>
          </a:xfrm>
          <a:prstGeom prst="line">
            <a:avLst/>
          </a:prstGeom>
          <a:noFill/>
          <a:ln w="3175">
            <a:solidFill>
              <a:schemeClr val="tx1"/>
            </a:solidFill>
            <a:prstDash val="dashDot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367" name="Line 24"/>
          <p:cNvSpPr>
            <a:spLocks noChangeShapeType="1"/>
          </p:cNvSpPr>
          <p:nvPr/>
        </p:nvSpPr>
        <p:spPr bwMode="auto">
          <a:xfrm flipV="1">
            <a:off x="5181600" y="1965325"/>
            <a:ext cx="0" cy="3429000"/>
          </a:xfrm>
          <a:prstGeom prst="line">
            <a:avLst/>
          </a:prstGeom>
          <a:noFill/>
          <a:ln w="3175">
            <a:solidFill>
              <a:schemeClr val="tx1"/>
            </a:solidFill>
            <a:prstDash val="dashDot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368" name="Line 25"/>
          <p:cNvSpPr>
            <a:spLocks noChangeShapeType="1"/>
          </p:cNvSpPr>
          <p:nvPr/>
        </p:nvSpPr>
        <p:spPr bwMode="auto">
          <a:xfrm flipV="1">
            <a:off x="7620000" y="1965325"/>
            <a:ext cx="0" cy="3429000"/>
          </a:xfrm>
          <a:prstGeom prst="line">
            <a:avLst/>
          </a:prstGeom>
          <a:noFill/>
          <a:ln w="3175">
            <a:solidFill>
              <a:schemeClr val="tx1"/>
            </a:solidFill>
            <a:prstDash val="dashDot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369" name="Line 26"/>
          <p:cNvSpPr>
            <a:spLocks noChangeShapeType="1"/>
          </p:cNvSpPr>
          <p:nvPr/>
        </p:nvSpPr>
        <p:spPr bwMode="auto">
          <a:xfrm flipV="1">
            <a:off x="3962400" y="1965325"/>
            <a:ext cx="0" cy="3429000"/>
          </a:xfrm>
          <a:prstGeom prst="line">
            <a:avLst/>
          </a:prstGeom>
          <a:noFill/>
          <a:ln w="3175">
            <a:solidFill>
              <a:schemeClr val="tx1"/>
            </a:solidFill>
            <a:prstDash val="dashDot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370" name="Line 27"/>
          <p:cNvSpPr>
            <a:spLocks noChangeShapeType="1"/>
          </p:cNvSpPr>
          <p:nvPr/>
        </p:nvSpPr>
        <p:spPr bwMode="auto">
          <a:xfrm flipV="1">
            <a:off x="6400800" y="1965325"/>
            <a:ext cx="0" cy="3429000"/>
          </a:xfrm>
          <a:prstGeom prst="line">
            <a:avLst/>
          </a:prstGeom>
          <a:noFill/>
          <a:ln w="3175">
            <a:solidFill>
              <a:schemeClr val="tx1"/>
            </a:solidFill>
            <a:prstDash val="dashDot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371" name="Line 28"/>
          <p:cNvSpPr>
            <a:spLocks noChangeShapeType="1"/>
          </p:cNvSpPr>
          <p:nvPr/>
        </p:nvSpPr>
        <p:spPr bwMode="auto">
          <a:xfrm>
            <a:off x="2743200" y="3032125"/>
            <a:ext cx="5029200" cy="0"/>
          </a:xfrm>
          <a:prstGeom prst="line">
            <a:avLst/>
          </a:prstGeom>
          <a:noFill/>
          <a:ln w="3175">
            <a:solidFill>
              <a:schemeClr val="tx1"/>
            </a:solidFill>
            <a:prstDash val="dashDot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372" name="Line 29"/>
          <p:cNvSpPr>
            <a:spLocks noChangeShapeType="1"/>
          </p:cNvSpPr>
          <p:nvPr/>
        </p:nvSpPr>
        <p:spPr bwMode="auto">
          <a:xfrm>
            <a:off x="2743200" y="4632325"/>
            <a:ext cx="5029200" cy="0"/>
          </a:xfrm>
          <a:prstGeom prst="line">
            <a:avLst/>
          </a:prstGeom>
          <a:noFill/>
          <a:ln w="3175">
            <a:solidFill>
              <a:schemeClr val="tx1"/>
            </a:solidFill>
            <a:prstDash val="dashDot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373" name="Text Box 30"/>
          <p:cNvSpPr txBox="1">
            <a:spLocks noChangeArrowheads="1"/>
          </p:cNvSpPr>
          <p:nvPr/>
        </p:nvSpPr>
        <p:spPr bwMode="auto">
          <a:xfrm>
            <a:off x="6934200" y="5318125"/>
            <a:ext cx="24384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宋体" charset="-122"/>
                <a:ea typeface="宋体" charset="-122"/>
              </a:rPr>
              <a:t>product</a:t>
            </a:r>
            <a:r>
              <a:rPr lang="zh-CN" altLang="en-US">
                <a:latin typeface="宋体" charset="-122"/>
                <a:ea typeface="宋体" charset="-122"/>
              </a:rPr>
              <a:t>值</a:t>
            </a:r>
            <a:br>
              <a:rPr lang="zh-CN" altLang="en-US">
                <a:latin typeface="宋体" charset="-122"/>
                <a:ea typeface="宋体" charset="-122"/>
              </a:rPr>
            </a:br>
            <a:r>
              <a:rPr lang="en-US" altLang="zh-CN">
                <a:latin typeface="宋体" charset="-122"/>
                <a:ea typeface="宋体" charset="-122"/>
              </a:rPr>
              <a:t>Hash</a:t>
            </a:r>
            <a:r>
              <a:rPr lang="zh-CN" altLang="en-US">
                <a:latin typeface="宋体" charset="-122"/>
                <a:ea typeface="宋体" charset="-122"/>
              </a:rPr>
              <a:t>取模</a:t>
            </a:r>
          </a:p>
        </p:txBody>
      </p:sp>
      <p:sp>
        <p:nvSpPr>
          <p:cNvPr id="57374" name="Text Box 31"/>
          <p:cNvSpPr txBox="1">
            <a:spLocks noChangeArrowheads="1"/>
          </p:cNvSpPr>
          <p:nvPr/>
        </p:nvSpPr>
        <p:spPr bwMode="auto">
          <a:xfrm>
            <a:off x="1371600" y="1476375"/>
            <a:ext cx="16764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宋体" charset="-122"/>
                <a:ea typeface="宋体" charset="-122"/>
              </a:rPr>
              <a:t>user</a:t>
            </a:r>
            <a:r>
              <a:rPr lang="zh-CN" altLang="en-US">
                <a:latin typeface="宋体" charset="-122"/>
                <a:ea typeface="宋体" charset="-122"/>
              </a:rPr>
              <a:t>值</a:t>
            </a:r>
            <a:br>
              <a:rPr lang="zh-CN" altLang="en-US">
                <a:latin typeface="宋体" charset="-122"/>
                <a:ea typeface="宋体" charset="-122"/>
              </a:rPr>
            </a:br>
            <a:r>
              <a:rPr lang="en-US" altLang="zh-CN">
                <a:latin typeface="宋体" charset="-122"/>
                <a:ea typeface="宋体" charset="-122"/>
              </a:rPr>
              <a:t>Hash</a:t>
            </a:r>
            <a:r>
              <a:rPr lang="zh-CN" altLang="en-US">
                <a:latin typeface="宋体" charset="-122"/>
                <a:ea typeface="宋体" charset="-122"/>
              </a:rPr>
              <a:t>取模</a:t>
            </a:r>
          </a:p>
        </p:txBody>
      </p:sp>
      <p:sp>
        <p:nvSpPr>
          <p:cNvPr id="57375" name="Text Box 32"/>
          <p:cNvSpPr txBox="1">
            <a:spLocks noChangeArrowheads="1"/>
          </p:cNvSpPr>
          <p:nvPr/>
        </p:nvSpPr>
        <p:spPr bwMode="auto">
          <a:xfrm>
            <a:off x="2209800" y="4784725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>
                <a:latin typeface="Courier New" pitchFamily="49" charset="0"/>
                <a:ea typeface="宋体" charset="-122"/>
              </a:rPr>
              <a:t>0</a:t>
            </a:r>
          </a:p>
        </p:txBody>
      </p:sp>
      <p:sp>
        <p:nvSpPr>
          <p:cNvPr id="57376" name="Text Box 33"/>
          <p:cNvSpPr txBox="1">
            <a:spLocks noChangeArrowheads="1"/>
          </p:cNvSpPr>
          <p:nvPr/>
        </p:nvSpPr>
        <p:spPr bwMode="auto">
          <a:xfrm>
            <a:off x="2209800" y="4022725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1</a:t>
            </a:r>
          </a:p>
        </p:txBody>
      </p:sp>
      <p:sp>
        <p:nvSpPr>
          <p:cNvPr id="57377" name="Text Box 34"/>
          <p:cNvSpPr txBox="1">
            <a:spLocks noChangeArrowheads="1"/>
          </p:cNvSpPr>
          <p:nvPr/>
        </p:nvSpPr>
        <p:spPr bwMode="auto">
          <a:xfrm>
            <a:off x="2209800" y="3260725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>
                <a:latin typeface="Courier New" pitchFamily="49" charset="0"/>
                <a:ea typeface="宋体" charset="-122"/>
              </a:rPr>
              <a:t>2</a:t>
            </a:r>
          </a:p>
        </p:txBody>
      </p:sp>
      <p:sp>
        <p:nvSpPr>
          <p:cNvPr id="57378" name="Text Box 35"/>
          <p:cNvSpPr txBox="1">
            <a:spLocks noChangeArrowheads="1"/>
          </p:cNvSpPr>
          <p:nvPr/>
        </p:nvSpPr>
        <p:spPr bwMode="auto">
          <a:xfrm>
            <a:off x="2209800" y="2422525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>
                <a:latin typeface="Courier New" pitchFamily="49" charset="0"/>
                <a:ea typeface="宋体" charset="-122"/>
              </a:rPr>
              <a:t>3</a:t>
            </a:r>
          </a:p>
        </p:txBody>
      </p:sp>
      <p:sp>
        <p:nvSpPr>
          <p:cNvPr id="57379" name="Text Box 36"/>
          <p:cNvSpPr txBox="1">
            <a:spLocks noChangeArrowheads="1"/>
          </p:cNvSpPr>
          <p:nvPr/>
        </p:nvSpPr>
        <p:spPr bwMode="auto">
          <a:xfrm>
            <a:off x="2971800" y="5470525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>
                <a:solidFill>
                  <a:srgbClr val="B2B2B2"/>
                </a:solidFill>
                <a:latin typeface="Courier New" pitchFamily="49" charset="0"/>
                <a:ea typeface="宋体" charset="-122"/>
              </a:rPr>
              <a:t>0</a:t>
            </a:r>
          </a:p>
        </p:txBody>
      </p:sp>
      <p:sp>
        <p:nvSpPr>
          <p:cNvPr id="57380" name="Text Box 37"/>
          <p:cNvSpPr txBox="1">
            <a:spLocks noChangeArrowheads="1"/>
          </p:cNvSpPr>
          <p:nvPr/>
        </p:nvSpPr>
        <p:spPr bwMode="auto">
          <a:xfrm>
            <a:off x="4267200" y="5470525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>
                <a:solidFill>
                  <a:srgbClr val="B2B2B2"/>
                </a:solidFill>
                <a:latin typeface="Courier New" pitchFamily="49" charset="0"/>
                <a:ea typeface="宋体" charset="-122"/>
              </a:rPr>
              <a:t>1</a:t>
            </a:r>
          </a:p>
        </p:txBody>
      </p:sp>
      <p:sp>
        <p:nvSpPr>
          <p:cNvPr id="57381" name="Text Box 38"/>
          <p:cNvSpPr txBox="1">
            <a:spLocks noChangeArrowheads="1"/>
          </p:cNvSpPr>
          <p:nvPr/>
        </p:nvSpPr>
        <p:spPr bwMode="auto">
          <a:xfrm>
            <a:off x="5486400" y="5470525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>
                <a:solidFill>
                  <a:srgbClr val="969696"/>
                </a:solidFill>
                <a:latin typeface="Courier New" pitchFamily="49" charset="0"/>
                <a:ea typeface="宋体" charset="-122"/>
              </a:rPr>
              <a:t>2</a:t>
            </a:r>
          </a:p>
        </p:txBody>
      </p:sp>
      <p:sp>
        <p:nvSpPr>
          <p:cNvPr id="57382" name="Text Box 39"/>
          <p:cNvSpPr txBox="1">
            <a:spLocks noChangeArrowheads="1"/>
          </p:cNvSpPr>
          <p:nvPr/>
        </p:nvSpPr>
        <p:spPr bwMode="auto">
          <a:xfrm>
            <a:off x="6781800" y="5470525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>
                <a:solidFill>
                  <a:srgbClr val="B2B2B2"/>
                </a:solidFill>
                <a:latin typeface="Courier New" pitchFamily="49" charset="0"/>
                <a:ea typeface="宋体" charset="-122"/>
              </a:rPr>
              <a:t>3</a:t>
            </a:r>
          </a:p>
        </p:txBody>
      </p:sp>
      <p:sp>
        <p:nvSpPr>
          <p:cNvPr id="57383" name="Line 40"/>
          <p:cNvSpPr>
            <a:spLocks noChangeShapeType="1"/>
          </p:cNvSpPr>
          <p:nvPr/>
        </p:nvSpPr>
        <p:spPr bwMode="auto">
          <a:xfrm>
            <a:off x="2743200" y="3032125"/>
            <a:ext cx="5029200" cy="0"/>
          </a:xfrm>
          <a:prstGeom prst="line">
            <a:avLst/>
          </a:prstGeom>
          <a:noFill/>
          <a:ln w="3175">
            <a:solidFill>
              <a:schemeClr val="tx1"/>
            </a:solidFill>
            <a:prstDash val="dashDot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384" name="Text Box 41"/>
          <p:cNvSpPr txBox="1">
            <a:spLocks noChangeArrowheads="1"/>
          </p:cNvSpPr>
          <p:nvPr/>
        </p:nvSpPr>
        <p:spPr bwMode="auto">
          <a:xfrm>
            <a:off x="1676400" y="457200"/>
            <a:ext cx="71628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SELECT * FROM visit WHERE </a:t>
            </a:r>
            <a:br>
              <a:rPr lang="en-US" altLang="zh-CN">
                <a:latin typeface="Courier New" pitchFamily="49" charset="0"/>
                <a:ea typeface="宋体" charset="-122"/>
              </a:rPr>
            </a:br>
            <a:r>
              <a:rPr lang="en-US" altLang="zh-CN">
                <a:latin typeface="Courier New" pitchFamily="49" charset="0"/>
                <a:ea typeface="宋体" charset="-122"/>
              </a:rPr>
              <a:t>    </a:t>
            </a:r>
            <a:r>
              <a:rPr lang="en-US" altLang="zh-CN">
                <a:solidFill>
                  <a:schemeClr val="bg1"/>
                </a:solidFill>
                <a:latin typeface="Courier New" pitchFamily="49" charset="0"/>
                <a:ea typeface="宋体" charset="-122"/>
              </a:rPr>
              <a:t>product=‘ColaCola’</a:t>
            </a:r>
            <a:r>
              <a:rPr lang="en-US" altLang="zh-CN">
                <a:latin typeface="Courier New" pitchFamily="49" charset="0"/>
                <a:ea typeface="宋体" charset="-122"/>
              </a:rPr>
              <a:t> </a:t>
            </a:r>
            <a:r>
              <a:rPr lang="en-US" altLang="zh-CN">
                <a:solidFill>
                  <a:schemeClr val="bg1"/>
                </a:solidFill>
                <a:latin typeface="Courier New" pitchFamily="49" charset="0"/>
                <a:ea typeface="宋体" charset="-122"/>
              </a:rPr>
              <a:t>AND</a:t>
            </a:r>
            <a:r>
              <a:rPr lang="en-US" altLang="zh-CN">
                <a:latin typeface="Courier New" pitchFamily="49" charset="0"/>
                <a:ea typeface="宋体" charset="-122"/>
              </a:rPr>
              <a:t> </a:t>
            </a:r>
            <a:r>
              <a:rPr lang="en-US" altLang="zh-CN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user</a:t>
            </a:r>
            <a:r>
              <a:rPr lang="en-US" altLang="zh-CN">
                <a:latin typeface="Courier New" pitchFamily="49" charset="0"/>
                <a:ea typeface="宋体" charset="-122"/>
              </a:rPr>
              <a:t>=‘</a:t>
            </a:r>
            <a:r>
              <a:rPr lang="en-US" altLang="zh-CN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A</a:t>
            </a:r>
            <a:r>
              <a:rPr lang="en-US" altLang="zh-CN">
                <a:latin typeface="Courier New" pitchFamily="49" charset="0"/>
                <a:ea typeface="宋体" charset="-122"/>
              </a:rPr>
              <a:t>’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latin typeface="微软雅黑"/>
                <a:ea typeface="微软雅黑"/>
                <a:cs typeface="微软雅黑"/>
              </a:rPr>
              <a:t>Cobar</a:t>
            </a:r>
            <a:r>
              <a:rPr lang="zh-CN" altLang="en-US" smtClean="0">
                <a:latin typeface="微软雅黑"/>
                <a:ea typeface="微软雅黑"/>
                <a:cs typeface="微软雅黑"/>
              </a:rPr>
              <a:t>的策略</a:t>
            </a:r>
          </a:p>
        </p:txBody>
      </p:sp>
      <p:sp>
        <p:nvSpPr>
          <p:cNvPr id="583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534400" cy="4953000"/>
          </a:xfrm>
        </p:spPr>
        <p:txBody>
          <a:bodyPr/>
          <a:lstStyle/>
          <a:p>
            <a:pPr eaLnBrk="1" hangingPunct="1"/>
            <a:r>
              <a:rPr lang="en-US" altLang="zh-CN" sz="2800" smtClean="0">
                <a:latin typeface="微软雅黑"/>
                <a:ea typeface="微软雅黑"/>
                <a:cs typeface="微软雅黑"/>
              </a:rPr>
              <a:t>MySQL</a:t>
            </a:r>
            <a:r>
              <a:rPr lang="zh-CN" altLang="en-US" sz="2800" smtClean="0">
                <a:latin typeface="微软雅黑"/>
                <a:ea typeface="微软雅黑"/>
                <a:cs typeface="微软雅黑"/>
              </a:rPr>
              <a:t>集群替代</a:t>
            </a:r>
            <a:r>
              <a:rPr lang="en-US" altLang="zh-CN" sz="2800" smtClean="0">
                <a:latin typeface="微软雅黑"/>
                <a:ea typeface="微软雅黑"/>
                <a:cs typeface="微软雅黑"/>
              </a:rPr>
              <a:t>Oracle</a:t>
            </a:r>
            <a:r>
              <a:rPr lang="zh-CN" altLang="en-US" sz="2800" smtClean="0">
                <a:latin typeface="微软雅黑"/>
                <a:ea typeface="微软雅黑"/>
                <a:cs typeface="微软雅黑"/>
              </a:rPr>
              <a:t>单点</a:t>
            </a:r>
          </a:p>
          <a:p>
            <a:pPr eaLnBrk="1" hangingPunct="1"/>
            <a:r>
              <a:rPr lang="zh-CN" altLang="en-US" sz="2800" smtClean="0">
                <a:latin typeface="微软雅黑"/>
                <a:ea typeface="微软雅黑"/>
                <a:cs typeface="微软雅黑"/>
              </a:rPr>
              <a:t>基于表的水平拆分和分布</a:t>
            </a:r>
          </a:p>
          <a:p>
            <a:pPr lvl="1" eaLnBrk="1" hangingPunct="1"/>
            <a:r>
              <a:rPr lang="zh-CN" altLang="en-US" sz="2400" smtClean="0">
                <a:latin typeface="宋体" charset="-122"/>
              </a:rPr>
              <a:t>根据字段值的一致性</a:t>
            </a:r>
            <a:r>
              <a:rPr lang="en-US" altLang="zh-CN" sz="2400" smtClean="0">
                <a:latin typeface="宋体" charset="-122"/>
              </a:rPr>
              <a:t>Hash</a:t>
            </a:r>
            <a:r>
              <a:rPr lang="zh-CN" altLang="en-US" sz="2400" smtClean="0">
                <a:latin typeface="宋体" charset="-122"/>
              </a:rPr>
              <a:t>分布</a:t>
            </a:r>
          </a:p>
          <a:p>
            <a:pPr lvl="1" eaLnBrk="1" hangingPunct="1"/>
            <a:r>
              <a:rPr lang="zh-CN" altLang="en-US" sz="2400" smtClean="0">
                <a:latin typeface="宋体" charset="-122"/>
              </a:rPr>
              <a:t>多维拆分</a:t>
            </a:r>
            <a:endParaRPr lang="zh-CN" altLang="en-US" sz="2400" smtClean="0">
              <a:latin typeface="微软雅黑"/>
              <a:ea typeface="微软雅黑"/>
              <a:cs typeface="微软雅黑"/>
            </a:endParaRPr>
          </a:p>
          <a:p>
            <a:pPr eaLnBrk="1" hangingPunct="1"/>
            <a:r>
              <a:rPr lang="zh-CN" altLang="en-US" sz="2800" smtClean="0">
                <a:latin typeface="微软雅黑"/>
                <a:ea typeface="微软雅黑"/>
                <a:cs typeface="微软雅黑"/>
              </a:rPr>
              <a:t>数据查询方式</a:t>
            </a:r>
          </a:p>
          <a:p>
            <a:pPr lvl="1" eaLnBrk="1" hangingPunct="1"/>
            <a:r>
              <a:rPr lang="zh-CN" altLang="en-US" sz="2400" smtClean="0">
                <a:latin typeface="宋体" charset="-122"/>
              </a:rPr>
              <a:t>根据</a:t>
            </a:r>
            <a:r>
              <a:rPr lang="en-US" altLang="zh-CN" sz="2400" smtClean="0">
                <a:latin typeface="宋体" charset="-122"/>
              </a:rPr>
              <a:t>where</a:t>
            </a:r>
            <a:r>
              <a:rPr lang="zh-CN" altLang="en-US" sz="2400" smtClean="0">
                <a:latin typeface="宋体" charset="-122"/>
              </a:rPr>
              <a:t>中的拆分字段分发</a:t>
            </a:r>
          </a:p>
          <a:p>
            <a:pPr eaLnBrk="1" hangingPunct="1"/>
            <a:r>
              <a:rPr lang="en-US" altLang="zh-CN" sz="2800" smtClean="0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SQL</a:t>
            </a:r>
            <a:r>
              <a:rPr lang="zh-CN" altLang="en-US" sz="2800" smtClean="0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语句其他元素的处理</a:t>
            </a:r>
          </a:p>
          <a:p>
            <a:pPr lvl="1" eaLnBrk="1" hangingPunct="1"/>
            <a:r>
              <a:rPr lang="zh-CN" altLang="en-US" sz="2400" smtClean="0">
                <a:solidFill>
                  <a:srgbClr val="FF0000"/>
                </a:solidFill>
                <a:latin typeface="宋体" charset="-122"/>
              </a:rPr>
              <a:t>将</a:t>
            </a:r>
            <a:r>
              <a:rPr lang="en-US" altLang="zh-CN" sz="2400" smtClean="0">
                <a:solidFill>
                  <a:srgbClr val="FF0000"/>
                </a:solidFill>
                <a:latin typeface="宋体" charset="-122"/>
              </a:rPr>
              <a:t>Cobar</a:t>
            </a:r>
            <a:r>
              <a:rPr lang="zh-CN" altLang="en-US" sz="2400" smtClean="0">
                <a:solidFill>
                  <a:srgbClr val="FF0000"/>
                </a:solidFill>
                <a:latin typeface="宋体" charset="-122"/>
              </a:rPr>
              <a:t>收到的</a:t>
            </a:r>
            <a:r>
              <a:rPr lang="en-US" altLang="zh-CN" sz="2400" smtClean="0">
                <a:solidFill>
                  <a:srgbClr val="FF0000"/>
                </a:solidFill>
                <a:latin typeface="宋体" charset="-122"/>
              </a:rPr>
              <a:t>SQL</a:t>
            </a:r>
            <a:r>
              <a:rPr lang="zh-CN" altLang="en-US" sz="2400" smtClean="0">
                <a:solidFill>
                  <a:srgbClr val="FF0000"/>
                </a:solidFill>
                <a:latin typeface="宋体" charset="-122"/>
              </a:rPr>
              <a:t>语句做变换 分发到各个分库执行</a:t>
            </a:r>
          </a:p>
          <a:p>
            <a:pPr lvl="1" eaLnBrk="1" hangingPunct="1"/>
            <a:r>
              <a:rPr lang="zh-CN" altLang="en-US" sz="2400" smtClean="0">
                <a:solidFill>
                  <a:srgbClr val="FF0000"/>
                </a:solidFill>
                <a:latin typeface="宋体" charset="-122"/>
              </a:rPr>
              <a:t>对执行结果合并、处理 保证返回前端的内容满足语义</a:t>
            </a:r>
          </a:p>
          <a:p>
            <a:pPr eaLnBrk="1" hangingPunct="1"/>
            <a:endParaRPr lang="en-US" altLang="zh-CN" sz="2800" smtClean="0"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AutoShape 168"/>
          <p:cNvSpPr>
            <a:spLocks noChangeArrowheads="1"/>
          </p:cNvSpPr>
          <p:nvPr/>
        </p:nvSpPr>
        <p:spPr bwMode="auto">
          <a:xfrm>
            <a:off x="4419600" y="4419600"/>
            <a:ext cx="4419600" cy="2057400"/>
          </a:xfrm>
          <a:prstGeom prst="can">
            <a:avLst>
              <a:gd name="adj" fmla="val 10255"/>
            </a:avLst>
          </a:prstGeom>
          <a:solidFill>
            <a:schemeClr val="accent1">
              <a:alpha val="23921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en-US" altLang="zh-CN"/>
          </a:p>
          <a:p>
            <a:pPr algn="ctr"/>
            <a:endParaRPr lang="en-US" altLang="zh-CN"/>
          </a:p>
        </p:txBody>
      </p:sp>
      <p:sp>
        <p:nvSpPr>
          <p:cNvPr id="59394" name="AutoShape 161"/>
          <p:cNvSpPr>
            <a:spLocks noChangeArrowheads="1"/>
          </p:cNvSpPr>
          <p:nvPr/>
        </p:nvSpPr>
        <p:spPr bwMode="auto">
          <a:xfrm>
            <a:off x="4419600" y="2133600"/>
            <a:ext cx="4419600" cy="2057400"/>
          </a:xfrm>
          <a:prstGeom prst="can">
            <a:avLst>
              <a:gd name="adj" fmla="val 10255"/>
            </a:avLst>
          </a:prstGeom>
          <a:solidFill>
            <a:schemeClr val="accent1">
              <a:alpha val="23921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en-US" altLang="zh-CN"/>
          </a:p>
          <a:p>
            <a:pPr algn="ctr"/>
            <a:endParaRPr lang="en-US" altLang="zh-CN"/>
          </a:p>
        </p:txBody>
      </p:sp>
      <p:sp>
        <p:nvSpPr>
          <p:cNvPr id="593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latin typeface="微软雅黑"/>
                <a:ea typeface="微软雅黑"/>
                <a:cs typeface="微软雅黑"/>
              </a:rPr>
              <a:t>JOIN</a:t>
            </a:r>
            <a:r>
              <a:rPr lang="zh-CN" altLang="en-US" smtClean="0">
                <a:latin typeface="微软雅黑"/>
                <a:ea typeface="微软雅黑"/>
                <a:cs typeface="微软雅黑"/>
              </a:rPr>
              <a:t>有限的处理</a:t>
            </a:r>
          </a:p>
        </p:txBody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4800600" cy="838200"/>
          </a:xfrm>
        </p:spPr>
        <p:txBody>
          <a:bodyPr/>
          <a:lstStyle/>
          <a:p>
            <a:pPr eaLnBrk="1" hangingPunct="1"/>
            <a:r>
              <a:rPr lang="zh-CN" altLang="en-US" smtClean="0">
                <a:latin typeface="微软雅黑"/>
                <a:ea typeface="微软雅黑"/>
                <a:cs typeface="微软雅黑"/>
              </a:rPr>
              <a:t>跨库</a:t>
            </a:r>
            <a:r>
              <a:rPr lang="en-US" altLang="zh-CN" smtClean="0">
                <a:latin typeface="微软雅黑"/>
                <a:ea typeface="微软雅黑"/>
                <a:cs typeface="微软雅黑"/>
              </a:rPr>
              <a:t>JOIN</a:t>
            </a:r>
            <a:r>
              <a:rPr lang="zh-CN" altLang="en-US" smtClean="0">
                <a:latin typeface="微软雅黑"/>
                <a:ea typeface="微软雅黑"/>
                <a:cs typeface="微软雅黑"/>
              </a:rPr>
              <a:t>问题</a:t>
            </a:r>
          </a:p>
          <a:p>
            <a:pPr eaLnBrk="1" hangingPunct="1"/>
            <a:endParaRPr lang="en-US" altLang="zh-CN" smtClean="0">
              <a:latin typeface="微软雅黑"/>
              <a:ea typeface="微软雅黑"/>
              <a:cs typeface="微软雅黑"/>
            </a:endParaRPr>
          </a:p>
        </p:txBody>
      </p:sp>
      <p:sp>
        <p:nvSpPr>
          <p:cNvPr id="59397" name="Text Box 4"/>
          <p:cNvSpPr txBox="1">
            <a:spLocks noChangeArrowheads="1"/>
          </p:cNvSpPr>
          <p:nvPr/>
        </p:nvSpPr>
        <p:spPr bwMode="auto">
          <a:xfrm>
            <a:off x="304800" y="2741613"/>
            <a:ext cx="4114800" cy="9159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latin typeface="Courier New" pitchFamily="49" charset="0"/>
              </a:rPr>
              <a:t>SELECT *</a:t>
            </a:r>
            <a:br>
              <a:rPr lang="en-US" altLang="zh-CN">
                <a:latin typeface="Courier New" pitchFamily="49" charset="0"/>
              </a:rPr>
            </a:br>
            <a:r>
              <a:rPr lang="en-US" altLang="zh-CN">
                <a:latin typeface="Courier New" pitchFamily="49" charset="0"/>
              </a:rPr>
              <a:t>  FROM tb1 INNER JOIN tb2 </a:t>
            </a:r>
            <a:br>
              <a:rPr lang="en-US" altLang="zh-CN">
                <a:latin typeface="Courier New" pitchFamily="49" charset="0"/>
              </a:rPr>
            </a:br>
            <a:r>
              <a:rPr lang="en-US" altLang="zh-CN">
                <a:latin typeface="Courier New" pitchFamily="49" charset="0"/>
              </a:rPr>
              <a:t>    ON t1.</a:t>
            </a:r>
            <a:r>
              <a:rPr lang="en-US" altLang="zh-CN" b="1">
                <a:latin typeface="Courier New" pitchFamily="49" charset="0"/>
              </a:rPr>
              <a:t>MEMBER_ID</a:t>
            </a:r>
            <a:r>
              <a:rPr lang="en-US" altLang="zh-CN">
                <a:latin typeface="Courier New" pitchFamily="49" charset="0"/>
              </a:rPr>
              <a:t>=t2.</a:t>
            </a:r>
            <a:r>
              <a:rPr lang="en-US" altLang="zh-CN" b="1">
                <a:latin typeface="Courier New" pitchFamily="49" charset="0"/>
              </a:rPr>
              <a:t>NAME</a:t>
            </a:r>
            <a:endParaRPr lang="en-US" altLang="zh-CN">
              <a:latin typeface="Courier New" pitchFamily="49" charset="0"/>
            </a:endParaRPr>
          </a:p>
        </p:txBody>
      </p:sp>
      <p:graphicFrame>
        <p:nvGraphicFramePr>
          <p:cNvPr id="369946" name="Group 282"/>
          <p:cNvGraphicFramePr>
            <a:graphicFrameLocks noGrp="1"/>
          </p:cNvGraphicFramePr>
          <p:nvPr/>
        </p:nvGraphicFramePr>
        <p:xfrm>
          <a:off x="4648200" y="4984750"/>
          <a:ext cx="1657350" cy="1006475"/>
        </p:xfrm>
        <a:graphic>
          <a:graphicData uri="http://schemas.openxmlformats.org/drawingml/2006/table">
            <a:tbl>
              <a:tblPr/>
              <a:tblGrid>
                <a:gridCol w="412750"/>
                <a:gridCol w="1244600"/>
              </a:tblGrid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MEMBE_ID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zzzz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xyzxyz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69964" name="Group 300"/>
          <p:cNvGraphicFramePr>
            <a:graphicFrameLocks noGrp="1"/>
          </p:cNvGraphicFramePr>
          <p:nvPr/>
        </p:nvGraphicFramePr>
        <p:xfrm>
          <a:off x="6978650" y="4984750"/>
          <a:ext cx="1631950" cy="1341438"/>
        </p:xfrm>
        <a:graphic>
          <a:graphicData uri="http://schemas.openxmlformats.org/drawingml/2006/table">
            <a:tbl>
              <a:tblPr/>
              <a:tblGrid>
                <a:gridCol w="387350"/>
                <a:gridCol w="1244600"/>
              </a:tblGrid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NAME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efghijk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aaaa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68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abcd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69938" name="Group 274"/>
          <p:cNvGraphicFramePr>
            <a:graphicFrameLocks noGrp="1"/>
          </p:cNvGraphicFramePr>
          <p:nvPr/>
        </p:nvGraphicFramePr>
        <p:xfrm>
          <a:off x="4648200" y="2698750"/>
          <a:ext cx="1657350" cy="1341438"/>
        </p:xfrm>
        <a:graphic>
          <a:graphicData uri="http://schemas.openxmlformats.org/drawingml/2006/table">
            <a:tbl>
              <a:tblPr/>
              <a:tblGrid>
                <a:gridCol w="412750"/>
                <a:gridCol w="1244600"/>
              </a:tblGrid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MEMBE_ID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efghijk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xxxxxx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微软雅黑"/>
                        <a:cs typeface="微软雅黑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5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abcd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69954" name="Group 290"/>
          <p:cNvGraphicFramePr>
            <a:graphicFrameLocks noGrp="1"/>
          </p:cNvGraphicFramePr>
          <p:nvPr/>
        </p:nvGraphicFramePr>
        <p:xfrm>
          <a:off x="6978650" y="2698750"/>
          <a:ext cx="1631950" cy="1006475"/>
        </p:xfrm>
        <a:graphic>
          <a:graphicData uri="http://schemas.openxmlformats.org/drawingml/2006/table">
            <a:tbl>
              <a:tblPr/>
              <a:tblGrid>
                <a:gridCol w="387350"/>
                <a:gridCol w="1244600"/>
              </a:tblGrid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NAME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zzzz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68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xyzxyz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9468" name="Text Box 169"/>
          <p:cNvSpPr txBox="1">
            <a:spLocks noChangeArrowheads="1"/>
          </p:cNvSpPr>
          <p:nvPr/>
        </p:nvSpPr>
        <p:spPr bwMode="auto">
          <a:xfrm>
            <a:off x="5029200" y="2362200"/>
            <a:ext cx="762000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>
                <a:latin typeface="Courier New" pitchFamily="49" charset="0"/>
              </a:rPr>
              <a:t>tb1</a:t>
            </a:r>
          </a:p>
        </p:txBody>
      </p:sp>
      <p:sp>
        <p:nvSpPr>
          <p:cNvPr id="59469" name="Text Box 170"/>
          <p:cNvSpPr txBox="1">
            <a:spLocks noChangeArrowheads="1"/>
          </p:cNvSpPr>
          <p:nvPr/>
        </p:nvSpPr>
        <p:spPr bwMode="auto">
          <a:xfrm>
            <a:off x="5029200" y="4662488"/>
            <a:ext cx="76200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>
                <a:latin typeface="Courier New" pitchFamily="49" charset="0"/>
              </a:rPr>
              <a:t>tb1</a:t>
            </a:r>
          </a:p>
        </p:txBody>
      </p:sp>
      <p:sp>
        <p:nvSpPr>
          <p:cNvPr id="59470" name="Text Box 171"/>
          <p:cNvSpPr txBox="1">
            <a:spLocks noChangeArrowheads="1"/>
          </p:cNvSpPr>
          <p:nvPr/>
        </p:nvSpPr>
        <p:spPr bwMode="auto">
          <a:xfrm>
            <a:off x="7467600" y="4648200"/>
            <a:ext cx="762000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>
                <a:latin typeface="Courier New" pitchFamily="49" charset="0"/>
              </a:rPr>
              <a:t>tb2</a:t>
            </a:r>
          </a:p>
        </p:txBody>
      </p:sp>
      <p:sp>
        <p:nvSpPr>
          <p:cNvPr id="59471" name="Text Box 172"/>
          <p:cNvSpPr txBox="1">
            <a:spLocks noChangeArrowheads="1"/>
          </p:cNvSpPr>
          <p:nvPr/>
        </p:nvSpPr>
        <p:spPr bwMode="auto">
          <a:xfrm>
            <a:off x="7467600" y="2376488"/>
            <a:ext cx="76200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>
                <a:latin typeface="Courier New" pitchFamily="49" charset="0"/>
              </a:rPr>
              <a:t>tb2</a:t>
            </a:r>
          </a:p>
        </p:txBody>
      </p:sp>
      <p:cxnSp>
        <p:nvCxnSpPr>
          <p:cNvPr id="59472" name="AutoShape 173"/>
          <p:cNvCxnSpPr>
            <a:cxnSpLocks noChangeShapeType="1"/>
          </p:cNvCxnSpPr>
          <p:nvPr/>
        </p:nvCxnSpPr>
        <p:spPr bwMode="auto">
          <a:xfrm>
            <a:off x="6305550" y="3201988"/>
            <a:ext cx="673100" cy="2286000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</p:cxnSp>
      <p:cxnSp>
        <p:nvCxnSpPr>
          <p:cNvPr id="59473" name="AutoShape 174"/>
          <p:cNvCxnSpPr>
            <a:cxnSpLocks noChangeShapeType="1"/>
          </p:cNvCxnSpPr>
          <p:nvPr/>
        </p:nvCxnSpPr>
        <p:spPr bwMode="auto">
          <a:xfrm>
            <a:off x="6305550" y="3871913"/>
            <a:ext cx="673100" cy="2286000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</p:cxnSp>
      <p:cxnSp>
        <p:nvCxnSpPr>
          <p:cNvPr id="59474" name="AutoShape 175"/>
          <p:cNvCxnSpPr>
            <a:cxnSpLocks noChangeShapeType="1"/>
          </p:cNvCxnSpPr>
          <p:nvPr/>
        </p:nvCxnSpPr>
        <p:spPr bwMode="auto">
          <a:xfrm flipV="1">
            <a:off x="6305550" y="3201988"/>
            <a:ext cx="673100" cy="2286000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</p:cxnSp>
      <p:cxnSp>
        <p:nvCxnSpPr>
          <p:cNvPr id="59475" name="AutoShape 176"/>
          <p:cNvCxnSpPr>
            <a:cxnSpLocks noChangeShapeType="1"/>
          </p:cNvCxnSpPr>
          <p:nvPr/>
        </p:nvCxnSpPr>
        <p:spPr bwMode="auto">
          <a:xfrm flipV="1">
            <a:off x="6305550" y="3536950"/>
            <a:ext cx="673100" cy="2286000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</p:cxnSp>
      <p:graphicFrame>
        <p:nvGraphicFramePr>
          <p:cNvPr id="369928" name="Group 264"/>
          <p:cNvGraphicFramePr>
            <a:graphicFrameLocks noGrp="1"/>
          </p:cNvGraphicFramePr>
          <p:nvPr/>
        </p:nvGraphicFramePr>
        <p:xfrm>
          <a:off x="609600" y="4191000"/>
          <a:ext cx="3235325" cy="1828800"/>
        </p:xfrm>
        <a:graphic>
          <a:graphicData uri="http://schemas.openxmlformats.org/drawingml/2006/table">
            <a:tbl>
              <a:tblPr/>
              <a:tblGrid>
                <a:gridCol w="423863"/>
                <a:gridCol w="1543050"/>
                <a:gridCol w="423862"/>
                <a:gridCol w="844550"/>
              </a:tblGrid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MEMBER_ID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NAME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efghijk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efghijk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abcd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abcd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zzzz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zzzz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20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xyzxyz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xyzxyz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AutoShape 2"/>
          <p:cNvSpPr>
            <a:spLocks noChangeArrowheads="1"/>
          </p:cNvSpPr>
          <p:nvPr/>
        </p:nvSpPr>
        <p:spPr bwMode="auto">
          <a:xfrm>
            <a:off x="4724400" y="4419600"/>
            <a:ext cx="4038600" cy="2057400"/>
          </a:xfrm>
          <a:prstGeom prst="can">
            <a:avLst>
              <a:gd name="adj" fmla="val 10255"/>
            </a:avLst>
          </a:prstGeom>
          <a:solidFill>
            <a:schemeClr val="accent1">
              <a:alpha val="23921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en-US" altLang="zh-CN"/>
          </a:p>
          <a:p>
            <a:pPr algn="ctr"/>
            <a:endParaRPr lang="en-US" altLang="zh-CN"/>
          </a:p>
        </p:txBody>
      </p:sp>
      <p:sp>
        <p:nvSpPr>
          <p:cNvPr id="60418" name="AutoShape 3"/>
          <p:cNvSpPr>
            <a:spLocks noChangeArrowheads="1"/>
          </p:cNvSpPr>
          <p:nvPr/>
        </p:nvSpPr>
        <p:spPr bwMode="auto">
          <a:xfrm>
            <a:off x="4724400" y="2133600"/>
            <a:ext cx="4038600" cy="2057400"/>
          </a:xfrm>
          <a:prstGeom prst="can">
            <a:avLst>
              <a:gd name="adj" fmla="val 10255"/>
            </a:avLst>
          </a:prstGeom>
          <a:solidFill>
            <a:schemeClr val="accent1">
              <a:alpha val="23921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en-US" altLang="zh-CN"/>
          </a:p>
          <a:p>
            <a:pPr algn="ctr"/>
            <a:endParaRPr lang="en-US" altLang="zh-CN"/>
          </a:p>
        </p:txBody>
      </p:sp>
      <p:sp>
        <p:nvSpPr>
          <p:cNvPr id="60419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latin typeface="微软雅黑"/>
                <a:ea typeface="微软雅黑"/>
                <a:cs typeface="微软雅黑"/>
              </a:rPr>
              <a:t>迭代查询</a:t>
            </a:r>
          </a:p>
        </p:txBody>
      </p:sp>
      <p:sp>
        <p:nvSpPr>
          <p:cNvPr id="60420" name="Text Box 6"/>
          <p:cNvSpPr txBox="1">
            <a:spLocks noChangeArrowheads="1"/>
          </p:cNvSpPr>
          <p:nvPr/>
        </p:nvSpPr>
        <p:spPr bwMode="auto">
          <a:xfrm>
            <a:off x="304800" y="2286000"/>
            <a:ext cx="4114800" cy="9159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latin typeface="Courier New" pitchFamily="49" charset="0"/>
              </a:rPr>
              <a:t>SELECT *</a:t>
            </a:r>
            <a:br>
              <a:rPr lang="en-US" altLang="zh-CN">
                <a:latin typeface="Courier New" pitchFamily="49" charset="0"/>
              </a:rPr>
            </a:br>
            <a:r>
              <a:rPr lang="en-US" altLang="zh-CN">
                <a:latin typeface="Courier New" pitchFamily="49" charset="0"/>
              </a:rPr>
              <a:t>  FROM tb1 INNER JOIN tb2 </a:t>
            </a:r>
            <a:br>
              <a:rPr lang="en-US" altLang="zh-CN">
                <a:latin typeface="Courier New" pitchFamily="49" charset="0"/>
              </a:rPr>
            </a:br>
            <a:r>
              <a:rPr lang="en-US" altLang="zh-CN">
                <a:latin typeface="Courier New" pitchFamily="49" charset="0"/>
              </a:rPr>
              <a:t>    ON t1.</a:t>
            </a:r>
            <a:r>
              <a:rPr lang="en-US" altLang="zh-CN" b="1">
                <a:latin typeface="Courier New" pitchFamily="49" charset="0"/>
              </a:rPr>
              <a:t>MEMBER_ID</a:t>
            </a:r>
            <a:r>
              <a:rPr lang="en-US" altLang="zh-CN">
                <a:latin typeface="Courier New" pitchFamily="49" charset="0"/>
              </a:rPr>
              <a:t>=t2.</a:t>
            </a:r>
            <a:r>
              <a:rPr lang="en-US" altLang="zh-CN" b="1">
                <a:latin typeface="Courier New" pitchFamily="49" charset="0"/>
              </a:rPr>
              <a:t>NAME</a:t>
            </a:r>
          </a:p>
        </p:txBody>
      </p:sp>
      <p:graphicFrame>
        <p:nvGraphicFramePr>
          <p:cNvPr id="373767" name="Group 7"/>
          <p:cNvGraphicFramePr>
            <a:graphicFrameLocks noGrp="1"/>
          </p:cNvGraphicFramePr>
          <p:nvPr/>
        </p:nvGraphicFramePr>
        <p:xfrm>
          <a:off x="4895850" y="4984750"/>
          <a:ext cx="1657350" cy="1006475"/>
        </p:xfrm>
        <a:graphic>
          <a:graphicData uri="http://schemas.openxmlformats.org/drawingml/2006/table">
            <a:tbl>
              <a:tblPr/>
              <a:tblGrid>
                <a:gridCol w="412750"/>
                <a:gridCol w="1244600"/>
              </a:tblGrid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MEMBE_ID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zzzz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xyzxyz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3783" name="Group 23"/>
          <p:cNvGraphicFramePr>
            <a:graphicFrameLocks noGrp="1"/>
          </p:cNvGraphicFramePr>
          <p:nvPr/>
        </p:nvGraphicFramePr>
        <p:xfrm>
          <a:off x="6978650" y="4984750"/>
          <a:ext cx="1631950" cy="1341438"/>
        </p:xfrm>
        <a:graphic>
          <a:graphicData uri="http://schemas.openxmlformats.org/drawingml/2006/table">
            <a:tbl>
              <a:tblPr/>
              <a:tblGrid>
                <a:gridCol w="387350"/>
                <a:gridCol w="1244600"/>
              </a:tblGrid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NAME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efghijk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aaaa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68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abcd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3802" name="Group 42"/>
          <p:cNvGraphicFramePr>
            <a:graphicFrameLocks noGrp="1"/>
          </p:cNvGraphicFramePr>
          <p:nvPr/>
        </p:nvGraphicFramePr>
        <p:xfrm>
          <a:off x="4895850" y="2698750"/>
          <a:ext cx="1657350" cy="1341438"/>
        </p:xfrm>
        <a:graphic>
          <a:graphicData uri="http://schemas.openxmlformats.org/drawingml/2006/table">
            <a:tbl>
              <a:tblPr/>
              <a:tblGrid>
                <a:gridCol w="412750"/>
                <a:gridCol w="1244600"/>
              </a:tblGrid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MEMBE_ID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efghijk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xxxxxx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微软雅黑"/>
                        <a:cs typeface="微软雅黑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abcd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3821" name="Group 61"/>
          <p:cNvGraphicFramePr>
            <a:graphicFrameLocks noGrp="1"/>
          </p:cNvGraphicFramePr>
          <p:nvPr/>
        </p:nvGraphicFramePr>
        <p:xfrm>
          <a:off x="6978650" y="2698750"/>
          <a:ext cx="1631950" cy="1006475"/>
        </p:xfrm>
        <a:graphic>
          <a:graphicData uri="http://schemas.openxmlformats.org/drawingml/2006/table">
            <a:tbl>
              <a:tblPr/>
              <a:tblGrid>
                <a:gridCol w="387350"/>
                <a:gridCol w="1244600"/>
              </a:tblGrid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NAME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zzzz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68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xyzxyz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0483" name="Text Box 77"/>
          <p:cNvSpPr txBox="1">
            <a:spLocks noChangeArrowheads="1"/>
          </p:cNvSpPr>
          <p:nvPr/>
        </p:nvSpPr>
        <p:spPr bwMode="auto">
          <a:xfrm>
            <a:off x="5276850" y="2362200"/>
            <a:ext cx="762000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>
                <a:latin typeface="Courier New" pitchFamily="49" charset="0"/>
              </a:rPr>
              <a:t>tb1</a:t>
            </a:r>
          </a:p>
        </p:txBody>
      </p:sp>
      <p:sp>
        <p:nvSpPr>
          <p:cNvPr id="60484" name="Text Box 78"/>
          <p:cNvSpPr txBox="1">
            <a:spLocks noChangeArrowheads="1"/>
          </p:cNvSpPr>
          <p:nvPr/>
        </p:nvSpPr>
        <p:spPr bwMode="auto">
          <a:xfrm>
            <a:off x="5276850" y="4662488"/>
            <a:ext cx="76200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>
                <a:latin typeface="Courier New" pitchFamily="49" charset="0"/>
              </a:rPr>
              <a:t>tb1</a:t>
            </a:r>
          </a:p>
        </p:txBody>
      </p:sp>
      <p:sp>
        <p:nvSpPr>
          <p:cNvPr id="60485" name="Text Box 79"/>
          <p:cNvSpPr txBox="1">
            <a:spLocks noChangeArrowheads="1"/>
          </p:cNvSpPr>
          <p:nvPr/>
        </p:nvSpPr>
        <p:spPr bwMode="auto">
          <a:xfrm>
            <a:off x="7467600" y="4648200"/>
            <a:ext cx="762000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>
                <a:latin typeface="Courier New" pitchFamily="49" charset="0"/>
              </a:rPr>
              <a:t>tb2</a:t>
            </a:r>
          </a:p>
        </p:txBody>
      </p:sp>
      <p:sp>
        <p:nvSpPr>
          <p:cNvPr id="60486" name="Text Box 80"/>
          <p:cNvSpPr txBox="1">
            <a:spLocks noChangeArrowheads="1"/>
          </p:cNvSpPr>
          <p:nvPr/>
        </p:nvSpPr>
        <p:spPr bwMode="auto">
          <a:xfrm>
            <a:off x="7467600" y="2376488"/>
            <a:ext cx="76200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>
                <a:latin typeface="Courier New" pitchFamily="49" charset="0"/>
              </a:rPr>
              <a:t>tb2</a:t>
            </a:r>
          </a:p>
        </p:txBody>
      </p:sp>
      <p:cxnSp>
        <p:nvCxnSpPr>
          <p:cNvPr id="60487" name="AutoShape 81"/>
          <p:cNvCxnSpPr>
            <a:cxnSpLocks noChangeShapeType="1"/>
          </p:cNvCxnSpPr>
          <p:nvPr/>
        </p:nvCxnSpPr>
        <p:spPr bwMode="auto">
          <a:xfrm>
            <a:off x="6553200" y="3201988"/>
            <a:ext cx="425450" cy="2286000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</p:cxnSp>
      <p:cxnSp>
        <p:nvCxnSpPr>
          <p:cNvPr id="60488" name="AutoShape 82"/>
          <p:cNvCxnSpPr>
            <a:cxnSpLocks noChangeShapeType="1"/>
          </p:cNvCxnSpPr>
          <p:nvPr/>
        </p:nvCxnSpPr>
        <p:spPr bwMode="auto">
          <a:xfrm>
            <a:off x="6553200" y="3871913"/>
            <a:ext cx="425450" cy="2286000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</p:cxnSp>
      <p:cxnSp>
        <p:nvCxnSpPr>
          <p:cNvPr id="60489" name="AutoShape 83"/>
          <p:cNvCxnSpPr>
            <a:cxnSpLocks noChangeShapeType="1"/>
          </p:cNvCxnSpPr>
          <p:nvPr/>
        </p:nvCxnSpPr>
        <p:spPr bwMode="auto">
          <a:xfrm flipV="1">
            <a:off x="6553200" y="3201988"/>
            <a:ext cx="425450" cy="2286000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</p:cxnSp>
      <p:cxnSp>
        <p:nvCxnSpPr>
          <p:cNvPr id="60490" name="AutoShape 84"/>
          <p:cNvCxnSpPr>
            <a:cxnSpLocks noChangeShapeType="1"/>
          </p:cNvCxnSpPr>
          <p:nvPr/>
        </p:nvCxnSpPr>
        <p:spPr bwMode="auto">
          <a:xfrm flipV="1">
            <a:off x="6553200" y="3536950"/>
            <a:ext cx="425450" cy="2286000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</p:cxnSp>
      <p:sp>
        <p:nvSpPr>
          <p:cNvPr id="60491" name="Text Box 119"/>
          <p:cNvSpPr txBox="1">
            <a:spLocks noChangeArrowheads="1"/>
          </p:cNvSpPr>
          <p:nvPr/>
        </p:nvSpPr>
        <p:spPr bwMode="auto">
          <a:xfrm>
            <a:off x="152400" y="4003675"/>
            <a:ext cx="4648200" cy="20161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latin typeface="Courier New" pitchFamily="49" charset="0"/>
              </a:rPr>
              <a:t>FOR row1 IN </a:t>
            </a:r>
            <a:r>
              <a:rPr lang="en-US" altLang="zh-CN" i="1">
                <a:latin typeface="Courier New" pitchFamily="49" charset="0"/>
              </a:rPr>
              <a:t>select * FROM tb1</a:t>
            </a:r>
            <a:r>
              <a:rPr lang="en-US" altLang="zh-CN">
                <a:latin typeface="Courier New" pitchFamily="49" charset="0"/>
              </a:rPr>
              <a:t>{</a:t>
            </a:r>
          </a:p>
          <a:p>
            <a:pPr lvl="1">
              <a:spcBef>
                <a:spcPct val="50000"/>
              </a:spcBef>
            </a:pPr>
            <a:r>
              <a:rPr lang="en-US" altLang="zh-CN">
                <a:latin typeface="Courier New" pitchFamily="49" charset="0"/>
              </a:rPr>
              <a:t>ADD(</a:t>
            </a:r>
            <a:br>
              <a:rPr lang="en-US" altLang="zh-CN">
                <a:latin typeface="Courier New" pitchFamily="49" charset="0"/>
              </a:rPr>
            </a:br>
            <a:r>
              <a:rPr lang="en-US" altLang="zh-CN" i="1">
                <a:latin typeface="Courier New" pitchFamily="49" charset="0"/>
              </a:rPr>
              <a:t>SELECT * FROM tb2 WHERE</a:t>
            </a:r>
            <a:br>
              <a:rPr lang="en-US" altLang="zh-CN" i="1">
                <a:latin typeface="Courier New" pitchFamily="49" charset="0"/>
              </a:rPr>
            </a:br>
            <a:r>
              <a:rPr lang="en-US" altLang="zh-CN" i="1">
                <a:latin typeface="Courier New" pitchFamily="49" charset="0"/>
              </a:rPr>
              <a:t>  tb2.name = </a:t>
            </a:r>
            <a:r>
              <a:rPr lang="en-US" altLang="zh-CN" b="1" i="1">
                <a:latin typeface="Courier New" pitchFamily="49" charset="0"/>
              </a:rPr>
              <a:t>row1.member_id</a:t>
            </a:r>
            <a:r>
              <a:rPr lang="en-US" altLang="zh-CN" i="1">
                <a:latin typeface="Courier New" pitchFamily="49" charset="0"/>
              </a:rPr>
              <a:t/>
            </a:r>
            <a:br>
              <a:rPr lang="en-US" altLang="zh-CN" i="1">
                <a:latin typeface="Courier New" pitchFamily="49" charset="0"/>
              </a:rPr>
            </a:br>
            <a:r>
              <a:rPr lang="en-US" altLang="zh-CN" i="1">
                <a:latin typeface="Courier New" pitchFamily="49" charset="0"/>
              </a:rPr>
              <a:t>)TO RESULT</a:t>
            </a:r>
          </a:p>
          <a:p>
            <a:pPr>
              <a:spcBef>
                <a:spcPct val="50000"/>
              </a:spcBef>
            </a:pPr>
            <a:r>
              <a:rPr lang="en-US" altLang="zh-CN">
                <a:latin typeface="Courier New" pitchFamily="49" charset="0"/>
              </a:rPr>
              <a:t>}</a:t>
            </a:r>
            <a:endParaRPr lang="en-US" altLang="zh-CN" b="1">
              <a:latin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AutoShape 2"/>
          <p:cNvSpPr>
            <a:spLocks noChangeArrowheads="1"/>
          </p:cNvSpPr>
          <p:nvPr/>
        </p:nvSpPr>
        <p:spPr bwMode="auto">
          <a:xfrm>
            <a:off x="838200" y="3733800"/>
            <a:ext cx="7696200" cy="2057400"/>
          </a:xfrm>
          <a:prstGeom prst="can">
            <a:avLst>
              <a:gd name="adj" fmla="val 10255"/>
            </a:avLst>
          </a:prstGeom>
          <a:solidFill>
            <a:schemeClr val="accent1">
              <a:alpha val="23921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en-US" altLang="zh-CN"/>
          </a:p>
          <a:p>
            <a:pPr algn="ctr"/>
            <a:endParaRPr lang="en-US" altLang="zh-CN"/>
          </a:p>
        </p:txBody>
      </p:sp>
      <p:sp>
        <p:nvSpPr>
          <p:cNvPr id="61442" name="AutoShape 3"/>
          <p:cNvSpPr>
            <a:spLocks noChangeArrowheads="1"/>
          </p:cNvSpPr>
          <p:nvPr/>
        </p:nvSpPr>
        <p:spPr bwMode="auto">
          <a:xfrm>
            <a:off x="838200" y="1524000"/>
            <a:ext cx="7696200" cy="2057400"/>
          </a:xfrm>
          <a:prstGeom prst="can">
            <a:avLst>
              <a:gd name="adj" fmla="val 10255"/>
            </a:avLst>
          </a:prstGeom>
          <a:solidFill>
            <a:schemeClr val="accent1">
              <a:alpha val="23921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en-US" altLang="zh-CN"/>
          </a:p>
          <a:p>
            <a:pPr algn="ctr"/>
            <a:endParaRPr lang="en-US" altLang="zh-CN"/>
          </a:p>
        </p:txBody>
      </p:sp>
      <p:sp>
        <p:nvSpPr>
          <p:cNvPr id="61443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latin typeface="微软雅黑"/>
                <a:ea typeface="微软雅黑"/>
                <a:cs typeface="微软雅黑"/>
              </a:rPr>
              <a:t>跨库索引</a:t>
            </a:r>
          </a:p>
        </p:txBody>
      </p:sp>
      <p:graphicFrame>
        <p:nvGraphicFramePr>
          <p:cNvPr id="374791" name="Group 7"/>
          <p:cNvGraphicFramePr>
            <a:graphicFrameLocks noGrp="1"/>
          </p:cNvGraphicFramePr>
          <p:nvPr/>
        </p:nvGraphicFramePr>
        <p:xfrm>
          <a:off x="4667250" y="4298950"/>
          <a:ext cx="1657350" cy="1006475"/>
        </p:xfrm>
        <a:graphic>
          <a:graphicData uri="http://schemas.openxmlformats.org/drawingml/2006/table">
            <a:tbl>
              <a:tblPr/>
              <a:tblGrid>
                <a:gridCol w="412750"/>
                <a:gridCol w="1244600"/>
              </a:tblGrid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MEMBE_ID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zzzz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xyzxyz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4807" name="Group 23"/>
          <p:cNvGraphicFramePr>
            <a:graphicFrameLocks noGrp="1"/>
          </p:cNvGraphicFramePr>
          <p:nvPr/>
        </p:nvGraphicFramePr>
        <p:xfrm>
          <a:off x="6750050" y="4298950"/>
          <a:ext cx="1631950" cy="1341438"/>
        </p:xfrm>
        <a:graphic>
          <a:graphicData uri="http://schemas.openxmlformats.org/drawingml/2006/table">
            <a:tbl>
              <a:tblPr/>
              <a:tblGrid>
                <a:gridCol w="387350"/>
                <a:gridCol w="1244600"/>
              </a:tblGrid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NAME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efghijk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aaaa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68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abcd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4826" name="Group 42"/>
          <p:cNvGraphicFramePr>
            <a:graphicFrameLocks noGrp="1"/>
          </p:cNvGraphicFramePr>
          <p:nvPr/>
        </p:nvGraphicFramePr>
        <p:xfrm>
          <a:off x="4667250" y="2089150"/>
          <a:ext cx="1657350" cy="1341438"/>
        </p:xfrm>
        <a:graphic>
          <a:graphicData uri="http://schemas.openxmlformats.org/drawingml/2006/table">
            <a:tbl>
              <a:tblPr/>
              <a:tblGrid>
                <a:gridCol w="412750"/>
                <a:gridCol w="1244600"/>
              </a:tblGrid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MEMBE_ID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efghijk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xxxxxx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微软雅黑"/>
                        <a:cs typeface="微软雅黑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abcd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4845" name="Group 61"/>
          <p:cNvGraphicFramePr>
            <a:graphicFrameLocks noGrp="1"/>
          </p:cNvGraphicFramePr>
          <p:nvPr/>
        </p:nvGraphicFramePr>
        <p:xfrm>
          <a:off x="6750050" y="2089150"/>
          <a:ext cx="1631950" cy="1006475"/>
        </p:xfrm>
        <a:graphic>
          <a:graphicData uri="http://schemas.openxmlformats.org/drawingml/2006/table">
            <a:tbl>
              <a:tblPr/>
              <a:tblGrid>
                <a:gridCol w="387350"/>
                <a:gridCol w="1244600"/>
              </a:tblGrid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NAME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zzzz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68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xyzxyz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1506" name="Text Box 77"/>
          <p:cNvSpPr txBox="1">
            <a:spLocks noChangeArrowheads="1"/>
          </p:cNvSpPr>
          <p:nvPr/>
        </p:nvSpPr>
        <p:spPr bwMode="auto">
          <a:xfrm>
            <a:off x="5048250" y="1752600"/>
            <a:ext cx="762000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>
                <a:latin typeface="Courier New" pitchFamily="49" charset="0"/>
              </a:rPr>
              <a:t>tb1</a:t>
            </a:r>
          </a:p>
        </p:txBody>
      </p:sp>
      <p:sp>
        <p:nvSpPr>
          <p:cNvPr id="61507" name="Text Box 78"/>
          <p:cNvSpPr txBox="1">
            <a:spLocks noChangeArrowheads="1"/>
          </p:cNvSpPr>
          <p:nvPr/>
        </p:nvSpPr>
        <p:spPr bwMode="auto">
          <a:xfrm>
            <a:off x="5048250" y="3976688"/>
            <a:ext cx="76200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>
                <a:latin typeface="Courier New" pitchFamily="49" charset="0"/>
              </a:rPr>
              <a:t>tb1</a:t>
            </a:r>
          </a:p>
        </p:txBody>
      </p:sp>
      <p:sp>
        <p:nvSpPr>
          <p:cNvPr id="61508" name="Text Box 79"/>
          <p:cNvSpPr txBox="1">
            <a:spLocks noChangeArrowheads="1"/>
          </p:cNvSpPr>
          <p:nvPr/>
        </p:nvSpPr>
        <p:spPr bwMode="auto">
          <a:xfrm>
            <a:off x="7239000" y="3962400"/>
            <a:ext cx="762000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>
                <a:latin typeface="Courier New" pitchFamily="49" charset="0"/>
              </a:rPr>
              <a:t>tb2</a:t>
            </a:r>
          </a:p>
        </p:txBody>
      </p:sp>
      <p:sp>
        <p:nvSpPr>
          <p:cNvPr id="61509" name="Text Box 80"/>
          <p:cNvSpPr txBox="1">
            <a:spLocks noChangeArrowheads="1"/>
          </p:cNvSpPr>
          <p:nvPr/>
        </p:nvSpPr>
        <p:spPr bwMode="auto">
          <a:xfrm>
            <a:off x="7239000" y="1766888"/>
            <a:ext cx="76200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>
                <a:latin typeface="Courier New" pitchFamily="49" charset="0"/>
              </a:rPr>
              <a:t>tb2</a:t>
            </a:r>
          </a:p>
        </p:txBody>
      </p:sp>
      <p:cxnSp>
        <p:nvCxnSpPr>
          <p:cNvPr id="61510" name="AutoShape 81"/>
          <p:cNvCxnSpPr>
            <a:cxnSpLocks noChangeShapeType="1"/>
          </p:cNvCxnSpPr>
          <p:nvPr/>
        </p:nvCxnSpPr>
        <p:spPr bwMode="auto">
          <a:xfrm>
            <a:off x="6324600" y="2592388"/>
            <a:ext cx="425450" cy="2209800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</p:cxnSp>
      <p:cxnSp>
        <p:nvCxnSpPr>
          <p:cNvPr id="61511" name="AutoShape 82"/>
          <p:cNvCxnSpPr>
            <a:cxnSpLocks noChangeShapeType="1"/>
          </p:cNvCxnSpPr>
          <p:nvPr/>
        </p:nvCxnSpPr>
        <p:spPr bwMode="auto">
          <a:xfrm>
            <a:off x="6324600" y="3262313"/>
            <a:ext cx="425450" cy="2209800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</p:cxnSp>
      <p:cxnSp>
        <p:nvCxnSpPr>
          <p:cNvPr id="61512" name="AutoShape 83"/>
          <p:cNvCxnSpPr>
            <a:cxnSpLocks noChangeShapeType="1"/>
          </p:cNvCxnSpPr>
          <p:nvPr/>
        </p:nvCxnSpPr>
        <p:spPr bwMode="auto">
          <a:xfrm flipV="1">
            <a:off x="6324600" y="2592388"/>
            <a:ext cx="425450" cy="2209800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</p:cxnSp>
      <p:cxnSp>
        <p:nvCxnSpPr>
          <p:cNvPr id="61513" name="AutoShape 84"/>
          <p:cNvCxnSpPr>
            <a:cxnSpLocks noChangeShapeType="1"/>
          </p:cNvCxnSpPr>
          <p:nvPr/>
        </p:nvCxnSpPr>
        <p:spPr bwMode="auto">
          <a:xfrm flipV="1">
            <a:off x="6324600" y="2927350"/>
            <a:ext cx="425450" cy="2209800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</p:cxnSp>
      <p:graphicFrame>
        <p:nvGraphicFramePr>
          <p:cNvPr id="374968" name="Group 184"/>
          <p:cNvGraphicFramePr>
            <a:graphicFrameLocks noGrp="1"/>
          </p:cNvGraphicFramePr>
          <p:nvPr/>
        </p:nvGraphicFramePr>
        <p:xfrm>
          <a:off x="1143000" y="2089150"/>
          <a:ext cx="3175000" cy="1006475"/>
        </p:xfrm>
        <a:graphic>
          <a:graphicData uri="http://schemas.openxmlformats.org/drawingml/2006/table">
            <a:tbl>
              <a:tblPr/>
              <a:tblGrid>
                <a:gridCol w="500063"/>
                <a:gridCol w="1244600"/>
                <a:gridCol w="1430337"/>
              </a:tblGrid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JOIN_COL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zzzz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xyzxyz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1532" name="Text Box 121"/>
          <p:cNvSpPr txBox="1">
            <a:spLocks noChangeArrowheads="1"/>
          </p:cNvSpPr>
          <p:nvPr/>
        </p:nvSpPr>
        <p:spPr bwMode="auto">
          <a:xfrm>
            <a:off x="1905000" y="1752600"/>
            <a:ext cx="1447800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>
                <a:latin typeface="Courier New" pitchFamily="49" charset="0"/>
              </a:rPr>
              <a:t>idx</a:t>
            </a:r>
          </a:p>
        </p:txBody>
      </p:sp>
      <p:graphicFrame>
        <p:nvGraphicFramePr>
          <p:cNvPr id="374969" name="Group 185"/>
          <p:cNvGraphicFramePr>
            <a:graphicFrameLocks noGrp="1"/>
          </p:cNvGraphicFramePr>
          <p:nvPr/>
        </p:nvGraphicFramePr>
        <p:xfrm>
          <a:off x="1143000" y="4298950"/>
          <a:ext cx="3175000" cy="1006475"/>
        </p:xfrm>
        <a:graphic>
          <a:graphicData uri="http://schemas.openxmlformats.org/drawingml/2006/table">
            <a:tbl>
              <a:tblPr/>
              <a:tblGrid>
                <a:gridCol w="500063"/>
                <a:gridCol w="1244600"/>
                <a:gridCol w="1430337"/>
              </a:tblGrid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JOIN_COL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efghijk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abcd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1551" name="Text Box 183"/>
          <p:cNvSpPr txBox="1">
            <a:spLocks noChangeArrowheads="1"/>
          </p:cNvSpPr>
          <p:nvPr/>
        </p:nvSpPr>
        <p:spPr bwMode="auto">
          <a:xfrm>
            <a:off x="1905000" y="3962400"/>
            <a:ext cx="1447800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>
                <a:latin typeface="Courier New" pitchFamily="49" charset="0"/>
              </a:rPr>
              <a:t>idx</a:t>
            </a:r>
          </a:p>
        </p:txBody>
      </p:sp>
      <p:sp>
        <p:nvSpPr>
          <p:cNvPr id="61552" name="Text Box 187"/>
          <p:cNvSpPr txBox="1">
            <a:spLocks noChangeArrowheads="1"/>
          </p:cNvSpPr>
          <p:nvPr/>
        </p:nvSpPr>
        <p:spPr bwMode="auto">
          <a:xfrm>
            <a:off x="838200" y="6019800"/>
            <a:ext cx="7010400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>
                <a:latin typeface="微软雅黑"/>
              </a:rPr>
              <a:t>扫描</a:t>
            </a:r>
            <a:r>
              <a:rPr lang="en-US" altLang="zh-CN" sz="2400">
                <a:latin typeface="微软雅黑"/>
              </a:rPr>
              <a:t>idx</a:t>
            </a:r>
            <a:r>
              <a:rPr lang="zh-CN" altLang="en-US" sz="2400">
                <a:latin typeface="微软雅黑"/>
              </a:rPr>
              <a:t>，再根据每一行的</a:t>
            </a:r>
            <a:r>
              <a:rPr lang="en-US" altLang="zh-CN" sz="2400">
                <a:latin typeface="微软雅黑"/>
              </a:rPr>
              <a:t>id1,id2</a:t>
            </a:r>
            <a:r>
              <a:rPr lang="zh-CN" altLang="en-US" sz="2400">
                <a:latin typeface="微软雅黑"/>
              </a:rPr>
              <a:t>查到最终结果</a:t>
            </a:r>
            <a:endParaRPr lang="zh-CN" altLang="en-US" sz="2400" b="1">
              <a:latin typeface="微软雅黑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AutoShape 2"/>
          <p:cNvSpPr>
            <a:spLocks noChangeArrowheads="1"/>
          </p:cNvSpPr>
          <p:nvPr/>
        </p:nvSpPr>
        <p:spPr bwMode="auto">
          <a:xfrm>
            <a:off x="4419600" y="3733800"/>
            <a:ext cx="4114800" cy="2057400"/>
          </a:xfrm>
          <a:prstGeom prst="can">
            <a:avLst>
              <a:gd name="adj" fmla="val 10255"/>
            </a:avLst>
          </a:prstGeom>
          <a:solidFill>
            <a:schemeClr val="accent1">
              <a:alpha val="23921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en-US" altLang="zh-CN"/>
          </a:p>
          <a:p>
            <a:pPr algn="ctr"/>
            <a:endParaRPr lang="en-US" altLang="zh-CN"/>
          </a:p>
        </p:txBody>
      </p:sp>
      <p:sp>
        <p:nvSpPr>
          <p:cNvPr id="62466" name="AutoShape 3"/>
          <p:cNvSpPr>
            <a:spLocks noChangeArrowheads="1"/>
          </p:cNvSpPr>
          <p:nvPr/>
        </p:nvSpPr>
        <p:spPr bwMode="auto">
          <a:xfrm>
            <a:off x="4419600" y="1524000"/>
            <a:ext cx="4114800" cy="2057400"/>
          </a:xfrm>
          <a:prstGeom prst="can">
            <a:avLst>
              <a:gd name="adj" fmla="val 10255"/>
            </a:avLst>
          </a:prstGeom>
          <a:solidFill>
            <a:schemeClr val="accent1">
              <a:alpha val="23921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en-US" altLang="zh-CN"/>
          </a:p>
          <a:p>
            <a:pPr algn="ctr"/>
            <a:endParaRPr lang="en-US" altLang="zh-CN"/>
          </a:p>
        </p:txBody>
      </p:sp>
      <p:sp>
        <p:nvSpPr>
          <p:cNvPr id="62467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latin typeface="微软雅黑"/>
                <a:ea typeface="微软雅黑"/>
                <a:cs typeface="微软雅黑"/>
              </a:rPr>
              <a:t>跨库索引</a:t>
            </a:r>
          </a:p>
        </p:txBody>
      </p:sp>
      <p:graphicFrame>
        <p:nvGraphicFramePr>
          <p:cNvPr id="379024" name="Group 144"/>
          <p:cNvGraphicFramePr>
            <a:graphicFrameLocks noGrp="1"/>
          </p:cNvGraphicFramePr>
          <p:nvPr/>
        </p:nvGraphicFramePr>
        <p:xfrm>
          <a:off x="4667250" y="4298950"/>
          <a:ext cx="1657350" cy="1006475"/>
        </p:xfrm>
        <a:graphic>
          <a:graphicData uri="http://schemas.openxmlformats.org/drawingml/2006/table">
            <a:tbl>
              <a:tblPr/>
              <a:tblGrid>
                <a:gridCol w="412750"/>
                <a:gridCol w="1244600"/>
              </a:tblGrid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MEMBE_ID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zzzz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xyzxyz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9042" name="Group 162"/>
          <p:cNvGraphicFramePr>
            <a:graphicFrameLocks noGrp="1"/>
          </p:cNvGraphicFramePr>
          <p:nvPr/>
        </p:nvGraphicFramePr>
        <p:xfrm>
          <a:off x="6750050" y="4298950"/>
          <a:ext cx="1631950" cy="1341438"/>
        </p:xfrm>
        <a:graphic>
          <a:graphicData uri="http://schemas.openxmlformats.org/drawingml/2006/table">
            <a:tbl>
              <a:tblPr/>
              <a:tblGrid>
                <a:gridCol w="387350"/>
                <a:gridCol w="1244600"/>
              </a:tblGrid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NAME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efghijk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aaaa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68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abcd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9016" name="Group 136"/>
          <p:cNvGraphicFramePr>
            <a:graphicFrameLocks noGrp="1"/>
          </p:cNvGraphicFramePr>
          <p:nvPr/>
        </p:nvGraphicFramePr>
        <p:xfrm>
          <a:off x="4667250" y="2089150"/>
          <a:ext cx="1657350" cy="1341438"/>
        </p:xfrm>
        <a:graphic>
          <a:graphicData uri="http://schemas.openxmlformats.org/drawingml/2006/table">
            <a:tbl>
              <a:tblPr/>
              <a:tblGrid>
                <a:gridCol w="412750"/>
                <a:gridCol w="1244600"/>
              </a:tblGrid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MEMBE_ID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efghijk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xxxxxx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微软雅黑"/>
                        <a:cs typeface="微软雅黑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5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abcd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9032" name="Group 152"/>
          <p:cNvGraphicFramePr>
            <a:graphicFrameLocks noGrp="1"/>
          </p:cNvGraphicFramePr>
          <p:nvPr/>
        </p:nvGraphicFramePr>
        <p:xfrm>
          <a:off x="6750050" y="2089150"/>
          <a:ext cx="1631950" cy="1006475"/>
        </p:xfrm>
        <a:graphic>
          <a:graphicData uri="http://schemas.openxmlformats.org/drawingml/2006/table">
            <a:tbl>
              <a:tblPr/>
              <a:tblGrid>
                <a:gridCol w="387350"/>
                <a:gridCol w="1244600"/>
              </a:tblGrid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NAME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zzzz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68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xyzxyz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2538" name="Text Box 75"/>
          <p:cNvSpPr txBox="1">
            <a:spLocks noChangeArrowheads="1"/>
          </p:cNvSpPr>
          <p:nvPr/>
        </p:nvSpPr>
        <p:spPr bwMode="auto">
          <a:xfrm>
            <a:off x="5048250" y="1752600"/>
            <a:ext cx="762000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>
                <a:latin typeface="Courier New" pitchFamily="49" charset="0"/>
              </a:rPr>
              <a:t>tb1</a:t>
            </a:r>
          </a:p>
        </p:txBody>
      </p:sp>
      <p:sp>
        <p:nvSpPr>
          <p:cNvPr id="62539" name="Text Box 76"/>
          <p:cNvSpPr txBox="1">
            <a:spLocks noChangeArrowheads="1"/>
          </p:cNvSpPr>
          <p:nvPr/>
        </p:nvSpPr>
        <p:spPr bwMode="auto">
          <a:xfrm>
            <a:off x="5048250" y="3976688"/>
            <a:ext cx="76200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>
                <a:latin typeface="Courier New" pitchFamily="49" charset="0"/>
              </a:rPr>
              <a:t>tb1</a:t>
            </a:r>
          </a:p>
        </p:txBody>
      </p:sp>
      <p:sp>
        <p:nvSpPr>
          <p:cNvPr id="62540" name="Text Box 77"/>
          <p:cNvSpPr txBox="1">
            <a:spLocks noChangeArrowheads="1"/>
          </p:cNvSpPr>
          <p:nvPr/>
        </p:nvSpPr>
        <p:spPr bwMode="auto">
          <a:xfrm>
            <a:off x="7239000" y="3962400"/>
            <a:ext cx="762000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>
                <a:latin typeface="Courier New" pitchFamily="49" charset="0"/>
              </a:rPr>
              <a:t>tb2</a:t>
            </a:r>
          </a:p>
        </p:txBody>
      </p:sp>
      <p:sp>
        <p:nvSpPr>
          <p:cNvPr id="62541" name="Text Box 78"/>
          <p:cNvSpPr txBox="1">
            <a:spLocks noChangeArrowheads="1"/>
          </p:cNvSpPr>
          <p:nvPr/>
        </p:nvSpPr>
        <p:spPr bwMode="auto">
          <a:xfrm>
            <a:off x="7239000" y="1766888"/>
            <a:ext cx="76200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>
                <a:latin typeface="Courier New" pitchFamily="49" charset="0"/>
              </a:rPr>
              <a:t>tb2</a:t>
            </a:r>
          </a:p>
        </p:txBody>
      </p:sp>
      <p:cxnSp>
        <p:nvCxnSpPr>
          <p:cNvPr id="62542" name="AutoShape 79"/>
          <p:cNvCxnSpPr>
            <a:cxnSpLocks noChangeShapeType="1"/>
          </p:cNvCxnSpPr>
          <p:nvPr/>
        </p:nvCxnSpPr>
        <p:spPr bwMode="auto">
          <a:xfrm>
            <a:off x="6324600" y="2592388"/>
            <a:ext cx="425450" cy="2209800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</p:cxnSp>
      <p:cxnSp>
        <p:nvCxnSpPr>
          <p:cNvPr id="62543" name="AutoShape 80"/>
          <p:cNvCxnSpPr>
            <a:cxnSpLocks noChangeShapeType="1"/>
          </p:cNvCxnSpPr>
          <p:nvPr/>
        </p:nvCxnSpPr>
        <p:spPr bwMode="auto">
          <a:xfrm>
            <a:off x="6324600" y="3262313"/>
            <a:ext cx="425450" cy="2209800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</p:cxnSp>
      <p:cxnSp>
        <p:nvCxnSpPr>
          <p:cNvPr id="62544" name="AutoShape 81"/>
          <p:cNvCxnSpPr>
            <a:cxnSpLocks noChangeShapeType="1"/>
          </p:cNvCxnSpPr>
          <p:nvPr/>
        </p:nvCxnSpPr>
        <p:spPr bwMode="auto">
          <a:xfrm flipV="1">
            <a:off x="6324600" y="2592388"/>
            <a:ext cx="425450" cy="2209800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</p:cxnSp>
      <p:cxnSp>
        <p:nvCxnSpPr>
          <p:cNvPr id="62545" name="AutoShape 82"/>
          <p:cNvCxnSpPr>
            <a:cxnSpLocks noChangeShapeType="1"/>
          </p:cNvCxnSpPr>
          <p:nvPr/>
        </p:nvCxnSpPr>
        <p:spPr bwMode="auto">
          <a:xfrm flipV="1">
            <a:off x="6324600" y="2927350"/>
            <a:ext cx="425450" cy="2209800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</p:cxnSp>
      <p:sp>
        <p:nvSpPr>
          <p:cNvPr id="62546" name="Text Box 126"/>
          <p:cNvSpPr txBox="1">
            <a:spLocks noChangeArrowheads="1"/>
          </p:cNvSpPr>
          <p:nvPr/>
        </p:nvSpPr>
        <p:spPr bwMode="auto">
          <a:xfrm>
            <a:off x="304800" y="1628775"/>
            <a:ext cx="4114800" cy="11906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latin typeface="Courier New" pitchFamily="49" charset="0"/>
              </a:rPr>
              <a:t>SELECT *</a:t>
            </a:r>
            <a:br>
              <a:rPr lang="en-US" altLang="zh-CN">
                <a:latin typeface="Courier New" pitchFamily="49" charset="0"/>
              </a:rPr>
            </a:br>
            <a:r>
              <a:rPr lang="en-US" altLang="zh-CN">
                <a:latin typeface="Courier New" pitchFamily="49" charset="0"/>
              </a:rPr>
              <a:t>  FROM tb1 INNER JOIN tb2 </a:t>
            </a:r>
            <a:br>
              <a:rPr lang="en-US" altLang="zh-CN">
                <a:latin typeface="Courier New" pitchFamily="49" charset="0"/>
              </a:rPr>
            </a:br>
            <a:r>
              <a:rPr lang="en-US" altLang="zh-CN">
                <a:latin typeface="Courier New" pitchFamily="49" charset="0"/>
              </a:rPr>
              <a:t>    ON t1.MEMBER_ID=t2.NAME</a:t>
            </a:r>
            <a:br>
              <a:rPr lang="en-US" altLang="zh-CN">
                <a:latin typeface="Courier New" pitchFamily="49" charset="0"/>
              </a:rPr>
            </a:br>
            <a:r>
              <a:rPr lang="en-US" altLang="zh-CN">
                <a:latin typeface="Courier New" pitchFamily="49" charset="0"/>
              </a:rPr>
              <a:t> WHERE </a:t>
            </a:r>
            <a:r>
              <a:rPr lang="en-US" altLang="zh-CN" b="1">
                <a:latin typeface="Courier New" pitchFamily="49" charset="0"/>
              </a:rPr>
              <a:t>t1.id</a:t>
            </a:r>
            <a:r>
              <a:rPr lang="en-US" altLang="zh-CN">
                <a:latin typeface="Courier New" pitchFamily="49" charset="0"/>
              </a:rPr>
              <a:t> = 5</a:t>
            </a:r>
          </a:p>
        </p:txBody>
      </p:sp>
      <p:sp>
        <p:nvSpPr>
          <p:cNvPr id="62547" name="Text Box 163"/>
          <p:cNvSpPr txBox="1">
            <a:spLocks noChangeArrowheads="1"/>
          </p:cNvSpPr>
          <p:nvPr/>
        </p:nvSpPr>
        <p:spPr bwMode="auto">
          <a:xfrm>
            <a:off x="304800" y="3657600"/>
            <a:ext cx="41148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latin typeface="Courier New" pitchFamily="49" charset="0"/>
              </a:rPr>
              <a:t>SELECT * FROM idx </a:t>
            </a:r>
            <a:br>
              <a:rPr lang="en-US" altLang="zh-CN">
                <a:latin typeface="Courier New" pitchFamily="49" charset="0"/>
              </a:rPr>
            </a:br>
            <a:r>
              <a:rPr lang="en-US" altLang="zh-CN">
                <a:latin typeface="Courier New" pitchFamily="49" charset="0"/>
              </a:rPr>
              <a:t>        WHERE </a:t>
            </a:r>
            <a:r>
              <a:rPr lang="en-US" altLang="zh-CN" b="1">
                <a:latin typeface="Courier New" pitchFamily="49" charset="0"/>
              </a:rPr>
              <a:t>id1</a:t>
            </a:r>
            <a:r>
              <a:rPr lang="en-US" altLang="zh-CN">
                <a:latin typeface="Courier New" pitchFamily="49" charset="0"/>
              </a:rPr>
              <a:t> = 5</a:t>
            </a:r>
          </a:p>
        </p:txBody>
      </p:sp>
      <p:sp>
        <p:nvSpPr>
          <p:cNvPr id="62548" name="Text Box 164"/>
          <p:cNvSpPr txBox="1">
            <a:spLocks noChangeArrowheads="1"/>
          </p:cNvSpPr>
          <p:nvPr/>
        </p:nvSpPr>
        <p:spPr bwMode="auto">
          <a:xfrm>
            <a:off x="304800" y="4648200"/>
            <a:ext cx="4114800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>
                <a:latin typeface="微软雅黑"/>
              </a:rPr>
              <a:t>再根据</a:t>
            </a:r>
            <a:r>
              <a:rPr lang="en-US" altLang="zh-CN" sz="2400">
                <a:latin typeface="微软雅黑"/>
              </a:rPr>
              <a:t>id1,id2</a:t>
            </a:r>
            <a:r>
              <a:rPr lang="zh-CN" altLang="en-US" sz="2400">
                <a:latin typeface="微软雅黑"/>
              </a:rPr>
              <a:t>查到最终结果</a:t>
            </a:r>
            <a:endParaRPr lang="zh-CN" altLang="en-US" sz="2400" b="1">
              <a:latin typeface="微软雅黑"/>
            </a:endParaRPr>
          </a:p>
        </p:txBody>
      </p:sp>
      <p:sp>
        <p:nvSpPr>
          <p:cNvPr id="62549" name="AutoShape 165"/>
          <p:cNvSpPr>
            <a:spLocks/>
          </p:cNvSpPr>
          <p:nvPr/>
        </p:nvSpPr>
        <p:spPr bwMode="auto">
          <a:xfrm>
            <a:off x="2209800" y="2895600"/>
            <a:ext cx="609600" cy="609600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254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AutoShape 2"/>
          <p:cNvSpPr>
            <a:spLocks noChangeArrowheads="1"/>
          </p:cNvSpPr>
          <p:nvPr/>
        </p:nvSpPr>
        <p:spPr bwMode="auto">
          <a:xfrm>
            <a:off x="838200" y="3733800"/>
            <a:ext cx="7696200" cy="2057400"/>
          </a:xfrm>
          <a:prstGeom prst="can">
            <a:avLst>
              <a:gd name="adj" fmla="val 10255"/>
            </a:avLst>
          </a:prstGeom>
          <a:solidFill>
            <a:schemeClr val="accent1">
              <a:alpha val="23921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en-US" altLang="zh-CN"/>
          </a:p>
          <a:p>
            <a:pPr algn="ctr"/>
            <a:endParaRPr lang="en-US" altLang="zh-CN"/>
          </a:p>
        </p:txBody>
      </p:sp>
      <p:sp>
        <p:nvSpPr>
          <p:cNvPr id="63490" name="AutoShape 3"/>
          <p:cNvSpPr>
            <a:spLocks noChangeArrowheads="1"/>
          </p:cNvSpPr>
          <p:nvPr/>
        </p:nvSpPr>
        <p:spPr bwMode="auto">
          <a:xfrm>
            <a:off x="838200" y="1524000"/>
            <a:ext cx="7696200" cy="2057400"/>
          </a:xfrm>
          <a:prstGeom prst="can">
            <a:avLst>
              <a:gd name="adj" fmla="val 10255"/>
            </a:avLst>
          </a:prstGeom>
          <a:solidFill>
            <a:schemeClr val="accent1">
              <a:alpha val="23921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en-US" altLang="zh-CN"/>
          </a:p>
          <a:p>
            <a:pPr algn="ctr"/>
            <a:endParaRPr lang="en-US" altLang="zh-CN"/>
          </a:p>
        </p:txBody>
      </p:sp>
      <p:sp>
        <p:nvSpPr>
          <p:cNvPr id="63491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latin typeface="微软雅黑"/>
                <a:ea typeface="微软雅黑"/>
                <a:cs typeface="微软雅黑"/>
              </a:rPr>
              <a:t>跨库索引</a:t>
            </a:r>
          </a:p>
        </p:txBody>
      </p:sp>
      <p:graphicFrame>
        <p:nvGraphicFramePr>
          <p:cNvPr id="377043" name="Group 211"/>
          <p:cNvGraphicFramePr>
            <a:graphicFrameLocks noGrp="1"/>
          </p:cNvGraphicFramePr>
          <p:nvPr/>
        </p:nvGraphicFramePr>
        <p:xfrm>
          <a:off x="4667250" y="4298950"/>
          <a:ext cx="1657350" cy="1006475"/>
        </p:xfrm>
        <a:graphic>
          <a:graphicData uri="http://schemas.openxmlformats.org/drawingml/2006/table">
            <a:tbl>
              <a:tblPr/>
              <a:tblGrid>
                <a:gridCol w="412750"/>
                <a:gridCol w="1244600"/>
              </a:tblGrid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MEMBE_ID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zzzz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xyzxyz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7061" name="Group 229"/>
          <p:cNvGraphicFramePr>
            <a:graphicFrameLocks noGrp="1"/>
          </p:cNvGraphicFramePr>
          <p:nvPr/>
        </p:nvGraphicFramePr>
        <p:xfrm>
          <a:off x="6750050" y="4298950"/>
          <a:ext cx="1631950" cy="1341438"/>
        </p:xfrm>
        <a:graphic>
          <a:graphicData uri="http://schemas.openxmlformats.org/drawingml/2006/table">
            <a:tbl>
              <a:tblPr/>
              <a:tblGrid>
                <a:gridCol w="387350"/>
                <a:gridCol w="1244600"/>
              </a:tblGrid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NAME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efghijk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aaaa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68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abcd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7035" name="Group 203"/>
          <p:cNvGraphicFramePr>
            <a:graphicFrameLocks noGrp="1"/>
          </p:cNvGraphicFramePr>
          <p:nvPr/>
        </p:nvGraphicFramePr>
        <p:xfrm>
          <a:off x="4667250" y="2089150"/>
          <a:ext cx="1657350" cy="1341438"/>
        </p:xfrm>
        <a:graphic>
          <a:graphicData uri="http://schemas.openxmlformats.org/drawingml/2006/table">
            <a:tbl>
              <a:tblPr/>
              <a:tblGrid>
                <a:gridCol w="412750"/>
                <a:gridCol w="1244600"/>
              </a:tblGrid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MEMBE_ID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efghijk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xxxxxx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5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abcd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7051" name="Group 219"/>
          <p:cNvGraphicFramePr>
            <a:graphicFrameLocks noGrp="1"/>
          </p:cNvGraphicFramePr>
          <p:nvPr/>
        </p:nvGraphicFramePr>
        <p:xfrm>
          <a:off x="6750050" y="2089150"/>
          <a:ext cx="1631950" cy="1006475"/>
        </p:xfrm>
        <a:graphic>
          <a:graphicData uri="http://schemas.openxmlformats.org/drawingml/2006/table">
            <a:tbl>
              <a:tblPr/>
              <a:tblGrid>
                <a:gridCol w="387350"/>
                <a:gridCol w="1244600"/>
              </a:tblGrid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NAME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zzzz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68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xyzxyz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3562" name="Text Box 75"/>
          <p:cNvSpPr txBox="1">
            <a:spLocks noChangeArrowheads="1"/>
          </p:cNvSpPr>
          <p:nvPr/>
        </p:nvSpPr>
        <p:spPr bwMode="auto">
          <a:xfrm>
            <a:off x="5048250" y="1752600"/>
            <a:ext cx="762000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>
                <a:solidFill>
                  <a:srgbClr val="C0C0C0"/>
                </a:solidFill>
                <a:latin typeface="Courier New" pitchFamily="49" charset="0"/>
              </a:rPr>
              <a:t>tb1</a:t>
            </a:r>
          </a:p>
        </p:txBody>
      </p:sp>
      <p:sp>
        <p:nvSpPr>
          <p:cNvPr id="63563" name="Text Box 76"/>
          <p:cNvSpPr txBox="1">
            <a:spLocks noChangeArrowheads="1"/>
          </p:cNvSpPr>
          <p:nvPr/>
        </p:nvSpPr>
        <p:spPr bwMode="auto">
          <a:xfrm>
            <a:off x="5048250" y="3976688"/>
            <a:ext cx="76200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>
                <a:solidFill>
                  <a:srgbClr val="C0C0C0"/>
                </a:solidFill>
                <a:latin typeface="Courier New" pitchFamily="49" charset="0"/>
              </a:rPr>
              <a:t>tb1</a:t>
            </a:r>
          </a:p>
        </p:txBody>
      </p:sp>
      <p:sp>
        <p:nvSpPr>
          <p:cNvPr id="63564" name="Text Box 77"/>
          <p:cNvSpPr txBox="1">
            <a:spLocks noChangeArrowheads="1"/>
          </p:cNvSpPr>
          <p:nvPr/>
        </p:nvSpPr>
        <p:spPr bwMode="auto">
          <a:xfrm>
            <a:off x="7239000" y="3962400"/>
            <a:ext cx="762000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>
                <a:solidFill>
                  <a:srgbClr val="C0C0C0"/>
                </a:solidFill>
                <a:latin typeface="Courier New" pitchFamily="49" charset="0"/>
              </a:rPr>
              <a:t>tb2</a:t>
            </a:r>
          </a:p>
        </p:txBody>
      </p:sp>
      <p:sp>
        <p:nvSpPr>
          <p:cNvPr id="63565" name="Text Box 78"/>
          <p:cNvSpPr txBox="1">
            <a:spLocks noChangeArrowheads="1"/>
          </p:cNvSpPr>
          <p:nvPr/>
        </p:nvSpPr>
        <p:spPr bwMode="auto">
          <a:xfrm>
            <a:off x="7239000" y="1766888"/>
            <a:ext cx="76200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>
                <a:solidFill>
                  <a:srgbClr val="C0C0C0"/>
                </a:solidFill>
                <a:latin typeface="Courier New" pitchFamily="49" charset="0"/>
              </a:rPr>
              <a:t>tb2</a:t>
            </a:r>
          </a:p>
        </p:txBody>
      </p:sp>
      <p:cxnSp>
        <p:nvCxnSpPr>
          <p:cNvPr id="63566" name="AutoShape 79"/>
          <p:cNvCxnSpPr>
            <a:cxnSpLocks noChangeShapeType="1"/>
          </p:cNvCxnSpPr>
          <p:nvPr/>
        </p:nvCxnSpPr>
        <p:spPr bwMode="auto">
          <a:xfrm>
            <a:off x="6324600" y="2592388"/>
            <a:ext cx="425450" cy="2209800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</p:cxnSp>
      <p:cxnSp>
        <p:nvCxnSpPr>
          <p:cNvPr id="63567" name="AutoShape 80"/>
          <p:cNvCxnSpPr>
            <a:cxnSpLocks noChangeShapeType="1"/>
          </p:cNvCxnSpPr>
          <p:nvPr/>
        </p:nvCxnSpPr>
        <p:spPr bwMode="auto">
          <a:xfrm>
            <a:off x="6324600" y="3262313"/>
            <a:ext cx="425450" cy="2209800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</p:cxnSp>
      <p:cxnSp>
        <p:nvCxnSpPr>
          <p:cNvPr id="63568" name="AutoShape 81"/>
          <p:cNvCxnSpPr>
            <a:cxnSpLocks noChangeShapeType="1"/>
          </p:cNvCxnSpPr>
          <p:nvPr/>
        </p:nvCxnSpPr>
        <p:spPr bwMode="auto">
          <a:xfrm flipV="1">
            <a:off x="6324600" y="2592388"/>
            <a:ext cx="425450" cy="2209800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</p:cxnSp>
      <p:cxnSp>
        <p:nvCxnSpPr>
          <p:cNvPr id="63569" name="AutoShape 82"/>
          <p:cNvCxnSpPr>
            <a:cxnSpLocks noChangeShapeType="1"/>
          </p:cNvCxnSpPr>
          <p:nvPr/>
        </p:nvCxnSpPr>
        <p:spPr bwMode="auto">
          <a:xfrm flipV="1">
            <a:off x="6324600" y="2927350"/>
            <a:ext cx="425450" cy="2209800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</p:cxnSp>
      <p:graphicFrame>
        <p:nvGraphicFramePr>
          <p:cNvPr id="377025" name="Group 193"/>
          <p:cNvGraphicFramePr>
            <a:graphicFrameLocks noGrp="1"/>
          </p:cNvGraphicFramePr>
          <p:nvPr/>
        </p:nvGraphicFramePr>
        <p:xfrm>
          <a:off x="1143000" y="2089150"/>
          <a:ext cx="3175000" cy="1279525"/>
        </p:xfrm>
        <a:graphic>
          <a:graphicData uri="http://schemas.openxmlformats.org/drawingml/2006/table">
            <a:tbl>
              <a:tblPr/>
              <a:tblGrid>
                <a:gridCol w="500063"/>
                <a:gridCol w="1244600"/>
                <a:gridCol w="1430337"/>
              </a:tblGrid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JOIN_COL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zzzz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xyzxyz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3590" name="Text Box 103"/>
          <p:cNvSpPr txBox="1">
            <a:spLocks noChangeArrowheads="1"/>
          </p:cNvSpPr>
          <p:nvPr/>
        </p:nvSpPr>
        <p:spPr bwMode="auto">
          <a:xfrm>
            <a:off x="1905000" y="1752600"/>
            <a:ext cx="1447800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>
                <a:latin typeface="Courier New" pitchFamily="49" charset="0"/>
              </a:rPr>
              <a:t>idx</a:t>
            </a:r>
          </a:p>
        </p:txBody>
      </p:sp>
      <p:graphicFrame>
        <p:nvGraphicFramePr>
          <p:cNvPr id="377023" name="Group 191"/>
          <p:cNvGraphicFramePr>
            <a:graphicFrameLocks noGrp="1"/>
          </p:cNvGraphicFramePr>
          <p:nvPr/>
        </p:nvGraphicFramePr>
        <p:xfrm>
          <a:off x="1143000" y="4298950"/>
          <a:ext cx="3175000" cy="1279525"/>
        </p:xfrm>
        <a:graphic>
          <a:graphicData uri="http://schemas.openxmlformats.org/drawingml/2006/table">
            <a:tbl>
              <a:tblPr/>
              <a:tblGrid>
                <a:gridCol w="500063"/>
                <a:gridCol w="1244600"/>
                <a:gridCol w="1430337"/>
              </a:tblGrid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JOIN_COL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efghijk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0C0C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abcd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3611" name="Text Box 124"/>
          <p:cNvSpPr txBox="1">
            <a:spLocks noChangeArrowheads="1"/>
          </p:cNvSpPr>
          <p:nvPr/>
        </p:nvSpPr>
        <p:spPr bwMode="auto">
          <a:xfrm>
            <a:off x="1905000" y="3962400"/>
            <a:ext cx="1447800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>
                <a:latin typeface="Courier New" pitchFamily="49" charset="0"/>
              </a:rPr>
              <a:t>idx</a:t>
            </a:r>
          </a:p>
        </p:txBody>
      </p:sp>
      <p:sp>
        <p:nvSpPr>
          <p:cNvPr id="63612" name="Text Box 125"/>
          <p:cNvSpPr txBox="1">
            <a:spLocks noChangeArrowheads="1"/>
          </p:cNvSpPr>
          <p:nvPr/>
        </p:nvSpPr>
        <p:spPr bwMode="auto">
          <a:xfrm>
            <a:off x="838200" y="6019800"/>
            <a:ext cx="7010400" cy="519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微软雅黑"/>
              </a:rPr>
              <a:t>一定以 </a:t>
            </a:r>
            <a:r>
              <a:rPr lang="en-US" altLang="zh-CN" sz="2800">
                <a:latin typeface="微软雅黑"/>
              </a:rPr>
              <a:t>JOIN_COL </a:t>
            </a:r>
            <a:r>
              <a:rPr lang="zh-CN" altLang="en-US" sz="2800">
                <a:latin typeface="微软雅黑"/>
              </a:rPr>
              <a:t>为索引的拆分字段吗？</a:t>
            </a:r>
            <a:endParaRPr lang="zh-CN" altLang="en-US" sz="2800" b="1">
              <a:latin typeface="微软雅黑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latin typeface="微软雅黑"/>
                <a:ea typeface="微软雅黑"/>
                <a:cs typeface="微软雅黑"/>
              </a:rPr>
              <a:t>跨库索引</a:t>
            </a:r>
          </a:p>
        </p:txBody>
      </p:sp>
      <p:sp>
        <p:nvSpPr>
          <p:cNvPr id="64514" name="Text Box 47"/>
          <p:cNvSpPr txBox="1">
            <a:spLocks noChangeArrowheads="1"/>
          </p:cNvSpPr>
          <p:nvPr/>
        </p:nvSpPr>
        <p:spPr bwMode="auto">
          <a:xfrm>
            <a:off x="304800" y="1628775"/>
            <a:ext cx="4114800" cy="11906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latin typeface="Courier New" pitchFamily="49" charset="0"/>
              </a:rPr>
              <a:t>SELECT *</a:t>
            </a:r>
            <a:br>
              <a:rPr lang="en-US" altLang="zh-CN">
                <a:latin typeface="Courier New" pitchFamily="49" charset="0"/>
              </a:rPr>
            </a:br>
            <a:r>
              <a:rPr lang="en-US" altLang="zh-CN">
                <a:latin typeface="Courier New" pitchFamily="49" charset="0"/>
              </a:rPr>
              <a:t>  FROM tb1 INNER JOIN tb2 </a:t>
            </a:r>
            <a:br>
              <a:rPr lang="en-US" altLang="zh-CN">
                <a:latin typeface="Courier New" pitchFamily="49" charset="0"/>
              </a:rPr>
            </a:br>
            <a:r>
              <a:rPr lang="en-US" altLang="zh-CN">
                <a:latin typeface="Courier New" pitchFamily="49" charset="0"/>
              </a:rPr>
              <a:t>    ON t1.MEMBER_ID=t2.NAME</a:t>
            </a:r>
            <a:br>
              <a:rPr lang="en-US" altLang="zh-CN">
                <a:latin typeface="Courier New" pitchFamily="49" charset="0"/>
              </a:rPr>
            </a:br>
            <a:r>
              <a:rPr lang="en-US" altLang="zh-CN">
                <a:latin typeface="Courier New" pitchFamily="49" charset="0"/>
              </a:rPr>
              <a:t> WHERE </a:t>
            </a:r>
            <a:r>
              <a:rPr lang="en-US" altLang="zh-CN" b="1">
                <a:latin typeface="Courier New" pitchFamily="49" charset="0"/>
              </a:rPr>
              <a:t>t1.gmt&gt;600</a:t>
            </a:r>
            <a:endParaRPr lang="en-US" altLang="zh-CN">
              <a:latin typeface="Courier New" pitchFamily="49" charset="0"/>
            </a:endParaRPr>
          </a:p>
        </p:txBody>
      </p:sp>
      <p:sp>
        <p:nvSpPr>
          <p:cNvPr id="64515" name="AutoShape 50"/>
          <p:cNvSpPr>
            <a:spLocks noChangeArrowheads="1"/>
          </p:cNvSpPr>
          <p:nvPr/>
        </p:nvSpPr>
        <p:spPr bwMode="auto">
          <a:xfrm>
            <a:off x="4419600" y="3886200"/>
            <a:ext cx="4343400" cy="2057400"/>
          </a:xfrm>
          <a:prstGeom prst="can">
            <a:avLst>
              <a:gd name="adj" fmla="val 10255"/>
            </a:avLst>
          </a:prstGeom>
          <a:solidFill>
            <a:schemeClr val="accent1">
              <a:alpha val="23921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en-US" altLang="zh-CN"/>
          </a:p>
          <a:p>
            <a:pPr algn="ctr"/>
            <a:endParaRPr lang="en-US" altLang="zh-CN"/>
          </a:p>
        </p:txBody>
      </p:sp>
      <p:sp>
        <p:nvSpPr>
          <p:cNvPr id="64516" name="AutoShape 51"/>
          <p:cNvSpPr>
            <a:spLocks noChangeArrowheads="1"/>
          </p:cNvSpPr>
          <p:nvPr/>
        </p:nvSpPr>
        <p:spPr bwMode="auto">
          <a:xfrm>
            <a:off x="4419600" y="1524000"/>
            <a:ext cx="4343400" cy="2057400"/>
          </a:xfrm>
          <a:prstGeom prst="can">
            <a:avLst>
              <a:gd name="adj" fmla="val 10255"/>
            </a:avLst>
          </a:prstGeom>
          <a:solidFill>
            <a:schemeClr val="accent1">
              <a:alpha val="23921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en-US" altLang="zh-CN"/>
          </a:p>
          <a:p>
            <a:pPr algn="ctr"/>
            <a:endParaRPr lang="en-US" altLang="zh-CN"/>
          </a:p>
        </p:txBody>
      </p:sp>
      <p:graphicFrame>
        <p:nvGraphicFramePr>
          <p:cNvPr id="383134" name="Group 158"/>
          <p:cNvGraphicFramePr>
            <a:graphicFrameLocks noGrp="1"/>
          </p:cNvGraphicFramePr>
          <p:nvPr/>
        </p:nvGraphicFramePr>
        <p:xfrm>
          <a:off x="4572000" y="4451350"/>
          <a:ext cx="2419350" cy="1006475"/>
        </p:xfrm>
        <a:graphic>
          <a:graphicData uri="http://schemas.openxmlformats.org/drawingml/2006/table">
            <a:tbl>
              <a:tblPr/>
              <a:tblGrid>
                <a:gridCol w="417513"/>
                <a:gridCol w="1344612"/>
                <a:gridCol w="657225"/>
              </a:tblGrid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MEMBE_ID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GMT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zzzz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525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xyzxyz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1010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83107" name="Group 131"/>
          <p:cNvGraphicFramePr>
            <a:graphicFrameLocks noGrp="1"/>
          </p:cNvGraphicFramePr>
          <p:nvPr/>
        </p:nvGraphicFramePr>
        <p:xfrm>
          <a:off x="7366000" y="4451350"/>
          <a:ext cx="1168400" cy="1341438"/>
        </p:xfrm>
        <a:graphic>
          <a:graphicData uri="http://schemas.openxmlformats.org/drawingml/2006/table">
            <a:tbl>
              <a:tblPr/>
              <a:tblGrid>
                <a:gridCol w="387350"/>
                <a:gridCol w="781050"/>
              </a:tblGrid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NAME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efghijk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aaaa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68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abcd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83129" name="Group 153"/>
          <p:cNvGraphicFramePr>
            <a:graphicFrameLocks noGrp="1"/>
          </p:cNvGraphicFramePr>
          <p:nvPr/>
        </p:nvGraphicFramePr>
        <p:xfrm>
          <a:off x="4572000" y="2089150"/>
          <a:ext cx="2419350" cy="1341438"/>
        </p:xfrm>
        <a:graphic>
          <a:graphicData uri="http://schemas.openxmlformats.org/drawingml/2006/table">
            <a:tbl>
              <a:tblPr/>
              <a:tblGrid>
                <a:gridCol w="430213"/>
                <a:gridCol w="1303337"/>
                <a:gridCol w="685800"/>
              </a:tblGrid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MEMBE_ID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GMT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efghijk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1205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xxxxxx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微软雅黑"/>
                        <a:cs typeface="微软雅黑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131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5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abcd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604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83106" name="Group 130"/>
          <p:cNvGraphicFramePr>
            <a:graphicFrameLocks noGrp="1"/>
          </p:cNvGraphicFramePr>
          <p:nvPr/>
        </p:nvGraphicFramePr>
        <p:xfrm>
          <a:off x="7366000" y="2089150"/>
          <a:ext cx="1168400" cy="1006475"/>
        </p:xfrm>
        <a:graphic>
          <a:graphicData uri="http://schemas.openxmlformats.org/drawingml/2006/table">
            <a:tbl>
              <a:tblPr/>
              <a:tblGrid>
                <a:gridCol w="387350"/>
                <a:gridCol w="781050"/>
              </a:tblGrid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NAME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zzzz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68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xyzxyz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4596" name="Text Box 122"/>
          <p:cNvSpPr txBox="1">
            <a:spLocks noChangeArrowheads="1"/>
          </p:cNvSpPr>
          <p:nvPr/>
        </p:nvSpPr>
        <p:spPr bwMode="auto">
          <a:xfrm>
            <a:off x="5314950" y="1752600"/>
            <a:ext cx="762000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>
                <a:latin typeface="Courier New" pitchFamily="49" charset="0"/>
              </a:rPr>
              <a:t>tb1</a:t>
            </a:r>
          </a:p>
        </p:txBody>
      </p:sp>
      <p:sp>
        <p:nvSpPr>
          <p:cNvPr id="64597" name="Text Box 123"/>
          <p:cNvSpPr txBox="1">
            <a:spLocks noChangeArrowheads="1"/>
          </p:cNvSpPr>
          <p:nvPr/>
        </p:nvSpPr>
        <p:spPr bwMode="auto">
          <a:xfrm>
            <a:off x="5257800" y="4129088"/>
            <a:ext cx="76200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>
                <a:latin typeface="Courier New" pitchFamily="49" charset="0"/>
              </a:rPr>
              <a:t>tb1</a:t>
            </a:r>
          </a:p>
        </p:txBody>
      </p:sp>
      <p:sp>
        <p:nvSpPr>
          <p:cNvPr id="64598" name="Text Box 124"/>
          <p:cNvSpPr txBox="1">
            <a:spLocks noChangeArrowheads="1"/>
          </p:cNvSpPr>
          <p:nvPr/>
        </p:nvSpPr>
        <p:spPr bwMode="auto">
          <a:xfrm>
            <a:off x="7626350" y="4114800"/>
            <a:ext cx="762000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>
                <a:latin typeface="Courier New" pitchFamily="49" charset="0"/>
              </a:rPr>
              <a:t>tb2</a:t>
            </a:r>
          </a:p>
        </p:txBody>
      </p:sp>
      <p:sp>
        <p:nvSpPr>
          <p:cNvPr id="64599" name="Text Box 125"/>
          <p:cNvSpPr txBox="1">
            <a:spLocks noChangeArrowheads="1"/>
          </p:cNvSpPr>
          <p:nvPr/>
        </p:nvSpPr>
        <p:spPr bwMode="auto">
          <a:xfrm>
            <a:off x="7626350" y="1766888"/>
            <a:ext cx="76200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>
                <a:latin typeface="Courier New" pitchFamily="49" charset="0"/>
              </a:rPr>
              <a:t>tb2</a:t>
            </a:r>
          </a:p>
        </p:txBody>
      </p:sp>
      <p:cxnSp>
        <p:nvCxnSpPr>
          <p:cNvPr id="64600" name="AutoShape 126"/>
          <p:cNvCxnSpPr>
            <a:cxnSpLocks noChangeShapeType="1"/>
          </p:cNvCxnSpPr>
          <p:nvPr/>
        </p:nvCxnSpPr>
        <p:spPr bwMode="auto">
          <a:xfrm>
            <a:off x="6991350" y="2592388"/>
            <a:ext cx="374650" cy="2362200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</p:cxnSp>
      <p:cxnSp>
        <p:nvCxnSpPr>
          <p:cNvPr id="64601" name="AutoShape 127"/>
          <p:cNvCxnSpPr>
            <a:cxnSpLocks noChangeShapeType="1"/>
          </p:cNvCxnSpPr>
          <p:nvPr/>
        </p:nvCxnSpPr>
        <p:spPr bwMode="auto">
          <a:xfrm>
            <a:off x="6991350" y="3262313"/>
            <a:ext cx="374650" cy="2362200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</p:cxnSp>
      <p:cxnSp>
        <p:nvCxnSpPr>
          <p:cNvPr id="64602" name="AutoShape 128"/>
          <p:cNvCxnSpPr>
            <a:cxnSpLocks noChangeShapeType="1"/>
          </p:cNvCxnSpPr>
          <p:nvPr/>
        </p:nvCxnSpPr>
        <p:spPr bwMode="auto">
          <a:xfrm flipV="1">
            <a:off x="6991350" y="2592388"/>
            <a:ext cx="374650" cy="2362200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</p:cxnSp>
      <p:cxnSp>
        <p:nvCxnSpPr>
          <p:cNvPr id="64603" name="AutoShape 129"/>
          <p:cNvCxnSpPr>
            <a:cxnSpLocks noChangeShapeType="1"/>
          </p:cNvCxnSpPr>
          <p:nvPr/>
        </p:nvCxnSpPr>
        <p:spPr bwMode="auto">
          <a:xfrm flipV="1">
            <a:off x="6991350" y="2927350"/>
            <a:ext cx="374650" cy="2362200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AutoShape 2"/>
          <p:cNvSpPr>
            <a:spLocks noChangeArrowheads="1"/>
          </p:cNvSpPr>
          <p:nvPr/>
        </p:nvSpPr>
        <p:spPr bwMode="auto">
          <a:xfrm>
            <a:off x="457200" y="4191000"/>
            <a:ext cx="8077200" cy="2057400"/>
          </a:xfrm>
          <a:prstGeom prst="can">
            <a:avLst>
              <a:gd name="adj" fmla="val 10255"/>
            </a:avLst>
          </a:prstGeom>
          <a:solidFill>
            <a:schemeClr val="accent1">
              <a:alpha val="23921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en-US" altLang="zh-CN"/>
          </a:p>
          <a:p>
            <a:pPr algn="ctr"/>
            <a:endParaRPr lang="en-US" altLang="zh-CN"/>
          </a:p>
        </p:txBody>
      </p:sp>
      <p:sp>
        <p:nvSpPr>
          <p:cNvPr id="65538" name="AutoShape 3"/>
          <p:cNvSpPr>
            <a:spLocks noChangeArrowheads="1"/>
          </p:cNvSpPr>
          <p:nvPr/>
        </p:nvSpPr>
        <p:spPr bwMode="auto">
          <a:xfrm>
            <a:off x="457200" y="1981200"/>
            <a:ext cx="8077200" cy="2057400"/>
          </a:xfrm>
          <a:prstGeom prst="can">
            <a:avLst>
              <a:gd name="adj" fmla="val 10255"/>
            </a:avLst>
          </a:prstGeom>
          <a:solidFill>
            <a:schemeClr val="accent1">
              <a:alpha val="23921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en-US" altLang="zh-CN"/>
          </a:p>
          <a:p>
            <a:pPr algn="ctr"/>
            <a:endParaRPr lang="en-US" altLang="zh-CN"/>
          </a:p>
        </p:txBody>
      </p:sp>
      <p:sp>
        <p:nvSpPr>
          <p:cNvPr id="65539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latin typeface="微软雅黑"/>
                <a:ea typeface="微软雅黑"/>
                <a:cs typeface="微软雅黑"/>
              </a:rPr>
              <a:t>跨库索引</a:t>
            </a:r>
          </a:p>
        </p:txBody>
      </p:sp>
      <p:graphicFrame>
        <p:nvGraphicFramePr>
          <p:cNvPr id="385246" name="Group 222"/>
          <p:cNvGraphicFramePr>
            <a:graphicFrameLocks noGrp="1"/>
          </p:cNvGraphicFramePr>
          <p:nvPr/>
        </p:nvGraphicFramePr>
        <p:xfrm>
          <a:off x="3962400" y="4756150"/>
          <a:ext cx="2427288" cy="1006475"/>
        </p:xfrm>
        <a:graphic>
          <a:graphicData uri="http://schemas.openxmlformats.org/drawingml/2006/table">
            <a:tbl>
              <a:tblPr/>
              <a:tblGrid>
                <a:gridCol w="387350"/>
                <a:gridCol w="1244600"/>
                <a:gridCol w="795338"/>
              </a:tblGrid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MEMBE_ID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GMT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zzzz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525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xyzxyz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1010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85213" name="Group 189"/>
          <p:cNvGraphicFramePr>
            <a:graphicFrameLocks noGrp="1"/>
          </p:cNvGraphicFramePr>
          <p:nvPr/>
        </p:nvGraphicFramePr>
        <p:xfrm>
          <a:off x="6750050" y="4756150"/>
          <a:ext cx="1631950" cy="1341438"/>
        </p:xfrm>
        <a:graphic>
          <a:graphicData uri="http://schemas.openxmlformats.org/drawingml/2006/table">
            <a:tbl>
              <a:tblPr/>
              <a:tblGrid>
                <a:gridCol w="387350"/>
                <a:gridCol w="1244600"/>
              </a:tblGrid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NAME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efghijk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aaaa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68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abcd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85251" name="Group 227"/>
          <p:cNvGraphicFramePr>
            <a:graphicFrameLocks noGrp="1"/>
          </p:cNvGraphicFramePr>
          <p:nvPr/>
        </p:nvGraphicFramePr>
        <p:xfrm>
          <a:off x="3962400" y="2514600"/>
          <a:ext cx="2362200" cy="1341438"/>
        </p:xfrm>
        <a:graphic>
          <a:graphicData uri="http://schemas.openxmlformats.org/drawingml/2006/table">
            <a:tbl>
              <a:tblPr/>
              <a:tblGrid>
                <a:gridCol w="401638"/>
                <a:gridCol w="1290637"/>
                <a:gridCol w="669925"/>
              </a:tblGrid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MEMBE_ID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GMT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efghijk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1205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xxxxxx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微软雅黑"/>
                        <a:cs typeface="微软雅黑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131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5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abcd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604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85203" name="Group 179"/>
          <p:cNvGraphicFramePr>
            <a:graphicFrameLocks noGrp="1"/>
          </p:cNvGraphicFramePr>
          <p:nvPr/>
        </p:nvGraphicFramePr>
        <p:xfrm>
          <a:off x="6750050" y="2546350"/>
          <a:ext cx="1631950" cy="1006475"/>
        </p:xfrm>
        <a:graphic>
          <a:graphicData uri="http://schemas.openxmlformats.org/drawingml/2006/table">
            <a:tbl>
              <a:tblPr/>
              <a:tblGrid>
                <a:gridCol w="387350"/>
                <a:gridCol w="1244600"/>
              </a:tblGrid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NAME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zzzz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68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xyzxyz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5619" name="Text Box 75"/>
          <p:cNvSpPr txBox="1">
            <a:spLocks noChangeArrowheads="1"/>
          </p:cNvSpPr>
          <p:nvPr/>
        </p:nvSpPr>
        <p:spPr bwMode="auto">
          <a:xfrm>
            <a:off x="5048250" y="2209800"/>
            <a:ext cx="762000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>
                <a:latin typeface="Courier New" pitchFamily="49" charset="0"/>
              </a:rPr>
              <a:t>tb1</a:t>
            </a:r>
          </a:p>
        </p:txBody>
      </p:sp>
      <p:sp>
        <p:nvSpPr>
          <p:cNvPr id="65620" name="Text Box 76"/>
          <p:cNvSpPr txBox="1">
            <a:spLocks noChangeArrowheads="1"/>
          </p:cNvSpPr>
          <p:nvPr/>
        </p:nvSpPr>
        <p:spPr bwMode="auto">
          <a:xfrm>
            <a:off x="5048250" y="4433888"/>
            <a:ext cx="76200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>
                <a:latin typeface="Courier New" pitchFamily="49" charset="0"/>
              </a:rPr>
              <a:t>tb1</a:t>
            </a:r>
          </a:p>
        </p:txBody>
      </p:sp>
      <p:sp>
        <p:nvSpPr>
          <p:cNvPr id="65621" name="Text Box 77"/>
          <p:cNvSpPr txBox="1">
            <a:spLocks noChangeArrowheads="1"/>
          </p:cNvSpPr>
          <p:nvPr/>
        </p:nvSpPr>
        <p:spPr bwMode="auto">
          <a:xfrm>
            <a:off x="7239000" y="4419600"/>
            <a:ext cx="762000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>
                <a:latin typeface="Courier New" pitchFamily="49" charset="0"/>
              </a:rPr>
              <a:t>tb2</a:t>
            </a:r>
          </a:p>
        </p:txBody>
      </p:sp>
      <p:sp>
        <p:nvSpPr>
          <p:cNvPr id="65622" name="Text Box 78"/>
          <p:cNvSpPr txBox="1">
            <a:spLocks noChangeArrowheads="1"/>
          </p:cNvSpPr>
          <p:nvPr/>
        </p:nvSpPr>
        <p:spPr bwMode="auto">
          <a:xfrm>
            <a:off x="7239000" y="2224088"/>
            <a:ext cx="76200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>
                <a:latin typeface="Courier New" pitchFamily="49" charset="0"/>
              </a:rPr>
              <a:t>tb2</a:t>
            </a:r>
          </a:p>
        </p:txBody>
      </p:sp>
      <p:cxnSp>
        <p:nvCxnSpPr>
          <p:cNvPr id="65623" name="AutoShape 79"/>
          <p:cNvCxnSpPr>
            <a:cxnSpLocks noChangeShapeType="1"/>
          </p:cNvCxnSpPr>
          <p:nvPr/>
        </p:nvCxnSpPr>
        <p:spPr bwMode="auto">
          <a:xfrm>
            <a:off x="6324600" y="3017838"/>
            <a:ext cx="425450" cy="2241550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</p:cxnSp>
      <p:cxnSp>
        <p:nvCxnSpPr>
          <p:cNvPr id="65624" name="AutoShape 80"/>
          <p:cNvCxnSpPr>
            <a:cxnSpLocks noChangeShapeType="1"/>
          </p:cNvCxnSpPr>
          <p:nvPr/>
        </p:nvCxnSpPr>
        <p:spPr bwMode="auto">
          <a:xfrm>
            <a:off x="6324600" y="3687763"/>
            <a:ext cx="425450" cy="2241550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</p:cxnSp>
      <p:cxnSp>
        <p:nvCxnSpPr>
          <p:cNvPr id="65625" name="AutoShape 81"/>
          <p:cNvCxnSpPr>
            <a:cxnSpLocks noChangeShapeType="1"/>
          </p:cNvCxnSpPr>
          <p:nvPr/>
        </p:nvCxnSpPr>
        <p:spPr bwMode="auto">
          <a:xfrm flipV="1">
            <a:off x="6389688" y="3049588"/>
            <a:ext cx="360362" cy="2209800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</p:cxnSp>
      <p:cxnSp>
        <p:nvCxnSpPr>
          <p:cNvPr id="65626" name="AutoShape 82"/>
          <p:cNvCxnSpPr>
            <a:cxnSpLocks noChangeShapeType="1"/>
          </p:cNvCxnSpPr>
          <p:nvPr/>
        </p:nvCxnSpPr>
        <p:spPr bwMode="auto">
          <a:xfrm flipV="1">
            <a:off x="6389688" y="3384550"/>
            <a:ext cx="360362" cy="2209800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</p:cxnSp>
      <p:graphicFrame>
        <p:nvGraphicFramePr>
          <p:cNvPr id="385160" name="Group 136"/>
          <p:cNvGraphicFramePr>
            <a:graphicFrameLocks noGrp="1"/>
          </p:cNvGraphicFramePr>
          <p:nvPr/>
        </p:nvGraphicFramePr>
        <p:xfrm>
          <a:off x="609600" y="4756150"/>
          <a:ext cx="3175000" cy="1006475"/>
        </p:xfrm>
        <a:graphic>
          <a:graphicData uri="http://schemas.openxmlformats.org/drawingml/2006/table">
            <a:tbl>
              <a:tblPr/>
              <a:tblGrid>
                <a:gridCol w="500063"/>
                <a:gridCol w="1244600"/>
                <a:gridCol w="1430337"/>
              </a:tblGrid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JOIN_COL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zzzz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xyzxyz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5647" name="Text Box 103"/>
          <p:cNvSpPr txBox="1">
            <a:spLocks noChangeArrowheads="1"/>
          </p:cNvSpPr>
          <p:nvPr/>
        </p:nvSpPr>
        <p:spPr bwMode="auto">
          <a:xfrm>
            <a:off x="1371600" y="4419600"/>
            <a:ext cx="1447800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>
                <a:latin typeface="Courier New" pitchFamily="49" charset="0"/>
              </a:rPr>
              <a:t>idx</a:t>
            </a:r>
          </a:p>
        </p:txBody>
      </p:sp>
      <p:graphicFrame>
        <p:nvGraphicFramePr>
          <p:cNvPr id="385168" name="Group 144"/>
          <p:cNvGraphicFramePr>
            <a:graphicFrameLocks noGrp="1"/>
          </p:cNvGraphicFramePr>
          <p:nvPr/>
        </p:nvGraphicFramePr>
        <p:xfrm>
          <a:off x="635000" y="2546350"/>
          <a:ext cx="3175000" cy="1006475"/>
        </p:xfrm>
        <a:graphic>
          <a:graphicData uri="http://schemas.openxmlformats.org/drawingml/2006/table">
            <a:tbl>
              <a:tblPr/>
              <a:tblGrid>
                <a:gridCol w="500063"/>
                <a:gridCol w="1244600"/>
                <a:gridCol w="1430337"/>
              </a:tblGrid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JOIN_COL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efghijk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5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6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abcd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5668" name="Text Box 124"/>
          <p:cNvSpPr txBox="1">
            <a:spLocks noChangeArrowheads="1"/>
          </p:cNvSpPr>
          <p:nvPr/>
        </p:nvSpPr>
        <p:spPr bwMode="auto">
          <a:xfrm>
            <a:off x="1397000" y="2209800"/>
            <a:ext cx="1447800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>
                <a:latin typeface="Courier New" pitchFamily="49" charset="0"/>
              </a:rPr>
              <a:t>idx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AutoShape 2"/>
          <p:cNvSpPr>
            <a:spLocks noChangeArrowheads="1"/>
          </p:cNvSpPr>
          <p:nvPr/>
        </p:nvSpPr>
        <p:spPr bwMode="auto">
          <a:xfrm>
            <a:off x="4114800" y="4495800"/>
            <a:ext cx="7696200" cy="2057400"/>
          </a:xfrm>
          <a:prstGeom prst="can">
            <a:avLst>
              <a:gd name="adj" fmla="val 10255"/>
            </a:avLst>
          </a:prstGeom>
          <a:solidFill>
            <a:schemeClr val="accent1">
              <a:alpha val="23921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en-US" altLang="zh-CN"/>
          </a:p>
          <a:p>
            <a:pPr algn="ctr"/>
            <a:endParaRPr lang="en-US" altLang="zh-CN"/>
          </a:p>
        </p:txBody>
      </p:sp>
      <p:sp>
        <p:nvSpPr>
          <p:cNvPr id="66562" name="AutoShape 3"/>
          <p:cNvSpPr>
            <a:spLocks noChangeArrowheads="1"/>
          </p:cNvSpPr>
          <p:nvPr/>
        </p:nvSpPr>
        <p:spPr bwMode="auto">
          <a:xfrm>
            <a:off x="4114800" y="2362200"/>
            <a:ext cx="7696200" cy="2057400"/>
          </a:xfrm>
          <a:prstGeom prst="can">
            <a:avLst>
              <a:gd name="adj" fmla="val 10255"/>
            </a:avLst>
          </a:prstGeom>
          <a:solidFill>
            <a:schemeClr val="accent1">
              <a:alpha val="23921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en-US" altLang="zh-CN"/>
          </a:p>
          <a:p>
            <a:pPr algn="ctr"/>
            <a:endParaRPr lang="en-US" altLang="zh-CN"/>
          </a:p>
        </p:txBody>
      </p:sp>
      <p:graphicFrame>
        <p:nvGraphicFramePr>
          <p:cNvPr id="387077" name="Group 5"/>
          <p:cNvGraphicFramePr>
            <a:graphicFrameLocks noGrp="1"/>
          </p:cNvGraphicFramePr>
          <p:nvPr/>
        </p:nvGraphicFramePr>
        <p:xfrm>
          <a:off x="7943850" y="5060950"/>
          <a:ext cx="1657350" cy="1006475"/>
        </p:xfrm>
        <a:graphic>
          <a:graphicData uri="http://schemas.openxmlformats.org/drawingml/2006/table">
            <a:tbl>
              <a:tblPr/>
              <a:tblGrid>
                <a:gridCol w="412750"/>
                <a:gridCol w="1244600"/>
              </a:tblGrid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MEMBE_ID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zzzz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xyzxyz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87093" name="Group 21"/>
          <p:cNvGraphicFramePr>
            <a:graphicFrameLocks noGrp="1"/>
          </p:cNvGraphicFramePr>
          <p:nvPr/>
        </p:nvGraphicFramePr>
        <p:xfrm>
          <a:off x="10026650" y="5060950"/>
          <a:ext cx="1631950" cy="1341438"/>
        </p:xfrm>
        <a:graphic>
          <a:graphicData uri="http://schemas.openxmlformats.org/drawingml/2006/table">
            <a:tbl>
              <a:tblPr/>
              <a:tblGrid>
                <a:gridCol w="387350"/>
                <a:gridCol w="1244600"/>
              </a:tblGrid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NAME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efghijk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aaaa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68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abcd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87112" name="Group 40"/>
          <p:cNvGraphicFramePr>
            <a:graphicFrameLocks noGrp="1"/>
          </p:cNvGraphicFramePr>
          <p:nvPr/>
        </p:nvGraphicFramePr>
        <p:xfrm>
          <a:off x="7943850" y="2927350"/>
          <a:ext cx="1657350" cy="1341438"/>
        </p:xfrm>
        <a:graphic>
          <a:graphicData uri="http://schemas.openxmlformats.org/drawingml/2006/table">
            <a:tbl>
              <a:tblPr/>
              <a:tblGrid>
                <a:gridCol w="412750"/>
                <a:gridCol w="1244600"/>
              </a:tblGrid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MEMBE_ID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efghijk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xxxxxx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微软雅黑"/>
                        <a:cs typeface="微软雅黑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5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abcd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87131" name="Group 59"/>
          <p:cNvGraphicFramePr>
            <a:graphicFrameLocks noGrp="1"/>
          </p:cNvGraphicFramePr>
          <p:nvPr/>
        </p:nvGraphicFramePr>
        <p:xfrm>
          <a:off x="10026650" y="2927350"/>
          <a:ext cx="1631950" cy="1006475"/>
        </p:xfrm>
        <a:graphic>
          <a:graphicData uri="http://schemas.openxmlformats.org/drawingml/2006/table">
            <a:tbl>
              <a:tblPr/>
              <a:tblGrid>
                <a:gridCol w="387350"/>
                <a:gridCol w="1244600"/>
              </a:tblGrid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NAME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zzzz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68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xyzxyz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6633" name="Text Box 75"/>
          <p:cNvSpPr txBox="1">
            <a:spLocks noChangeArrowheads="1"/>
          </p:cNvSpPr>
          <p:nvPr/>
        </p:nvSpPr>
        <p:spPr bwMode="auto">
          <a:xfrm>
            <a:off x="8324850" y="2590800"/>
            <a:ext cx="762000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>
                <a:latin typeface="Courier New" pitchFamily="49" charset="0"/>
              </a:rPr>
              <a:t>tb1</a:t>
            </a:r>
          </a:p>
        </p:txBody>
      </p:sp>
      <p:sp>
        <p:nvSpPr>
          <p:cNvPr id="66634" name="Text Box 76"/>
          <p:cNvSpPr txBox="1">
            <a:spLocks noChangeArrowheads="1"/>
          </p:cNvSpPr>
          <p:nvPr/>
        </p:nvSpPr>
        <p:spPr bwMode="auto">
          <a:xfrm>
            <a:off x="8324850" y="4738688"/>
            <a:ext cx="76200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>
                <a:latin typeface="Courier New" pitchFamily="49" charset="0"/>
              </a:rPr>
              <a:t>tb1</a:t>
            </a:r>
          </a:p>
        </p:txBody>
      </p:sp>
      <p:sp>
        <p:nvSpPr>
          <p:cNvPr id="66635" name="Text Box 77"/>
          <p:cNvSpPr txBox="1">
            <a:spLocks noChangeArrowheads="1"/>
          </p:cNvSpPr>
          <p:nvPr/>
        </p:nvSpPr>
        <p:spPr bwMode="auto">
          <a:xfrm>
            <a:off x="10515600" y="4724400"/>
            <a:ext cx="762000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>
                <a:latin typeface="Courier New" pitchFamily="49" charset="0"/>
              </a:rPr>
              <a:t>tb2</a:t>
            </a:r>
          </a:p>
        </p:txBody>
      </p:sp>
      <p:sp>
        <p:nvSpPr>
          <p:cNvPr id="66636" name="Text Box 78"/>
          <p:cNvSpPr txBox="1">
            <a:spLocks noChangeArrowheads="1"/>
          </p:cNvSpPr>
          <p:nvPr/>
        </p:nvSpPr>
        <p:spPr bwMode="auto">
          <a:xfrm>
            <a:off x="10515600" y="2605088"/>
            <a:ext cx="76200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>
                <a:latin typeface="Courier New" pitchFamily="49" charset="0"/>
              </a:rPr>
              <a:t>tb2</a:t>
            </a:r>
          </a:p>
        </p:txBody>
      </p:sp>
      <p:cxnSp>
        <p:nvCxnSpPr>
          <p:cNvPr id="66637" name="AutoShape 79"/>
          <p:cNvCxnSpPr>
            <a:cxnSpLocks noChangeShapeType="1"/>
          </p:cNvCxnSpPr>
          <p:nvPr/>
        </p:nvCxnSpPr>
        <p:spPr bwMode="auto">
          <a:xfrm>
            <a:off x="9601200" y="3430588"/>
            <a:ext cx="425450" cy="2133600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</p:cxnSp>
      <p:cxnSp>
        <p:nvCxnSpPr>
          <p:cNvPr id="66638" name="AutoShape 80"/>
          <p:cNvCxnSpPr>
            <a:cxnSpLocks noChangeShapeType="1"/>
          </p:cNvCxnSpPr>
          <p:nvPr/>
        </p:nvCxnSpPr>
        <p:spPr bwMode="auto">
          <a:xfrm>
            <a:off x="9601200" y="4100513"/>
            <a:ext cx="425450" cy="2133600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</p:cxnSp>
      <p:cxnSp>
        <p:nvCxnSpPr>
          <p:cNvPr id="66639" name="AutoShape 81"/>
          <p:cNvCxnSpPr>
            <a:cxnSpLocks noChangeShapeType="1"/>
          </p:cNvCxnSpPr>
          <p:nvPr/>
        </p:nvCxnSpPr>
        <p:spPr bwMode="auto">
          <a:xfrm flipV="1">
            <a:off x="9601200" y="3430588"/>
            <a:ext cx="425450" cy="2133600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</p:cxnSp>
      <p:cxnSp>
        <p:nvCxnSpPr>
          <p:cNvPr id="66640" name="AutoShape 82"/>
          <p:cNvCxnSpPr>
            <a:cxnSpLocks noChangeShapeType="1"/>
          </p:cNvCxnSpPr>
          <p:nvPr/>
        </p:nvCxnSpPr>
        <p:spPr bwMode="auto">
          <a:xfrm flipV="1">
            <a:off x="9601200" y="3765550"/>
            <a:ext cx="425450" cy="2133600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</p:cxnSp>
      <p:graphicFrame>
        <p:nvGraphicFramePr>
          <p:cNvPr id="387155" name="Group 83"/>
          <p:cNvGraphicFramePr>
            <a:graphicFrameLocks noGrp="1"/>
          </p:cNvGraphicFramePr>
          <p:nvPr/>
        </p:nvGraphicFramePr>
        <p:xfrm>
          <a:off x="4419600" y="5060950"/>
          <a:ext cx="3175000" cy="1006475"/>
        </p:xfrm>
        <a:graphic>
          <a:graphicData uri="http://schemas.openxmlformats.org/drawingml/2006/table">
            <a:tbl>
              <a:tblPr/>
              <a:tblGrid>
                <a:gridCol w="500063"/>
                <a:gridCol w="1244600"/>
                <a:gridCol w="1430337"/>
              </a:tblGrid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JOIN_COL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zzzz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xyzxyz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6661" name="Text Box 103"/>
          <p:cNvSpPr txBox="1">
            <a:spLocks noChangeArrowheads="1"/>
          </p:cNvSpPr>
          <p:nvPr/>
        </p:nvSpPr>
        <p:spPr bwMode="auto">
          <a:xfrm>
            <a:off x="5181600" y="4724400"/>
            <a:ext cx="1447800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>
                <a:latin typeface="Courier New" pitchFamily="49" charset="0"/>
              </a:rPr>
              <a:t>idx</a:t>
            </a:r>
          </a:p>
        </p:txBody>
      </p:sp>
      <p:graphicFrame>
        <p:nvGraphicFramePr>
          <p:cNvPr id="387176" name="Group 104"/>
          <p:cNvGraphicFramePr>
            <a:graphicFrameLocks noGrp="1"/>
          </p:cNvGraphicFramePr>
          <p:nvPr/>
        </p:nvGraphicFramePr>
        <p:xfrm>
          <a:off x="4419600" y="2927350"/>
          <a:ext cx="3175000" cy="1006475"/>
        </p:xfrm>
        <a:graphic>
          <a:graphicData uri="http://schemas.openxmlformats.org/drawingml/2006/table">
            <a:tbl>
              <a:tblPr/>
              <a:tblGrid>
                <a:gridCol w="500063"/>
                <a:gridCol w="1244600"/>
                <a:gridCol w="1430337"/>
              </a:tblGrid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JOIN_COL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efghijk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5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6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abcd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6682" name="Text Box 124"/>
          <p:cNvSpPr txBox="1">
            <a:spLocks noChangeArrowheads="1"/>
          </p:cNvSpPr>
          <p:nvPr/>
        </p:nvSpPr>
        <p:spPr bwMode="auto">
          <a:xfrm>
            <a:off x="5181600" y="2590800"/>
            <a:ext cx="1447800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>
                <a:latin typeface="Courier New" pitchFamily="49" charset="0"/>
              </a:rPr>
              <a:t>idx</a:t>
            </a:r>
          </a:p>
        </p:txBody>
      </p:sp>
      <p:sp>
        <p:nvSpPr>
          <p:cNvPr id="66683" name="Rectangle 125"/>
          <p:cNvSpPr>
            <a:spLocks/>
          </p:cNvSpPr>
          <p:nvPr/>
        </p:nvSpPr>
        <p:spPr bwMode="auto">
          <a:xfrm>
            <a:off x="685800" y="2971800"/>
            <a:ext cx="3657600" cy="1219200"/>
          </a:xfrm>
          <a:prstGeom prst="rect">
            <a:avLst/>
          </a:prstGeom>
          <a:solidFill>
            <a:srgbClr val="333399"/>
          </a:solidFill>
          <a:ln w="25400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altLang="zh-CN" b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SELECT idx.id2, tb1.*</a:t>
            </a:r>
            <a:br>
              <a:rPr lang="en-US" altLang="zh-CN" b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altLang="zh-CN" b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FROM idx INNER JOIN tb1</a:t>
            </a:r>
            <a:br>
              <a:rPr lang="en-US" altLang="zh-CN" b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altLang="zh-CN" b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  ON idx.id1=tb1.id</a:t>
            </a:r>
            <a:br>
              <a:rPr lang="en-US" altLang="zh-CN" b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altLang="zh-CN" b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WHERE t1.gmt&gt;600</a:t>
            </a:r>
          </a:p>
        </p:txBody>
      </p:sp>
      <p:sp>
        <p:nvSpPr>
          <p:cNvPr id="66684" name="Rectangle 126"/>
          <p:cNvSpPr>
            <a:spLocks/>
          </p:cNvSpPr>
          <p:nvPr/>
        </p:nvSpPr>
        <p:spPr bwMode="auto">
          <a:xfrm>
            <a:off x="685800" y="5105400"/>
            <a:ext cx="3657600" cy="1219200"/>
          </a:xfrm>
          <a:prstGeom prst="rect">
            <a:avLst/>
          </a:prstGeom>
          <a:solidFill>
            <a:srgbClr val="333399"/>
          </a:solidFill>
          <a:ln w="25400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altLang="zh-CN" b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SELECT idx.id2, tb1.*</a:t>
            </a:r>
            <a:r>
              <a:rPr lang="en-US" altLang="zh-CN" b="1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b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/>
            </a:r>
            <a:br>
              <a:rPr lang="en-US" altLang="zh-CN" b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altLang="zh-CN" b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FROM idx INNER JOIN tb1</a:t>
            </a:r>
            <a:br>
              <a:rPr lang="en-US" altLang="zh-CN" b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altLang="zh-CN" b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  ON idx.id1=tb1.id</a:t>
            </a:r>
            <a:br>
              <a:rPr lang="en-US" altLang="zh-CN" b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altLang="zh-CN" b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WHERE t1.gmt&gt;600</a:t>
            </a:r>
          </a:p>
        </p:txBody>
      </p:sp>
      <p:sp>
        <p:nvSpPr>
          <p:cNvPr id="66685" name="Text Box 127"/>
          <p:cNvSpPr txBox="1">
            <a:spLocks noChangeArrowheads="1"/>
          </p:cNvSpPr>
          <p:nvPr/>
        </p:nvSpPr>
        <p:spPr bwMode="auto">
          <a:xfrm>
            <a:off x="609600" y="1247775"/>
            <a:ext cx="4114800" cy="11906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latin typeface="Courier New" pitchFamily="49" charset="0"/>
              </a:rPr>
              <a:t>SELECT *</a:t>
            </a:r>
            <a:br>
              <a:rPr lang="en-US" altLang="zh-CN">
                <a:latin typeface="Courier New" pitchFamily="49" charset="0"/>
              </a:rPr>
            </a:br>
            <a:r>
              <a:rPr lang="en-US" altLang="zh-CN">
                <a:latin typeface="Courier New" pitchFamily="49" charset="0"/>
              </a:rPr>
              <a:t>  FROM tb1 INNER JOIN tb2 </a:t>
            </a:r>
            <a:br>
              <a:rPr lang="en-US" altLang="zh-CN">
                <a:latin typeface="Courier New" pitchFamily="49" charset="0"/>
              </a:rPr>
            </a:br>
            <a:r>
              <a:rPr lang="en-US" altLang="zh-CN">
                <a:latin typeface="Courier New" pitchFamily="49" charset="0"/>
              </a:rPr>
              <a:t>    ON t1.MEMBER_ID=t2.NAME</a:t>
            </a:r>
            <a:br>
              <a:rPr lang="en-US" altLang="zh-CN">
                <a:latin typeface="Courier New" pitchFamily="49" charset="0"/>
              </a:rPr>
            </a:br>
            <a:r>
              <a:rPr lang="en-US" altLang="zh-CN">
                <a:latin typeface="Courier New" pitchFamily="49" charset="0"/>
              </a:rPr>
              <a:t> WHERE </a:t>
            </a:r>
            <a:r>
              <a:rPr lang="en-US" altLang="zh-CN" b="1">
                <a:latin typeface="Courier New" pitchFamily="49" charset="0"/>
              </a:rPr>
              <a:t>t1.gmt&gt;600</a:t>
            </a:r>
            <a:endParaRPr lang="en-US" altLang="zh-CN">
              <a:latin typeface="Courier New" pitchFamily="49" charset="0"/>
            </a:endParaRPr>
          </a:p>
        </p:txBody>
      </p:sp>
      <p:cxnSp>
        <p:nvCxnSpPr>
          <p:cNvPr id="66686" name="AutoShape 128"/>
          <p:cNvCxnSpPr>
            <a:cxnSpLocks noChangeShapeType="1"/>
            <a:stCxn id="66685" idx="1"/>
            <a:endCxn id="66683" idx="1"/>
          </p:cNvCxnSpPr>
          <p:nvPr/>
        </p:nvCxnSpPr>
        <p:spPr bwMode="auto">
          <a:xfrm rot="10800000" flipH="1" flipV="1">
            <a:off x="609600" y="1843088"/>
            <a:ext cx="76200" cy="1738312"/>
          </a:xfrm>
          <a:prstGeom prst="bentConnector3">
            <a:avLst>
              <a:gd name="adj1" fmla="val -300000"/>
            </a:avLst>
          </a:prstGeom>
          <a:noFill/>
          <a:ln w="25400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66687" name="AutoShape 129"/>
          <p:cNvCxnSpPr>
            <a:cxnSpLocks noChangeShapeType="1"/>
            <a:stCxn id="66685" idx="1"/>
            <a:endCxn id="66684" idx="1"/>
          </p:cNvCxnSpPr>
          <p:nvPr/>
        </p:nvCxnSpPr>
        <p:spPr bwMode="auto">
          <a:xfrm rot="10800000" flipH="1" flipV="1">
            <a:off x="609600" y="1843088"/>
            <a:ext cx="76200" cy="3871912"/>
          </a:xfrm>
          <a:prstGeom prst="bentConnector3">
            <a:avLst>
              <a:gd name="adj1" fmla="val -300000"/>
            </a:avLst>
          </a:prstGeom>
          <a:noFill/>
          <a:ln w="25400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66688" name="Rectangle 13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ea typeface="微软雅黑"/>
                <a:cs typeface="Courier New" pitchFamily="49" charset="0"/>
              </a:rPr>
              <a:t>跨库索引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ea typeface="微软雅黑"/>
                <a:cs typeface="微软雅黑"/>
              </a:rPr>
              <a:t>跨库索引</a:t>
            </a:r>
          </a:p>
        </p:txBody>
      </p:sp>
      <p:sp>
        <p:nvSpPr>
          <p:cNvPr id="67586" name="AutoShape 4"/>
          <p:cNvSpPr>
            <a:spLocks noChangeArrowheads="1"/>
          </p:cNvSpPr>
          <p:nvPr/>
        </p:nvSpPr>
        <p:spPr bwMode="auto">
          <a:xfrm>
            <a:off x="4191000" y="4191000"/>
            <a:ext cx="4800600" cy="2057400"/>
          </a:xfrm>
          <a:prstGeom prst="can">
            <a:avLst>
              <a:gd name="adj" fmla="val 10255"/>
            </a:avLst>
          </a:prstGeom>
          <a:solidFill>
            <a:schemeClr val="accent1">
              <a:alpha val="23921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en-US" altLang="zh-CN"/>
          </a:p>
          <a:p>
            <a:pPr algn="ctr"/>
            <a:endParaRPr lang="en-US" altLang="zh-CN"/>
          </a:p>
        </p:txBody>
      </p:sp>
      <p:sp>
        <p:nvSpPr>
          <p:cNvPr id="67587" name="AutoShape 5"/>
          <p:cNvSpPr>
            <a:spLocks noChangeArrowheads="1"/>
          </p:cNvSpPr>
          <p:nvPr/>
        </p:nvSpPr>
        <p:spPr bwMode="auto">
          <a:xfrm>
            <a:off x="4191000" y="1828800"/>
            <a:ext cx="4800600" cy="2057400"/>
          </a:xfrm>
          <a:prstGeom prst="can">
            <a:avLst>
              <a:gd name="adj" fmla="val 10255"/>
            </a:avLst>
          </a:prstGeom>
          <a:solidFill>
            <a:schemeClr val="accent1">
              <a:alpha val="23921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en-US" altLang="zh-CN"/>
          </a:p>
          <a:p>
            <a:pPr algn="ctr"/>
            <a:endParaRPr lang="en-US" altLang="zh-CN"/>
          </a:p>
        </p:txBody>
      </p:sp>
      <p:graphicFrame>
        <p:nvGraphicFramePr>
          <p:cNvPr id="388102" name="Group 6"/>
          <p:cNvGraphicFramePr>
            <a:graphicFrameLocks noGrp="1"/>
          </p:cNvGraphicFramePr>
          <p:nvPr/>
        </p:nvGraphicFramePr>
        <p:xfrm>
          <a:off x="4343400" y="4756150"/>
          <a:ext cx="2419350" cy="1006475"/>
        </p:xfrm>
        <a:graphic>
          <a:graphicData uri="http://schemas.openxmlformats.org/drawingml/2006/table">
            <a:tbl>
              <a:tblPr/>
              <a:tblGrid>
                <a:gridCol w="417513"/>
                <a:gridCol w="1344612"/>
                <a:gridCol w="657225"/>
              </a:tblGrid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MEMBE_ID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GMT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zzzz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525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xyzxyz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1010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88238" name="Group 142"/>
          <p:cNvGraphicFramePr>
            <a:graphicFrameLocks noGrp="1"/>
          </p:cNvGraphicFramePr>
          <p:nvPr/>
        </p:nvGraphicFramePr>
        <p:xfrm>
          <a:off x="7010400" y="4756150"/>
          <a:ext cx="1838325" cy="1341438"/>
        </p:xfrm>
        <a:graphic>
          <a:graphicData uri="http://schemas.openxmlformats.org/drawingml/2006/table">
            <a:tbl>
              <a:tblPr/>
              <a:tblGrid>
                <a:gridCol w="387350"/>
                <a:gridCol w="781050"/>
                <a:gridCol w="669925"/>
              </a:tblGrid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NAME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TIME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efghijk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123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aaaa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922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68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abcd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222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88141" name="Group 45"/>
          <p:cNvGraphicFramePr>
            <a:graphicFrameLocks noGrp="1"/>
          </p:cNvGraphicFramePr>
          <p:nvPr/>
        </p:nvGraphicFramePr>
        <p:xfrm>
          <a:off x="4343400" y="2393950"/>
          <a:ext cx="2419350" cy="1341438"/>
        </p:xfrm>
        <a:graphic>
          <a:graphicData uri="http://schemas.openxmlformats.org/drawingml/2006/table">
            <a:tbl>
              <a:tblPr/>
              <a:tblGrid>
                <a:gridCol w="430213"/>
                <a:gridCol w="1303337"/>
                <a:gridCol w="685800"/>
              </a:tblGrid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MEMBE_ID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GMT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efghijk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1205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xxxxxx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微软雅黑"/>
                        <a:cs typeface="微软雅黑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131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5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abcd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604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88236" name="Group 140"/>
          <p:cNvGraphicFramePr>
            <a:graphicFrameLocks noGrp="1"/>
          </p:cNvGraphicFramePr>
          <p:nvPr/>
        </p:nvGraphicFramePr>
        <p:xfrm>
          <a:off x="7010400" y="2393950"/>
          <a:ext cx="1838325" cy="1006475"/>
        </p:xfrm>
        <a:graphic>
          <a:graphicData uri="http://schemas.openxmlformats.org/drawingml/2006/table">
            <a:tbl>
              <a:tblPr/>
              <a:tblGrid>
                <a:gridCol w="387350"/>
                <a:gridCol w="781050"/>
                <a:gridCol w="669925"/>
              </a:tblGrid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NAME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TIME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zzzz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1201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68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xyzxyz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1111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7676" name="Text Box 85"/>
          <p:cNvSpPr txBox="1">
            <a:spLocks noChangeArrowheads="1"/>
          </p:cNvSpPr>
          <p:nvPr/>
        </p:nvSpPr>
        <p:spPr bwMode="auto">
          <a:xfrm>
            <a:off x="5086350" y="2057400"/>
            <a:ext cx="762000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>
                <a:latin typeface="Courier New" pitchFamily="49" charset="0"/>
              </a:rPr>
              <a:t>tb1</a:t>
            </a:r>
          </a:p>
        </p:txBody>
      </p:sp>
      <p:sp>
        <p:nvSpPr>
          <p:cNvPr id="67677" name="Text Box 86"/>
          <p:cNvSpPr txBox="1">
            <a:spLocks noChangeArrowheads="1"/>
          </p:cNvSpPr>
          <p:nvPr/>
        </p:nvSpPr>
        <p:spPr bwMode="auto">
          <a:xfrm>
            <a:off x="5029200" y="4433888"/>
            <a:ext cx="76200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>
                <a:latin typeface="Courier New" pitchFamily="49" charset="0"/>
              </a:rPr>
              <a:t>tb1</a:t>
            </a:r>
          </a:p>
        </p:txBody>
      </p:sp>
      <p:sp>
        <p:nvSpPr>
          <p:cNvPr id="67678" name="Text Box 87"/>
          <p:cNvSpPr txBox="1">
            <a:spLocks noChangeArrowheads="1"/>
          </p:cNvSpPr>
          <p:nvPr/>
        </p:nvSpPr>
        <p:spPr bwMode="auto">
          <a:xfrm>
            <a:off x="7575550" y="4419600"/>
            <a:ext cx="762000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>
                <a:latin typeface="Courier New" pitchFamily="49" charset="0"/>
              </a:rPr>
              <a:t>tb2</a:t>
            </a:r>
          </a:p>
        </p:txBody>
      </p:sp>
      <p:sp>
        <p:nvSpPr>
          <p:cNvPr id="67679" name="Text Box 88"/>
          <p:cNvSpPr txBox="1">
            <a:spLocks noChangeArrowheads="1"/>
          </p:cNvSpPr>
          <p:nvPr/>
        </p:nvSpPr>
        <p:spPr bwMode="auto">
          <a:xfrm>
            <a:off x="7575550" y="2071688"/>
            <a:ext cx="76200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>
                <a:latin typeface="Courier New" pitchFamily="49" charset="0"/>
              </a:rPr>
              <a:t>tb2</a:t>
            </a:r>
          </a:p>
        </p:txBody>
      </p:sp>
      <p:cxnSp>
        <p:nvCxnSpPr>
          <p:cNvPr id="67680" name="AutoShape 89"/>
          <p:cNvCxnSpPr>
            <a:cxnSpLocks noChangeShapeType="1"/>
          </p:cNvCxnSpPr>
          <p:nvPr/>
        </p:nvCxnSpPr>
        <p:spPr bwMode="auto">
          <a:xfrm>
            <a:off x="6762750" y="2897188"/>
            <a:ext cx="247650" cy="2362200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</p:cxnSp>
      <p:cxnSp>
        <p:nvCxnSpPr>
          <p:cNvPr id="67681" name="AutoShape 90"/>
          <p:cNvCxnSpPr>
            <a:cxnSpLocks noChangeShapeType="1"/>
          </p:cNvCxnSpPr>
          <p:nvPr/>
        </p:nvCxnSpPr>
        <p:spPr bwMode="auto">
          <a:xfrm>
            <a:off x="6762750" y="3567113"/>
            <a:ext cx="247650" cy="2362200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</p:cxnSp>
      <p:cxnSp>
        <p:nvCxnSpPr>
          <p:cNvPr id="67682" name="AutoShape 91"/>
          <p:cNvCxnSpPr>
            <a:cxnSpLocks noChangeShapeType="1"/>
          </p:cNvCxnSpPr>
          <p:nvPr/>
        </p:nvCxnSpPr>
        <p:spPr bwMode="auto">
          <a:xfrm flipV="1">
            <a:off x="6762750" y="2897188"/>
            <a:ext cx="247650" cy="2362200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</p:cxnSp>
      <p:cxnSp>
        <p:nvCxnSpPr>
          <p:cNvPr id="67683" name="AutoShape 92"/>
          <p:cNvCxnSpPr>
            <a:cxnSpLocks noChangeShapeType="1"/>
          </p:cNvCxnSpPr>
          <p:nvPr/>
        </p:nvCxnSpPr>
        <p:spPr bwMode="auto">
          <a:xfrm flipV="1">
            <a:off x="6762750" y="3232150"/>
            <a:ext cx="247650" cy="2362200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</p:cxnSp>
      <p:sp>
        <p:nvSpPr>
          <p:cNvPr id="67684" name="Text Box 134"/>
          <p:cNvSpPr txBox="1">
            <a:spLocks noChangeArrowheads="1"/>
          </p:cNvSpPr>
          <p:nvPr/>
        </p:nvSpPr>
        <p:spPr bwMode="auto">
          <a:xfrm>
            <a:off x="228600" y="1828800"/>
            <a:ext cx="4114800" cy="14652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latin typeface="Courier New" pitchFamily="49" charset="0"/>
              </a:rPr>
              <a:t>SELECT *</a:t>
            </a:r>
            <a:br>
              <a:rPr lang="en-US" altLang="zh-CN">
                <a:latin typeface="Courier New" pitchFamily="49" charset="0"/>
              </a:rPr>
            </a:br>
            <a:r>
              <a:rPr lang="en-US" altLang="zh-CN">
                <a:latin typeface="Courier New" pitchFamily="49" charset="0"/>
              </a:rPr>
              <a:t>  FROM tb1 INNER JOIN tb2 </a:t>
            </a:r>
            <a:br>
              <a:rPr lang="en-US" altLang="zh-CN">
                <a:latin typeface="Courier New" pitchFamily="49" charset="0"/>
              </a:rPr>
            </a:br>
            <a:r>
              <a:rPr lang="en-US" altLang="zh-CN">
                <a:latin typeface="Courier New" pitchFamily="49" charset="0"/>
              </a:rPr>
              <a:t>    ON t1.MEMBER_ID=t2.NAME</a:t>
            </a:r>
            <a:br>
              <a:rPr lang="en-US" altLang="zh-CN">
                <a:latin typeface="Courier New" pitchFamily="49" charset="0"/>
              </a:rPr>
            </a:br>
            <a:r>
              <a:rPr lang="en-US" altLang="zh-CN">
                <a:latin typeface="Courier New" pitchFamily="49" charset="0"/>
              </a:rPr>
              <a:t> WHERE t1.gmt&gt;600 </a:t>
            </a:r>
            <a:br>
              <a:rPr lang="en-US" altLang="zh-CN">
                <a:latin typeface="Courier New" pitchFamily="49" charset="0"/>
              </a:rPr>
            </a:br>
            <a:r>
              <a:rPr lang="en-US" altLang="zh-CN">
                <a:latin typeface="Courier New" pitchFamily="49" charset="0"/>
              </a:rPr>
              <a:t>   AND </a:t>
            </a:r>
            <a:r>
              <a:rPr lang="en-US" altLang="zh-CN" b="1">
                <a:latin typeface="Courier New" pitchFamily="49" charset="0"/>
              </a:rPr>
              <a:t>t2.time</a:t>
            </a:r>
            <a:r>
              <a:rPr lang="en-US" altLang="zh-CN">
                <a:latin typeface="Courier New" pitchFamily="49" charset="0"/>
              </a:rPr>
              <a:t>&gt;600</a:t>
            </a:r>
          </a:p>
        </p:txBody>
      </p:sp>
      <p:graphicFrame>
        <p:nvGraphicFramePr>
          <p:cNvPr id="388279" name="Group 183"/>
          <p:cNvGraphicFramePr>
            <a:graphicFrameLocks noGrp="1"/>
          </p:cNvGraphicFramePr>
          <p:nvPr/>
        </p:nvGraphicFramePr>
        <p:xfrm>
          <a:off x="668338" y="4298950"/>
          <a:ext cx="2760662" cy="1371600"/>
        </p:xfrm>
        <a:graphic>
          <a:graphicData uri="http://schemas.openxmlformats.org/drawingml/2006/table">
            <a:tbl>
              <a:tblPr/>
              <a:tblGrid>
                <a:gridCol w="500062"/>
                <a:gridCol w="500063"/>
                <a:gridCol w="998537"/>
                <a:gridCol w="762000"/>
              </a:tblGrid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JOIN_COL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TIME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zzzz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1201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xyzxyz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1111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7709" name="Text Box 163"/>
          <p:cNvSpPr txBox="1">
            <a:spLocks noChangeArrowheads="1"/>
          </p:cNvSpPr>
          <p:nvPr/>
        </p:nvSpPr>
        <p:spPr bwMode="auto">
          <a:xfrm>
            <a:off x="1430338" y="3962400"/>
            <a:ext cx="1447800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>
                <a:latin typeface="Courier New" pitchFamily="49" charset="0"/>
              </a:rPr>
              <a:t>idx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AutoShape 2"/>
          <p:cNvSpPr>
            <a:spLocks noChangeArrowheads="1"/>
          </p:cNvSpPr>
          <p:nvPr/>
        </p:nvSpPr>
        <p:spPr bwMode="auto">
          <a:xfrm>
            <a:off x="5181600" y="3962400"/>
            <a:ext cx="3505200" cy="2057400"/>
          </a:xfrm>
          <a:prstGeom prst="can">
            <a:avLst>
              <a:gd name="adj" fmla="val 10255"/>
            </a:avLst>
          </a:prstGeom>
          <a:solidFill>
            <a:schemeClr val="accent1">
              <a:alpha val="23921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en-US" altLang="zh-CN"/>
          </a:p>
          <a:p>
            <a:pPr algn="ctr"/>
            <a:endParaRPr lang="en-US" altLang="zh-CN"/>
          </a:p>
        </p:txBody>
      </p:sp>
      <p:sp>
        <p:nvSpPr>
          <p:cNvPr id="68610" name="AutoShape 3"/>
          <p:cNvSpPr>
            <a:spLocks noChangeArrowheads="1"/>
          </p:cNvSpPr>
          <p:nvPr/>
        </p:nvSpPr>
        <p:spPr bwMode="auto">
          <a:xfrm>
            <a:off x="5181600" y="1752600"/>
            <a:ext cx="3505200" cy="2057400"/>
          </a:xfrm>
          <a:prstGeom prst="can">
            <a:avLst>
              <a:gd name="adj" fmla="val 10255"/>
            </a:avLst>
          </a:prstGeom>
          <a:solidFill>
            <a:schemeClr val="accent1">
              <a:alpha val="23921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en-US" altLang="zh-CN"/>
          </a:p>
          <a:p>
            <a:pPr algn="ctr"/>
            <a:endParaRPr lang="en-US" altLang="zh-CN"/>
          </a:p>
        </p:txBody>
      </p:sp>
      <p:sp>
        <p:nvSpPr>
          <p:cNvPr id="68611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latin typeface="微软雅黑"/>
                <a:ea typeface="微软雅黑"/>
                <a:cs typeface="微软雅黑"/>
              </a:rPr>
              <a:t>跨库索引</a:t>
            </a:r>
          </a:p>
        </p:txBody>
      </p:sp>
      <p:graphicFrame>
        <p:nvGraphicFramePr>
          <p:cNvPr id="380159" name="Group 255"/>
          <p:cNvGraphicFramePr>
            <a:graphicFrameLocks noGrp="1"/>
          </p:cNvGraphicFramePr>
          <p:nvPr/>
        </p:nvGraphicFramePr>
        <p:xfrm>
          <a:off x="5410200" y="4633913"/>
          <a:ext cx="3048000" cy="1006475"/>
        </p:xfrm>
        <a:graphic>
          <a:graphicData uri="http://schemas.openxmlformats.org/drawingml/2006/table">
            <a:tbl>
              <a:tblPr/>
              <a:tblGrid>
                <a:gridCol w="520700"/>
                <a:gridCol w="522288"/>
                <a:gridCol w="1250950"/>
                <a:gridCol w="754062"/>
              </a:tblGrid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JOIN_COL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TIME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zzzz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1201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xyzxyz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1111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8636" name="Text Box 103"/>
          <p:cNvSpPr txBox="1">
            <a:spLocks noChangeArrowheads="1"/>
          </p:cNvSpPr>
          <p:nvPr/>
        </p:nvSpPr>
        <p:spPr bwMode="auto">
          <a:xfrm>
            <a:off x="6096000" y="4221163"/>
            <a:ext cx="144780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>
                <a:latin typeface="Courier New" pitchFamily="49" charset="0"/>
              </a:rPr>
              <a:t>idx</a:t>
            </a:r>
          </a:p>
        </p:txBody>
      </p:sp>
      <p:graphicFrame>
        <p:nvGraphicFramePr>
          <p:cNvPr id="380153" name="Group 249"/>
          <p:cNvGraphicFramePr>
            <a:graphicFrameLocks noGrp="1"/>
          </p:cNvGraphicFramePr>
          <p:nvPr/>
        </p:nvGraphicFramePr>
        <p:xfrm>
          <a:off x="5386388" y="2347913"/>
          <a:ext cx="3071812" cy="1006475"/>
        </p:xfrm>
        <a:graphic>
          <a:graphicData uri="http://schemas.openxmlformats.org/drawingml/2006/table">
            <a:tbl>
              <a:tblPr/>
              <a:tblGrid>
                <a:gridCol w="609600"/>
                <a:gridCol w="500062"/>
                <a:gridCol w="1200150"/>
                <a:gridCol w="762000"/>
              </a:tblGrid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JOIN_COL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TIME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efghijk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123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5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6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abcd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222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8661" name="Text Box 124"/>
          <p:cNvSpPr txBox="1">
            <a:spLocks noChangeArrowheads="1"/>
          </p:cNvSpPr>
          <p:nvPr/>
        </p:nvSpPr>
        <p:spPr bwMode="auto">
          <a:xfrm>
            <a:off x="6096000" y="1981200"/>
            <a:ext cx="1447800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>
                <a:latin typeface="Courier New" pitchFamily="49" charset="0"/>
              </a:rPr>
              <a:t>idx</a:t>
            </a:r>
          </a:p>
        </p:txBody>
      </p:sp>
      <p:sp>
        <p:nvSpPr>
          <p:cNvPr id="68662" name="Rectangle 182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4495800" cy="5029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mtClean="0">
                <a:latin typeface="微软雅黑"/>
                <a:ea typeface="微软雅黑"/>
                <a:cs typeface="Courier New" pitchFamily="49" charset="0"/>
              </a:rPr>
              <a:t>索引表的拆分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mtClean="0">
                <a:latin typeface="宋体" charset="-122"/>
                <a:ea typeface="微软雅黑"/>
                <a:cs typeface="Courier New" pitchFamily="49" charset="0"/>
              </a:rPr>
              <a:t>WHERE</a:t>
            </a:r>
            <a:r>
              <a:rPr lang="zh-CN" altLang="en-US" smtClean="0">
                <a:latin typeface="宋体" charset="-122"/>
                <a:ea typeface="微软雅黑"/>
                <a:cs typeface="Courier New" pitchFamily="49" charset="0"/>
              </a:rPr>
              <a:t>条件中的字段所在表的拆分字段，作为索引拆分字段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mtClean="0">
                <a:latin typeface="微软雅黑"/>
                <a:ea typeface="微软雅黑"/>
                <a:cs typeface="Courier New" pitchFamily="49" charset="0"/>
              </a:rPr>
              <a:t>索引包含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mtClean="0">
                <a:latin typeface="宋体" charset="-122"/>
                <a:cs typeface="Courier New" pitchFamily="49" charset="0"/>
              </a:rPr>
              <a:t>两张表的主键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mtClean="0">
                <a:latin typeface="宋体" charset="-122"/>
                <a:cs typeface="Courier New" pitchFamily="49" charset="0"/>
              </a:rPr>
              <a:t>JOIN</a:t>
            </a:r>
            <a:r>
              <a:rPr lang="zh-CN" altLang="en-US" smtClean="0">
                <a:latin typeface="宋体" charset="-122"/>
                <a:cs typeface="Courier New" pitchFamily="49" charset="0"/>
              </a:rPr>
              <a:t>字段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mtClean="0">
                <a:latin typeface="宋体" charset="-122"/>
                <a:cs typeface="Courier New" pitchFamily="49" charset="0"/>
              </a:rPr>
              <a:t>WHERE</a:t>
            </a:r>
            <a:r>
              <a:rPr lang="zh-CN" altLang="en-US" smtClean="0">
                <a:latin typeface="宋体" charset="-122"/>
                <a:cs typeface="Courier New" pitchFamily="49" charset="0"/>
              </a:rPr>
              <a:t>中的其他字段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mtClean="0">
                <a:latin typeface="微软雅黑"/>
                <a:ea typeface="微软雅黑"/>
                <a:cs typeface="微软雅黑"/>
              </a:rPr>
              <a:t>索引的更新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mtClean="0">
                <a:latin typeface="宋体" charset="-122"/>
                <a:cs typeface="Courier New" pitchFamily="49" charset="0"/>
              </a:rPr>
              <a:t>分布式事务的支持</a:t>
            </a:r>
          </a:p>
          <a:p>
            <a:pPr eaLnBrk="1" hangingPunct="1">
              <a:lnSpc>
                <a:spcPct val="90000"/>
              </a:lnSpc>
            </a:pPr>
            <a:endParaRPr lang="en-US" altLang="zh-CN" smtClean="0"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Text Box 2"/>
          <p:cNvSpPr txBox="1">
            <a:spLocks noChangeArrowheads="1"/>
          </p:cNvSpPr>
          <p:nvPr/>
        </p:nvSpPr>
        <p:spPr bwMode="auto">
          <a:xfrm>
            <a:off x="838200" y="1524000"/>
            <a:ext cx="7772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>
                <a:latin typeface="Courier New" pitchFamily="49" charset="0"/>
                <a:ea typeface="宋体" charset="-122"/>
              </a:rPr>
              <a:t>SELECT c1 FROM tb1 ORDER BY </a:t>
            </a:r>
            <a:r>
              <a:rPr lang="en-US" altLang="zh-CN" sz="240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c1</a:t>
            </a:r>
            <a:r>
              <a:rPr lang="en-US" altLang="zh-CN" sz="2400">
                <a:latin typeface="Courier New" pitchFamily="49" charset="0"/>
                <a:ea typeface="宋体" charset="-122"/>
              </a:rPr>
              <a:t> LIMIT </a:t>
            </a:r>
            <a:r>
              <a:rPr lang="en-US" altLang="zh-CN" sz="240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4</a:t>
            </a:r>
            <a:r>
              <a:rPr lang="en-US" altLang="zh-CN" sz="2400">
                <a:latin typeface="Courier New" pitchFamily="49" charset="0"/>
                <a:ea typeface="宋体" charset="-122"/>
              </a:rPr>
              <a:t>, </a:t>
            </a:r>
            <a:r>
              <a:rPr lang="en-US" altLang="zh-CN" sz="240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2</a:t>
            </a:r>
          </a:p>
        </p:txBody>
      </p:sp>
      <p:sp>
        <p:nvSpPr>
          <p:cNvPr id="69634" name="Text Box 3"/>
          <p:cNvSpPr txBox="1">
            <a:spLocks noChangeArrowheads="1"/>
          </p:cNvSpPr>
          <p:nvPr/>
        </p:nvSpPr>
        <p:spPr bwMode="auto">
          <a:xfrm>
            <a:off x="1371600" y="3900488"/>
            <a:ext cx="5029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select ... order by </a:t>
            </a:r>
            <a:r>
              <a:rPr lang="en-US" altLang="zh-CN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c1</a:t>
            </a:r>
            <a:r>
              <a:rPr lang="en-US" altLang="zh-CN">
                <a:latin typeface="Courier New" pitchFamily="49" charset="0"/>
                <a:ea typeface="宋体" charset="-122"/>
              </a:rPr>
              <a:t> limit </a:t>
            </a:r>
            <a:r>
              <a:rPr lang="en-US" altLang="zh-CN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0</a:t>
            </a:r>
            <a:r>
              <a:rPr lang="en-US" altLang="zh-CN">
                <a:latin typeface="Courier New" pitchFamily="49" charset="0"/>
                <a:ea typeface="宋体" charset="-122"/>
              </a:rPr>
              <a:t>, </a:t>
            </a:r>
            <a:r>
              <a:rPr lang="en-US" altLang="zh-CN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6</a:t>
            </a:r>
          </a:p>
        </p:txBody>
      </p:sp>
      <p:sp>
        <p:nvSpPr>
          <p:cNvPr id="69635" name="Text Box 4"/>
          <p:cNvSpPr txBox="1">
            <a:spLocks noChangeArrowheads="1"/>
          </p:cNvSpPr>
          <p:nvPr/>
        </p:nvSpPr>
        <p:spPr bwMode="auto">
          <a:xfrm>
            <a:off x="1371600" y="4738688"/>
            <a:ext cx="5029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select ... order by </a:t>
            </a:r>
            <a:r>
              <a:rPr lang="en-US" altLang="zh-CN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c1</a:t>
            </a:r>
            <a:r>
              <a:rPr lang="en-US" altLang="zh-CN">
                <a:latin typeface="Courier New" pitchFamily="49" charset="0"/>
                <a:ea typeface="宋体" charset="-122"/>
              </a:rPr>
              <a:t> limit </a:t>
            </a:r>
            <a:r>
              <a:rPr lang="en-US" altLang="zh-CN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0</a:t>
            </a:r>
            <a:r>
              <a:rPr lang="en-US" altLang="zh-CN">
                <a:latin typeface="Courier New" pitchFamily="49" charset="0"/>
                <a:ea typeface="宋体" charset="-122"/>
              </a:rPr>
              <a:t>, </a:t>
            </a:r>
            <a:r>
              <a:rPr lang="en-US" altLang="zh-CN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6</a:t>
            </a:r>
          </a:p>
        </p:txBody>
      </p:sp>
      <p:sp>
        <p:nvSpPr>
          <p:cNvPr id="69636" name="Text Box 5"/>
          <p:cNvSpPr txBox="1">
            <a:spLocks noChangeArrowheads="1"/>
          </p:cNvSpPr>
          <p:nvPr/>
        </p:nvSpPr>
        <p:spPr bwMode="auto">
          <a:xfrm>
            <a:off x="1371600" y="5500688"/>
            <a:ext cx="5029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select ... order by </a:t>
            </a:r>
            <a:r>
              <a:rPr lang="en-US" altLang="zh-CN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c1</a:t>
            </a:r>
            <a:r>
              <a:rPr lang="en-US" altLang="zh-CN">
                <a:latin typeface="Courier New" pitchFamily="49" charset="0"/>
                <a:ea typeface="宋体" charset="-122"/>
              </a:rPr>
              <a:t> limit </a:t>
            </a:r>
            <a:r>
              <a:rPr lang="en-US" altLang="zh-CN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0</a:t>
            </a:r>
            <a:r>
              <a:rPr lang="en-US" altLang="zh-CN">
                <a:latin typeface="Courier New" pitchFamily="49" charset="0"/>
                <a:ea typeface="宋体" charset="-122"/>
              </a:rPr>
              <a:t>, </a:t>
            </a:r>
            <a:r>
              <a:rPr lang="en-US" altLang="zh-CN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6</a:t>
            </a:r>
          </a:p>
        </p:txBody>
      </p:sp>
      <p:sp>
        <p:nvSpPr>
          <p:cNvPr id="69637" name="AutoShape 6"/>
          <p:cNvSpPr>
            <a:spLocks noChangeArrowheads="1"/>
          </p:cNvSpPr>
          <p:nvPr/>
        </p:nvSpPr>
        <p:spPr bwMode="auto">
          <a:xfrm>
            <a:off x="7239000" y="3733800"/>
            <a:ext cx="1371600" cy="685800"/>
          </a:xfrm>
          <a:prstGeom prst="flowChartMagneticDisk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分库</a:t>
            </a:r>
            <a:r>
              <a:rPr lang="en-US" altLang="zh-CN">
                <a:ea typeface="宋体" charset="-122"/>
              </a:rPr>
              <a:t>1</a:t>
            </a:r>
          </a:p>
        </p:txBody>
      </p:sp>
      <p:sp>
        <p:nvSpPr>
          <p:cNvPr id="69638" name="AutoShape 7"/>
          <p:cNvSpPr>
            <a:spLocks noChangeArrowheads="1"/>
          </p:cNvSpPr>
          <p:nvPr/>
        </p:nvSpPr>
        <p:spPr bwMode="auto">
          <a:xfrm>
            <a:off x="7239000" y="4572000"/>
            <a:ext cx="1371600" cy="685800"/>
          </a:xfrm>
          <a:prstGeom prst="flowChartMagneticDisk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分库</a:t>
            </a:r>
            <a:r>
              <a:rPr lang="en-US" altLang="zh-CN">
                <a:ea typeface="宋体" charset="-122"/>
              </a:rPr>
              <a:t>2</a:t>
            </a:r>
          </a:p>
        </p:txBody>
      </p:sp>
      <p:sp>
        <p:nvSpPr>
          <p:cNvPr id="69639" name="AutoShape 8"/>
          <p:cNvSpPr>
            <a:spLocks noChangeArrowheads="1"/>
          </p:cNvSpPr>
          <p:nvPr/>
        </p:nvSpPr>
        <p:spPr bwMode="auto">
          <a:xfrm>
            <a:off x="7239000" y="5334000"/>
            <a:ext cx="1371600" cy="685800"/>
          </a:xfrm>
          <a:prstGeom prst="flowChartMagneticDisk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分库</a:t>
            </a:r>
            <a:r>
              <a:rPr lang="en-US" altLang="zh-CN">
                <a:ea typeface="宋体" charset="-122"/>
              </a:rPr>
              <a:t>3</a:t>
            </a:r>
          </a:p>
        </p:txBody>
      </p:sp>
      <p:sp>
        <p:nvSpPr>
          <p:cNvPr id="69640" name="Rectangle 9"/>
          <p:cNvSpPr>
            <a:spLocks noChangeArrowheads="1"/>
          </p:cNvSpPr>
          <p:nvPr/>
        </p:nvSpPr>
        <p:spPr bwMode="auto">
          <a:xfrm>
            <a:off x="1524000" y="2590800"/>
            <a:ext cx="5257800" cy="68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微软雅黑"/>
              </a:rPr>
              <a:t>cobar</a:t>
            </a:r>
          </a:p>
        </p:txBody>
      </p:sp>
      <p:cxnSp>
        <p:nvCxnSpPr>
          <p:cNvPr id="69641" name="AutoShape 10"/>
          <p:cNvCxnSpPr>
            <a:cxnSpLocks noChangeShapeType="1"/>
            <a:stCxn id="69633" idx="2"/>
            <a:endCxn id="69640" idx="0"/>
          </p:cNvCxnSpPr>
          <p:nvPr/>
        </p:nvCxnSpPr>
        <p:spPr bwMode="auto">
          <a:xfrm rot="5400000">
            <a:off x="4133850" y="2000250"/>
            <a:ext cx="609600" cy="57150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69642" name="AutoShape 11"/>
          <p:cNvCxnSpPr>
            <a:cxnSpLocks noChangeShapeType="1"/>
            <a:stCxn id="69640" idx="1"/>
            <a:endCxn id="69634" idx="1"/>
          </p:cNvCxnSpPr>
          <p:nvPr/>
        </p:nvCxnSpPr>
        <p:spPr bwMode="auto">
          <a:xfrm rot="10800000" flipV="1">
            <a:off x="1371600" y="2933700"/>
            <a:ext cx="152400" cy="1150938"/>
          </a:xfrm>
          <a:prstGeom prst="bentConnector3">
            <a:avLst>
              <a:gd name="adj1" fmla="val 2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69643" name="AutoShape 12"/>
          <p:cNvCxnSpPr>
            <a:cxnSpLocks noChangeShapeType="1"/>
            <a:stCxn id="69640" idx="1"/>
            <a:endCxn id="69635" idx="1"/>
          </p:cNvCxnSpPr>
          <p:nvPr/>
        </p:nvCxnSpPr>
        <p:spPr bwMode="auto">
          <a:xfrm rot="10800000" flipV="1">
            <a:off x="1371600" y="2933700"/>
            <a:ext cx="152400" cy="1989138"/>
          </a:xfrm>
          <a:prstGeom prst="bentConnector3">
            <a:avLst>
              <a:gd name="adj1" fmla="val 2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69644" name="AutoShape 13"/>
          <p:cNvCxnSpPr>
            <a:cxnSpLocks noChangeShapeType="1"/>
            <a:stCxn id="69640" idx="1"/>
            <a:endCxn id="69636" idx="1"/>
          </p:cNvCxnSpPr>
          <p:nvPr/>
        </p:nvCxnSpPr>
        <p:spPr bwMode="auto">
          <a:xfrm rot="10800000" flipV="1">
            <a:off x="1371600" y="2933700"/>
            <a:ext cx="152400" cy="2751138"/>
          </a:xfrm>
          <a:prstGeom prst="bentConnector3">
            <a:avLst>
              <a:gd name="adj1" fmla="val 2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69645" name="AutoShape 14"/>
          <p:cNvCxnSpPr>
            <a:cxnSpLocks noChangeShapeType="1"/>
            <a:stCxn id="69634" idx="3"/>
            <a:endCxn id="69637" idx="2"/>
          </p:cNvCxnSpPr>
          <p:nvPr/>
        </p:nvCxnSpPr>
        <p:spPr bwMode="auto">
          <a:xfrm flipV="1">
            <a:off x="6400800" y="4076700"/>
            <a:ext cx="838200" cy="7938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69646" name="AutoShape 15"/>
          <p:cNvCxnSpPr>
            <a:cxnSpLocks noChangeShapeType="1"/>
            <a:stCxn id="69635" idx="3"/>
            <a:endCxn id="69638" idx="2"/>
          </p:cNvCxnSpPr>
          <p:nvPr/>
        </p:nvCxnSpPr>
        <p:spPr bwMode="auto">
          <a:xfrm flipV="1">
            <a:off x="6400800" y="4914900"/>
            <a:ext cx="838200" cy="7938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69647" name="AutoShape 16"/>
          <p:cNvCxnSpPr>
            <a:cxnSpLocks noChangeShapeType="1"/>
            <a:stCxn id="69636" idx="3"/>
            <a:endCxn id="69639" idx="2"/>
          </p:cNvCxnSpPr>
          <p:nvPr/>
        </p:nvCxnSpPr>
        <p:spPr bwMode="auto">
          <a:xfrm flipV="1">
            <a:off x="6400800" y="5676900"/>
            <a:ext cx="838200" cy="7938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69648" name="Rectangle 1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latin typeface="微软雅黑"/>
                <a:ea typeface="微软雅黑"/>
                <a:cs typeface="微软雅黑"/>
              </a:rPr>
              <a:t>Order By/Limit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AutoShape 2"/>
          <p:cNvSpPr>
            <a:spLocks noChangeArrowheads="1"/>
          </p:cNvSpPr>
          <p:nvPr/>
        </p:nvSpPr>
        <p:spPr bwMode="auto">
          <a:xfrm>
            <a:off x="7239000" y="2438400"/>
            <a:ext cx="1371600" cy="838200"/>
          </a:xfrm>
          <a:prstGeom prst="flowChartMagneticDisk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分库</a:t>
            </a:r>
            <a:r>
              <a:rPr lang="en-US" altLang="zh-CN">
                <a:ea typeface="宋体" charset="-122"/>
              </a:rPr>
              <a:t>1</a:t>
            </a:r>
          </a:p>
        </p:txBody>
      </p:sp>
      <p:sp>
        <p:nvSpPr>
          <p:cNvPr id="71682" name="AutoShape 3"/>
          <p:cNvSpPr>
            <a:spLocks noChangeArrowheads="1"/>
          </p:cNvSpPr>
          <p:nvPr/>
        </p:nvSpPr>
        <p:spPr bwMode="auto">
          <a:xfrm>
            <a:off x="7239000" y="3810000"/>
            <a:ext cx="1371600" cy="838200"/>
          </a:xfrm>
          <a:prstGeom prst="flowChartMagneticDisk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分库</a:t>
            </a:r>
            <a:r>
              <a:rPr lang="en-US" altLang="zh-CN">
                <a:ea typeface="宋体" charset="-122"/>
              </a:rPr>
              <a:t>2</a:t>
            </a:r>
          </a:p>
        </p:txBody>
      </p:sp>
      <p:sp>
        <p:nvSpPr>
          <p:cNvPr id="71683" name="AutoShape 4"/>
          <p:cNvSpPr>
            <a:spLocks noChangeArrowheads="1"/>
          </p:cNvSpPr>
          <p:nvPr/>
        </p:nvSpPr>
        <p:spPr bwMode="auto">
          <a:xfrm>
            <a:off x="7239000" y="5105400"/>
            <a:ext cx="1371600" cy="838200"/>
          </a:xfrm>
          <a:prstGeom prst="flowChartMagneticDisk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分库</a:t>
            </a:r>
            <a:r>
              <a:rPr lang="en-US" altLang="zh-CN">
                <a:ea typeface="宋体" charset="-122"/>
              </a:rPr>
              <a:t>3</a:t>
            </a:r>
          </a:p>
        </p:txBody>
      </p:sp>
      <p:sp>
        <p:nvSpPr>
          <p:cNvPr id="71684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latin typeface="微软雅黑"/>
                <a:ea typeface="微软雅黑"/>
                <a:cs typeface="微软雅黑"/>
              </a:rPr>
              <a:t>Order By/Limit</a:t>
            </a:r>
          </a:p>
        </p:txBody>
      </p:sp>
      <p:sp>
        <p:nvSpPr>
          <p:cNvPr id="71685" name="Text Box 6"/>
          <p:cNvSpPr txBox="1">
            <a:spLocks noChangeArrowheads="1"/>
          </p:cNvSpPr>
          <p:nvPr/>
        </p:nvSpPr>
        <p:spPr bwMode="auto">
          <a:xfrm>
            <a:off x="3581400" y="27432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4</a:t>
            </a:r>
          </a:p>
        </p:txBody>
      </p:sp>
      <p:sp>
        <p:nvSpPr>
          <p:cNvPr id="71686" name="Text Box 7"/>
          <p:cNvSpPr txBox="1">
            <a:spLocks noChangeArrowheads="1"/>
          </p:cNvSpPr>
          <p:nvPr/>
        </p:nvSpPr>
        <p:spPr bwMode="auto">
          <a:xfrm>
            <a:off x="4114800" y="27432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5</a:t>
            </a:r>
          </a:p>
        </p:txBody>
      </p:sp>
      <p:sp>
        <p:nvSpPr>
          <p:cNvPr id="71687" name="Text Box 8"/>
          <p:cNvSpPr txBox="1">
            <a:spLocks noChangeArrowheads="1"/>
          </p:cNvSpPr>
          <p:nvPr/>
        </p:nvSpPr>
        <p:spPr bwMode="auto">
          <a:xfrm>
            <a:off x="4648200" y="27432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6</a:t>
            </a:r>
          </a:p>
        </p:txBody>
      </p:sp>
      <p:sp>
        <p:nvSpPr>
          <p:cNvPr id="71688" name="Text Box 9"/>
          <p:cNvSpPr txBox="1">
            <a:spLocks noChangeArrowheads="1"/>
          </p:cNvSpPr>
          <p:nvPr/>
        </p:nvSpPr>
        <p:spPr bwMode="auto">
          <a:xfrm>
            <a:off x="3048000" y="27432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3</a:t>
            </a:r>
          </a:p>
        </p:txBody>
      </p:sp>
      <p:sp>
        <p:nvSpPr>
          <p:cNvPr id="71689" name="Text Box 10"/>
          <p:cNvSpPr txBox="1">
            <a:spLocks noChangeArrowheads="1"/>
          </p:cNvSpPr>
          <p:nvPr/>
        </p:nvSpPr>
        <p:spPr bwMode="auto">
          <a:xfrm>
            <a:off x="2514600" y="27432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2</a:t>
            </a:r>
          </a:p>
        </p:txBody>
      </p:sp>
      <p:sp>
        <p:nvSpPr>
          <p:cNvPr id="71690" name="Text Box 11"/>
          <p:cNvSpPr txBox="1">
            <a:spLocks noChangeArrowheads="1"/>
          </p:cNvSpPr>
          <p:nvPr/>
        </p:nvSpPr>
        <p:spPr bwMode="auto">
          <a:xfrm>
            <a:off x="4114800" y="40528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7</a:t>
            </a:r>
          </a:p>
        </p:txBody>
      </p:sp>
      <p:sp>
        <p:nvSpPr>
          <p:cNvPr id="71691" name="Text Box 12"/>
          <p:cNvSpPr txBox="1">
            <a:spLocks noChangeArrowheads="1"/>
          </p:cNvSpPr>
          <p:nvPr/>
        </p:nvSpPr>
        <p:spPr bwMode="auto">
          <a:xfrm>
            <a:off x="4648200" y="40528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8</a:t>
            </a:r>
          </a:p>
        </p:txBody>
      </p:sp>
      <p:sp>
        <p:nvSpPr>
          <p:cNvPr id="71692" name="Text Box 13"/>
          <p:cNvSpPr txBox="1">
            <a:spLocks noChangeArrowheads="1"/>
          </p:cNvSpPr>
          <p:nvPr/>
        </p:nvSpPr>
        <p:spPr bwMode="auto">
          <a:xfrm>
            <a:off x="5181600" y="40528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10</a:t>
            </a:r>
          </a:p>
        </p:txBody>
      </p:sp>
      <p:sp>
        <p:nvSpPr>
          <p:cNvPr id="71693" name="Text Box 14"/>
          <p:cNvSpPr txBox="1">
            <a:spLocks noChangeArrowheads="1"/>
          </p:cNvSpPr>
          <p:nvPr/>
        </p:nvSpPr>
        <p:spPr bwMode="auto">
          <a:xfrm>
            <a:off x="3581400" y="40528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6</a:t>
            </a:r>
          </a:p>
        </p:txBody>
      </p:sp>
      <p:sp>
        <p:nvSpPr>
          <p:cNvPr id="71694" name="Text Box 15"/>
          <p:cNvSpPr txBox="1">
            <a:spLocks noChangeArrowheads="1"/>
          </p:cNvSpPr>
          <p:nvPr/>
        </p:nvSpPr>
        <p:spPr bwMode="auto">
          <a:xfrm>
            <a:off x="3048000" y="40528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5</a:t>
            </a:r>
          </a:p>
        </p:txBody>
      </p:sp>
      <p:sp>
        <p:nvSpPr>
          <p:cNvPr id="71695" name="Text Box 16"/>
          <p:cNvSpPr txBox="1">
            <a:spLocks noChangeArrowheads="1"/>
          </p:cNvSpPr>
          <p:nvPr/>
        </p:nvSpPr>
        <p:spPr bwMode="auto">
          <a:xfrm>
            <a:off x="2514600" y="40528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1</a:t>
            </a:r>
          </a:p>
        </p:txBody>
      </p:sp>
      <p:sp>
        <p:nvSpPr>
          <p:cNvPr id="71696" name="Text Box 17"/>
          <p:cNvSpPr txBox="1">
            <a:spLocks noChangeArrowheads="1"/>
          </p:cNvSpPr>
          <p:nvPr/>
        </p:nvSpPr>
        <p:spPr bwMode="auto">
          <a:xfrm>
            <a:off x="41148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11</a:t>
            </a:r>
          </a:p>
        </p:txBody>
      </p:sp>
      <p:sp>
        <p:nvSpPr>
          <p:cNvPr id="71697" name="Text Box 18"/>
          <p:cNvSpPr txBox="1">
            <a:spLocks noChangeArrowheads="1"/>
          </p:cNvSpPr>
          <p:nvPr/>
        </p:nvSpPr>
        <p:spPr bwMode="auto">
          <a:xfrm>
            <a:off x="46482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13</a:t>
            </a:r>
          </a:p>
        </p:txBody>
      </p:sp>
      <p:sp>
        <p:nvSpPr>
          <p:cNvPr id="71698" name="Text Box 19"/>
          <p:cNvSpPr txBox="1">
            <a:spLocks noChangeArrowheads="1"/>
          </p:cNvSpPr>
          <p:nvPr/>
        </p:nvSpPr>
        <p:spPr bwMode="auto">
          <a:xfrm>
            <a:off x="51816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14</a:t>
            </a:r>
          </a:p>
        </p:txBody>
      </p:sp>
      <p:sp>
        <p:nvSpPr>
          <p:cNvPr id="71699" name="Text Box 20"/>
          <p:cNvSpPr txBox="1">
            <a:spLocks noChangeArrowheads="1"/>
          </p:cNvSpPr>
          <p:nvPr/>
        </p:nvSpPr>
        <p:spPr bwMode="auto">
          <a:xfrm>
            <a:off x="35814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9</a:t>
            </a:r>
          </a:p>
        </p:txBody>
      </p:sp>
      <p:sp>
        <p:nvSpPr>
          <p:cNvPr id="71700" name="Text Box 21"/>
          <p:cNvSpPr txBox="1">
            <a:spLocks noChangeArrowheads="1"/>
          </p:cNvSpPr>
          <p:nvPr/>
        </p:nvSpPr>
        <p:spPr bwMode="auto">
          <a:xfrm>
            <a:off x="30480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7</a:t>
            </a:r>
          </a:p>
        </p:txBody>
      </p:sp>
      <p:sp>
        <p:nvSpPr>
          <p:cNvPr id="71701" name="Text Box 22"/>
          <p:cNvSpPr txBox="1">
            <a:spLocks noChangeArrowheads="1"/>
          </p:cNvSpPr>
          <p:nvPr/>
        </p:nvSpPr>
        <p:spPr bwMode="auto">
          <a:xfrm>
            <a:off x="25146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3</a:t>
            </a:r>
          </a:p>
        </p:txBody>
      </p:sp>
      <p:sp>
        <p:nvSpPr>
          <p:cNvPr id="71702" name="AutoShape 24"/>
          <p:cNvSpPr>
            <a:spLocks noChangeArrowheads="1"/>
          </p:cNvSpPr>
          <p:nvPr/>
        </p:nvSpPr>
        <p:spPr bwMode="auto">
          <a:xfrm>
            <a:off x="5867400" y="2514600"/>
            <a:ext cx="1219200" cy="762000"/>
          </a:xfrm>
          <a:prstGeom prst="leftArrow">
            <a:avLst>
              <a:gd name="adj1" fmla="val 50000"/>
              <a:gd name="adj2" fmla="val 4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返回结果</a:t>
            </a:r>
          </a:p>
        </p:txBody>
      </p:sp>
      <p:sp>
        <p:nvSpPr>
          <p:cNvPr id="71703" name="AutoShape 25"/>
          <p:cNvSpPr>
            <a:spLocks noChangeArrowheads="1"/>
          </p:cNvSpPr>
          <p:nvPr/>
        </p:nvSpPr>
        <p:spPr bwMode="auto">
          <a:xfrm>
            <a:off x="5867400" y="3886200"/>
            <a:ext cx="1219200" cy="762000"/>
          </a:xfrm>
          <a:prstGeom prst="leftArrow">
            <a:avLst>
              <a:gd name="adj1" fmla="val 50000"/>
              <a:gd name="adj2" fmla="val 4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返回结果</a:t>
            </a:r>
          </a:p>
        </p:txBody>
      </p:sp>
      <p:sp>
        <p:nvSpPr>
          <p:cNvPr id="71704" name="AutoShape 26"/>
          <p:cNvSpPr>
            <a:spLocks noChangeArrowheads="1"/>
          </p:cNvSpPr>
          <p:nvPr/>
        </p:nvSpPr>
        <p:spPr bwMode="auto">
          <a:xfrm>
            <a:off x="5867400" y="5181600"/>
            <a:ext cx="1219200" cy="762000"/>
          </a:xfrm>
          <a:prstGeom prst="leftArrow">
            <a:avLst>
              <a:gd name="adj1" fmla="val 50000"/>
              <a:gd name="adj2" fmla="val 4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返回结果</a:t>
            </a:r>
          </a:p>
        </p:txBody>
      </p:sp>
      <p:sp>
        <p:nvSpPr>
          <p:cNvPr id="71705" name="Text Box 27"/>
          <p:cNvSpPr txBox="1">
            <a:spLocks noChangeArrowheads="1"/>
          </p:cNvSpPr>
          <p:nvPr/>
        </p:nvSpPr>
        <p:spPr bwMode="auto">
          <a:xfrm>
            <a:off x="5181600" y="27432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8</a:t>
            </a:r>
          </a:p>
        </p:txBody>
      </p:sp>
      <p:sp>
        <p:nvSpPr>
          <p:cNvPr id="71706" name="Text Box 28"/>
          <p:cNvSpPr txBox="1">
            <a:spLocks noChangeArrowheads="1"/>
          </p:cNvSpPr>
          <p:nvPr/>
        </p:nvSpPr>
        <p:spPr bwMode="auto">
          <a:xfrm>
            <a:off x="838200" y="1524000"/>
            <a:ext cx="7772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>
                <a:latin typeface="Courier New" pitchFamily="49" charset="0"/>
                <a:ea typeface="宋体" charset="-122"/>
              </a:rPr>
              <a:t>SELECT c1 FROM tb1 ORDER BY </a:t>
            </a:r>
            <a:r>
              <a:rPr lang="en-US" altLang="zh-CN" sz="240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c1</a:t>
            </a:r>
            <a:r>
              <a:rPr lang="en-US" altLang="zh-CN" sz="2400">
                <a:latin typeface="Courier New" pitchFamily="49" charset="0"/>
                <a:ea typeface="宋体" charset="-122"/>
              </a:rPr>
              <a:t> LIMIT </a:t>
            </a:r>
            <a:r>
              <a:rPr lang="en-US" altLang="zh-CN" sz="240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4</a:t>
            </a:r>
            <a:r>
              <a:rPr lang="en-US" altLang="zh-CN" sz="2400">
                <a:latin typeface="Courier New" pitchFamily="49" charset="0"/>
                <a:ea typeface="宋体" charset="-122"/>
              </a:rPr>
              <a:t>, </a:t>
            </a:r>
            <a:r>
              <a:rPr lang="en-US" altLang="zh-CN" sz="240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AutoShape 2"/>
          <p:cNvSpPr>
            <a:spLocks noChangeArrowheads="1"/>
          </p:cNvSpPr>
          <p:nvPr/>
        </p:nvSpPr>
        <p:spPr bwMode="auto">
          <a:xfrm>
            <a:off x="7239000" y="2438400"/>
            <a:ext cx="1371600" cy="838200"/>
          </a:xfrm>
          <a:prstGeom prst="flowChartMagneticDisk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分库</a:t>
            </a:r>
            <a:r>
              <a:rPr lang="en-US" altLang="zh-CN">
                <a:ea typeface="宋体" charset="-122"/>
              </a:rPr>
              <a:t>1</a:t>
            </a:r>
          </a:p>
        </p:txBody>
      </p:sp>
      <p:sp>
        <p:nvSpPr>
          <p:cNvPr id="72706" name="AutoShape 3"/>
          <p:cNvSpPr>
            <a:spLocks noChangeArrowheads="1"/>
          </p:cNvSpPr>
          <p:nvPr/>
        </p:nvSpPr>
        <p:spPr bwMode="auto">
          <a:xfrm>
            <a:off x="7239000" y="3810000"/>
            <a:ext cx="1371600" cy="838200"/>
          </a:xfrm>
          <a:prstGeom prst="flowChartMagneticDisk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分库</a:t>
            </a:r>
            <a:r>
              <a:rPr lang="en-US" altLang="zh-CN">
                <a:ea typeface="宋体" charset="-122"/>
              </a:rPr>
              <a:t>2</a:t>
            </a:r>
          </a:p>
        </p:txBody>
      </p:sp>
      <p:sp>
        <p:nvSpPr>
          <p:cNvPr id="72707" name="AutoShape 4"/>
          <p:cNvSpPr>
            <a:spLocks noChangeArrowheads="1"/>
          </p:cNvSpPr>
          <p:nvPr/>
        </p:nvSpPr>
        <p:spPr bwMode="auto">
          <a:xfrm>
            <a:off x="7239000" y="5105400"/>
            <a:ext cx="1371600" cy="838200"/>
          </a:xfrm>
          <a:prstGeom prst="flowChartMagneticDisk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分库</a:t>
            </a:r>
            <a:r>
              <a:rPr lang="en-US" altLang="zh-CN">
                <a:ea typeface="宋体" charset="-122"/>
              </a:rPr>
              <a:t>3</a:t>
            </a:r>
          </a:p>
        </p:txBody>
      </p:sp>
      <p:sp>
        <p:nvSpPr>
          <p:cNvPr id="72708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latin typeface="微软雅黑"/>
                <a:ea typeface="微软雅黑"/>
                <a:cs typeface="微软雅黑"/>
              </a:rPr>
              <a:t>Order By/Limit</a:t>
            </a:r>
          </a:p>
        </p:txBody>
      </p:sp>
      <p:sp>
        <p:nvSpPr>
          <p:cNvPr id="72709" name="Text Box 6"/>
          <p:cNvSpPr txBox="1">
            <a:spLocks noChangeArrowheads="1"/>
          </p:cNvSpPr>
          <p:nvPr/>
        </p:nvSpPr>
        <p:spPr bwMode="auto">
          <a:xfrm>
            <a:off x="3581400" y="27432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4</a:t>
            </a:r>
          </a:p>
        </p:txBody>
      </p:sp>
      <p:sp>
        <p:nvSpPr>
          <p:cNvPr id="72710" name="Text Box 7"/>
          <p:cNvSpPr txBox="1">
            <a:spLocks noChangeArrowheads="1"/>
          </p:cNvSpPr>
          <p:nvPr/>
        </p:nvSpPr>
        <p:spPr bwMode="auto">
          <a:xfrm>
            <a:off x="4114800" y="27432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5</a:t>
            </a:r>
          </a:p>
        </p:txBody>
      </p:sp>
      <p:sp>
        <p:nvSpPr>
          <p:cNvPr id="72711" name="Text Box 8"/>
          <p:cNvSpPr txBox="1">
            <a:spLocks noChangeArrowheads="1"/>
          </p:cNvSpPr>
          <p:nvPr/>
        </p:nvSpPr>
        <p:spPr bwMode="auto">
          <a:xfrm>
            <a:off x="4648200" y="27432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6</a:t>
            </a:r>
          </a:p>
        </p:txBody>
      </p:sp>
      <p:sp>
        <p:nvSpPr>
          <p:cNvPr id="72712" name="Text Box 9"/>
          <p:cNvSpPr txBox="1">
            <a:spLocks noChangeArrowheads="1"/>
          </p:cNvSpPr>
          <p:nvPr/>
        </p:nvSpPr>
        <p:spPr bwMode="auto">
          <a:xfrm>
            <a:off x="3048000" y="27432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3</a:t>
            </a:r>
          </a:p>
        </p:txBody>
      </p:sp>
      <p:sp>
        <p:nvSpPr>
          <p:cNvPr id="72713" name="Text Box 10"/>
          <p:cNvSpPr txBox="1">
            <a:spLocks noChangeArrowheads="1"/>
          </p:cNvSpPr>
          <p:nvPr/>
        </p:nvSpPr>
        <p:spPr bwMode="auto">
          <a:xfrm>
            <a:off x="2514600" y="27432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2</a:t>
            </a:r>
          </a:p>
        </p:txBody>
      </p:sp>
      <p:sp>
        <p:nvSpPr>
          <p:cNvPr id="72714" name="Text Box 11"/>
          <p:cNvSpPr txBox="1">
            <a:spLocks noChangeArrowheads="1"/>
          </p:cNvSpPr>
          <p:nvPr/>
        </p:nvSpPr>
        <p:spPr bwMode="auto">
          <a:xfrm>
            <a:off x="4114800" y="40528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7</a:t>
            </a:r>
          </a:p>
        </p:txBody>
      </p:sp>
      <p:sp>
        <p:nvSpPr>
          <p:cNvPr id="72715" name="Text Box 12"/>
          <p:cNvSpPr txBox="1">
            <a:spLocks noChangeArrowheads="1"/>
          </p:cNvSpPr>
          <p:nvPr/>
        </p:nvSpPr>
        <p:spPr bwMode="auto">
          <a:xfrm>
            <a:off x="4648200" y="40528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8</a:t>
            </a:r>
          </a:p>
        </p:txBody>
      </p:sp>
      <p:sp>
        <p:nvSpPr>
          <p:cNvPr id="72716" name="Text Box 13"/>
          <p:cNvSpPr txBox="1">
            <a:spLocks noChangeArrowheads="1"/>
          </p:cNvSpPr>
          <p:nvPr/>
        </p:nvSpPr>
        <p:spPr bwMode="auto">
          <a:xfrm>
            <a:off x="5181600" y="40528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10</a:t>
            </a:r>
          </a:p>
        </p:txBody>
      </p:sp>
      <p:sp>
        <p:nvSpPr>
          <p:cNvPr id="72717" name="Text Box 14"/>
          <p:cNvSpPr txBox="1">
            <a:spLocks noChangeArrowheads="1"/>
          </p:cNvSpPr>
          <p:nvPr/>
        </p:nvSpPr>
        <p:spPr bwMode="auto">
          <a:xfrm>
            <a:off x="3581400" y="40528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6</a:t>
            </a:r>
          </a:p>
        </p:txBody>
      </p:sp>
      <p:sp>
        <p:nvSpPr>
          <p:cNvPr id="72718" name="Text Box 15"/>
          <p:cNvSpPr txBox="1">
            <a:spLocks noChangeArrowheads="1"/>
          </p:cNvSpPr>
          <p:nvPr/>
        </p:nvSpPr>
        <p:spPr bwMode="auto">
          <a:xfrm>
            <a:off x="3048000" y="40528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5</a:t>
            </a:r>
          </a:p>
        </p:txBody>
      </p:sp>
      <p:sp>
        <p:nvSpPr>
          <p:cNvPr id="72719" name="Text Box 16"/>
          <p:cNvSpPr txBox="1">
            <a:spLocks noChangeArrowheads="1"/>
          </p:cNvSpPr>
          <p:nvPr/>
        </p:nvSpPr>
        <p:spPr bwMode="auto">
          <a:xfrm>
            <a:off x="2514600" y="40528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1</a:t>
            </a:r>
          </a:p>
        </p:txBody>
      </p:sp>
      <p:sp>
        <p:nvSpPr>
          <p:cNvPr id="72720" name="Text Box 17"/>
          <p:cNvSpPr txBox="1">
            <a:spLocks noChangeArrowheads="1"/>
          </p:cNvSpPr>
          <p:nvPr/>
        </p:nvSpPr>
        <p:spPr bwMode="auto">
          <a:xfrm>
            <a:off x="41148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11</a:t>
            </a:r>
          </a:p>
        </p:txBody>
      </p:sp>
      <p:sp>
        <p:nvSpPr>
          <p:cNvPr id="72721" name="Text Box 18"/>
          <p:cNvSpPr txBox="1">
            <a:spLocks noChangeArrowheads="1"/>
          </p:cNvSpPr>
          <p:nvPr/>
        </p:nvSpPr>
        <p:spPr bwMode="auto">
          <a:xfrm>
            <a:off x="46482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13</a:t>
            </a:r>
          </a:p>
        </p:txBody>
      </p:sp>
      <p:sp>
        <p:nvSpPr>
          <p:cNvPr id="72722" name="Text Box 19"/>
          <p:cNvSpPr txBox="1">
            <a:spLocks noChangeArrowheads="1"/>
          </p:cNvSpPr>
          <p:nvPr/>
        </p:nvSpPr>
        <p:spPr bwMode="auto">
          <a:xfrm>
            <a:off x="51816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14</a:t>
            </a:r>
          </a:p>
        </p:txBody>
      </p:sp>
      <p:sp>
        <p:nvSpPr>
          <p:cNvPr id="72723" name="Text Box 20"/>
          <p:cNvSpPr txBox="1">
            <a:spLocks noChangeArrowheads="1"/>
          </p:cNvSpPr>
          <p:nvPr/>
        </p:nvSpPr>
        <p:spPr bwMode="auto">
          <a:xfrm>
            <a:off x="35814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9</a:t>
            </a:r>
          </a:p>
        </p:txBody>
      </p:sp>
      <p:sp>
        <p:nvSpPr>
          <p:cNvPr id="72724" name="Text Box 21"/>
          <p:cNvSpPr txBox="1">
            <a:spLocks noChangeArrowheads="1"/>
          </p:cNvSpPr>
          <p:nvPr/>
        </p:nvSpPr>
        <p:spPr bwMode="auto">
          <a:xfrm>
            <a:off x="30480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7</a:t>
            </a:r>
          </a:p>
        </p:txBody>
      </p:sp>
      <p:sp>
        <p:nvSpPr>
          <p:cNvPr id="72725" name="Text Box 22"/>
          <p:cNvSpPr txBox="1">
            <a:spLocks noChangeArrowheads="1"/>
          </p:cNvSpPr>
          <p:nvPr/>
        </p:nvSpPr>
        <p:spPr bwMode="auto">
          <a:xfrm>
            <a:off x="25146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3</a:t>
            </a:r>
          </a:p>
        </p:txBody>
      </p:sp>
      <p:sp>
        <p:nvSpPr>
          <p:cNvPr id="72726" name="AutoShape 24"/>
          <p:cNvSpPr>
            <a:spLocks noChangeArrowheads="1"/>
          </p:cNvSpPr>
          <p:nvPr/>
        </p:nvSpPr>
        <p:spPr bwMode="auto">
          <a:xfrm>
            <a:off x="5867400" y="2514600"/>
            <a:ext cx="1219200" cy="762000"/>
          </a:xfrm>
          <a:prstGeom prst="leftArrow">
            <a:avLst>
              <a:gd name="adj1" fmla="val 50000"/>
              <a:gd name="adj2" fmla="val 4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返回结果</a:t>
            </a:r>
          </a:p>
        </p:txBody>
      </p:sp>
      <p:sp>
        <p:nvSpPr>
          <p:cNvPr id="72727" name="AutoShape 25"/>
          <p:cNvSpPr>
            <a:spLocks noChangeArrowheads="1"/>
          </p:cNvSpPr>
          <p:nvPr/>
        </p:nvSpPr>
        <p:spPr bwMode="auto">
          <a:xfrm>
            <a:off x="5867400" y="3886200"/>
            <a:ext cx="1219200" cy="762000"/>
          </a:xfrm>
          <a:prstGeom prst="leftArrow">
            <a:avLst>
              <a:gd name="adj1" fmla="val 50000"/>
              <a:gd name="adj2" fmla="val 4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返回结果</a:t>
            </a:r>
          </a:p>
        </p:txBody>
      </p:sp>
      <p:sp>
        <p:nvSpPr>
          <p:cNvPr id="72728" name="AutoShape 26"/>
          <p:cNvSpPr>
            <a:spLocks noChangeArrowheads="1"/>
          </p:cNvSpPr>
          <p:nvPr/>
        </p:nvSpPr>
        <p:spPr bwMode="auto">
          <a:xfrm>
            <a:off x="5867400" y="5181600"/>
            <a:ext cx="1219200" cy="762000"/>
          </a:xfrm>
          <a:prstGeom prst="leftArrow">
            <a:avLst>
              <a:gd name="adj1" fmla="val 50000"/>
              <a:gd name="adj2" fmla="val 4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返回结果</a:t>
            </a:r>
          </a:p>
        </p:txBody>
      </p:sp>
      <p:sp>
        <p:nvSpPr>
          <p:cNvPr id="72729" name="Text Box 27"/>
          <p:cNvSpPr txBox="1">
            <a:spLocks noChangeArrowheads="1"/>
          </p:cNvSpPr>
          <p:nvPr/>
        </p:nvSpPr>
        <p:spPr bwMode="auto">
          <a:xfrm>
            <a:off x="5181600" y="27432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8</a:t>
            </a:r>
          </a:p>
        </p:txBody>
      </p:sp>
      <p:sp>
        <p:nvSpPr>
          <p:cNvPr id="72730" name="Oval 28"/>
          <p:cNvSpPr>
            <a:spLocks noChangeArrowheads="1"/>
          </p:cNvSpPr>
          <p:nvPr/>
        </p:nvSpPr>
        <p:spPr bwMode="auto">
          <a:xfrm>
            <a:off x="609600" y="2438400"/>
            <a:ext cx="914400" cy="914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800">
                <a:ea typeface="宋体" charset="-122"/>
              </a:rPr>
              <a:t>0</a:t>
            </a:r>
          </a:p>
        </p:txBody>
      </p:sp>
      <p:sp>
        <p:nvSpPr>
          <p:cNvPr id="72731" name="Rectangle 29"/>
          <p:cNvSpPr>
            <a:spLocks noChangeArrowheads="1"/>
          </p:cNvSpPr>
          <p:nvPr/>
        </p:nvSpPr>
        <p:spPr bwMode="auto">
          <a:xfrm>
            <a:off x="304800" y="4648200"/>
            <a:ext cx="1676400" cy="762000"/>
          </a:xfrm>
          <a:prstGeom prst="rect">
            <a:avLst/>
          </a:prstGeom>
          <a:solidFill>
            <a:srgbClr val="FF99CC">
              <a:alpha val="30196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zh-CN" altLang="en-US">
                <a:ea typeface="宋体" charset="-122"/>
              </a:rPr>
              <a:t>最终结果集</a:t>
            </a:r>
          </a:p>
        </p:txBody>
      </p:sp>
      <p:sp>
        <p:nvSpPr>
          <p:cNvPr id="72732" name="Text Box 30"/>
          <p:cNvSpPr txBox="1">
            <a:spLocks noChangeArrowheads="1"/>
          </p:cNvSpPr>
          <p:nvPr/>
        </p:nvSpPr>
        <p:spPr bwMode="auto">
          <a:xfrm>
            <a:off x="838200" y="1524000"/>
            <a:ext cx="7772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>
                <a:latin typeface="Courier New" pitchFamily="49" charset="0"/>
                <a:ea typeface="宋体" charset="-122"/>
              </a:rPr>
              <a:t>SELECT c1 FROM tb1 ORDER BY </a:t>
            </a:r>
            <a:r>
              <a:rPr lang="en-US" altLang="zh-CN" sz="240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c1</a:t>
            </a:r>
            <a:r>
              <a:rPr lang="en-US" altLang="zh-CN" sz="2400">
                <a:latin typeface="Courier New" pitchFamily="49" charset="0"/>
                <a:ea typeface="宋体" charset="-122"/>
              </a:rPr>
              <a:t> LIMIT </a:t>
            </a:r>
            <a:r>
              <a:rPr lang="en-US" altLang="zh-CN" sz="240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4</a:t>
            </a:r>
            <a:r>
              <a:rPr lang="en-US" altLang="zh-CN" sz="2400">
                <a:latin typeface="Courier New" pitchFamily="49" charset="0"/>
                <a:ea typeface="宋体" charset="-122"/>
              </a:rPr>
              <a:t>, </a:t>
            </a:r>
            <a:r>
              <a:rPr lang="en-US" altLang="zh-CN" sz="240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AutoShape 2"/>
          <p:cNvSpPr>
            <a:spLocks noChangeArrowheads="1"/>
          </p:cNvSpPr>
          <p:nvPr/>
        </p:nvSpPr>
        <p:spPr bwMode="auto">
          <a:xfrm>
            <a:off x="7239000" y="2438400"/>
            <a:ext cx="1371600" cy="838200"/>
          </a:xfrm>
          <a:prstGeom prst="flowChartMagneticDisk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分库</a:t>
            </a:r>
            <a:r>
              <a:rPr lang="en-US" altLang="zh-CN">
                <a:ea typeface="宋体" charset="-122"/>
              </a:rPr>
              <a:t>1</a:t>
            </a:r>
          </a:p>
        </p:txBody>
      </p:sp>
      <p:sp>
        <p:nvSpPr>
          <p:cNvPr id="73730" name="AutoShape 3"/>
          <p:cNvSpPr>
            <a:spLocks noChangeArrowheads="1"/>
          </p:cNvSpPr>
          <p:nvPr/>
        </p:nvSpPr>
        <p:spPr bwMode="auto">
          <a:xfrm>
            <a:off x="7239000" y="3810000"/>
            <a:ext cx="1371600" cy="838200"/>
          </a:xfrm>
          <a:prstGeom prst="flowChartMagneticDisk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分库</a:t>
            </a:r>
            <a:r>
              <a:rPr lang="en-US" altLang="zh-CN">
                <a:ea typeface="宋体" charset="-122"/>
              </a:rPr>
              <a:t>2</a:t>
            </a:r>
          </a:p>
        </p:txBody>
      </p:sp>
      <p:sp>
        <p:nvSpPr>
          <p:cNvPr id="73731" name="AutoShape 4"/>
          <p:cNvSpPr>
            <a:spLocks noChangeArrowheads="1"/>
          </p:cNvSpPr>
          <p:nvPr/>
        </p:nvSpPr>
        <p:spPr bwMode="auto">
          <a:xfrm>
            <a:off x="7239000" y="5105400"/>
            <a:ext cx="1371600" cy="838200"/>
          </a:xfrm>
          <a:prstGeom prst="flowChartMagneticDisk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分库</a:t>
            </a:r>
            <a:r>
              <a:rPr lang="en-US" altLang="zh-CN">
                <a:ea typeface="宋体" charset="-122"/>
              </a:rPr>
              <a:t>3</a:t>
            </a:r>
          </a:p>
        </p:txBody>
      </p:sp>
      <p:sp>
        <p:nvSpPr>
          <p:cNvPr id="73732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latin typeface="微软雅黑"/>
                <a:ea typeface="微软雅黑"/>
                <a:cs typeface="微软雅黑"/>
              </a:rPr>
              <a:t>Order By/Limit</a:t>
            </a:r>
          </a:p>
        </p:txBody>
      </p:sp>
      <p:sp>
        <p:nvSpPr>
          <p:cNvPr id="73733" name="Text Box 6"/>
          <p:cNvSpPr txBox="1">
            <a:spLocks noChangeArrowheads="1"/>
          </p:cNvSpPr>
          <p:nvPr/>
        </p:nvSpPr>
        <p:spPr bwMode="auto">
          <a:xfrm>
            <a:off x="3581400" y="27432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4</a:t>
            </a:r>
          </a:p>
        </p:txBody>
      </p:sp>
      <p:sp>
        <p:nvSpPr>
          <p:cNvPr id="73734" name="Text Box 7"/>
          <p:cNvSpPr txBox="1">
            <a:spLocks noChangeArrowheads="1"/>
          </p:cNvSpPr>
          <p:nvPr/>
        </p:nvSpPr>
        <p:spPr bwMode="auto">
          <a:xfrm>
            <a:off x="4114800" y="27432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5</a:t>
            </a:r>
          </a:p>
        </p:txBody>
      </p:sp>
      <p:sp>
        <p:nvSpPr>
          <p:cNvPr id="73735" name="Text Box 8"/>
          <p:cNvSpPr txBox="1">
            <a:spLocks noChangeArrowheads="1"/>
          </p:cNvSpPr>
          <p:nvPr/>
        </p:nvSpPr>
        <p:spPr bwMode="auto">
          <a:xfrm>
            <a:off x="4648200" y="27432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6</a:t>
            </a:r>
          </a:p>
        </p:txBody>
      </p:sp>
      <p:sp>
        <p:nvSpPr>
          <p:cNvPr id="73736" name="Text Box 9"/>
          <p:cNvSpPr txBox="1">
            <a:spLocks noChangeArrowheads="1"/>
          </p:cNvSpPr>
          <p:nvPr/>
        </p:nvSpPr>
        <p:spPr bwMode="auto">
          <a:xfrm>
            <a:off x="3048000" y="27432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3</a:t>
            </a:r>
          </a:p>
        </p:txBody>
      </p:sp>
      <p:sp>
        <p:nvSpPr>
          <p:cNvPr id="73737" name="Text Box 10"/>
          <p:cNvSpPr txBox="1">
            <a:spLocks noChangeArrowheads="1"/>
          </p:cNvSpPr>
          <p:nvPr/>
        </p:nvSpPr>
        <p:spPr bwMode="auto">
          <a:xfrm>
            <a:off x="2514600" y="27432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2</a:t>
            </a:r>
          </a:p>
        </p:txBody>
      </p:sp>
      <p:sp>
        <p:nvSpPr>
          <p:cNvPr id="73738" name="Text Box 11"/>
          <p:cNvSpPr txBox="1">
            <a:spLocks noChangeArrowheads="1"/>
          </p:cNvSpPr>
          <p:nvPr/>
        </p:nvSpPr>
        <p:spPr bwMode="auto">
          <a:xfrm>
            <a:off x="4114800" y="40528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7</a:t>
            </a:r>
          </a:p>
        </p:txBody>
      </p:sp>
      <p:sp>
        <p:nvSpPr>
          <p:cNvPr id="73739" name="Text Box 12"/>
          <p:cNvSpPr txBox="1">
            <a:spLocks noChangeArrowheads="1"/>
          </p:cNvSpPr>
          <p:nvPr/>
        </p:nvSpPr>
        <p:spPr bwMode="auto">
          <a:xfrm>
            <a:off x="4648200" y="40528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8</a:t>
            </a:r>
          </a:p>
        </p:txBody>
      </p:sp>
      <p:sp>
        <p:nvSpPr>
          <p:cNvPr id="73740" name="Text Box 13"/>
          <p:cNvSpPr txBox="1">
            <a:spLocks noChangeArrowheads="1"/>
          </p:cNvSpPr>
          <p:nvPr/>
        </p:nvSpPr>
        <p:spPr bwMode="auto">
          <a:xfrm>
            <a:off x="5181600" y="40528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10</a:t>
            </a:r>
          </a:p>
        </p:txBody>
      </p:sp>
      <p:sp>
        <p:nvSpPr>
          <p:cNvPr id="73741" name="Text Box 14"/>
          <p:cNvSpPr txBox="1">
            <a:spLocks noChangeArrowheads="1"/>
          </p:cNvSpPr>
          <p:nvPr/>
        </p:nvSpPr>
        <p:spPr bwMode="auto">
          <a:xfrm>
            <a:off x="3581400" y="40528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6</a:t>
            </a:r>
          </a:p>
        </p:txBody>
      </p:sp>
      <p:sp>
        <p:nvSpPr>
          <p:cNvPr id="73742" name="Text Box 15"/>
          <p:cNvSpPr txBox="1">
            <a:spLocks noChangeArrowheads="1"/>
          </p:cNvSpPr>
          <p:nvPr/>
        </p:nvSpPr>
        <p:spPr bwMode="auto">
          <a:xfrm>
            <a:off x="3048000" y="40528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5</a:t>
            </a:r>
          </a:p>
        </p:txBody>
      </p:sp>
      <p:sp>
        <p:nvSpPr>
          <p:cNvPr id="73743" name="Text Box 16"/>
          <p:cNvSpPr txBox="1">
            <a:spLocks noChangeArrowheads="1"/>
          </p:cNvSpPr>
          <p:nvPr/>
        </p:nvSpPr>
        <p:spPr bwMode="auto">
          <a:xfrm>
            <a:off x="41148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11</a:t>
            </a:r>
          </a:p>
        </p:txBody>
      </p:sp>
      <p:sp>
        <p:nvSpPr>
          <p:cNvPr id="73744" name="Text Box 17"/>
          <p:cNvSpPr txBox="1">
            <a:spLocks noChangeArrowheads="1"/>
          </p:cNvSpPr>
          <p:nvPr/>
        </p:nvSpPr>
        <p:spPr bwMode="auto">
          <a:xfrm>
            <a:off x="46482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13</a:t>
            </a:r>
          </a:p>
        </p:txBody>
      </p:sp>
      <p:sp>
        <p:nvSpPr>
          <p:cNvPr id="73745" name="Text Box 18"/>
          <p:cNvSpPr txBox="1">
            <a:spLocks noChangeArrowheads="1"/>
          </p:cNvSpPr>
          <p:nvPr/>
        </p:nvSpPr>
        <p:spPr bwMode="auto">
          <a:xfrm>
            <a:off x="51816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14</a:t>
            </a:r>
          </a:p>
        </p:txBody>
      </p:sp>
      <p:sp>
        <p:nvSpPr>
          <p:cNvPr id="73746" name="Text Box 19"/>
          <p:cNvSpPr txBox="1">
            <a:spLocks noChangeArrowheads="1"/>
          </p:cNvSpPr>
          <p:nvPr/>
        </p:nvSpPr>
        <p:spPr bwMode="auto">
          <a:xfrm>
            <a:off x="35814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9</a:t>
            </a:r>
          </a:p>
        </p:txBody>
      </p:sp>
      <p:sp>
        <p:nvSpPr>
          <p:cNvPr id="73747" name="Text Box 20"/>
          <p:cNvSpPr txBox="1">
            <a:spLocks noChangeArrowheads="1"/>
          </p:cNvSpPr>
          <p:nvPr/>
        </p:nvSpPr>
        <p:spPr bwMode="auto">
          <a:xfrm>
            <a:off x="30480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7</a:t>
            </a:r>
          </a:p>
        </p:txBody>
      </p:sp>
      <p:sp>
        <p:nvSpPr>
          <p:cNvPr id="73748" name="Text Box 21"/>
          <p:cNvSpPr txBox="1">
            <a:spLocks noChangeArrowheads="1"/>
          </p:cNvSpPr>
          <p:nvPr/>
        </p:nvSpPr>
        <p:spPr bwMode="auto">
          <a:xfrm>
            <a:off x="25146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3</a:t>
            </a:r>
          </a:p>
        </p:txBody>
      </p:sp>
      <p:sp>
        <p:nvSpPr>
          <p:cNvPr id="73749" name="AutoShape 23"/>
          <p:cNvSpPr>
            <a:spLocks noChangeArrowheads="1"/>
          </p:cNvSpPr>
          <p:nvPr/>
        </p:nvSpPr>
        <p:spPr bwMode="auto">
          <a:xfrm>
            <a:off x="5867400" y="2514600"/>
            <a:ext cx="1219200" cy="762000"/>
          </a:xfrm>
          <a:prstGeom prst="leftArrow">
            <a:avLst>
              <a:gd name="adj1" fmla="val 50000"/>
              <a:gd name="adj2" fmla="val 4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返回结果</a:t>
            </a:r>
          </a:p>
        </p:txBody>
      </p:sp>
      <p:sp>
        <p:nvSpPr>
          <p:cNvPr id="73750" name="AutoShape 24"/>
          <p:cNvSpPr>
            <a:spLocks noChangeArrowheads="1"/>
          </p:cNvSpPr>
          <p:nvPr/>
        </p:nvSpPr>
        <p:spPr bwMode="auto">
          <a:xfrm>
            <a:off x="5867400" y="3886200"/>
            <a:ext cx="1219200" cy="762000"/>
          </a:xfrm>
          <a:prstGeom prst="leftArrow">
            <a:avLst>
              <a:gd name="adj1" fmla="val 50000"/>
              <a:gd name="adj2" fmla="val 4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返回结果</a:t>
            </a:r>
          </a:p>
        </p:txBody>
      </p:sp>
      <p:sp>
        <p:nvSpPr>
          <p:cNvPr id="73751" name="AutoShape 25"/>
          <p:cNvSpPr>
            <a:spLocks noChangeArrowheads="1"/>
          </p:cNvSpPr>
          <p:nvPr/>
        </p:nvSpPr>
        <p:spPr bwMode="auto">
          <a:xfrm>
            <a:off x="5867400" y="5181600"/>
            <a:ext cx="1219200" cy="762000"/>
          </a:xfrm>
          <a:prstGeom prst="leftArrow">
            <a:avLst>
              <a:gd name="adj1" fmla="val 50000"/>
              <a:gd name="adj2" fmla="val 4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返回结果</a:t>
            </a:r>
          </a:p>
        </p:txBody>
      </p:sp>
      <p:sp>
        <p:nvSpPr>
          <p:cNvPr id="73752" name="Text Box 26"/>
          <p:cNvSpPr txBox="1">
            <a:spLocks noChangeArrowheads="1"/>
          </p:cNvSpPr>
          <p:nvPr/>
        </p:nvSpPr>
        <p:spPr bwMode="auto">
          <a:xfrm>
            <a:off x="5181600" y="27432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8</a:t>
            </a:r>
          </a:p>
        </p:txBody>
      </p:sp>
      <p:sp>
        <p:nvSpPr>
          <p:cNvPr id="73753" name="Oval 27"/>
          <p:cNvSpPr>
            <a:spLocks noChangeArrowheads="1"/>
          </p:cNvSpPr>
          <p:nvPr/>
        </p:nvSpPr>
        <p:spPr bwMode="auto">
          <a:xfrm>
            <a:off x="609600" y="2438400"/>
            <a:ext cx="914400" cy="914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800">
                <a:ea typeface="宋体" charset="-122"/>
              </a:rPr>
              <a:t>1</a:t>
            </a:r>
          </a:p>
        </p:txBody>
      </p:sp>
      <p:sp>
        <p:nvSpPr>
          <p:cNvPr id="73754" name="Rectangle 28"/>
          <p:cNvSpPr>
            <a:spLocks noChangeArrowheads="1"/>
          </p:cNvSpPr>
          <p:nvPr/>
        </p:nvSpPr>
        <p:spPr bwMode="auto">
          <a:xfrm>
            <a:off x="304800" y="4648200"/>
            <a:ext cx="1676400" cy="762000"/>
          </a:xfrm>
          <a:prstGeom prst="rect">
            <a:avLst/>
          </a:prstGeom>
          <a:solidFill>
            <a:srgbClr val="FF99CC">
              <a:alpha val="30196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zh-CN" altLang="en-US">
                <a:ea typeface="宋体" charset="-122"/>
              </a:rPr>
              <a:t>最终结果集</a:t>
            </a:r>
          </a:p>
        </p:txBody>
      </p:sp>
      <p:sp>
        <p:nvSpPr>
          <p:cNvPr id="73755" name="Text Box 29"/>
          <p:cNvSpPr txBox="1">
            <a:spLocks noChangeArrowheads="1"/>
          </p:cNvSpPr>
          <p:nvPr/>
        </p:nvSpPr>
        <p:spPr bwMode="auto">
          <a:xfrm>
            <a:off x="838200" y="1524000"/>
            <a:ext cx="7772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>
                <a:latin typeface="Courier New" pitchFamily="49" charset="0"/>
                <a:ea typeface="宋体" charset="-122"/>
              </a:rPr>
              <a:t>SELECT c1 FROM tb1 ORDER BY </a:t>
            </a:r>
            <a:r>
              <a:rPr lang="en-US" altLang="zh-CN" sz="240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c1</a:t>
            </a:r>
            <a:r>
              <a:rPr lang="en-US" altLang="zh-CN" sz="2400">
                <a:latin typeface="Courier New" pitchFamily="49" charset="0"/>
                <a:ea typeface="宋体" charset="-122"/>
              </a:rPr>
              <a:t> LIMIT </a:t>
            </a:r>
            <a:r>
              <a:rPr lang="en-US" altLang="zh-CN" sz="240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4</a:t>
            </a:r>
            <a:r>
              <a:rPr lang="en-US" altLang="zh-CN" sz="2400">
                <a:latin typeface="Courier New" pitchFamily="49" charset="0"/>
                <a:ea typeface="宋体" charset="-122"/>
              </a:rPr>
              <a:t>, </a:t>
            </a:r>
            <a:r>
              <a:rPr lang="en-US" altLang="zh-CN" sz="240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AutoShape 2"/>
          <p:cNvSpPr>
            <a:spLocks noChangeArrowheads="1"/>
          </p:cNvSpPr>
          <p:nvPr/>
        </p:nvSpPr>
        <p:spPr bwMode="auto">
          <a:xfrm>
            <a:off x="7239000" y="2438400"/>
            <a:ext cx="1371600" cy="838200"/>
          </a:xfrm>
          <a:prstGeom prst="flowChartMagneticDisk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分库</a:t>
            </a:r>
            <a:r>
              <a:rPr lang="en-US" altLang="zh-CN">
                <a:ea typeface="宋体" charset="-122"/>
              </a:rPr>
              <a:t>1</a:t>
            </a:r>
          </a:p>
        </p:txBody>
      </p:sp>
      <p:sp>
        <p:nvSpPr>
          <p:cNvPr id="74754" name="AutoShape 3"/>
          <p:cNvSpPr>
            <a:spLocks noChangeArrowheads="1"/>
          </p:cNvSpPr>
          <p:nvPr/>
        </p:nvSpPr>
        <p:spPr bwMode="auto">
          <a:xfrm>
            <a:off x="7239000" y="3810000"/>
            <a:ext cx="1371600" cy="838200"/>
          </a:xfrm>
          <a:prstGeom prst="flowChartMagneticDisk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分库</a:t>
            </a:r>
            <a:r>
              <a:rPr lang="en-US" altLang="zh-CN">
                <a:ea typeface="宋体" charset="-122"/>
              </a:rPr>
              <a:t>2</a:t>
            </a:r>
          </a:p>
        </p:txBody>
      </p:sp>
      <p:sp>
        <p:nvSpPr>
          <p:cNvPr id="74755" name="AutoShape 4"/>
          <p:cNvSpPr>
            <a:spLocks noChangeArrowheads="1"/>
          </p:cNvSpPr>
          <p:nvPr/>
        </p:nvSpPr>
        <p:spPr bwMode="auto">
          <a:xfrm>
            <a:off x="7239000" y="5105400"/>
            <a:ext cx="1371600" cy="838200"/>
          </a:xfrm>
          <a:prstGeom prst="flowChartMagneticDisk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分库</a:t>
            </a:r>
            <a:r>
              <a:rPr lang="en-US" altLang="zh-CN">
                <a:ea typeface="宋体" charset="-122"/>
              </a:rPr>
              <a:t>3</a:t>
            </a:r>
          </a:p>
        </p:txBody>
      </p:sp>
      <p:sp>
        <p:nvSpPr>
          <p:cNvPr id="74756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latin typeface="微软雅黑"/>
                <a:ea typeface="微软雅黑"/>
                <a:cs typeface="微软雅黑"/>
              </a:rPr>
              <a:t>Order By/Limit</a:t>
            </a:r>
          </a:p>
        </p:txBody>
      </p:sp>
      <p:sp>
        <p:nvSpPr>
          <p:cNvPr id="74757" name="Text Box 6"/>
          <p:cNvSpPr txBox="1">
            <a:spLocks noChangeArrowheads="1"/>
          </p:cNvSpPr>
          <p:nvPr/>
        </p:nvSpPr>
        <p:spPr bwMode="auto">
          <a:xfrm>
            <a:off x="3581400" y="27432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4</a:t>
            </a:r>
          </a:p>
        </p:txBody>
      </p:sp>
      <p:sp>
        <p:nvSpPr>
          <p:cNvPr id="74758" name="Text Box 7"/>
          <p:cNvSpPr txBox="1">
            <a:spLocks noChangeArrowheads="1"/>
          </p:cNvSpPr>
          <p:nvPr/>
        </p:nvSpPr>
        <p:spPr bwMode="auto">
          <a:xfrm>
            <a:off x="4114800" y="27432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5</a:t>
            </a:r>
          </a:p>
        </p:txBody>
      </p:sp>
      <p:sp>
        <p:nvSpPr>
          <p:cNvPr id="74759" name="Text Box 8"/>
          <p:cNvSpPr txBox="1">
            <a:spLocks noChangeArrowheads="1"/>
          </p:cNvSpPr>
          <p:nvPr/>
        </p:nvSpPr>
        <p:spPr bwMode="auto">
          <a:xfrm>
            <a:off x="4648200" y="27432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6</a:t>
            </a:r>
          </a:p>
        </p:txBody>
      </p:sp>
      <p:sp>
        <p:nvSpPr>
          <p:cNvPr id="74760" name="Text Box 9"/>
          <p:cNvSpPr txBox="1">
            <a:spLocks noChangeArrowheads="1"/>
          </p:cNvSpPr>
          <p:nvPr/>
        </p:nvSpPr>
        <p:spPr bwMode="auto">
          <a:xfrm>
            <a:off x="3048000" y="27432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3</a:t>
            </a:r>
          </a:p>
        </p:txBody>
      </p:sp>
      <p:sp>
        <p:nvSpPr>
          <p:cNvPr id="74761" name="Text Box 10"/>
          <p:cNvSpPr txBox="1">
            <a:spLocks noChangeArrowheads="1"/>
          </p:cNvSpPr>
          <p:nvPr/>
        </p:nvSpPr>
        <p:spPr bwMode="auto">
          <a:xfrm>
            <a:off x="4114800" y="40528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7</a:t>
            </a:r>
          </a:p>
        </p:txBody>
      </p:sp>
      <p:sp>
        <p:nvSpPr>
          <p:cNvPr id="74762" name="Text Box 11"/>
          <p:cNvSpPr txBox="1">
            <a:spLocks noChangeArrowheads="1"/>
          </p:cNvSpPr>
          <p:nvPr/>
        </p:nvSpPr>
        <p:spPr bwMode="auto">
          <a:xfrm>
            <a:off x="4648200" y="40528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8</a:t>
            </a:r>
          </a:p>
        </p:txBody>
      </p:sp>
      <p:sp>
        <p:nvSpPr>
          <p:cNvPr id="74763" name="Text Box 12"/>
          <p:cNvSpPr txBox="1">
            <a:spLocks noChangeArrowheads="1"/>
          </p:cNvSpPr>
          <p:nvPr/>
        </p:nvSpPr>
        <p:spPr bwMode="auto">
          <a:xfrm>
            <a:off x="5181600" y="40528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10</a:t>
            </a:r>
          </a:p>
        </p:txBody>
      </p:sp>
      <p:sp>
        <p:nvSpPr>
          <p:cNvPr id="74764" name="Text Box 13"/>
          <p:cNvSpPr txBox="1">
            <a:spLocks noChangeArrowheads="1"/>
          </p:cNvSpPr>
          <p:nvPr/>
        </p:nvSpPr>
        <p:spPr bwMode="auto">
          <a:xfrm>
            <a:off x="3581400" y="40528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6</a:t>
            </a:r>
          </a:p>
        </p:txBody>
      </p:sp>
      <p:sp>
        <p:nvSpPr>
          <p:cNvPr id="74765" name="Text Box 14"/>
          <p:cNvSpPr txBox="1">
            <a:spLocks noChangeArrowheads="1"/>
          </p:cNvSpPr>
          <p:nvPr/>
        </p:nvSpPr>
        <p:spPr bwMode="auto">
          <a:xfrm>
            <a:off x="3048000" y="40528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5</a:t>
            </a:r>
          </a:p>
        </p:txBody>
      </p:sp>
      <p:sp>
        <p:nvSpPr>
          <p:cNvPr id="74766" name="Text Box 15"/>
          <p:cNvSpPr txBox="1">
            <a:spLocks noChangeArrowheads="1"/>
          </p:cNvSpPr>
          <p:nvPr/>
        </p:nvSpPr>
        <p:spPr bwMode="auto">
          <a:xfrm>
            <a:off x="41148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11</a:t>
            </a:r>
          </a:p>
        </p:txBody>
      </p:sp>
      <p:sp>
        <p:nvSpPr>
          <p:cNvPr id="74767" name="Text Box 16"/>
          <p:cNvSpPr txBox="1">
            <a:spLocks noChangeArrowheads="1"/>
          </p:cNvSpPr>
          <p:nvPr/>
        </p:nvSpPr>
        <p:spPr bwMode="auto">
          <a:xfrm>
            <a:off x="46482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13</a:t>
            </a:r>
          </a:p>
        </p:txBody>
      </p:sp>
      <p:sp>
        <p:nvSpPr>
          <p:cNvPr id="74768" name="Text Box 17"/>
          <p:cNvSpPr txBox="1">
            <a:spLocks noChangeArrowheads="1"/>
          </p:cNvSpPr>
          <p:nvPr/>
        </p:nvSpPr>
        <p:spPr bwMode="auto">
          <a:xfrm>
            <a:off x="51816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14</a:t>
            </a:r>
          </a:p>
        </p:txBody>
      </p:sp>
      <p:sp>
        <p:nvSpPr>
          <p:cNvPr id="74769" name="Text Box 18"/>
          <p:cNvSpPr txBox="1">
            <a:spLocks noChangeArrowheads="1"/>
          </p:cNvSpPr>
          <p:nvPr/>
        </p:nvSpPr>
        <p:spPr bwMode="auto">
          <a:xfrm>
            <a:off x="35814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9</a:t>
            </a:r>
          </a:p>
        </p:txBody>
      </p:sp>
      <p:sp>
        <p:nvSpPr>
          <p:cNvPr id="74770" name="Text Box 19"/>
          <p:cNvSpPr txBox="1">
            <a:spLocks noChangeArrowheads="1"/>
          </p:cNvSpPr>
          <p:nvPr/>
        </p:nvSpPr>
        <p:spPr bwMode="auto">
          <a:xfrm>
            <a:off x="30480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7</a:t>
            </a:r>
          </a:p>
        </p:txBody>
      </p:sp>
      <p:sp>
        <p:nvSpPr>
          <p:cNvPr id="74771" name="Text Box 20"/>
          <p:cNvSpPr txBox="1">
            <a:spLocks noChangeArrowheads="1"/>
          </p:cNvSpPr>
          <p:nvPr/>
        </p:nvSpPr>
        <p:spPr bwMode="auto">
          <a:xfrm>
            <a:off x="25146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3</a:t>
            </a:r>
          </a:p>
        </p:txBody>
      </p:sp>
      <p:sp>
        <p:nvSpPr>
          <p:cNvPr id="74772" name="AutoShape 22"/>
          <p:cNvSpPr>
            <a:spLocks noChangeArrowheads="1"/>
          </p:cNvSpPr>
          <p:nvPr/>
        </p:nvSpPr>
        <p:spPr bwMode="auto">
          <a:xfrm>
            <a:off x="5867400" y="2514600"/>
            <a:ext cx="1219200" cy="762000"/>
          </a:xfrm>
          <a:prstGeom prst="leftArrow">
            <a:avLst>
              <a:gd name="adj1" fmla="val 50000"/>
              <a:gd name="adj2" fmla="val 4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返回结果</a:t>
            </a:r>
          </a:p>
        </p:txBody>
      </p:sp>
      <p:sp>
        <p:nvSpPr>
          <p:cNvPr id="74773" name="AutoShape 23"/>
          <p:cNvSpPr>
            <a:spLocks noChangeArrowheads="1"/>
          </p:cNvSpPr>
          <p:nvPr/>
        </p:nvSpPr>
        <p:spPr bwMode="auto">
          <a:xfrm>
            <a:off x="5867400" y="3886200"/>
            <a:ext cx="1219200" cy="762000"/>
          </a:xfrm>
          <a:prstGeom prst="leftArrow">
            <a:avLst>
              <a:gd name="adj1" fmla="val 50000"/>
              <a:gd name="adj2" fmla="val 4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返回结果</a:t>
            </a:r>
          </a:p>
        </p:txBody>
      </p:sp>
      <p:sp>
        <p:nvSpPr>
          <p:cNvPr id="74774" name="AutoShape 24"/>
          <p:cNvSpPr>
            <a:spLocks noChangeArrowheads="1"/>
          </p:cNvSpPr>
          <p:nvPr/>
        </p:nvSpPr>
        <p:spPr bwMode="auto">
          <a:xfrm>
            <a:off x="5867400" y="5181600"/>
            <a:ext cx="1219200" cy="762000"/>
          </a:xfrm>
          <a:prstGeom prst="leftArrow">
            <a:avLst>
              <a:gd name="adj1" fmla="val 50000"/>
              <a:gd name="adj2" fmla="val 4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返回结果</a:t>
            </a:r>
          </a:p>
        </p:txBody>
      </p:sp>
      <p:sp>
        <p:nvSpPr>
          <p:cNvPr id="74775" name="Text Box 25"/>
          <p:cNvSpPr txBox="1">
            <a:spLocks noChangeArrowheads="1"/>
          </p:cNvSpPr>
          <p:nvPr/>
        </p:nvSpPr>
        <p:spPr bwMode="auto">
          <a:xfrm>
            <a:off x="5181600" y="27432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8</a:t>
            </a:r>
          </a:p>
        </p:txBody>
      </p:sp>
      <p:sp>
        <p:nvSpPr>
          <p:cNvPr id="74776" name="Oval 26"/>
          <p:cNvSpPr>
            <a:spLocks noChangeArrowheads="1"/>
          </p:cNvSpPr>
          <p:nvPr/>
        </p:nvSpPr>
        <p:spPr bwMode="auto">
          <a:xfrm>
            <a:off x="609600" y="2438400"/>
            <a:ext cx="914400" cy="914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800">
                <a:ea typeface="宋体" charset="-122"/>
              </a:rPr>
              <a:t>2</a:t>
            </a:r>
          </a:p>
        </p:txBody>
      </p:sp>
      <p:sp>
        <p:nvSpPr>
          <p:cNvPr id="74777" name="Rectangle 27"/>
          <p:cNvSpPr>
            <a:spLocks noChangeArrowheads="1"/>
          </p:cNvSpPr>
          <p:nvPr/>
        </p:nvSpPr>
        <p:spPr bwMode="auto">
          <a:xfrm>
            <a:off x="304800" y="4648200"/>
            <a:ext cx="1676400" cy="762000"/>
          </a:xfrm>
          <a:prstGeom prst="rect">
            <a:avLst/>
          </a:prstGeom>
          <a:solidFill>
            <a:srgbClr val="FF99CC">
              <a:alpha val="30196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zh-CN" altLang="en-US">
                <a:ea typeface="宋体" charset="-122"/>
              </a:rPr>
              <a:t>最终结果集</a:t>
            </a:r>
          </a:p>
        </p:txBody>
      </p:sp>
      <p:sp>
        <p:nvSpPr>
          <p:cNvPr id="74778" name="Text Box 28"/>
          <p:cNvSpPr txBox="1">
            <a:spLocks noChangeArrowheads="1"/>
          </p:cNvSpPr>
          <p:nvPr/>
        </p:nvSpPr>
        <p:spPr bwMode="auto">
          <a:xfrm>
            <a:off x="838200" y="1524000"/>
            <a:ext cx="7772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>
                <a:latin typeface="Courier New" pitchFamily="49" charset="0"/>
                <a:ea typeface="宋体" charset="-122"/>
              </a:rPr>
              <a:t>SELECT c1 FROM tb1 ORDER BY </a:t>
            </a:r>
            <a:r>
              <a:rPr lang="en-US" altLang="zh-CN" sz="240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c1</a:t>
            </a:r>
            <a:r>
              <a:rPr lang="en-US" altLang="zh-CN" sz="2400">
                <a:latin typeface="Courier New" pitchFamily="49" charset="0"/>
                <a:ea typeface="宋体" charset="-122"/>
              </a:rPr>
              <a:t> LIMIT </a:t>
            </a:r>
            <a:r>
              <a:rPr lang="en-US" altLang="zh-CN" sz="240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4</a:t>
            </a:r>
            <a:r>
              <a:rPr lang="en-US" altLang="zh-CN" sz="2400">
                <a:latin typeface="Courier New" pitchFamily="49" charset="0"/>
                <a:ea typeface="宋体" charset="-122"/>
              </a:rPr>
              <a:t>, </a:t>
            </a:r>
            <a:r>
              <a:rPr lang="en-US" altLang="zh-CN" sz="240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AutoShape 2"/>
          <p:cNvSpPr>
            <a:spLocks noChangeArrowheads="1"/>
          </p:cNvSpPr>
          <p:nvPr/>
        </p:nvSpPr>
        <p:spPr bwMode="auto">
          <a:xfrm>
            <a:off x="7239000" y="2438400"/>
            <a:ext cx="1371600" cy="838200"/>
          </a:xfrm>
          <a:prstGeom prst="flowChartMagneticDisk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分库</a:t>
            </a:r>
            <a:r>
              <a:rPr lang="en-US" altLang="zh-CN">
                <a:ea typeface="宋体" charset="-122"/>
              </a:rPr>
              <a:t>1</a:t>
            </a:r>
          </a:p>
        </p:txBody>
      </p:sp>
      <p:sp>
        <p:nvSpPr>
          <p:cNvPr id="75778" name="AutoShape 3"/>
          <p:cNvSpPr>
            <a:spLocks noChangeArrowheads="1"/>
          </p:cNvSpPr>
          <p:nvPr/>
        </p:nvSpPr>
        <p:spPr bwMode="auto">
          <a:xfrm>
            <a:off x="7239000" y="3810000"/>
            <a:ext cx="1371600" cy="838200"/>
          </a:xfrm>
          <a:prstGeom prst="flowChartMagneticDisk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分库</a:t>
            </a:r>
            <a:r>
              <a:rPr lang="en-US" altLang="zh-CN">
                <a:ea typeface="宋体" charset="-122"/>
              </a:rPr>
              <a:t>2</a:t>
            </a:r>
          </a:p>
        </p:txBody>
      </p:sp>
      <p:sp>
        <p:nvSpPr>
          <p:cNvPr id="75779" name="AutoShape 4"/>
          <p:cNvSpPr>
            <a:spLocks noChangeArrowheads="1"/>
          </p:cNvSpPr>
          <p:nvPr/>
        </p:nvSpPr>
        <p:spPr bwMode="auto">
          <a:xfrm>
            <a:off x="7239000" y="5105400"/>
            <a:ext cx="1371600" cy="838200"/>
          </a:xfrm>
          <a:prstGeom prst="flowChartMagneticDisk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分库</a:t>
            </a:r>
            <a:r>
              <a:rPr lang="en-US" altLang="zh-CN">
                <a:ea typeface="宋体" charset="-122"/>
              </a:rPr>
              <a:t>3</a:t>
            </a:r>
          </a:p>
        </p:txBody>
      </p:sp>
      <p:sp>
        <p:nvSpPr>
          <p:cNvPr id="75780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latin typeface="微软雅黑"/>
                <a:ea typeface="微软雅黑"/>
                <a:cs typeface="微软雅黑"/>
              </a:rPr>
              <a:t>Order By/Limit</a:t>
            </a:r>
          </a:p>
        </p:txBody>
      </p:sp>
      <p:sp>
        <p:nvSpPr>
          <p:cNvPr id="75781" name="Text Box 6"/>
          <p:cNvSpPr txBox="1">
            <a:spLocks noChangeArrowheads="1"/>
          </p:cNvSpPr>
          <p:nvPr/>
        </p:nvSpPr>
        <p:spPr bwMode="auto">
          <a:xfrm>
            <a:off x="3581400" y="27432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4</a:t>
            </a:r>
          </a:p>
        </p:txBody>
      </p:sp>
      <p:sp>
        <p:nvSpPr>
          <p:cNvPr id="75782" name="Text Box 7"/>
          <p:cNvSpPr txBox="1">
            <a:spLocks noChangeArrowheads="1"/>
          </p:cNvSpPr>
          <p:nvPr/>
        </p:nvSpPr>
        <p:spPr bwMode="auto">
          <a:xfrm>
            <a:off x="4114800" y="27432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5</a:t>
            </a:r>
          </a:p>
        </p:txBody>
      </p:sp>
      <p:sp>
        <p:nvSpPr>
          <p:cNvPr id="75783" name="Text Box 8"/>
          <p:cNvSpPr txBox="1">
            <a:spLocks noChangeArrowheads="1"/>
          </p:cNvSpPr>
          <p:nvPr/>
        </p:nvSpPr>
        <p:spPr bwMode="auto">
          <a:xfrm>
            <a:off x="4648200" y="27432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6</a:t>
            </a:r>
          </a:p>
        </p:txBody>
      </p:sp>
      <p:sp>
        <p:nvSpPr>
          <p:cNvPr id="75784" name="Text Box 9"/>
          <p:cNvSpPr txBox="1">
            <a:spLocks noChangeArrowheads="1"/>
          </p:cNvSpPr>
          <p:nvPr/>
        </p:nvSpPr>
        <p:spPr bwMode="auto">
          <a:xfrm>
            <a:off x="4114800" y="40528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7</a:t>
            </a:r>
          </a:p>
        </p:txBody>
      </p:sp>
      <p:sp>
        <p:nvSpPr>
          <p:cNvPr id="75785" name="Text Box 10"/>
          <p:cNvSpPr txBox="1">
            <a:spLocks noChangeArrowheads="1"/>
          </p:cNvSpPr>
          <p:nvPr/>
        </p:nvSpPr>
        <p:spPr bwMode="auto">
          <a:xfrm>
            <a:off x="4648200" y="40528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8</a:t>
            </a:r>
          </a:p>
        </p:txBody>
      </p:sp>
      <p:sp>
        <p:nvSpPr>
          <p:cNvPr id="75786" name="Text Box 11"/>
          <p:cNvSpPr txBox="1">
            <a:spLocks noChangeArrowheads="1"/>
          </p:cNvSpPr>
          <p:nvPr/>
        </p:nvSpPr>
        <p:spPr bwMode="auto">
          <a:xfrm>
            <a:off x="5181600" y="40528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10</a:t>
            </a:r>
          </a:p>
        </p:txBody>
      </p:sp>
      <p:sp>
        <p:nvSpPr>
          <p:cNvPr id="75787" name="Text Box 12"/>
          <p:cNvSpPr txBox="1">
            <a:spLocks noChangeArrowheads="1"/>
          </p:cNvSpPr>
          <p:nvPr/>
        </p:nvSpPr>
        <p:spPr bwMode="auto">
          <a:xfrm>
            <a:off x="3581400" y="40528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6</a:t>
            </a:r>
          </a:p>
        </p:txBody>
      </p:sp>
      <p:sp>
        <p:nvSpPr>
          <p:cNvPr id="75788" name="Text Box 13"/>
          <p:cNvSpPr txBox="1">
            <a:spLocks noChangeArrowheads="1"/>
          </p:cNvSpPr>
          <p:nvPr/>
        </p:nvSpPr>
        <p:spPr bwMode="auto">
          <a:xfrm>
            <a:off x="3048000" y="40528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5</a:t>
            </a:r>
          </a:p>
        </p:txBody>
      </p:sp>
      <p:sp>
        <p:nvSpPr>
          <p:cNvPr id="75789" name="Text Box 14"/>
          <p:cNvSpPr txBox="1">
            <a:spLocks noChangeArrowheads="1"/>
          </p:cNvSpPr>
          <p:nvPr/>
        </p:nvSpPr>
        <p:spPr bwMode="auto">
          <a:xfrm>
            <a:off x="41148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11</a:t>
            </a:r>
          </a:p>
        </p:txBody>
      </p:sp>
      <p:sp>
        <p:nvSpPr>
          <p:cNvPr id="75790" name="Text Box 15"/>
          <p:cNvSpPr txBox="1">
            <a:spLocks noChangeArrowheads="1"/>
          </p:cNvSpPr>
          <p:nvPr/>
        </p:nvSpPr>
        <p:spPr bwMode="auto">
          <a:xfrm>
            <a:off x="46482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13</a:t>
            </a:r>
          </a:p>
        </p:txBody>
      </p:sp>
      <p:sp>
        <p:nvSpPr>
          <p:cNvPr id="75791" name="Text Box 16"/>
          <p:cNvSpPr txBox="1">
            <a:spLocks noChangeArrowheads="1"/>
          </p:cNvSpPr>
          <p:nvPr/>
        </p:nvSpPr>
        <p:spPr bwMode="auto">
          <a:xfrm>
            <a:off x="51816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14</a:t>
            </a:r>
          </a:p>
        </p:txBody>
      </p:sp>
      <p:sp>
        <p:nvSpPr>
          <p:cNvPr id="75792" name="Text Box 17"/>
          <p:cNvSpPr txBox="1">
            <a:spLocks noChangeArrowheads="1"/>
          </p:cNvSpPr>
          <p:nvPr/>
        </p:nvSpPr>
        <p:spPr bwMode="auto">
          <a:xfrm>
            <a:off x="35814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9</a:t>
            </a:r>
          </a:p>
        </p:txBody>
      </p:sp>
      <p:sp>
        <p:nvSpPr>
          <p:cNvPr id="75793" name="Text Box 18"/>
          <p:cNvSpPr txBox="1">
            <a:spLocks noChangeArrowheads="1"/>
          </p:cNvSpPr>
          <p:nvPr/>
        </p:nvSpPr>
        <p:spPr bwMode="auto">
          <a:xfrm>
            <a:off x="30480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7</a:t>
            </a:r>
          </a:p>
        </p:txBody>
      </p:sp>
      <p:sp>
        <p:nvSpPr>
          <p:cNvPr id="75794" name="Text Box 19"/>
          <p:cNvSpPr txBox="1">
            <a:spLocks noChangeArrowheads="1"/>
          </p:cNvSpPr>
          <p:nvPr/>
        </p:nvSpPr>
        <p:spPr bwMode="auto">
          <a:xfrm>
            <a:off x="25146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3</a:t>
            </a:r>
          </a:p>
        </p:txBody>
      </p:sp>
      <p:sp>
        <p:nvSpPr>
          <p:cNvPr id="75795" name="AutoShape 21"/>
          <p:cNvSpPr>
            <a:spLocks noChangeArrowheads="1"/>
          </p:cNvSpPr>
          <p:nvPr/>
        </p:nvSpPr>
        <p:spPr bwMode="auto">
          <a:xfrm>
            <a:off x="5867400" y="2514600"/>
            <a:ext cx="1219200" cy="762000"/>
          </a:xfrm>
          <a:prstGeom prst="leftArrow">
            <a:avLst>
              <a:gd name="adj1" fmla="val 50000"/>
              <a:gd name="adj2" fmla="val 4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返回结果</a:t>
            </a:r>
          </a:p>
        </p:txBody>
      </p:sp>
      <p:sp>
        <p:nvSpPr>
          <p:cNvPr id="75796" name="AutoShape 22"/>
          <p:cNvSpPr>
            <a:spLocks noChangeArrowheads="1"/>
          </p:cNvSpPr>
          <p:nvPr/>
        </p:nvSpPr>
        <p:spPr bwMode="auto">
          <a:xfrm>
            <a:off x="5867400" y="3886200"/>
            <a:ext cx="1219200" cy="762000"/>
          </a:xfrm>
          <a:prstGeom prst="leftArrow">
            <a:avLst>
              <a:gd name="adj1" fmla="val 50000"/>
              <a:gd name="adj2" fmla="val 4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返回结果</a:t>
            </a:r>
          </a:p>
        </p:txBody>
      </p:sp>
      <p:sp>
        <p:nvSpPr>
          <p:cNvPr id="75797" name="AutoShape 23"/>
          <p:cNvSpPr>
            <a:spLocks noChangeArrowheads="1"/>
          </p:cNvSpPr>
          <p:nvPr/>
        </p:nvSpPr>
        <p:spPr bwMode="auto">
          <a:xfrm>
            <a:off x="5867400" y="5181600"/>
            <a:ext cx="1219200" cy="762000"/>
          </a:xfrm>
          <a:prstGeom prst="leftArrow">
            <a:avLst>
              <a:gd name="adj1" fmla="val 50000"/>
              <a:gd name="adj2" fmla="val 4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返回结果</a:t>
            </a:r>
          </a:p>
        </p:txBody>
      </p:sp>
      <p:sp>
        <p:nvSpPr>
          <p:cNvPr id="75798" name="Text Box 24"/>
          <p:cNvSpPr txBox="1">
            <a:spLocks noChangeArrowheads="1"/>
          </p:cNvSpPr>
          <p:nvPr/>
        </p:nvSpPr>
        <p:spPr bwMode="auto">
          <a:xfrm>
            <a:off x="5181600" y="27432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8</a:t>
            </a:r>
          </a:p>
        </p:txBody>
      </p:sp>
      <p:sp>
        <p:nvSpPr>
          <p:cNvPr id="75799" name="Oval 25"/>
          <p:cNvSpPr>
            <a:spLocks noChangeArrowheads="1"/>
          </p:cNvSpPr>
          <p:nvPr/>
        </p:nvSpPr>
        <p:spPr bwMode="auto">
          <a:xfrm>
            <a:off x="609600" y="2438400"/>
            <a:ext cx="914400" cy="914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800">
                <a:ea typeface="宋体" charset="-122"/>
              </a:rPr>
              <a:t>3</a:t>
            </a:r>
          </a:p>
        </p:txBody>
      </p:sp>
      <p:sp>
        <p:nvSpPr>
          <p:cNvPr id="75800" name="Rectangle 26"/>
          <p:cNvSpPr>
            <a:spLocks noChangeArrowheads="1"/>
          </p:cNvSpPr>
          <p:nvPr/>
        </p:nvSpPr>
        <p:spPr bwMode="auto">
          <a:xfrm>
            <a:off x="304800" y="4648200"/>
            <a:ext cx="1676400" cy="762000"/>
          </a:xfrm>
          <a:prstGeom prst="rect">
            <a:avLst/>
          </a:prstGeom>
          <a:solidFill>
            <a:srgbClr val="FF99CC">
              <a:alpha val="30196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zh-CN" altLang="en-US">
                <a:ea typeface="宋体" charset="-122"/>
              </a:rPr>
              <a:t>最终结果集</a:t>
            </a:r>
          </a:p>
        </p:txBody>
      </p:sp>
      <p:sp>
        <p:nvSpPr>
          <p:cNvPr id="75801" name="Text Box 27"/>
          <p:cNvSpPr txBox="1">
            <a:spLocks noChangeArrowheads="1"/>
          </p:cNvSpPr>
          <p:nvPr/>
        </p:nvSpPr>
        <p:spPr bwMode="auto">
          <a:xfrm>
            <a:off x="838200" y="1524000"/>
            <a:ext cx="7772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>
                <a:latin typeface="Courier New" pitchFamily="49" charset="0"/>
                <a:ea typeface="宋体" charset="-122"/>
              </a:rPr>
              <a:t>SELECT c1 FROM tb1 ORDER BY </a:t>
            </a:r>
            <a:r>
              <a:rPr lang="en-US" altLang="zh-CN" sz="240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c1</a:t>
            </a:r>
            <a:r>
              <a:rPr lang="en-US" altLang="zh-CN" sz="2400">
                <a:latin typeface="Courier New" pitchFamily="49" charset="0"/>
                <a:ea typeface="宋体" charset="-122"/>
              </a:rPr>
              <a:t> LIMIT </a:t>
            </a:r>
            <a:r>
              <a:rPr lang="en-US" altLang="zh-CN" sz="240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4</a:t>
            </a:r>
            <a:r>
              <a:rPr lang="en-US" altLang="zh-CN" sz="2400">
                <a:latin typeface="Courier New" pitchFamily="49" charset="0"/>
                <a:ea typeface="宋体" charset="-122"/>
              </a:rPr>
              <a:t>, </a:t>
            </a:r>
            <a:r>
              <a:rPr lang="en-US" altLang="zh-CN" sz="240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AutoShape 2"/>
          <p:cNvSpPr>
            <a:spLocks noChangeArrowheads="1"/>
          </p:cNvSpPr>
          <p:nvPr/>
        </p:nvSpPr>
        <p:spPr bwMode="auto">
          <a:xfrm>
            <a:off x="7239000" y="2438400"/>
            <a:ext cx="1371600" cy="838200"/>
          </a:xfrm>
          <a:prstGeom prst="flowChartMagneticDisk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分库</a:t>
            </a:r>
            <a:r>
              <a:rPr lang="en-US" altLang="zh-CN">
                <a:ea typeface="宋体" charset="-122"/>
              </a:rPr>
              <a:t>1</a:t>
            </a:r>
          </a:p>
        </p:txBody>
      </p:sp>
      <p:sp>
        <p:nvSpPr>
          <p:cNvPr id="76802" name="AutoShape 3"/>
          <p:cNvSpPr>
            <a:spLocks noChangeArrowheads="1"/>
          </p:cNvSpPr>
          <p:nvPr/>
        </p:nvSpPr>
        <p:spPr bwMode="auto">
          <a:xfrm>
            <a:off x="7239000" y="3810000"/>
            <a:ext cx="1371600" cy="838200"/>
          </a:xfrm>
          <a:prstGeom prst="flowChartMagneticDisk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分库</a:t>
            </a:r>
            <a:r>
              <a:rPr lang="en-US" altLang="zh-CN">
                <a:ea typeface="宋体" charset="-122"/>
              </a:rPr>
              <a:t>2</a:t>
            </a:r>
          </a:p>
        </p:txBody>
      </p:sp>
      <p:sp>
        <p:nvSpPr>
          <p:cNvPr id="76803" name="AutoShape 4"/>
          <p:cNvSpPr>
            <a:spLocks noChangeArrowheads="1"/>
          </p:cNvSpPr>
          <p:nvPr/>
        </p:nvSpPr>
        <p:spPr bwMode="auto">
          <a:xfrm>
            <a:off x="7239000" y="5105400"/>
            <a:ext cx="1371600" cy="838200"/>
          </a:xfrm>
          <a:prstGeom prst="flowChartMagneticDisk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分库</a:t>
            </a:r>
            <a:r>
              <a:rPr lang="en-US" altLang="zh-CN">
                <a:ea typeface="宋体" charset="-122"/>
              </a:rPr>
              <a:t>3</a:t>
            </a:r>
          </a:p>
        </p:txBody>
      </p:sp>
      <p:sp>
        <p:nvSpPr>
          <p:cNvPr id="76804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latin typeface="微软雅黑"/>
                <a:ea typeface="微软雅黑"/>
                <a:cs typeface="微软雅黑"/>
              </a:rPr>
              <a:t>Order By/Limit</a:t>
            </a:r>
          </a:p>
        </p:txBody>
      </p:sp>
      <p:sp>
        <p:nvSpPr>
          <p:cNvPr id="76805" name="Text Box 6"/>
          <p:cNvSpPr txBox="1">
            <a:spLocks noChangeArrowheads="1"/>
          </p:cNvSpPr>
          <p:nvPr/>
        </p:nvSpPr>
        <p:spPr bwMode="auto">
          <a:xfrm>
            <a:off x="3581400" y="27432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4</a:t>
            </a:r>
          </a:p>
        </p:txBody>
      </p:sp>
      <p:sp>
        <p:nvSpPr>
          <p:cNvPr id="76806" name="Text Box 7"/>
          <p:cNvSpPr txBox="1">
            <a:spLocks noChangeArrowheads="1"/>
          </p:cNvSpPr>
          <p:nvPr/>
        </p:nvSpPr>
        <p:spPr bwMode="auto">
          <a:xfrm>
            <a:off x="4114800" y="27432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5</a:t>
            </a:r>
          </a:p>
        </p:txBody>
      </p:sp>
      <p:sp>
        <p:nvSpPr>
          <p:cNvPr id="76807" name="Text Box 8"/>
          <p:cNvSpPr txBox="1">
            <a:spLocks noChangeArrowheads="1"/>
          </p:cNvSpPr>
          <p:nvPr/>
        </p:nvSpPr>
        <p:spPr bwMode="auto">
          <a:xfrm>
            <a:off x="4648200" y="27432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6</a:t>
            </a:r>
          </a:p>
        </p:txBody>
      </p:sp>
      <p:sp>
        <p:nvSpPr>
          <p:cNvPr id="76808" name="Text Box 9"/>
          <p:cNvSpPr txBox="1">
            <a:spLocks noChangeArrowheads="1"/>
          </p:cNvSpPr>
          <p:nvPr/>
        </p:nvSpPr>
        <p:spPr bwMode="auto">
          <a:xfrm>
            <a:off x="4114800" y="40528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7</a:t>
            </a:r>
          </a:p>
        </p:txBody>
      </p:sp>
      <p:sp>
        <p:nvSpPr>
          <p:cNvPr id="76809" name="Text Box 10"/>
          <p:cNvSpPr txBox="1">
            <a:spLocks noChangeArrowheads="1"/>
          </p:cNvSpPr>
          <p:nvPr/>
        </p:nvSpPr>
        <p:spPr bwMode="auto">
          <a:xfrm>
            <a:off x="4648200" y="40528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8</a:t>
            </a:r>
          </a:p>
        </p:txBody>
      </p:sp>
      <p:sp>
        <p:nvSpPr>
          <p:cNvPr id="76810" name="Text Box 11"/>
          <p:cNvSpPr txBox="1">
            <a:spLocks noChangeArrowheads="1"/>
          </p:cNvSpPr>
          <p:nvPr/>
        </p:nvSpPr>
        <p:spPr bwMode="auto">
          <a:xfrm>
            <a:off x="5181600" y="40528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10</a:t>
            </a:r>
          </a:p>
        </p:txBody>
      </p:sp>
      <p:sp>
        <p:nvSpPr>
          <p:cNvPr id="76811" name="Text Box 12"/>
          <p:cNvSpPr txBox="1">
            <a:spLocks noChangeArrowheads="1"/>
          </p:cNvSpPr>
          <p:nvPr/>
        </p:nvSpPr>
        <p:spPr bwMode="auto">
          <a:xfrm>
            <a:off x="3581400" y="40528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6</a:t>
            </a:r>
          </a:p>
        </p:txBody>
      </p:sp>
      <p:sp>
        <p:nvSpPr>
          <p:cNvPr id="76812" name="Text Box 13"/>
          <p:cNvSpPr txBox="1">
            <a:spLocks noChangeArrowheads="1"/>
          </p:cNvSpPr>
          <p:nvPr/>
        </p:nvSpPr>
        <p:spPr bwMode="auto">
          <a:xfrm>
            <a:off x="3048000" y="40528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5</a:t>
            </a:r>
          </a:p>
        </p:txBody>
      </p:sp>
      <p:sp>
        <p:nvSpPr>
          <p:cNvPr id="76813" name="Text Box 14"/>
          <p:cNvSpPr txBox="1">
            <a:spLocks noChangeArrowheads="1"/>
          </p:cNvSpPr>
          <p:nvPr/>
        </p:nvSpPr>
        <p:spPr bwMode="auto">
          <a:xfrm>
            <a:off x="41148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11</a:t>
            </a:r>
          </a:p>
        </p:txBody>
      </p:sp>
      <p:sp>
        <p:nvSpPr>
          <p:cNvPr id="76814" name="Text Box 15"/>
          <p:cNvSpPr txBox="1">
            <a:spLocks noChangeArrowheads="1"/>
          </p:cNvSpPr>
          <p:nvPr/>
        </p:nvSpPr>
        <p:spPr bwMode="auto">
          <a:xfrm>
            <a:off x="46482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13</a:t>
            </a:r>
          </a:p>
        </p:txBody>
      </p:sp>
      <p:sp>
        <p:nvSpPr>
          <p:cNvPr id="76815" name="Text Box 16"/>
          <p:cNvSpPr txBox="1">
            <a:spLocks noChangeArrowheads="1"/>
          </p:cNvSpPr>
          <p:nvPr/>
        </p:nvSpPr>
        <p:spPr bwMode="auto">
          <a:xfrm>
            <a:off x="51816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14</a:t>
            </a:r>
          </a:p>
        </p:txBody>
      </p:sp>
      <p:sp>
        <p:nvSpPr>
          <p:cNvPr id="76816" name="Text Box 17"/>
          <p:cNvSpPr txBox="1">
            <a:spLocks noChangeArrowheads="1"/>
          </p:cNvSpPr>
          <p:nvPr/>
        </p:nvSpPr>
        <p:spPr bwMode="auto">
          <a:xfrm>
            <a:off x="35814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9</a:t>
            </a:r>
          </a:p>
        </p:txBody>
      </p:sp>
      <p:sp>
        <p:nvSpPr>
          <p:cNvPr id="76817" name="Text Box 18"/>
          <p:cNvSpPr txBox="1">
            <a:spLocks noChangeArrowheads="1"/>
          </p:cNvSpPr>
          <p:nvPr/>
        </p:nvSpPr>
        <p:spPr bwMode="auto">
          <a:xfrm>
            <a:off x="30480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7</a:t>
            </a:r>
          </a:p>
        </p:txBody>
      </p:sp>
      <p:sp>
        <p:nvSpPr>
          <p:cNvPr id="76818" name="AutoShape 20"/>
          <p:cNvSpPr>
            <a:spLocks noChangeArrowheads="1"/>
          </p:cNvSpPr>
          <p:nvPr/>
        </p:nvSpPr>
        <p:spPr bwMode="auto">
          <a:xfrm>
            <a:off x="5867400" y="2514600"/>
            <a:ext cx="1219200" cy="762000"/>
          </a:xfrm>
          <a:prstGeom prst="leftArrow">
            <a:avLst>
              <a:gd name="adj1" fmla="val 50000"/>
              <a:gd name="adj2" fmla="val 4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返回结果</a:t>
            </a:r>
          </a:p>
        </p:txBody>
      </p:sp>
      <p:sp>
        <p:nvSpPr>
          <p:cNvPr id="76819" name="AutoShape 21"/>
          <p:cNvSpPr>
            <a:spLocks noChangeArrowheads="1"/>
          </p:cNvSpPr>
          <p:nvPr/>
        </p:nvSpPr>
        <p:spPr bwMode="auto">
          <a:xfrm>
            <a:off x="5867400" y="3886200"/>
            <a:ext cx="1219200" cy="762000"/>
          </a:xfrm>
          <a:prstGeom prst="leftArrow">
            <a:avLst>
              <a:gd name="adj1" fmla="val 50000"/>
              <a:gd name="adj2" fmla="val 4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返回结果</a:t>
            </a:r>
          </a:p>
        </p:txBody>
      </p:sp>
      <p:sp>
        <p:nvSpPr>
          <p:cNvPr id="76820" name="AutoShape 22"/>
          <p:cNvSpPr>
            <a:spLocks noChangeArrowheads="1"/>
          </p:cNvSpPr>
          <p:nvPr/>
        </p:nvSpPr>
        <p:spPr bwMode="auto">
          <a:xfrm>
            <a:off x="5867400" y="5181600"/>
            <a:ext cx="1219200" cy="762000"/>
          </a:xfrm>
          <a:prstGeom prst="leftArrow">
            <a:avLst>
              <a:gd name="adj1" fmla="val 50000"/>
              <a:gd name="adj2" fmla="val 4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返回结果</a:t>
            </a:r>
          </a:p>
        </p:txBody>
      </p:sp>
      <p:sp>
        <p:nvSpPr>
          <p:cNvPr id="76821" name="Text Box 23"/>
          <p:cNvSpPr txBox="1">
            <a:spLocks noChangeArrowheads="1"/>
          </p:cNvSpPr>
          <p:nvPr/>
        </p:nvSpPr>
        <p:spPr bwMode="auto">
          <a:xfrm>
            <a:off x="5181600" y="27432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8</a:t>
            </a:r>
          </a:p>
        </p:txBody>
      </p:sp>
      <p:sp>
        <p:nvSpPr>
          <p:cNvPr id="76822" name="Oval 24"/>
          <p:cNvSpPr>
            <a:spLocks noChangeArrowheads="1"/>
          </p:cNvSpPr>
          <p:nvPr/>
        </p:nvSpPr>
        <p:spPr bwMode="auto">
          <a:xfrm>
            <a:off x="609600" y="2438400"/>
            <a:ext cx="914400" cy="914400"/>
          </a:xfrm>
          <a:prstGeom prst="ellipse">
            <a:avLst/>
          </a:prstGeom>
          <a:solidFill>
            <a:schemeClr val="bg2">
              <a:alpha val="38823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800">
                <a:ea typeface="宋体" charset="-122"/>
              </a:rPr>
              <a:t>4</a:t>
            </a:r>
          </a:p>
        </p:txBody>
      </p:sp>
      <p:sp>
        <p:nvSpPr>
          <p:cNvPr id="76823" name="Rectangle 25"/>
          <p:cNvSpPr>
            <a:spLocks noChangeArrowheads="1"/>
          </p:cNvSpPr>
          <p:nvPr/>
        </p:nvSpPr>
        <p:spPr bwMode="auto">
          <a:xfrm>
            <a:off x="304800" y="4648200"/>
            <a:ext cx="1676400" cy="762000"/>
          </a:xfrm>
          <a:prstGeom prst="rect">
            <a:avLst/>
          </a:prstGeom>
          <a:solidFill>
            <a:srgbClr val="FF99CC">
              <a:alpha val="30196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zh-CN" altLang="en-US">
                <a:ea typeface="宋体" charset="-122"/>
              </a:rPr>
              <a:t>最终结果集</a:t>
            </a:r>
          </a:p>
        </p:txBody>
      </p:sp>
      <p:sp>
        <p:nvSpPr>
          <p:cNvPr id="76824" name="Text Box 26"/>
          <p:cNvSpPr txBox="1">
            <a:spLocks noChangeArrowheads="1"/>
          </p:cNvSpPr>
          <p:nvPr/>
        </p:nvSpPr>
        <p:spPr bwMode="auto">
          <a:xfrm>
            <a:off x="838200" y="1524000"/>
            <a:ext cx="7772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>
                <a:latin typeface="Courier New" pitchFamily="49" charset="0"/>
                <a:ea typeface="宋体" charset="-122"/>
              </a:rPr>
              <a:t>SELECT c1 FROM tb1 ORDER BY </a:t>
            </a:r>
            <a:r>
              <a:rPr lang="en-US" altLang="zh-CN" sz="240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c1</a:t>
            </a:r>
            <a:r>
              <a:rPr lang="en-US" altLang="zh-CN" sz="2400">
                <a:latin typeface="Courier New" pitchFamily="49" charset="0"/>
                <a:ea typeface="宋体" charset="-122"/>
              </a:rPr>
              <a:t> LIMIT </a:t>
            </a:r>
            <a:r>
              <a:rPr lang="en-US" altLang="zh-CN" sz="240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4</a:t>
            </a:r>
            <a:r>
              <a:rPr lang="en-US" altLang="zh-CN" sz="2400">
                <a:latin typeface="Courier New" pitchFamily="49" charset="0"/>
                <a:ea typeface="宋体" charset="-122"/>
              </a:rPr>
              <a:t>, </a:t>
            </a:r>
            <a:r>
              <a:rPr lang="en-US" altLang="zh-CN" sz="240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2"/>
          <p:cNvSpPr>
            <a:spLocks noChangeArrowheads="1"/>
          </p:cNvSpPr>
          <p:nvPr/>
        </p:nvSpPr>
        <p:spPr bwMode="auto">
          <a:xfrm>
            <a:off x="304800" y="4648200"/>
            <a:ext cx="1676400" cy="762000"/>
          </a:xfrm>
          <a:prstGeom prst="rect">
            <a:avLst/>
          </a:prstGeom>
          <a:solidFill>
            <a:srgbClr val="FF99CC">
              <a:alpha val="30196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zh-CN" altLang="en-US">
                <a:ea typeface="宋体" charset="-122"/>
              </a:rPr>
              <a:t>最终结果集</a:t>
            </a:r>
          </a:p>
        </p:txBody>
      </p:sp>
      <p:sp>
        <p:nvSpPr>
          <p:cNvPr id="77826" name="AutoShape 3"/>
          <p:cNvSpPr>
            <a:spLocks noChangeArrowheads="1"/>
          </p:cNvSpPr>
          <p:nvPr/>
        </p:nvSpPr>
        <p:spPr bwMode="auto">
          <a:xfrm>
            <a:off x="7239000" y="2438400"/>
            <a:ext cx="1371600" cy="838200"/>
          </a:xfrm>
          <a:prstGeom prst="flowChartMagneticDisk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分库</a:t>
            </a:r>
            <a:r>
              <a:rPr lang="en-US" altLang="zh-CN">
                <a:ea typeface="宋体" charset="-122"/>
              </a:rPr>
              <a:t>1</a:t>
            </a:r>
          </a:p>
        </p:txBody>
      </p:sp>
      <p:sp>
        <p:nvSpPr>
          <p:cNvPr id="77827" name="AutoShape 4"/>
          <p:cNvSpPr>
            <a:spLocks noChangeArrowheads="1"/>
          </p:cNvSpPr>
          <p:nvPr/>
        </p:nvSpPr>
        <p:spPr bwMode="auto">
          <a:xfrm>
            <a:off x="7239000" y="3810000"/>
            <a:ext cx="1371600" cy="838200"/>
          </a:xfrm>
          <a:prstGeom prst="flowChartMagneticDisk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分库</a:t>
            </a:r>
            <a:r>
              <a:rPr lang="en-US" altLang="zh-CN">
                <a:ea typeface="宋体" charset="-122"/>
              </a:rPr>
              <a:t>2</a:t>
            </a:r>
          </a:p>
        </p:txBody>
      </p:sp>
      <p:sp>
        <p:nvSpPr>
          <p:cNvPr id="77828" name="AutoShape 5"/>
          <p:cNvSpPr>
            <a:spLocks noChangeArrowheads="1"/>
          </p:cNvSpPr>
          <p:nvPr/>
        </p:nvSpPr>
        <p:spPr bwMode="auto">
          <a:xfrm>
            <a:off x="7239000" y="5105400"/>
            <a:ext cx="1371600" cy="838200"/>
          </a:xfrm>
          <a:prstGeom prst="flowChartMagneticDisk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分库</a:t>
            </a:r>
            <a:r>
              <a:rPr lang="en-US" altLang="zh-CN">
                <a:ea typeface="宋体" charset="-122"/>
              </a:rPr>
              <a:t>3</a:t>
            </a:r>
          </a:p>
        </p:txBody>
      </p:sp>
      <p:sp>
        <p:nvSpPr>
          <p:cNvPr id="77829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latin typeface="微软雅黑"/>
                <a:ea typeface="微软雅黑"/>
                <a:cs typeface="微软雅黑"/>
              </a:rPr>
              <a:t>Order By/Limit</a:t>
            </a:r>
          </a:p>
        </p:txBody>
      </p:sp>
      <p:sp>
        <p:nvSpPr>
          <p:cNvPr id="77830" name="Text Box 7"/>
          <p:cNvSpPr txBox="1">
            <a:spLocks noChangeArrowheads="1"/>
          </p:cNvSpPr>
          <p:nvPr/>
        </p:nvSpPr>
        <p:spPr bwMode="auto">
          <a:xfrm>
            <a:off x="4114800" y="27432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5</a:t>
            </a:r>
          </a:p>
        </p:txBody>
      </p:sp>
      <p:sp>
        <p:nvSpPr>
          <p:cNvPr id="77831" name="Text Box 8"/>
          <p:cNvSpPr txBox="1">
            <a:spLocks noChangeArrowheads="1"/>
          </p:cNvSpPr>
          <p:nvPr/>
        </p:nvSpPr>
        <p:spPr bwMode="auto">
          <a:xfrm>
            <a:off x="4648200" y="27432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6</a:t>
            </a:r>
          </a:p>
        </p:txBody>
      </p:sp>
      <p:sp>
        <p:nvSpPr>
          <p:cNvPr id="77832" name="Text Box 9"/>
          <p:cNvSpPr txBox="1">
            <a:spLocks noChangeArrowheads="1"/>
          </p:cNvSpPr>
          <p:nvPr/>
        </p:nvSpPr>
        <p:spPr bwMode="auto">
          <a:xfrm>
            <a:off x="4114800" y="40528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7</a:t>
            </a:r>
          </a:p>
        </p:txBody>
      </p:sp>
      <p:sp>
        <p:nvSpPr>
          <p:cNvPr id="77833" name="Text Box 10"/>
          <p:cNvSpPr txBox="1">
            <a:spLocks noChangeArrowheads="1"/>
          </p:cNvSpPr>
          <p:nvPr/>
        </p:nvSpPr>
        <p:spPr bwMode="auto">
          <a:xfrm>
            <a:off x="4648200" y="40528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8</a:t>
            </a:r>
          </a:p>
        </p:txBody>
      </p:sp>
      <p:sp>
        <p:nvSpPr>
          <p:cNvPr id="77834" name="Text Box 11"/>
          <p:cNvSpPr txBox="1">
            <a:spLocks noChangeArrowheads="1"/>
          </p:cNvSpPr>
          <p:nvPr/>
        </p:nvSpPr>
        <p:spPr bwMode="auto">
          <a:xfrm>
            <a:off x="5181600" y="40528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10</a:t>
            </a:r>
          </a:p>
        </p:txBody>
      </p:sp>
      <p:sp>
        <p:nvSpPr>
          <p:cNvPr id="77835" name="Text Box 12"/>
          <p:cNvSpPr txBox="1">
            <a:spLocks noChangeArrowheads="1"/>
          </p:cNvSpPr>
          <p:nvPr/>
        </p:nvSpPr>
        <p:spPr bwMode="auto">
          <a:xfrm>
            <a:off x="3581400" y="40528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6</a:t>
            </a:r>
          </a:p>
        </p:txBody>
      </p:sp>
      <p:sp>
        <p:nvSpPr>
          <p:cNvPr id="77836" name="Text Box 13"/>
          <p:cNvSpPr txBox="1">
            <a:spLocks noChangeArrowheads="1"/>
          </p:cNvSpPr>
          <p:nvPr/>
        </p:nvSpPr>
        <p:spPr bwMode="auto">
          <a:xfrm>
            <a:off x="3048000" y="40528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5</a:t>
            </a:r>
          </a:p>
        </p:txBody>
      </p:sp>
      <p:sp>
        <p:nvSpPr>
          <p:cNvPr id="77837" name="Text Box 14"/>
          <p:cNvSpPr txBox="1">
            <a:spLocks noChangeArrowheads="1"/>
          </p:cNvSpPr>
          <p:nvPr/>
        </p:nvSpPr>
        <p:spPr bwMode="auto">
          <a:xfrm>
            <a:off x="41148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11</a:t>
            </a:r>
          </a:p>
        </p:txBody>
      </p:sp>
      <p:sp>
        <p:nvSpPr>
          <p:cNvPr id="77838" name="Text Box 15"/>
          <p:cNvSpPr txBox="1">
            <a:spLocks noChangeArrowheads="1"/>
          </p:cNvSpPr>
          <p:nvPr/>
        </p:nvSpPr>
        <p:spPr bwMode="auto">
          <a:xfrm>
            <a:off x="46482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13</a:t>
            </a:r>
          </a:p>
        </p:txBody>
      </p:sp>
      <p:sp>
        <p:nvSpPr>
          <p:cNvPr id="77839" name="Text Box 16"/>
          <p:cNvSpPr txBox="1">
            <a:spLocks noChangeArrowheads="1"/>
          </p:cNvSpPr>
          <p:nvPr/>
        </p:nvSpPr>
        <p:spPr bwMode="auto">
          <a:xfrm>
            <a:off x="51816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14</a:t>
            </a:r>
          </a:p>
        </p:txBody>
      </p:sp>
      <p:sp>
        <p:nvSpPr>
          <p:cNvPr id="77840" name="Text Box 17"/>
          <p:cNvSpPr txBox="1">
            <a:spLocks noChangeArrowheads="1"/>
          </p:cNvSpPr>
          <p:nvPr/>
        </p:nvSpPr>
        <p:spPr bwMode="auto">
          <a:xfrm>
            <a:off x="35814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9</a:t>
            </a:r>
          </a:p>
        </p:txBody>
      </p:sp>
      <p:sp>
        <p:nvSpPr>
          <p:cNvPr id="77841" name="Text Box 18"/>
          <p:cNvSpPr txBox="1">
            <a:spLocks noChangeArrowheads="1"/>
          </p:cNvSpPr>
          <p:nvPr/>
        </p:nvSpPr>
        <p:spPr bwMode="auto">
          <a:xfrm>
            <a:off x="30480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7</a:t>
            </a:r>
          </a:p>
        </p:txBody>
      </p:sp>
      <p:sp>
        <p:nvSpPr>
          <p:cNvPr id="77842" name="AutoShape 20"/>
          <p:cNvSpPr>
            <a:spLocks noChangeArrowheads="1"/>
          </p:cNvSpPr>
          <p:nvPr/>
        </p:nvSpPr>
        <p:spPr bwMode="auto">
          <a:xfrm>
            <a:off x="5867400" y="2514600"/>
            <a:ext cx="1219200" cy="762000"/>
          </a:xfrm>
          <a:prstGeom prst="leftArrow">
            <a:avLst>
              <a:gd name="adj1" fmla="val 50000"/>
              <a:gd name="adj2" fmla="val 4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返回结果</a:t>
            </a:r>
          </a:p>
        </p:txBody>
      </p:sp>
      <p:sp>
        <p:nvSpPr>
          <p:cNvPr id="77843" name="AutoShape 21"/>
          <p:cNvSpPr>
            <a:spLocks noChangeArrowheads="1"/>
          </p:cNvSpPr>
          <p:nvPr/>
        </p:nvSpPr>
        <p:spPr bwMode="auto">
          <a:xfrm>
            <a:off x="5867400" y="3886200"/>
            <a:ext cx="1219200" cy="762000"/>
          </a:xfrm>
          <a:prstGeom prst="leftArrow">
            <a:avLst>
              <a:gd name="adj1" fmla="val 50000"/>
              <a:gd name="adj2" fmla="val 4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返回结果</a:t>
            </a:r>
          </a:p>
        </p:txBody>
      </p:sp>
      <p:sp>
        <p:nvSpPr>
          <p:cNvPr id="77844" name="AutoShape 22"/>
          <p:cNvSpPr>
            <a:spLocks noChangeArrowheads="1"/>
          </p:cNvSpPr>
          <p:nvPr/>
        </p:nvSpPr>
        <p:spPr bwMode="auto">
          <a:xfrm>
            <a:off x="5867400" y="5181600"/>
            <a:ext cx="1219200" cy="762000"/>
          </a:xfrm>
          <a:prstGeom prst="leftArrow">
            <a:avLst>
              <a:gd name="adj1" fmla="val 50000"/>
              <a:gd name="adj2" fmla="val 4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返回结果</a:t>
            </a:r>
          </a:p>
        </p:txBody>
      </p:sp>
      <p:sp>
        <p:nvSpPr>
          <p:cNvPr id="77845" name="Text Box 23"/>
          <p:cNvSpPr txBox="1">
            <a:spLocks noChangeArrowheads="1"/>
          </p:cNvSpPr>
          <p:nvPr/>
        </p:nvSpPr>
        <p:spPr bwMode="auto">
          <a:xfrm>
            <a:off x="5181600" y="27432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8</a:t>
            </a:r>
          </a:p>
        </p:txBody>
      </p:sp>
      <p:sp>
        <p:nvSpPr>
          <p:cNvPr id="77846" name="Oval 24"/>
          <p:cNvSpPr>
            <a:spLocks noChangeArrowheads="1"/>
          </p:cNvSpPr>
          <p:nvPr/>
        </p:nvSpPr>
        <p:spPr bwMode="auto">
          <a:xfrm>
            <a:off x="609600" y="2438400"/>
            <a:ext cx="914400" cy="914400"/>
          </a:xfrm>
          <a:prstGeom prst="ellipse">
            <a:avLst/>
          </a:prstGeom>
          <a:solidFill>
            <a:schemeClr val="bg2">
              <a:alpha val="38823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800">
                <a:ea typeface="宋体" charset="-122"/>
              </a:rPr>
              <a:t>4</a:t>
            </a:r>
          </a:p>
        </p:txBody>
      </p:sp>
      <p:sp>
        <p:nvSpPr>
          <p:cNvPr id="77847" name="Text Box 25"/>
          <p:cNvSpPr txBox="1">
            <a:spLocks noChangeArrowheads="1"/>
          </p:cNvSpPr>
          <p:nvPr/>
        </p:nvSpPr>
        <p:spPr bwMode="auto">
          <a:xfrm>
            <a:off x="838200" y="50434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4</a:t>
            </a:r>
          </a:p>
        </p:txBody>
      </p:sp>
      <p:sp>
        <p:nvSpPr>
          <p:cNvPr id="77848" name="Text Box 26"/>
          <p:cNvSpPr txBox="1">
            <a:spLocks noChangeArrowheads="1"/>
          </p:cNvSpPr>
          <p:nvPr/>
        </p:nvSpPr>
        <p:spPr bwMode="auto">
          <a:xfrm>
            <a:off x="838200" y="1524000"/>
            <a:ext cx="7772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>
                <a:latin typeface="Courier New" pitchFamily="49" charset="0"/>
                <a:ea typeface="宋体" charset="-122"/>
              </a:rPr>
              <a:t>SELECT c1 FROM tb1 ORDER BY </a:t>
            </a:r>
            <a:r>
              <a:rPr lang="en-US" altLang="zh-CN" sz="240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c1</a:t>
            </a:r>
            <a:r>
              <a:rPr lang="en-US" altLang="zh-CN" sz="2400">
                <a:latin typeface="Courier New" pitchFamily="49" charset="0"/>
                <a:ea typeface="宋体" charset="-122"/>
              </a:rPr>
              <a:t> LIMIT </a:t>
            </a:r>
            <a:r>
              <a:rPr lang="en-US" altLang="zh-CN" sz="240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4</a:t>
            </a:r>
            <a:r>
              <a:rPr lang="en-US" altLang="zh-CN" sz="2400">
                <a:latin typeface="Courier New" pitchFamily="49" charset="0"/>
                <a:ea typeface="宋体" charset="-122"/>
              </a:rPr>
              <a:t>, </a:t>
            </a:r>
            <a:r>
              <a:rPr lang="en-US" altLang="zh-CN" sz="240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2"/>
          <p:cNvSpPr>
            <a:spLocks noChangeArrowheads="1"/>
          </p:cNvSpPr>
          <p:nvPr/>
        </p:nvSpPr>
        <p:spPr bwMode="auto">
          <a:xfrm>
            <a:off x="304800" y="4648200"/>
            <a:ext cx="1676400" cy="762000"/>
          </a:xfrm>
          <a:prstGeom prst="rect">
            <a:avLst/>
          </a:prstGeom>
          <a:solidFill>
            <a:srgbClr val="FF99CC">
              <a:alpha val="30196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zh-CN" altLang="en-US">
                <a:ea typeface="宋体" charset="-122"/>
              </a:rPr>
              <a:t>最终结果集</a:t>
            </a:r>
          </a:p>
        </p:txBody>
      </p:sp>
      <p:sp>
        <p:nvSpPr>
          <p:cNvPr id="78850" name="AutoShape 3"/>
          <p:cNvSpPr>
            <a:spLocks noChangeArrowheads="1"/>
          </p:cNvSpPr>
          <p:nvPr/>
        </p:nvSpPr>
        <p:spPr bwMode="auto">
          <a:xfrm>
            <a:off x="7239000" y="2438400"/>
            <a:ext cx="1371600" cy="838200"/>
          </a:xfrm>
          <a:prstGeom prst="flowChartMagneticDisk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分库</a:t>
            </a:r>
            <a:r>
              <a:rPr lang="en-US" altLang="zh-CN">
                <a:ea typeface="宋体" charset="-122"/>
              </a:rPr>
              <a:t>1</a:t>
            </a:r>
          </a:p>
        </p:txBody>
      </p:sp>
      <p:sp>
        <p:nvSpPr>
          <p:cNvPr id="78851" name="AutoShape 4"/>
          <p:cNvSpPr>
            <a:spLocks noChangeArrowheads="1"/>
          </p:cNvSpPr>
          <p:nvPr/>
        </p:nvSpPr>
        <p:spPr bwMode="auto">
          <a:xfrm>
            <a:off x="7239000" y="3810000"/>
            <a:ext cx="1371600" cy="838200"/>
          </a:xfrm>
          <a:prstGeom prst="flowChartMagneticDisk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分库</a:t>
            </a:r>
            <a:r>
              <a:rPr lang="en-US" altLang="zh-CN">
                <a:ea typeface="宋体" charset="-122"/>
              </a:rPr>
              <a:t>2</a:t>
            </a:r>
          </a:p>
        </p:txBody>
      </p:sp>
      <p:sp>
        <p:nvSpPr>
          <p:cNvPr id="78852" name="AutoShape 5"/>
          <p:cNvSpPr>
            <a:spLocks noChangeArrowheads="1"/>
          </p:cNvSpPr>
          <p:nvPr/>
        </p:nvSpPr>
        <p:spPr bwMode="auto">
          <a:xfrm>
            <a:off x="7239000" y="5105400"/>
            <a:ext cx="1371600" cy="838200"/>
          </a:xfrm>
          <a:prstGeom prst="flowChartMagneticDisk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分库</a:t>
            </a:r>
            <a:r>
              <a:rPr lang="en-US" altLang="zh-CN">
                <a:ea typeface="宋体" charset="-122"/>
              </a:rPr>
              <a:t>3</a:t>
            </a:r>
          </a:p>
        </p:txBody>
      </p:sp>
      <p:sp>
        <p:nvSpPr>
          <p:cNvPr id="78853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latin typeface="微软雅黑"/>
                <a:ea typeface="微软雅黑"/>
                <a:cs typeface="微软雅黑"/>
              </a:rPr>
              <a:t>Order By/Limit</a:t>
            </a:r>
          </a:p>
        </p:txBody>
      </p:sp>
      <p:sp>
        <p:nvSpPr>
          <p:cNvPr id="78854" name="Text Box 7"/>
          <p:cNvSpPr txBox="1">
            <a:spLocks noChangeArrowheads="1"/>
          </p:cNvSpPr>
          <p:nvPr/>
        </p:nvSpPr>
        <p:spPr bwMode="auto">
          <a:xfrm>
            <a:off x="838200" y="50434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4</a:t>
            </a:r>
          </a:p>
        </p:txBody>
      </p:sp>
      <p:sp>
        <p:nvSpPr>
          <p:cNvPr id="78855" name="Text Box 8"/>
          <p:cNvSpPr txBox="1">
            <a:spLocks noChangeArrowheads="1"/>
          </p:cNvSpPr>
          <p:nvPr/>
        </p:nvSpPr>
        <p:spPr bwMode="auto">
          <a:xfrm>
            <a:off x="4648200" y="27432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6</a:t>
            </a:r>
          </a:p>
        </p:txBody>
      </p:sp>
      <p:sp>
        <p:nvSpPr>
          <p:cNvPr id="78856" name="Text Box 9"/>
          <p:cNvSpPr txBox="1">
            <a:spLocks noChangeArrowheads="1"/>
          </p:cNvSpPr>
          <p:nvPr/>
        </p:nvSpPr>
        <p:spPr bwMode="auto">
          <a:xfrm>
            <a:off x="4114800" y="40528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7</a:t>
            </a:r>
          </a:p>
        </p:txBody>
      </p:sp>
      <p:sp>
        <p:nvSpPr>
          <p:cNvPr id="78857" name="Text Box 10"/>
          <p:cNvSpPr txBox="1">
            <a:spLocks noChangeArrowheads="1"/>
          </p:cNvSpPr>
          <p:nvPr/>
        </p:nvSpPr>
        <p:spPr bwMode="auto">
          <a:xfrm>
            <a:off x="4648200" y="40528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8</a:t>
            </a:r>
          </a:p>
        </p:txBody>
      </p:sp>
      <p:sp>
        <p:nvSpPr>
          <p:cNvPr id="78858" name="Text Box 11"/>
          <p:cNvSpPr txBox="1">
            <a:spLocks noChangeArrowheads="1"/>
          </p:cNvSpPr>
          <p:nvPr/>
        </p:nvSpPr>
        <p:spPr bwMode="auto">
          <a:xfrm>
            <a:off x="5181600" y="40528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10</a:t>
            </a:r>
          </a:p>
        </p:txBody>
      </p:sp>
      <p:sp>
        <p:nvSpPr>
          <p:cNvPr id="78859" name="Text Box 12"/>
          <p:cNvSpPr txBox="1">
            <a:spLocks noChangeArrowheads="1"/>
          </p:cNvSpPr>
          <p:nvPr/>
        </p:nvSpPr>
        <p:spPr bwMode="auto">
          <a:xfrm>
            <a:off x="3581400" y="40528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6</a:t>
            </a:r>
          </a:p>
        </p:txBody>
      </p:sp>
      <p:sp>
        <p:nvSpPr>
          <p:cNvPr id="78860" name="Text Box 13"/>
          <p:cNvSpPr txBox="1">
            <a:spLocks noChangeArrowheads="1"/>
          </p:cNvSpPr>
          <p:nvPr/>
        </p:nvSpPr>
        <p:spPr bwMode="auto">
          <a:xfrm>
            <a:off x="3048000" y="40528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5</a:t>
            </a:r>
          </a:p>
        </p:txBody>
      </p:sp>
      <p:sp>
        <p:nvSpPr>
          <p:cNvPr id="78861" name="Text Box 14"/>
          <p:cNvSpPr txBox="1">
            <a:spLocks noChangeArrowheads="1"/>
          </p:cNvSpPr>
          <p:nvPr/>
        </p:nvSpPr>
        <p:spPr bwMode="auto">
          <a:xfrm>
            <a:off x="41148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11</a:t>
            </a:r>
          </a:p>
        </p:txBody>
      </p:sp>
      <p:sp>
        <p:nvSpPr>
          <p:cNvPr id="78862" name="Text Box 15"/>
          <p:cNvSpPr txBox="1">
            <a:spLocks noChangeArrowheads="1"/>
          </p:cNvSpPr>
          <p:nvPr/>
        </p:nvSpPr>
        <p:spPr bwMode="auto">
          <a:xfrm>
            <a:off x="46482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13</a:t>
            </a:r>
          </a:p>
        </p:txBody>
      </p:sp>
      <p:sp>
        <p:nvSpPr>
          <p:cNvPr id="78863" name="Text Box 16"/>
          <p:cNvSpPr txBox="1">
            <a:spLocks noChangeArrowheads="1"/>
          </p:cNvSpPr>
          <p:nvPr/>
        </p:nvSpPr>
        <p:spPr bwMode="auto">
          <a:xfrm>
            <a:off x="51816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14</a:t>
            </a:r>
          </a:p>
        </p:txBody>
      </p:sp>
      <p:sp>
        <p:nvSpPr>
          <p:cNvPr id="78864" name="Text Box 17"/>
          <p:cNvSpPr txBox="1">
            <a:spLocks noChangeArrowheads="1"/>
          </p:cNvSpPr>
          <p:nvPr/>
        </p:nvSpPr>
        <p:spPr bwMode="auto">
          <a:xfrm>
            <a:off x="35814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9</a:t>
            </a:r>
          </a:p>
        </p:txBody>
      </p:sp>
      <p:sp>
        <p:nvSpPr>
          <p:cNvPr id="78865" name="Text Box 18"/>
          <p:cNvSpPr txBox="1">
            <a:spLocks noChangeArrowheads="1"/>
          </p:cNvSpPr>
          <p:nvPr/>
        </p:nvSpPr>
        <p:spPr bwMode="auto">
          <a:xfrm>
            <a:off x="30480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7</a:t>
            </a:r>
          </a:p>
        </p:txBody>
      </p:sp>
      <p:sp>
        <p:nvSpPr>
          <p:cNvPr id="78866" name="AutoShape 20"/>
          <p:cNvSpPr>
            <a:spLocks noChangeArrowheads="1"/>
          </p:cNvSpPr>
          <p:nvPr/>
        </p:nvSpPr>
        <p:spPr bwMode="auto">
          <a:xfrm>
            <a:off x="5867400" y="2514600"/>
            <a:ext cx="1219200" cy="762000"/>
          </a:xfrm>
          <a:prstGeom prst="leftArrow">
            <a:avLst>
              <a:gd name="adj1" fmla="val 50000"/>
              <a:gd name="adj2" fmla="val 4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返回结果</a:t>
            </a:r>
          </a:p>
        </p:txBody>
      </p:sp>
      <p:sp>
        <p:nvSpPr>
          <p:cNvPr id="78867" name="AutoShape 21"/>
          <p:cNvSpPr>
            <a:spLocks noChangeArrowheads="1"/>
          </p:cNvSpPr>
          <p:nvPr/>
        </p:nvSpPr>
        <p:spPr bwMode="auto">
          <a:xfrm>
            <a:off x="5867400" y="3886200"/>
            <a:ext cx="1219200" cy="762000"/>
          </a:xfrm>
          <a:prstGeom prst="leftArrow">
            <a:avLst>
              <a:gd name="adj1" fmla="val 50000"/>
              <a:gd name="adj2" fmla="val 4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返回结果</a:t>
            </a:r>
          </a:p>
        </p:txBody>
      </p:sp>
      <p:sp>
        <p:nvSpPr>
          <p:cNvPr id="78868" name="AutoShape 22"/>
          <p:cNvSpPr>
            <a:spLocks noChangeArrowheads="1"/>
          </p:cNvSpPr>
          <p:nvPr/>
        </p:nvSpPr>
        <p:spPr bwMode="auto">
          <a:xfrm>
            <a:off x="5867400" y="5181600"/>
            <a:ext cx="1219200" cy="762000"/>
          </a:xfrm>
          <a:prstGeom prst="leftArrow">
            <a:avLst>
              <a:gd name="adj1" fmla="val 50000"/>
              <a:gd name="adj2" fmla="val 4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返回结果</a:t>
            </a:r>
          </a:p>
        </p:txBody>
      </p:sp>
      <p:sp>
        <p:nvSpPr>
          <p:cNvPr id="78869" name="Text Box 23"/>
          <p:cNvSpPr txBox="1">
            <a:spLocks noChangeArrowheads="1"/>
          </p:cNvSpPr>
          <p:nvPr/>
        </p:nvSpPr>
        <p:spPr bwMode="auto">
          <a:xfrm>
            <a:off x="5181600" y="27432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8</a:t>
            </a:r>
          </a:p>
        </p:txBody>
      </p:sp>
      <p:sp>
        <p:nvSpPr>
          <p:cNvPr id="78870" name="Oval 24"/>
          <p:cNvSpPr>
            <a:spLocks noChangeArrowheads="1"/>
          </p:cNvSpPr>
          <p:nvPr/>
        </p:nvSpPr>
        <p:spPr bwMode="auto">
          <a:xfrm>
            <a:off x="609600" y="2438400"/>
            <a:ext cx="914400" cy="914400"/>
          </a:xfrm>
          <a:prstGeom prst="ellipse">
            <a:avLst/>
          </a:prstGeom>
          <a:solidFill>
            <a:schemeClr val="bg2">
              <a:alpha val="38823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800">
                <a:ea typeface="宋体" charset="-122"/>
              </a:rPr>
              <a:t>4</a:t>
            </a:r>
          </a:p>
        </p:txBody>
      </p:sp>
      <p:sp>
        <p:nvSpPr>
          <p:cNvPr id="78871" name="Text Box 25"/>
          <p:cNvSpPr txBox="1">
            <a:spLocks noChangeArrowheads="1"/>
          </p:cNvSpPr>
          <p:nvPr/>
        </p:nvSpPr>
        <p:spPr bwMode="auto">
          <a:xfrm>
            <a:off x="1371600" y="50434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5</a:t>
            </a:r>
          </a:p>
        </p:txBody>
      </p:sp>
      <p:sp>
        <p:nvSpPr>
          <p:cNvPr id="78872" name="Text Box 26"/>
          <p:cNvSpPr txBox="1">
            <a:spLocks noChangeArrowheads="1"/>
          </p:cNvSpPr>
          <p:nvPr/>
        </p:nvSpPr>
        <p:spPr bwMode="auto">
          <a:xfrm>
            <a:off x="838200" y="1524000"/>
            <a:ext cx="7772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>
                <a:latin typeface="Courier New" pitchFamily="49" charset="0"/>
                <a:ea typeface="宋体" charset="-122"/>
              </a:rPr>
              <a:t>SELECT c1 FROM tb1 ORDER BY </a:t>
            </a:r>
            <a:r>
              <a:rPr lang="en-US" altLang="zh-CN" sz="240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c1</a:t>
            </a:r>
            <a:r>
              <a:rPr lang="en-US" altLang="zh-CN" sz="2400">
                <a:latin typeface="Courier New" pitchFamily="49" charset="0"/>
                <a:ea typeface="宋体" charset="-122"/>
              </a:rPr>
              <a:t> LIMIT </a:t>
            </a:r>
            <a:r>
              <a:rPr lang="en-US" altLang="zh-CN" sz="240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4</a:t>
            </a:r>
            <a:r>
              <a:rPr lang="en-US" altLang="zh-CN" sz="2400">
                <a:latin typeface="Courier New" pitchFamily="49" charset="0"/>
                <a:ea typeface="宋体" charset="-122"/>
              </a:rPr>
              <a:t>, </a:t>
            </a:r>
            <a:r>
              <a:rPr lang="en-US" altLang="zh-CN" sz="240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AutoShape 2"/>
          <p:cNvSpPr>
            <a:spLocks noChangeArrowheads="1"/>
          </p:cNvSpPr>
          <p:nvPr/>
        </p:nvSpPr>
        <p:spPr bwMode="auto">
          <a:xfrm>
            <a:off x="228600" y="2819400"/>
            <a:ext cx="8610600" cy="3657600"/>
          </a:xfrm>
          <a:prstGeom prst="roundRect">
            <a:avLst>
              <a:gd name="adj" fmla="val 16667"/>
            </a:avLst>
          </a:prstGeom>
          <a:solidFill>
            <a:schemeClr val="bg2">
              <a:alpha val="23137"/>
            </a:schemeClr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79874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latin typeface="微软雅黑"/>
                <a:ea typeface="微软雅黑"/>
                <a:cs typeface="微软雅黑"/>
              </a:rPr>
              <a:t>Order By/Limit </a:t>
            </a:r>
            <a:r>
              <a:rPr lang="zh-CN" altLang="en-US" smtClean="0">
                <a:latin typeface="微软雅黑"/>
                <a:ea typeface="微软雅黑"/>
                <a:cs typeface="微软雅黑"/>
              </a:rPr>
              <a:t>方案总结</a:t>
            </a:r>
          </a:p>
        </p:txBody>
      </p:sp>
      <p:sp>
        <p:nvSpPr>
          <p:cNvPr id="79875" name="Text Box 4"/>
          <p:cNvSpPr txBox="1">
            <a:spLocks noChangeArrowheads="1"/>
          </p:cNvSpPr>
          <p:nvPr/>
        </p:nvSpPr>
        <p:spPr bwMode="auto">
          <a:xfrm>
            <a:off x="685800" y="3597275"/>
            <a:ext cx="83058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latin typeface="Courier New" pitchFamily="49" charset="0"/>
                <a:ea typeface="宋体" charset="-122"/>
              </a:rPr>
              <a:t>select c1 from tb1 order by </a:t>
            </a:r>
            <a:r>
              <a:rPr lang="en-US" altLang="zh-CN" sz="240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c1</a:t>
            </a:r>
            <a:r>
              <a:rPr lang="en-US" altLang="zh-CN" sz="2400">
                <a:latin typeface="Courier New" pitchFamily="49" charset="0"/>
                <a:ea typeface="宋体" charset="-122"/>
              </a:rPr>
              <a:t> </a:t>
            </a:r>
            <a:br>
              <a:rPr lang="en-US" altLang="zh-CN" sz="2400">
                <a:latin typeface="Courier New" pitchFamily="49" charset="0"/>
                <a:ea typeface="宋体" charset="-122"/>
              </a:rPr>
            </a:br>
            <a:r>
              <a:rPr lang="en-US" altLang="zh-CN" sz="2400">
                <a:latin typeface="Courier New" pitchFamily="49" charset="0"/>
                <a:ea typeface="宋体" charset="-122"/>
              </a:rPr>
              <a:t>                         limit </a:t>
            </a:r>
            <a:r>
              <a:rPr lang="en-US" altLang="zh-CN" sz="240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100000000</a:t>
            </a:r>
            <a:r>
              <a:rPr lang="en-US" altLang="zh-CN" sz="2400">
                <a:latin typeface="Courier New" pitchFamily="49" charset="0"/>
                <a:ea typeface="宋体" charset="-122"/>
              </a:rPr>
              <a:t>, </a:t>
            </a:r>
            <a:r>
              <a:rPr lang="en-US" altLang="zh-CN" sz="240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2</a:t>
            </a:r>
          </a:p>
        </p:txBody>
      </p:sp>
      <p:sp>
        <p:nvSpPr>
          <p:cNvPr id="79876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57200" y="4419600"/>
            <a:ext cx="8229600" cy="1782763"/>
          </a:xfrm>
        </p:spPr>
        <p:txBody>
          <a:bodyPr/>
          <a:lstStyle/>
          <a:p>
            <a:pPr eaLnBrk="1" hangingPunct="1"/>
            <a:r>
              <a:rPr lang="zh-CN" altLang="en-US" smtClean="0">
                <a:latin typeface="微软雅黑"/>
                <a:ea typeface="微软雅黑"/>
                <a:cs typeface="微软雅黑"/>
              </a:rPr>
              <a:t>所有分库都要查询</a:t>
            </a:r>
            <a:r>
              <a:rPr lang="en-US" altLang="zh-CN" smtClean="0">
                <a:latin typeface="微软雅黑"/>
                <a:ea typeface="微软雅黑"/>
                <a:cs typeface="微软雅黑"/>
              </a:rPr>
              <a:t>100000002</a:t>
            </a:r>
            <a:r>
              <a:rPr lang="zh-CN" altLang="en-US" smtClean="0">
                <a:latin typeface="微软雅黑"/>
                <a:ea typeface="微软雅黑"/>
                <a:cs typeface="微软雅黑"/>
              </a:rPr>
              <a:t>条数据</a:t>
            </a:r>
          </a:p>
          <a:p>
            <a:pPr eaLnBrk="1" hangingPunct="1"/>
            <a:r>
              <a:rPr lang="en-US" altLang="zh-CN" smtClean="0">
                <a:latin typeface="微软雅黑"/>
                <a:ea typeface="微软雅黑"/>
                <a:cs typeface="微软雅黑"/>
              </a:rPr>
              <a:t>Cobar</a:t>
            </a:r>
            <a:r>
              <a:rPr lang="zh-CN" altLang="en-US" smtClean="0">
                <a:latin typeface="微软雅黑"/>
                <a:ea typeface="微软雅黑"/>
                <a:cs typeface="微软雅黑"/>
              </a:rPr>
              <a:t>需要遍历</a:t>
            </a:r>
            <a:r>
              <a:rPr lang="en-US" altLang="zh-CN" smtClean="0">
                <a:latin typeface="微软雅黑"/>
                <a:ea typeface="微软雅黑"/>
                <a:cs typeface="微软雅黑"/>
              </a:rPr>
              <a:t>100000002</a:t>
            </a:r>
            <a:r>
              <a:rPr lang="zh-CN" altLang="en-US" smtClean="0">
                <a:latin typeface="微软雅黑"/>
                <a:ea typeface="微软雅黑"/>
                <a:cs typeface="微软雅黑"/>
              </a:rPr>
              <a:t>条数据</a:t>
            </a:r>
            <a:endParaRPr lang="zh-CN" altLang="en-US" smtClean="0">
              <a:ea typeface="微软雅黑"/>
              <a:cs typeface="微软雅黑"/>
            </a:endParaRPr>
          </a:p>
        </p:txBody>
      </p:sp>
      <p:sp>
        <p:nvSpPr>
          <p:cNvPr id="79877" name="Rectangle 6"/>
          <p:cNvSpPr>
            <a:spLocks noChangeArrowheads="1"/>
          </p:cNvSpPr>
          <p:nvPr/>
        </p:nvSpPr>
        <p:spPr bwMode="auto">
          <a:xfrm>
            <a:off x="457200" y="3017838"/>
            <a:ext cx="8229600" cy="715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zh-CN" altLang="en-US" sz="3200">
                <a:latin typeface="微软雅黑"/>
              </a:rPr>
              <a:t>对如下</a:t>
            </a:r>
            <a:r>
              <a:rPr lang="en-US" altLang="zh-CN" sz="3200">
                <a:latin typeface="微软雅黑"/>
              </a:rPr>
              <a:t>SQL</a:t>
            </a:r>
          </a:p>
        </p:txBody>
      </p:sp>
      <p:sp>
        <p:nvSpPr>
          <p:cNvPr id="79878" name="Rectangle 8"/>
          <p:cNvSpPr>
            <a:spLocks noChangeArrowheads="1"/>
          </p:cNvSpPr>
          <p:nvPr/>
        </p:nvSpPr>
        <p:spPr bwMode="auto">
          <a:xfrm>
            <a:off x="457200" y="1600200"/>
            <a:ext cx="82296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zh-CN" altLang="en-US" sz="3200"/>
              <a:t>一次交互得到结果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altLang="zh-CN" sz="3200">
                <a:latin typeface="微软雅黑"/>
              </a:rPr>
              <a:t>Offset</a:t>
            </a:r>
            <a:r>
              <a:rPr lang="zh-CN" altLang="en-US" sz="3200">
                <a:latin typeface="微软雅黑"/>
              </a:rPr>
              <a:t>大小有限制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latin typeface="微软雅黑"/>
                <a:ea typeface="微软雅黑"/>
                <a:cs typeface="微软雅黑"/>
              </a:rPr>
              <a:t>Order By / Limit </a:t>
            </a:r>
            <a:r>
              <a:rPr lang="zh-CN" altLang="en-US" smtClean="0">
                <a:latin typeface="微软雅黑"/>
                <a:ea typeface="微软雅黑"/>
                <a:cs typeface="微软雅黑"/>
              </a:rPr>
              <a:t>优化</a:t>
            </a:r>
          </a:p>
        </p:txBody>
      </p:sp>
      <p:sp>
        <p:nvSpPr>
          <p:cNvPr id="8089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ea typeface="微软雅黑"/>
                <a:cs typeface="微软雅黑"/>
              </a:rPr>
              <a:t>目标：</a:t>
            </a:r>
            <a:r>
              <a:rPr lang="zh-CN" altLang="en-US" smtClean="0"/>
              <a:t>解决</a:t>
            </a:r>
            <a:endParaRPr lang="zh-CN" altLang="en-US" smtClean="0">
              <a:ea typeface="微软雅黑"/>
              <a:cs typeface="微软雅黑"/>
            </a:endParaRPr>
          </a:p>
          <a:p>
            <a:pPr lvl="1" eaLnBrk="1" hangingPunct="1"/>
            <a:r>
              <a:rPr lang="zh-CN" altLang="en-US" smtClean="0"/>
              <a:t>查询量大问题</a:t>
            </a:r>
          </a:p>
          <a:p>
            <a:pPr lvl="1" eaLnBrk="1" hangingPunct="1"/>
            <a:r>
              <a:rPr lang="zh-CN" altLang="en-US" smtClean="0"/>
              <a:t>遍历量大问题</a:t>
            </a:r>
          </a:p>
          <a:p>
            <a:pPr eaLnBrk="1" hangingPunct="1"/>
            <a:r>
              <a:rPr lang="zh-CN" altLang="en-US" smtClean="0">
                <a:ea typeface="微软雅黑"/>
                <a:cs typeface="微软雅黑"/>
              </a:rPr>
              <a:t>前提</a:t>
            </a:r>
          </a:p>
          <a:p>
            <a:pPr lvl="1" eaLnBrk="1" hangingPunct="1"/>
            <a:r>
              <a:rPr lang="zh-CN" altLang="en-US" smtClean="0"/>
              <a:t>各个分库数据分布大致一样</a:t>
            </a:r>
          </a:p>
          <a:p>
            <a:pPr eaLnBrk="1" hangingPunct="1"/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Text Box 2"/>
          <p:cNvSpPr txBox="1">
            <a:spLocks noChangeArrowheads="1"/>
          </p:cNvSpPr>
          <p:nvPr/>
        </p:nvSpPr>
        <p:spPr bwMode="auto">
          <a:xfrm>
            <a:off x="457200" y="609600"/>
            <a:ext cx="83058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latin typeface="Courier New" pitchFamily="49" charset="0"/>
                <a:ea typeface="宋体" charset="-122"/>
              </a:rPr>
              <a:t>select c1 from tb1 order by </a:t>
            </a:r>
            <a:r>
              <a:rPr lang="en-US" altLang="zh-CN" sz="240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c1</a:t>
            </a:r>
            <a:r>
              <a:rPr lang="en-US" altLang="zh-CN" sz="2400">
                <a:latin typeface="Courier New" pitchFamily="49" charset="0"/>
                <a:ea typeface="宋体" charset="-122"/>
              </a:rPr>
              <a:t> </a:t>
            </a:r>
            <a:br>
              <a:rPr lang="en-US" altLang="zh-CN" sz="2400">
                <a:latin typeface="Courier New" pitchFamily="49" charset="0"/>
                <a:ea typeface="宋体" charset="-122"/>
              </a:rPr>
            </a:br>
            <a:r>
              <a:rPr lang="en-US" altLang="zh-CN" sz="2400">
                <a:latin typeface="Courier New" pitchFamily="49" charset="0"/>
                <a:ea typeface="宋体" charset="-122"/>
              </a:rPr>
              <a:t>                         limit </a:t>
            </a:r>
            <a:r>
              <a:rPr lang="en-US" altLang="zh-CN" sz="240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9999999</a:t>
            </a:r>
            <a:r>
              <a:rPr lang="en-US" altLang="zh-CN" sz="2400">
                <a:latin typeface="Courier New" pitchFamily="49" charset="0"/>
                <a:ea typeface="宋体" charset="-122"/>
              </a:rPr>
              <a:t>, </a:t>
            </a:r>
            <a:r>
              <a:rPr lang="en-US" altLang="zh-CN" sz="240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4</a:t>
            </a:r>
          </a:p>
        </p:txBody>
      </p:sp>
      <p:sp>
        <p:nvSpPr>
          <p:cNvPr id="81922" name="Text Box 3"/>
          <p:cNvSpPr txBox="1">
            <a:spLocks noChangeArrowheads="1"/>
          </p:cNvSpPr>
          <p:nvPr/>
        </p:nvSpPr>
        <p:spPr bwMode="auto">
          <a:xfrm>
            <a:off x="1066800" y="2909888"/>
            <a:ext cx="5715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select ... order by </a:t>
            </a:r>
            <a:r>
              <a:rPr lang="en-US" altLang="zh-CN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c1</a:t>
            </a:r>
            <a:r>
              <a:rPr lang="en-US" altLang="zh-CN">
                <a:latin typeface="Courier New" pitchFamily="49" charset="0"/>
                <a:ea typeface="宋体" charset="-122"/>
              </a:rPr>
              <a:t> limit </a:t>
            </a:r>
            <a:r>
              <a:rPr lang="en-US" altLang="zh-CN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33333333</a:t>
            </a:r>
            <a:r>
              <a:rPr lang="en-US" altLang="zh-CN">
                <a:latin typeface="Courier New" pitchFamily="49" charset="0"/>
                <a:ea typeface="宋体" charset="-122"/>
              </a:rPr>
              <a:t>, </a:t>
            </a:r>
            <a:r>
              <a:rPr lang="en-US" altLang="zh-CN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4</a:t>
            </a:r>
          </a:p>
        </p:txBody>
      </p:sp>
      <p:sp>
        <p:nvSpPr>
          <p:cNvPr id="81923" name="Text Box 4"/>
          <p:cNvSpPr txBox="1">
            <a:spLocks noChangeArrowheads="1"/>
          </p:cNvSpPr>
          <p:nvPr/>
        </p:nvSpPr>
        <p:spPr bwMode="auto">
          <a:xfrm>
            <a:off x="1066800" y="4191000"/>
            <a:ext cx="5715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select ... order by </a:t>
            </a:r>
            <a:r>
              <a:rPr lang="en-US" altLang="zh-CN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c1</a:t>
            </a:r>
            <a:r>
              <a:rPr lang="en-US" altLang="zh-CN">
                <a:latin typeface="Courier New" pitchFamily="49" charset="0"/>
                <a:ea typeface="宋体" charset="-122"/>
              </a:rPr>
              <a:t> limit </a:t>
            </a:r>
            <a:r>
              <a:rPr lang="en-US" altLang="zh-CN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33333333</a:t>
            </a:r>
            <a:r>
              <a:rPr lang="en-US" altLang="zh-CN">
                <a:latin typeface="Courier New" pitchFamily="49" charset="0"/>
                <a:ea typeface="宋体" charset="-122"/>
              </a:rPr>
              <a:t>, </a:t>
            </a:r>
            <a:r>
              <a:rPr lang="en-US" altLang="zh-CN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4</a:t>
            </a:r>
          </a:p>
        </p:txBody>
      </p:sp>
      <p:sp>
        <p:nvSpPr>
          <p:cNvPr id="81924" name="Text Box 5"/>
          <p:cNvSpPr txBox="1">
            <a:spLocks noChangeArrowheads="1"/>
          </p:cNvSpPr>
          <p:nvPr/>
        </p:nvSpPr>
        <p:spPr bwMode="auto">
          <a:xfrm>
            <a:off x="1066800" y="5348288"/>
            <a:ext cx="5715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select ... order by </a:t>
            </a:r>
            <a:r>
              <a:rPr lang="en-US" altLang="zh-CN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c1</a:t>
            </a:r>
            <a:r>
              <a:rPr lang="en-US" altLang="zh-CN">
                <a:latin typeface="Courier New" pitchFamily="49" charset="0"/>
                <a:ea typeface="宋体" charset="-122"/>
              </a:rPr>
              <a:t> limit </a:t>
            </a:r>
            <a:r>
              <a:rPr lang="en-US" altLang="zh-CN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33333333</a:t>
            </a:r>
            <a:r>
              <a:rPr lang="en-US" altLang="zh-CN">
                <a:latin typeface="Courier New" pitchFamily="49" charset="0"/>
                <a:ea typeface="宋体" charset="-122"/>
              </a:rPr>
              <a:t>, </a:t>
            </a:r>
            <a:r>
              <a:rPr lang="en-US" altLang="zh-CN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4</a:t>
            </a:r>
          </a:p>
        </p:txBody>
      </p:sp>
      <p:sp>
        <p:nvSpPr>
          <p:cNvPr id="81925" name="AutoShape 6"/>
          <p:cNvSpPr>
            <a:spLocks noChangeArrowheads="1"/>
          </p:cNvSpPr>
          <p:nvPr/>
        </p:nvSpPr>
        <p:spPr bwMode="auto">
          <a:xfrm>
            <a:off x="7239000" y="2590800"/>
            <a:ext cx="1371600" cy="838200"/>
          </a:xfrm>
          <a:prstGeom prst="flowChartMagneticDisk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分库</a:t>
            </a:r>
            <a:r>
              <a:rPr lang="en-US" altLang="zh-CN">
                <a:ea typeface="宋体" charset="-122"/>
              </a:rPr>
              <a:t>1</a:t>
            </a:r>
          </a:p>
        </p:txBody>
      </p:sp>
      <p:sp>
        <p:nvSpPr>
          <p:cNvPr id="81926" name="AutoShape 7"/>
          <p:cNvSpPr>
            <a:spLocks noChangeArrowheads="1"/>
          </p:cNvSpPr>
          <p:nvPr/>
        </p:nvSpPr>
        <p:spPr bwMode="auto">
          <a:xfrm>
            <a:off x="7239000" y="3810000"/>
            <a:ext cx="1371600" cy="838200"/>
          </a:xfrm>
          <a:prstGeom prst="flowChartMagneticDisk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分库</a:t>
            </a:r>
            <a:r>
              <a:rPr lang="en-US" altLang="zh-CN">
                <a:ea typeface="宋体" charset="-122"/>
              </a:rPr>
              <a:t>2</a:t>
            </a:r>
          </a:p>
        </p:txBody>
      </p:sp>
      <p:sp>
        <p:nvSpPr>
          <p:cNvPr id="81927" name="AutoShape 8"/>
          <p:cNvSpPr>
            <a:spLocks noChangeArrowheads="1"/>
          </p:cNvSpPr>
          <p:nvPr/>
        </p:nvSpPr>
        <p:spPr bwMode="auto">
          <a:xfrm>
            <a:off x="7239000" y="5105400"/>
            <a:ext cx="1371600" cy="838200"/>
          </a:xfrm>
          <a:prstGeom prst="flowChartMagneticDisk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分库</a:t>
            </a:r>
            <a:r>
              <a:rPr lang="en-US" altLang="zh-CN">
                <a:ea typeface="宋体" charset="-122"/>
              </a:rPr>
              <a:t>3</a:t>
            </a:r>
          </a:p>
        </p:txBody>
      </p:sp>
      <p:sp>
        <p:nvSpPr>
          <p:cNvPr id="81928" name="Rectangle 9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latin typeface="微软雅黑"/>
                <a:ea typeface="微软雅黑"/>
                <a:cs typeface="微软雅黑"/>
              </a:rPr>
              <a:t>step1:</a:t>
            </a:r>
            <a:r>
              <a:rPr lang="zh-CN" altLang="en-US" smtClean="0">
                <a:latin typeface="微软雅黑"/>
                <a:ea typeface="微软雅黑"/>
                <a:cs typeface="微软雅黑"/>
              </a:rPr>
              <a:t>分成</a:t>
            </a:r>
            <a:r>
              <a:rPr lang="en-US" altLang="zh-CN" smtClean="0">
                <a:latin typeface="微软雅黑"/>
                <a:ea typeface="微软雅黑"/>
                <a:cs typeface="微软雅黑"/>
              </a:rPr>
              <a:t>3</a:t>
            </a:r>
            <a:r>
              <a:rPr lang="zh-CN" altLang="en-US" smtClean="0">
                <a:latin typeface="微软雅黑"/>
                <a:ea typeface="微软雅黑"/>
                <a:cs typeface="微软雅黑"/>
              </a:rPr>
              <a:t>条语句发给分库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AutoShape 2"/>
          <p:cNvSpPr>
            <a:spLocks noChangeArrowheads="1"/>
          </p:cNvSpPr>
          <p:nvPr/>
        </p:nvSpPr>
        <p:spPr bwMode="auto">
          <a:xfrm>
            <a:off x="7239000" y="2590800"/>
            <a:ext cx="1371600" cy="838200"/>
          </a:xfrm>
          <a:prstGeom prst="flowChartMagneticDisk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分库</a:t>
            </a:r>
            <a:r>
              <a:rPr lang="en-US" altLang="zh-CN">
                <a:ea typeface="宋体" charset="-122"/>
              </a:rPr>
              <a:t>1</a:t>
            </a:r>
          </a:p>
        </p:txBody>
      </p:sp>
      <p:sp>
        <p:nvSpPr>
          <p:cNvPr id="82946" name="AutoShape 3"/>
          <p:cNvSpPr>
            <a:spLocks noChangeArrowheads="1"/>
          </p:cNvSpPr>
          <p:nvPr/>
        </p:nvSpPr>
        <p:spPr bwMode="auto">
          <a:xfrm>
            <a:off x="7239000" y="3810000"/>
            <a:ext cx="1371600" cy="838200"/>
          </a:xfrm>
          <a:prstGeom prst="flowChartMagneticDisk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分库</a:t>
            </a:r>
            <a:r>
              <a:rPr lang="en-US" altLang="zh-CN">
                <a:ea typeface="宋体" charset="-122"/>
              </a:rPr>
              <a:t>2</a:t>
            </a:r>
          </a:p>
        </p:txBody>
      </p:sp>
      <p:sp>
        <p:nvSpPr>
          <p:cNvPr id="82947" name="AutoShape 4"/>
          <p:cNvSpPr>
            <a:spLocks noChangeArrowheads="1"/>
          </p:cNvSpPr>
          <p:nvPr/>
        </p:nvSpPr>
        <p:spPr bwMode="auto">
          <a:xfrm>
            <a:off x="7239000" y="5105400"/>
            <a:ext cx="1371600" cy="838200"/>
          </a:xfrm>
          <a:prstGeom prst="flowChartMagneticDisk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分库</a:t>
            </a:r>
            <a:r>
              <a:rPr lang="en-US" altLang="zh-CN">
                <a:ea typeface="宋体" charset="-122"/>
              </a:rPr>
              <a:t>3</a:t>
            </a:r>
          </a:p>
        </p:txBody>
      </p:sp>
      <p:sp>
        <p:nvSpPr>
          <p:cNvPr id="82948" name="Text Box 5"/>
          <p:cNvSpPr txBox="1">
            <a:spLocks noChangeArrowheads="1"/>
          </p:cNvSpPr>
          <p:nvPr/>
        </p:nvSpPr>
        <p:spPr bwMode="auto">
          <a:xfrm>
            <a:off x="4191000" y="27432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7</a:t>
            </a:r>
          </a:p>
        </p:txBody>
      </p:sp>
      <p:sp>
        <p:nvSpPr>
          <p:cNvPr id="82949" name="Text Box 6"/>
          <p:cNvSpPr txBox="1">
            <a:spLocks noChangeArrowheads="1"/>
          </p:cNvSpPr>
          <p:nvPr/>
        </p:nvSpPr>
        <p:spPr bwMode="auto">
          <a:xfrm>
            <a:off x="3657600" y="27432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4</a:t>
            </a:r>
          </a:p>
        </p:txBody>
      </p:sp>
      <p:sp>
        <p:nvSpPr>
          <p:cNvPr id="82950" name="Text Box 7"/>
          <p:cNvSpPr txBox="1">
            <a:spLocks noChangeArrowheads="1"/>
          </p:cNvSpPr>
          <p:nvPr/>
        </p:nvSpPr>
        <p:spPr bwMode="auto">
          <a:xfrm>
            <a:off x="4191000" y="40528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5</a:t>
            </a:r>
          </a:p>
        </p:txBody>
      </p:sp>
      <p:sp>
        <p:nvSpPr>
          <p:cNvPr id="82951" name="Text Box 8"/>
          <p:cNvSpPr txBox="1">
            <a:spLocks noChangeArrowheads="1"/>
          </p:cNvSpPr>
          <p:nvPr/>
        </p:nvSpPr>
        <p:spPr bwMode="auto">
          <a:xfrm>
            <a:off x="3657600" y="40528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3</a:t>
            </a:r>
          </a:p>
        </p:txBody>
      </p:sp>
      <p:sp>
        <p:nvSpPr>
          <p:cNvPr id="82952" name="Text Box 9"/>
          <p:cNvSpPr txBox="1">
            <a:spLocks noChangeArrowheads="1"/>
          </p:cNvSpPr>
          <p:nvPr/>
        </p:nvSpPr>
        <p:spPr bwMode="auto">
          <a:xfrm>
            <a:off x="41910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8</a:t>
            </a:r>
          </a:p>
        </p:txBody>
      </p:sp>
      <p:sp>
        <p:nvSpPr>
          <p:cNvPr id="82953" name="Text Box 10"/>
          <p:cNvSpPr txBox="1">
            <a:spLocks noChangeArrowheads="1"/>
          </p:cNvSpPr>
          <p:nvPr/>
        </p:nvSpPr>
        <p:spPr bwMode="auto">
          <a:xfrm>
            <a:off x="36576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6</a:t>
            </a:r>
          </a:p>
        </p:txBody>
      </p:sp>
      <p:sp>
        <p:nvSpPr>
          <p:cNvPr id="82954" name="Text Box 11"/>
          <p:cNvSpPr txBox="1">
            <a:spLocks noChangeArrowheads="1"/>
          </p:cNvSpPr>
          <p:nvPr/>
        </p:nvSpPr>
        <p:spPr bwMode="auto">
          <a:xfrm>
            <a:off x="4724400" y="27432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9</a:t>
            </a:r>
          </a:p>
        </p:txBody>
      </p:sp>
      <p:sp>
        <p:nvSpPr>
          <p:cNvPr id="82955" name="Text Box 12"/>
          <p:cNvSpPr txBox="1">
            <a:spLocks noChangeArrowheads="1"/>
          </p:cNvSpPr>
          <p:nvPr/>
        </p:nvSpPr>
        <p:spPr bwMode="auto">
          <a:xfrm>
            <a:off x="5257800" y="27432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10</a:t>
            </a:r>
          </a:p>
        </p:txBody>
      </p:sp>
      <p:sp>
        <p:nvSpPr>
          <p:cNvPr id="82956" name="Text Box 13"/>
          <p:cNvSpPr txBox="1">
            <a:spLocks noChangeArrowheads="1"/>
          </p:cNvSpPr>
          <p:nvPr/>
        </p:nvSpPr>
        <p:spPr bwMode="auto">
          <a:xfrm>
            <a:off x="5257800" y="40528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7</a:t>
            </a:r>
          </a:p>
        </p:txBody>
      </p:sp>
      <p:sp>
        <p:nvSpPr>
          <p:cNvPr id="82957" name="Text Box 14"/>
          <p:cNvSpPr txBox="1">
            <a:spLocks noChangeArrowheads="1"/>
          </p:cNvSpPr>
          <p:nvPr/>
        </p:nvSpPr>
        <p:spPr bwMode="auto">
          <a:xfrm>
            <a:off x="4724400" y="40528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6</a:t>
            </a:r>
          </a:p>
        </p:txBody>
      </p:sp>
      <p:sp>
        <p:nvSpPr>
          <p:cNvPr id="82958" name="Text Box 15"/>
          <p:cNvSpPr txBox="1">
            <a:spLocks noChangeArrowheads="1"/>
          </p:cNvSpPr>
          <p:nvPr/>
        </p:nvSpPr>
        <p:spPr bwMode="auto">
          <a:xfrm>
            <a:off x="52578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11</a:t>
            </a:r>
          </a:p>
        </p:txBody>
      </p:sp>
      <p:sp>
        <p:nvSpPr>
          <p:cNvPr id="82959" name="Text Box 16"/>
          <p:cNvSpPr txBox="1">
            <a:spLocks noChangeArrowheads="1"/>
          </p:cNvSpPr>
          <p:nvPr/>
        </p:nvSpPr>
        <p:spPr bwMode="auto">
          <a:xfrm>
            <a:off x="47244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9</a:t>
            </a:r>
          </a:p>
        </p:txBody>
      </p:sp>
      <p:sp>
        <p:nvSpPr>
          <p:cNvPr id="82960" name="AutoShape 17"/>
          <p:cNvSpPr>
            <a:spLocks noChangeArrowheads="1"/>
          </p:cNvSpPr>
          <p:nvPr/>
        </p:nvSpPr>
        <p:spPr bwMode="auto">
          <a:xfrm>
            <a:off x="5867400" y="2514600"/>
            <a:ext cx="1219200" cy="762000"/>
          </a:xfrm>
          <a:prstGeom prst="leftArrow">
            <a:avLst>
              <a:gd name="adj1" fmla="val 50000"/>
              <a:gd name="adj2" fmla="val 4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返回结果</a:t>
            </a:r>
          </a:p>
        </p:txBody>
      </p:sp>
      <p:sp>
        <p:nvSpPr>
          <p:cNvPr id="82961" name="AutoShape 18"/>
          <p:cNvSpPr>
            <a:spLocks noChangeArrowheads="1"/>
          </p:cNvSpPr>
          <p:nvPr/>
        </p:nvSpPr>
        <p:spPr bwMode="auto">
          <a:xfrm>
            <a:off x="5867400" y="3886200"/>
            <a:ext cx="1219200" cy="762000"/>
          </a:xfrm>
          <a:prstGeom prst="leftArrow">
            <a:avLst>
              <a:gd name="adj1" fmla="val 50000"/>
              <a:gd name="adj2" fmla="val 4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返回结果</a:t>
            </a:r>
          </a:p>
        </p:txBody>
      </p:sp>
      <p:sp>
        <p:nvSpPr>
          <p:cNvPr id="82962" name="AutoShape 19"/>
          <p:cNvSpPr>
            <a:spLocks noChangeArrowheads="1"/>
          </p:cNvSpPr>
          <p:nvPr/>
        </p:nvSpPr>
        <p:spPr bwMode="auto">
          <a:xfrm>
            <a:off x="5867400" y="5181600"/>
            <a:ext cx="1219200" cy="762000"/>
          </a:xfrm>
          <a:prstGeom prst="leftArrow">
            <a:avLst>
              <a:gd name="adj1" fmla="val 50000"/>
              <a:gd name="adj2" fmla="val 4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返回结果</a:t>
            </a:r>
          </a:p>
        </p:txBody>
      </p:sp>
      <p:sp>
        <p:nvSpPr>
          <p:cNvPr id="82963" name="Text Box 20"/>
          <p:cNvSpPr txBox="1">
            <a:spLocks noChangeArrowheads="1"/>
          </p:cNvSpPr>
          <p:nvPr/>
        </p:nvSpPr>
        <p:spPr bwMode="auto">
          <a:xfrm>
            <a:off x="457200" y="609600"/>
            <a:ext cx="83058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latin typeface="Courier New" pitchFamily="49" charset="0"/>
                <a:ea typeface="宋体" charset="-122"/>
              </a:rPr>
              <a:t>select c1 from tb1 order by </a:t>
            </a:r>
            <a:r>
              <a:rPr lang="en-US" altLang="zh-CN" sz="240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c1</a:t>
            </a:r>
            <a:r>
              <a:rPr lang="en-US" altLang="zh-CN" sz="2400">
                <a:latin typeface="Courier New" pitchFamily="49" charset="0"/>
                <a:ea typeface="宋体" charset="-122"/>
              </a:rPr>
              <a:t> </a:t>
            </a:r>
            <a:br>
              <a:rPr lang="en-US" altLang="zh-CN" sz="2400">
                <a:latin typeface="Courier New" pitchFamily="49" charset="0"/>
                <a:ea typeface="宋体" charset="-122"/>
              </a:rPr>
            </a:br>
            <a:r>
              <a:rPr lang="en-US" altLang="zh-CN" sz="2400">
                <a:latin typeface="Courier New" pitchFamily="49" charset="0"/>
                <a:ea typeface="宋体" charset="-122"/>
              </a:rPr>
              <a:t>                         limit </a:t>
            </a:r>
            <a:r>
              <a:rPr lang="en-US" altLang="zh-CN" sz="240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9999999</a:t>
            </a:r>
            <a:r>
              <a:rPr lang="en-US" altLang="zh-CN" sz="2400">
                <a:latin typeface="Courier New" pitchFamily="49" charset="0"/>
                <a:ea typeface="宋体" charset="-122"/>
              </a:rPr>
              <a:t>, </a:t>
            </a:r>
            <a:r>
              <a:rPr lang="en-US" altLang="zh-CN" sz="240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4</a:t>
            </a:r>
          </a:p>
        </p:txBody>
      </p:sp>
      <p:sp>
        <p:nvSpPr>
          <p:cNvPr id="82964" name="Rectangle 21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ea typeface="微软雅黑"/>
                <a:cs typeface="微软雅黑"/>
              </a:rPr>
              <a:t>找出查询结果中最小和最大值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AutoShape 2"/>
          <p:cNvSpPr>
            <a:spLocks noChangeArrowheads="1"/>
          </p:cNvSpPr>
          <p:nvPr/>
        </p:nvSpPr>
        <p:spPr bwMode="auto">
          <a:xfrm>
            <a:off x="7696200" y="2590800"/>
            <a:ext cx="914400" cy="838200"/>
          </a:xfrm>
          <a:prstGeom prst="flowChartMagneticDisk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分库</a:t>
            </a:r>
            <a:r>
              <a:rPr lang="en-US" altLang="zh-CN">
                <a:ea typeface="宋体" charset="-122"/>
              </a:rPr>
              <a:t>1</a:t>
            </a:r>
          </a:p>
        </p:txBody>
      </p:sp>
      <p:sp>
        <p:nvSpPr>
          <p:cNvPr id="83970" name="AutoShape 3"/>
          <p:cNvSpPr>
            <a:spLocks noChangeArrowheads="1"/>
          </p:cNvSpPr>
          <p:nvPr/>
        </p:nvSpPr>
        <p:spPr bwMode="auto">
          <a:xfrm>
            <a:off x="7696200" y="3810000"/>
            <a:ext cx="914400" cy="838200"/>
          </a:xfrm>
          <a:prstGeom prst="flowChartMagneticDisk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分库</a:t>
            </a:r>
            <a:r>
              <a:rPr lang="en-US" altLang="zh-CN">
                <a:ea typeface="宋体" charset="-122"/>
              </a:rPr>
              <a:t>2</a:t>
            </a:r>
          </a:p>
        </p:txBody>
      </p:sp>
      <p:sp>
        <p:nvSpPr>
          <p:cNvPr id="83971" name="AutoShape 4"/>
          <p:cNvSpPr>
            <a:spLocks noChangeArrowheads="1"/>
          </p:cNvSpPr>
          <p:nvPr/>
        </p:nvSpPr>
        <p:spPr bwMode="auto">
          <a:xfrm>
            <a:off x="7696200" y="5105400"/>
            <a:ext cx="914400" cy="838200"/>
          </a:xfrm>
          <a:prstGeom prst="flowChartMagneticDisk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分库</a:t>
            </a:r>
            <a:r>
              <a:rPr lang="en-US" altLang="zh-CN">
                <a:ea typeface="宋体" charset="-122"/>
              </a:rPr>
              <a:t>3</a:t>
            </a:r>
          </a:p>
        </p:txBody>
      </p:sp>
      <p:sp>
        <p:nvSpPr>
          <p:cNvPr id="83972" name="Text Box 5"/>
          <p:cNvSpPr txBox="1">
            <a:spLocks noChangeArrowheads="1"/>
          </p:cNvSpPr>
          <p:nvPr/>
        </p:nvSpPr>
        <p:spPr bwMode="auto">
          <a:xfrm>
            <a:off x="4191000" y="27432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7</a:t>
            </a:r>
          </a:p>
        </p:txBody>
      </p:sp>
      <p:sp>
        <p:nvSpPr>
          <p:cNvPr id="83973" name="Text Box 6"/>
          <p:cNvSpPr txBox="1">
            <a:spLocks noChangeArrowheads="1"/>
          </p:cNvSpPr>
          <p:nvPr/>
        </p:nvSpPr>
        <p:spPr bwMode="auto">
          <a:xfrm>
            <a:off x="3657600" y="27432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4</a:t>
            </a:r>
          </a:p>
        </p:txBody>
      </p:sp>
      <p:sp>
        <p:nvSpPr>
          <p:cNvPr id="83974" name="Text Box 7"/>
          <p:cNvSpPr txBox="1">
            <a:spLocks noChangeArrowheads="1"/>
          </p:cNvSpPr>
          <p:nvPr/>
        </p:nvSpPr>
        <p:spPr bwMode="auto">
          <a:xfrm>
            <a:off x="4191000" y="40528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5</a:t>
            </a:r>
          </a:p>
        </p:txBody>
      </p:sp>
      <p:sp>
        <p:nvSpPr>
          <p:cNvPr id="83975" name="Text Box 8"/>
          <p:cNvSpPr txBox="1">
            <a:spLocks noChangeArrowheads="1"/>
          </p:cNvSpPr>
          <p:nvPr/>
        </p:nvSpPr>
        <p:spPr bwMode="auto">
          <a:xfrm>
            <a:off x="3657600" y="40528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3</a:t>
            </a:r>
          </a:p>
        </p:txBody>
      </p:sp>
      <p:sp>
        <p:nvSpPr>
          <p:cNvPr id="83976" name="Text Box 9"/>
          <p:cNvSpPr txBox="1">
            <a:spLocks noChangeArrowheads="1"/>
          </p:cNvSpPr>
          <p:nvPr/>
        </p:nvSpPr>
        <p:spPr bwMode="auto">
          <a:xfrm>
            <a:off x="41910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8</a:t>
            </a:r>
          </a:p>
        </p:txBody>
      </p:sp>
      <p:sp>
        <p:nvSpPr>
          <p:cNvPr id="83977" name="Text Box 10"/>
          <p:cNvSpPr txBox="1">
            <a:spLocks noChangeArrowheads="1"/>
          </p:cNvSpPr>
          <p:nvPr/>
        </p:nvSpPr>
        <p:spPr bwMode="auto">
          <a:xfrm>
            <a:off x="36576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6</a:t>
            </a:r>
          </a:p>
        </p:txBody>
      </p:sp>
      <p:sp>
        <p:nvSpPr>
          <p:cNvPr id="83978" name="Text Box 11"/>
          <p:cNvSpPr txBox="1">
            <a:spLocks noChangeArrowheads="1"/>
          </p:cNvSpPr>
          <p:nvPr/>
        </p:nvSpPr>
        <p:spPr bwMode="auto">
          <a:xfrm>
            <a:off x="4724400" y="27432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9</a:t>
            </a:r>
          </a:p>
        </p:txBody>
      </p:sp>
      <p:sp>
        <p:nvSpPr>
          <p:cNvPr id="83979" name="Text Box 12"/>
          <p:cNvSpPr txBox="1">
            <a:spLocks noChangeArrowheads="1"/>
          </p:cNvSpPr>
          <p:nvPr/>
        </p:nvSpPr>
        <p:spPr bwMode="auto">
          <a:xfrm>
            <a:off x="5257800" y="27432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10</a:t>
            </a:r>
          </a:p>
        </p:txBody>
      </p:sp>
      <p:sp>
        <p:nvSpPr>
          <p:cNvPr id="83980" name="Text Box 13"/>
          <p:cNvSpPr txBox="1">
            <a:spLocks noChangeArrowheads="1"/>
          </p:cNvSpPr>
          <p:nvPr/>
        </p:nvSpPr>
        <p:spPr bwMode="auto">
          <a:xfrm>
            <a:off x="5257800" y="40528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7</a:t>
            </a:r>
          </a:p>
        </p:txBody>
      </p:sp>
      <p:sp>
        <p:nvSpPr>
          <p:cNvPr id="83981" name="Text Box 14"/>
          <p:cNvSpPr txBox="1">
            <a:spLocks noChangeArrowheads="1"/>
          </p:cNvSpPr>
          <p:nvPr/>
        </p:nvSpPr>
        <p:spPr bwMode="auto">
          <a:xfrm>
            <a:off x="4724400" y="40528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6</a:t>
            </a:r>
          </a:p>
        </p:txBody>
      </p:sp>
      <p:sp>
        <p:nvSpPr>
          <p:cNvPr id="83982" name="Text Box 15"/>
          <p:cNvSpPr txBox="1">
            <a:spLocks noChangeArrowheads="1"/>
          </p:cNvSpPr>
          <p:nvPr/>
        </p:nvSpPr>
        <p:spPr bwMode="auto">
          <a:xfrm>
            <a:off x="52578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11</a:t>
            </a:r>
          </a:p>
        </p:txBody>
      </p:sp>
      <p:sp>
        <p:nvSpPr>
          <p:cNvPr id="83983" name="Text Box 16"/>
          <p:cNvSpPr txBox="1">
            <a:spLocks noChangeArrowheads="1"/>
          </p:cNvSpPr>
          <p:nvPr/>
        </p:nvSpPr>
        <p:spPr bwMode="auto">
          <a:xfrm>
            <a:off x="47244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9</a:t>
            </a:r>
          </a:p>
        </p:txBody>
      </p:sp>
      <p:sp>
        <p:nvSpPr>
          <p:cNvPr id="83984" name="AutoShape 17"/>
          <p:cNvSpPr>
            <a:spLocks noChangeArrowheads="1"/>
          </p:cNvSpPr>
          <p:nvPr/>
        </p:nvSpPr>
        <p:spPr bwMode="auto">
          <a:xfrm>
            <a:off x="6400800" y="2514600"/>
            <a:ext cx="1219200" cy="762000"/>
          </a:xfrm>
          <a:prstGeom prst="leftArrow">
            <a:avLst>
              <a:gd name="adj1" fmla="val 50000"/>
              <a:gd name="adj2" fmla="val 4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返回结果</a:t>
            </a:r>
          </a:p>
        </p:txBody>
      </p:sp>
      <p:sp>
        <p:nvSpPr>
          <p:cNvPr id="83985" name="AutoShape 18"/>
          <p:cNvSpPr>
            <a:spLocks noChangeArrowheads="1"/>
          </p:cNvSpPr>
          <p:nvPr/>
        </p:nvSpPr>
        <p:spPr bwMode="auto">
          <a:xfrm>
            <a:off x="6400800" y="3886200"/>
            <a:ext cx="1219200" cy="762000"/>
          </a:xfrm>
          <a:prstGeom prst="leftArrow">
            <a:avLst>
              <a:gd name="adj1" fmla="val 50000"/>
              <a:gd name="adj2" fmla="val 4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返回结果</a:t>
            </a:r>
          </a:p>
        </p:txBody>
      </p:sp>
      <p:sp>
        <p:nvSpPr>
          <p:cNvPr id="83986" name="AutoShape 19"/>
          <p:cNvSpPr>
            <a:spLocks noChangeArrowheads="1"/>
          </p:cNvSpPr>
          <p:nvPr/>
        </p:nvSpPr>
        <p:spPr bwMode="auto">
          <a:xfrm>
            <a:off x="6400800" y="5181600"/>
            <a:ext cx="1219200" cy="762000"/>
          </a:xfrm>
          <a:prstGeom prst="leftArrow">
            <a:avLst>
              <a:gd name="adj1" fmla="val 50000"/>
              <a:gd name="adj2" fmla="val 4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返回结果</a:t>
            </a:r>
          </a:p>
        </p:txBody>
      </p:sp>
      <p:sp>
        <p:nvSpPr>
          <p:cNvPr id="83987" name="Rectangle 20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latin typeface="微软雅黑"/>
                <a:ea typeface="微软雅黑"/>
                <a:cs typeface="微软雅黑"/>
              </a:rPr>
              <a:t>step2:</a:t>
            </a:r>
            <a:r>
              <a:rPr lang="zh-CN" altLang="en-US" smtClean="0">
                <a:latin typeface="微软雅黑"/>
                <a:ea typeface="微软雅黑"/>
                <a:cs typeface="微软雅黑"/>
              </a:rPr>
              <a:t>以最小值和最大值为界再查询</a:t>
            </a:r>
          </a:p>
        </p:txBody>
      </p:sp>
      <p:sp>
        <p:nvSpPr>
          <p:cNvPr id="83988" name="Text Box 21"/>
          <p:cNvSpPr txBox="1">
            <a:spLocks noChangeArrowheads="1"/>
          </p:cNvSpPr>
          <p:nvPr/>
        </p:nvSpPr>
        <p:spPr bwMode="auto">
          <a:xfrm>
            <a:off x="457200" y="609600"/>
            <a:ext cx="83058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latin typeface="Courier New" pitchFamily="49" charset="0"/>
                <a:ea typeface="宋体" charset="-122"/>
              </a:rPr>
              <a:t>select c1 from tb1 order by </a:t>
            </a:r>
            <a:r>
              <a:rPr lang="en-US" altLang="zh-CN" sz="240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c1</a:t>
            </a:r>
            <a:r>
              <a:rPr lang="en-US" altLang="zh-CN" sz="2400">
                <a:latin typeface="Courier New" pitchFamily="49" charset="0"/>
                <a:ea typeface="宋体" charset="-122"/>
              </a:rPr>
              <a:t> </a:t>
            </a:r>
            <a:br>
              <a:rPr lang="en-US" altLang="zh-CN" sz="2400">
                <a:latin typeface="Courier New" pitchFamily="49" charset="0"/>
                <a:ea typeface="宋体" charset="-122"/>
              </a:rPr>
            </a:br>
            <a:r>
              <a:rPr lang="en-US" altLang="zh-CN" sz="2400">
                <a:latin typeface="Courier New" pitchFamily="49" charset="0"/>
                <a:ea typeface="宋体" charset="-122"/>
              </a:rPr>
              <a:t>                         limit </a:t>
            </a:r>
            <a:r>
              <a:rPr lang="en-US" altLang="zh-CN" sz="240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9999999</a:t>
            </a:r>
            <a:r>
              <a:rPr lang="en-US" altLang="zh-CN" sz="2400">
                <a:latin typeface="Courier New" pitchFamily="49" charset="0"/>
                <a:ea typeface="宋体" charset="-122"/>
              </a:rPr>
              <a:t>, </a:t>
            </a:r>
            <a:r>
              <a:rPr lang="en-US" altLang="zh-CN" sz="240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4</a:t>
            </a:r>
          </a:p>
        </p:txBody>
      </p:sp>
      <p:sp>
        <p:nvSpPr>
          <p:cNvPr id="83989" name="Text Box 22"/>
          <p:cNvSpPr txBox="1">
            <a:spLocks noChangeArrowheads="1"/>
          </p:cNvSpPr>
          <p:nvPr/>
        </p:nvSpPr>
        <p:spPr bwMode="auto">
          <a:xfrm>
            <a:off x="3124200" y="27432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3</a:t>
            </a:r>
          </a:p>
        </p:txBody>
      </p:sp>
      <p:sp>
        <p:nvSpPr>
          <p:cNvPr id="83990" name="Text Box 23"/>
          <p:cNvSpPr txBox="1">
            <a:spLocks noChangeArrowheads="1"/>
          </p:cNvSpPr>
          <p:nvPr/>
        </p:nvSpPr>
        <p:spPr bwMode="auto">
          <a:xfrm>
            <a:off x="5791200" y="40528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11</a:t>
            </a:r>
          </a:p>
        </p:txBody>
      </p:sp>
      <p:sp>
        <p:nvSpPr>
          <p:cNvPr id="83991" name="Text Box 24"/>
          <p:cNvSpPr txBox="1">
            <a:spLocks noChangeArrowheads="1"/>
          </p:cNvSpPr>
          <p:nvPr/>
        </p:nvSpPr>
        <p:spPr bwMode="auto">
          <a:xfrm>
            <a:off x="31242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5</a:t>
            </a:r>
          </a:p>
        </p:txBody>
      </p:sp>
      <p:sp>
        <p:nvSpPr>
          <p:cNvPr id="83992" name="Text Box 25"/>
          <p:cNvSpPr txBox="1">
            <a:spLocks noChangeArrowheads="1"/>
          </p:cNvSpPr>
          <p:nvPr/>
        </p:nvSpPr>
        <p:spPr bwMode="auto">
          <a:xfrm>
            <a:off x="25908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3</a:t>
            </a:r>
          </a:p>
        </p:txBody>
      </p:sp>
      <p:sp>
        <p:nvSpPr>
          <p:cNvPr id="83993" name="Text Box 26"/>
          <p:cNvSpPr txBox="1">
            <a:spLocks noChangeArrowheads="1"/>
          </p:cNvSpPr>
          <p:nvPr/>
        </p:nvSpPr>
        <p:spPr bwMode="auto">
          <a:xfrm>
            <a:off x="5791200" y="27432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11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AutoShape 2"/>
          <p:cNvSpPr>
            <a:spLocks noChangeArrowheads="1"/>
          </p:cNvSpPr>
          <p:nvPr/>
        </p:nvSpPr>
        <p:spPr bwMode="auto">
          <a:xfrm>
            <a:off x="7696200" y="2590800"/>
            <a:ext cx="914400" cy="838200"/>
          </a:xfrm>
          <a:prstGeom prst="flowChartMagneticDisk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分库</a:t>
            </a:r>
            <a:r>
              <a:rPr lang="en-US" altLang="zh-CN">
                <a:ea typeface="宋体" charset="-122"/>
              </a:rPr>
              <a:t>1</a:t>
            </a:r>
          </a:p>
        </p:txBody>
      </p:sp>
      <p:sp>
        <p:nvSpPr>
          <p:cNvPr id="84994" name="AutoShape 3"/>
          <p:cNvSpPr>
            <a:spLocks noChangeArrowheads="1"/>
          </p:cNvSpPr>
          <p:nvPr/>
        </p:nvSpPr>
        <p:spPr bwMode="auto">
          <a:xfrm>
            <a:off x="7696200" y="3810000"/>
            <a:ext cx="914400" cy="838200"/>
          </a:xfrm>
          <a:prstGeom prst="flowChartMagneticDisk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分库</a:t>
            </a:r>
            <a:r>
              <a:rPr lang="en-US" altLang="zh-CN">
                <a:ea typeface="宋体" charset="-122"/>
              </a:rPr>
              <a:t>2</a:t>
            </a:r>
          </a:p>
        </p:txBody>
      </p:sp>
      <p:sp>
        <p:nvSpPr>
          <p:cNvPr id="84995" name="AutoShape 4"/>
          <p:cNvSpPr>
            <a:spLocks noChangeArrowheads="1"/>
          </p:cNvSpPr>
          <p:nvPr/>
        </p:nvSpPr>
        <p:spPr bwMode="auto">
          <a:xfrm>
            <a:off x="7696200" y="5105400"/>
            <a:ext cx="914400" cy="838200"/>
          </a:xfrm>
          <a:prstGeom prst="flowChartMagneticDisk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分库</a:t>
            </a:r>
            <a:r>
              <a:rPr lang="en-US" altLang="zh-CN">
                <a:ea typeface="宋体" charset="-122"/>
              </a:rPr>
              <a:t>3</a:t>
            </a:r>
          </a:p>
        </p:txBody>
      </p:sp>
      <p:sp>
        <p:nvSpPr>
          <p:cNvPr id="84996" name="Text Box 5"/>
          <p:cNvSpPr txBox="1">
            <a:spLocks noChangeArrowheads="1"/>
          </p:cNvSpPr>
          <p:nvPr/>
        </p:nvSpPr>
        <p:spPr bwMode="auto">
          <a:xfrm>
            <a:off x="4191000" y="27432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7</a:t>
            </a:r>
          </a:p>
        </p:txBody>
      </p:sp>
      <p:sp>
        <p:nvSpPr>
          <p:cNvPr id="84997" name="Text Box 6"/>
          <p:cNvSpPr txBox="1">
            <a:spLocks noChangeArrowheads="1"/>
          </p:cNvSpPr>
          <p:nvPr/>
        </p:nvSpPr>
        <p:spPr bwMode="auto">
          <a:xfrm>
            <a:off x="3657600" y="27432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4</a:t>
            </a:r>
          </a:p>
        </p:txBody>
      </p:sp>
      <p:sp>
        <p:nvSpPr>
          <p:cNvPr id="84998" name="Text Box 7"/>
          <p:cNvSpPr txBox="1">
            <a:spLocks noChangeArrowheads="1"/>
          </p:cNvSpPr>
          <p:nvPr/>
        </p:nvSpPr>
        <p:spPr bwMode="auto">
          <a:xfrm>
            <a:off x="4191000" y="40528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5</a:t>
            </a:r>
          </a:p>
        </p:txBody>
      </p:sp>
      <p:sp>
        <p:nvSpPr>
          <p:cNvPr id="84999" name="Text Box 8"/>
          <p:cNvSpPr txBox="1">
            <a:spLocks noChangeArrowheads="1"/>
          </p:cNvSpPr>
          <p:nvPr/>
        </p:nvSpPr>
        <p:spPr bwMode="auto">
          <a:xfrm>
            <a:off x="3657600" y="40528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3</a:t>
            </a:r>
          </a:p>
        </p:txBody>
      </p:sp>
      <p:sp>
        <p:nvSpPr>
          <p:cNvPr id="85000" name="Text Box 9"/>
          <p:cNvSpPr txBox="1">
            <a:spLocks noChangeArrowheads="1"/>
          </p:cNvSpPr>
          <p:nvPr/>
        </p:nvSpPr>
        <p:spPr bwMode="auto">
          <a:xfrm>
            <a:off x="41910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8</a:t>
            </a:r>
          </a:p>
        </p:txBody>
      </p:sp>
      <p:sp>
        <p:nvSpPr>
          <p:cNvPr id="85001" name="Text Box 10"/>
          <p:cNvSpPr txBox="1">
            <a:spLocks noChangeArrowheads="1"/>
          </p:cNvSpPr>
          <p:nvPr/>
        </p:nvSpPr>
        <p:spPr bwMode="auto">
          <a:xfrm>
            <a:off x="36576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6</a:t>
            </a:r>
          </a:p>
        </p:txBody>
      </p:sp>
      <p:sp>
        <p:nvSpPr>
          <p:cNvPr id="85002" name="Text Box 11"/>
          <p:cNvSpPr txBox="1">
            <a:spLocks noChangeArrowheads="1"/>
          </p:cNvSpPr>
          <p:nvPr/>
        </p:nvSpPr>
        <p:spPr bwMode="auto">
          <a:xfrm>
            <a:off x="4724400" y="27432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9</a:t>
            </a:r>
          </a:p>
        </p:txBody>
      </p:sp>
      <p:sp>
        <p:nvSpPr>
          <p:cNvPr id="85003" name="Text Box 12"/>
          <p:cNvSpPr txBox="1">
            <a:spLocks noChangeArrowheads="1"/>
          </p:cNvSpPr>
          <p:nvPr/>
        </p:nvSpPr>
        <p:spPr bwMode="auto">
          <a:xfrm>
            <a:off x="5257800" y="27432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10</a:t>
            </a:r>
          </a:p>
        </p:txBody>
      </p:sp>
      <p:sp>
        <p:nvSpPr>
          <p:cNvPr id="85004" name="Text Box 13"/>
          <p:cNvSpPr txBox="1">
            <a:spLocks noChangeArrowheads="1"/>
          </p:cNvSpPr>
          <p:nvPr/>
        </p:nvSpPr>
        <p:spPr bwMode="auto">
          <a:xfrm>
            <a:off x="5257800" y="40528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7</a:t>
            </a:r>
          </a:p>
        </p:txBody>
      </p:sp>
      <p:sp>
        <p:nvSpPr>
          <p:cNvPr id="85005" name="Text Box 14"/>
          <p:cNvSpPr txBox="1">
            <a:spLocks noChangeArrowheads="1"/>
          </p:cNvSpPr>
          <p:nvPr/>
        </p:nvSpPr>
        <p:spPr bwMode="auto">
          <a:xfrm>
            <a:off x="4724400" y="40528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6</a:t>
            </a:r>
          </a:p>
        </p:txBody>
      </p:sp>
      <p:sp>
        <p:nvSpPr>
          <p:cNvPr id="85006" name="Text Box 15"/>
          <p:cNvSpPr txBox="1">
            <a:spLocks noChangeArrowheads="1"/>
          </p:cNvSpPr>
          <p:nvPr/>
        </p:nvSpPr>
        <p:spPr bwMode="auto">
          <a:xfrm>
            <a:off x="52578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11</a:t>
            </a:r>
          </a:p>
        </p:txBody>
      </p:sp>
      <p:sp>
        <p:nvSpPr>
          <p:cNvPr id="85007" name="Text Box 16"/>
          <p:cNvSpPr txBox="1">
            <a:spLocks noChangeArrowheads="1"/>
          </p:cNvSpPr>
          <p:nvPr/>
        </p:nvSpPr>
        <p:spPr bwMode="auto">
          <a:xfrm>
            <a:off x="47244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9</a:t>
            </a:r>
          </a:p>
        </p:txBody>
      </p:sp>
      <p:sp>
        <p:nvSpPr>
          <p:cNvPr id="85008" name="AutoShape 17"/>
          <p:cNvSpPr>
            <a:spLocks noChangeArrowheads="1"/>
          </p:cNvSpPr>
          <p:nvPr/>
        </p:nvSpPr>
        <p:spPr bwMode="auto">
          <a:xfrm>
            <a:off x="6400800" y="2514600"/>
            <a:ext cx="1219200" cy="762000"/>
          </a:xfrm>
          <a:prstGeom prst="leftArrow">
            <a:avLst>
              <a:gd name="adj1" fmla="val 50000"/>
              <a:gd name="adj2" fmla="val 4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返回结果</a:t>
            </a:r>
          </a:p>
        </p:txBody>
      </p:sp>
      <p:sp>
        <p:nvSpPr>
          <p:cNvPr id="85009" name="AutoShape 18"/>
          <p:cNvSpPr>
            <a:spLocks noChangeArrowheads="1"/>
          </p:cNvSpPr>
          <p:nvPr/>
        </p:nvSpPr>
        <p:spPr bwMode="auto">
          <a:xfrm>
            <a:off x="6400800" y="3886200"/>
            <a:ext cx="1219200" cy="762000"/>
          </a:xfrm>
          <a:prstGeom prst="leftArrow">
            <a:avLst>
              <a:gd name="adj1" fmla="val 50000"/>
              <a:gd name="adj2" fmla="val 4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返回结果</a:t>
            </a:r>
          </a:p>
        </p:txBody>
      </p:sp>
      <p:sp>
        <p:nvSpPr>
          <p:cNvPr id="85010" name="AutoShape 19"/>
          <p:cNvSpPr>
            <a:spLocks noChangeArrowheads="1"/>
          </p:cNvSpPr>
          <p:nvPr/>
        </p:nvSpPr>
        <p:spPr bwMode="auto">
          <a:xfrm>
            <a:off x="6400800" y="5181600"/>
            <a:ext cx="1219200" cy="762000"/>
          </a:xfrm>
          <a:prstGeom prst="leftArrow">
            <a:avLst>
              <a:gd name="adj1" fmla="val 50000"/>
              <a:gd name="adj2" fmla="val 4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返回结果</a:t>
            </a:r>
          </a:p>
        </p:txBody>
      </p:sp>
      <p:sp>
        <p:nvSpPr>
          <p:cNvPr id="85011" name="Rectangle 20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latin typeface="微软雅黑"/>
                <a:ea typeface="微软雅黑"/>
                <a:cs typeface="微软雅黑"/>
              </a:rPr>
              <a:t>step3:</a:t>
            </a:r>
            <a:r>
              <a:rPr lang="zh-CN" altLang="en-US" smtClean="0">
                <a:latin typeface="微软雅黑"/>
                <a:ea typeface="微软雅黑"/>
                <a:cs typeface="微软雅黑"/>
              </a:rPr>
              <a:t>反查出每一个返回结果的</a:t>
            </a:r>
            <a:r>
              <a:rPr lang="en-US" altLang="zh-CN" smtClean="0">
                <a:latin typeface="微软雅黑"/>
                <a:ea typeface="微软雅黑"/>
                <a:cs typeface="微软雅黑"/>
              </a:rPr>
              <a:t>offset</a:t>
            </a:r>
          </a:p>
        </p:txBody>
      </p:sp>
      <p:sp>
        <p:nvSpPr>
          <p:cNvPr id="85012" name="Text Box 21"/>
          <p:cNvSpPr txBox="1">
            <a:spLocks noChangeArrowheads="1"/>
          </p:cNvSpPr>
          <p:nvPr/>
        </p:nvSpPr>
        <p:spPr bwMode="auto">
          <a:xfrm>
            <a:off x="457200" y="609600"/>
            <a:ext cx="83058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latin typeface="Courier New" pitchFamily="49" charset="0"/>
                <a:ea typeface="宋体" charset="-122"/>
              </a:rPr>
              <a:t>select c1 from tb1 order by </a:t>
            </a:r>
            <a:r>
              <a:rPr lang="en-US" altLang="zh-CN" sz="240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c1</a:t>
            </a:r>
            <a:r>
              <a:rPr lang="en-US" altLang="zh-CN" sz="2400">
                <a:latin typeface="Courier New" pitchFamily="49" charset="0"/>
                <a:ea typeface="宋体" charset="-122"/>
              </a:rPr>
              <a:t> </a:t>
            </a:r>
            <a:br>
              <a:rPr lang="en-US" altLang="zh-CN" sz="2400">
                <a:latin typeface="Courier New" pitchFamily="49" charset="0"/>
                <a:ea typeface="宋体" charset="-122"/>
              </a:rPr>
            </a:br>
            <a:r>
              <a:rPr lang="en-US" altLang="zh-CN" sz="2400">
                <a:latin typeface="Courier New" pitchFamily="49" charset="0"/>
                <a:ea typeface="宋体" charset="-122"/>
              </a:rPr>
              <a:t>                         limit </a:t>
            </a:r>
            <a:r>
              <a:rPr lang="en-US" altLang="zh-CN" sz="240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9999999</a:t>
            </a:r>
            <a:r>
              <a:rPr lang="en-US" altLang="zh-CN" sz="2400">
                <a:latin typeface="Courier New" pitchFamily="49" charset="0"/>
                <a:ea typeface="宋体" charset="-122"/>
              </a:rPr>
              <a:t>, </a:t>
            </a:r>
            <a:r>
              <a:rPr lang="en-US" altLang="zh-CN" sz="240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4</a:t>
            </a:r>
          </a:p>
        </p:txBody>
      </p:sp>
      <p:sp>
        <p:nvSpPr>
          <p:cNvPr id="85013" name="Text Box 22"/>
          <p:cNvSpPr txBox="1">
            <a:spLocks noChangeArrowheads="1"/>
          </p:cNvSpPr>
          <p:nvPr/>
        </p:nvSpPr>
        <p:spPr bwMode="auto">
          <a:xfrm>
            <a:off x="3124200" y="27432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3</a:t>
            </a:r>
          </a:p>
        </p:txBody>
      </p:sp>
      <p:sp>
        <p:nvSpPr>
          <p:cNvPr id="85014" name="Text Box 23"/>
          <p:cNvSpPr txBox="1">
            <a:spLocks noChangeArrowheads="1"/>
          </p:cNvSpPr>
          <p:nvPr/>
        </p:nvSpPr>
        <p:spPr bwMode="auto">
          <a:xfrm>
            <a:off x="5791200" y="40528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11</a:t>
            </a:r>
          </a:p>
        </p:txBody>
      </p:sp>
      <p:sp>
        <p:nvSpPr>
          <p:cNvPr id="85015" name="Text Box 24"/>
          <p:cNvSpPr txBox="1">
            <a:spLocks noChangeArrowheads="1"/>
          </p:cNvSpPr>
          <p:nvPr/>
        </p:nvSpPr>
        <p:spPr bwMode="auto">
          <a:xfrm>
            <a:off x="31242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5</a:t>
            </a:r>
          </a:p>
        </p:txBody>
      </p:sp>
      <p:sp>
        <p:nvSpPr>
          <p:cNvPr id="85016" name="Text Box 25"/>
          <p:cNvSpPr txBox="1">
            <a:spLocks noChangeArrowheads="1"/>
          </p:cNvSpPr>
          <p:nvPr/>
        </p:nvSpPr>
        <p:spPr bwMode="auto">
          <a:xfrm>
            <a:off x="25908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3</a:t>
            </a:r>
          </a:p>
        </p:txBody>
      </p:sp>
      <p:sp>
        <p:nvSpPr>
          <p:cNvPr id="85017" name="Text Box 26"/>
          <p:cNvSpPr txBox="1">
            <a:spLocks noChangeArrowheads="1"/>
          </p:cNvSpPr>
          <p:nvPr/>
        </p:nvSpPr>
        <p:spPr bwMode="auto">
          <a:xfrm>
            <a:off x="5791200" y="27432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11</a:t>
            </a:r>
          </a:p>
        </p:txBody>
      </p:sp>
      <p:sp>
        <p:nvSpPr>
          <p:cNvPr id="85018" name="AutoShape 27"/>
          <p:cNvSpPr>
            <a:spLocks/>
          </p:cNvSpPr>
          <p:nvPr/>
        </p:nvSpPr>
        <p:spPr bwMode="auto">
          <a:xfrm rot="5400000">
            <a:off x="1562100" y="4876800"/>
            <a:ext cx="304800" cy="1524000"/>
          </a:xfrm>
          <a:prstGeom prst="rightBrace">
            <a:avLst>
              <a:gd name="adj1" fmla="val 416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rot="10800000" vert="eaVert" wrap="none" anchor="ctr"/>
          <a:lstStyle/>
          <a:p>
            <a:pPr algn="ctr"/>
            <a:r>
              <a:rPr lang="en-US" altLang="zh-CN">
                <a:latin typeface="Courier New" pitchFamily="49" charset="0"/>
                <a:ea typeface="宋体" charset="-122"/>
              </a:rPr>
              <a:t>33333331</a:t>
            </a:r>
            <a:r>
              <a:rPr lang="zh-CN" altLang="en-US">
                <a:latin typeface="Courier New" pitchFamily="49" charset="0"/>
                <a:ea typeface="宋体" charset="-122"/>
              </a:rPr>
              <a:t>条</a:t>
            </a:r>
          </a:p>
        </p:txBody>
      </p:sp>
      <p:sp>
        <p:nvSpPr>
          <p:cNvPr id="85019" name="AutoShape 28"/>
          <p:cNvSpPr>
            <a:spLocks/>
          </p:cNvSpPr>
          <p:nvPr/>
        </p:nvSpPr>
        <p:spPr bwMode="auto">
          <a:xfrm rot="5400000">
            <a:off x="2133600" y="3124200"/>
            <a:ext cx="304800" cy="2743200"/>
          </a:xfrm>
          <a:prstGeom prst="rightBrace">
            <a:avLst>
              <a:gd name="adj1" fmla="val 75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rot="10800000" vert="eaVert" wrap="none" anchor="ctr"/>
          <a:lstStyle/>
          <a:p>
            <a:pPr algn="ctr"/>
            <a:r>
              <a:rPr lang="en-US" altLang="zh-CN">
                <a:latin typeface="Courier New" pitchFamily="49" charset="0"/>
                <a:ea typeface="宋体" charset="-122"/>
              </a:rPr>
              <a:t>33333333</a:t>
            </a:r>
            <a:r>
              <a:rPr lang="zh-CN" altLang="en-US">
                <a:latin typeface="Courier New" pitchFamily="49" charset="0"/>
                <a:ea typeface="宋体" charset="-122"/>
              </a:rPr>
              <a:t>条</a:t>
            </a:r>
          </a:p>
        </p:txBody>
      </p:sp>
      <p:sp>
        <p:nvSpPr>
          <p:cNvPr id="85020" name="AutoShape 29"/>
          <p:cNvSpPr>
            <a:spLocks/>
          </p:cNvSpPr>
          <p:nvPr/>
        </p:nvSpPr>
        <p:spPr bwMode="auto">
          <a:xfrm rot="5400000">
            <a:off x="1866900" y="2095500"/>
            <a:ext cx="304800" cy="2057400"/>
          </a:xfrm>
          <a:prstGeom prst="rightBrace">
            <a:avLst>
              <a:gd name="adj1" fmla="val 5625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rot="10800000" vert="eaVert" wrap="none" anchor="ctr"/>
          <a:lstStyle/>
          <a:p>
            <a:pPr algn="ctr"/>
            <a:r>
              <a:rPr lang="en-US" altLang="zh-CN">
                <a:latin typeface="Courier New" pitchFamily="49" charset="0"/>
                <a:ea typeface="宋体" charset="-122"/>
              </a:rPr>
              <a:t>33333332</a:t>
            </a:r>
            <a:r>
              <a:rPr lang="zh-CN" altLang="en-US">
                <a:latin typeface="Courier New" pitchFamily="49" charset="0"/>
                <a:ea typeface="宋体" charset="-122"/>
              </a:rPr>
              <a:t>条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AutoShape 2"/>
          <p:cNvSpPr>
            <a:spLocks noChangeArrowheads="1"/>
          </p:cNvSpPr>
          <p:nvPr/>
        </p:nvSpPr>
        <p:spPr bwMode="auto">
          <a:xfrm>
            <a:off x="7696200" y="2590800"/>
            <a:ext cx="914400" cy="838200"/>
          </a:xfrm>
          <a:prstGeom prst="flowChartMagneticDisk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分库</a:t>
            </a:r>
            <a:r>
              <a:rPr lang="en-US" altLang="zh-CN">
                <a:ea typeface="宋体" charset="-122"/>
              </a:rPr>
              <a:t>1</a:t>
            </a:r>
          </a:p>
        </p:txBody>
      </p:sp>
      <p:sp>
        <p:nvSpPr>
          <p:cNvPr id="86018" name="AutoShape 3"/>
          <p:cNvSpPr>
            <a:spLocks noChangeArrowheads="1"/>
          </p:cNvSpPr>
          <p:nvPr/>
        </p:nvSpPr>
        <p:spPr bwMode="auto">
          <a:xfrm>
            <a:off x="7696200" y="3810000"/>
            <a:ext cx="914400" cy="838200"/>
          </a:xfrm>
          <a:prstGeom prst="flowChartMagneticDisk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分库</a:t>
            </a:r>
            <a:r>
              <a:rPr lang="en-US" altLang="zh-CN">
                <a:ea typeface="宋体" charset="-122"/>
              </a:rPr>
              <a:t>2</a:t>
            </a:r>
          </a:p>
        </p:txBody>
      </p:sp>
      <p:sp>
        <p:nvSpPr>
          <p:cNvPr id="86019" name="AutoShape 4"/>
          <p:cNvSpPr>
            <a:spLocks noChangeArrowheads="1"/>
          </p:cNvSpPr>
          <p:nvPr/>
        </p:nvSpPr>
        <p:spPr bwMode="auto">
          <a:xfrm>
            <a:off x="7696200" y="5105400"/>
            <a:ext cx="914400" cy="838200"/>
          </a:xfrm>
          <a:prstGeom prst="flowChartMagneticDisk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分库</a:t>
            </a:r>
            <a:r>
              <a:rPr lang="en-US" altLang="zh-CN">
                <a:ea typeface="宋体" charset="-122"/>
              </a:rPr>
              <a:t>3</a:t>
            </a:r>
          </a:p>
        </p:txBody>
      </p:sp>
      <p:sp>
        <p:nvSpPr>
          <p:cNvPr id="86020" name="Text Box 5"/>
          <p:cNvSpPr txBox="1">
            <a:spLocks noChangeArrowheads="1"/>
          </p:cNvSpPr>
          <p:nvPr/>
        </p:nvSpPr>
        <p:spPr bwMode="auto">
          <a:xfrm>
            <a:off x="4191000" y="27432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7</a:t>
            </a:r>
          </a:p>
        </p:txBody>
      </p:sp>
      <p:sp>
        <p:nvSpPr>
          <p:cNvPr id="86021" name="Text Box 6"/>
          <p:cNvSpPr txBox="1">
            <a:spLocks noChangeArrowheads="1"/>
          </p:cNvSpPr>
          <p:nvPr/>
        </p:nvSpPr>
        <p:spPr bwMode="auto">
          <a:xfrm>
            <a:off x="3657600" y="27432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4</a:t>
            </a:r>
          </a:p>
        </p:txBody>
      </p:sp>
      <p:sp>
        <p:nvSpPr>
          <p:cNvPr id="86022" name="Text Box 7"/>
          <p:cNvSpPr txBox="1">
            <a:spLocks noChangeArrowheads="1"/>
          </p:cNvSpPr>
          <p:nvPr/>
        </p:nvSpPr>
        <p:spPr bwMode="auto">
          <a:xfrm>
            <a:off x="4191000" y="40528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5</a:t>
            </a:r>
          </a:p>
        </p:txBody>
      </p:sp>
      <p:sp>
        <p:nvSpPr>
          <p:cNvPr id="86023" name="Text Box 8"/>
          <p:cNvSpPr txBox="1">
            <a:spLocks noChangeArrowheads="1"/>
          </p:cNvSpPr>
          <p:nvPr/>
        </p:nvSpPr>
        <p:spPr bwMode="auto">
          <a:xfrm>
            <a:off x="3657600" y="40528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3</a:t>
            </a:r>
          </a:p>
        </p:txBody>
      </p:sp>
      <p:sp>
        <p:nvSpPr>
          <p:cNvPr id="86024" name="Text Box 9"/>
          <p:cNvSpPr txBox="1">
            <a:spLocks noChangeArrowheads="1"/>
          </p:cNvSpPr>
          <p:nvPr/>
        </p:nvSpPr>
        <p:spPr bwMode="auto">
          <a:xfrm>
            <a:off x="41910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8</a:t>
            </a:r>
          </a:p>
        </p:txBody>
      </p:sp>
      <p:sp>
        <p:nvSpPr>
          <p:cNvPr id="86025" name="Text Box 10"/>
          <p:cNvSpPr txBox="1">
            <a:spLocks noChangeArrowheads="1"/>
          </p:cNvSpPr>
          <p:nvPr/>
        </p:nvSpPr>
        <p:spPr bwMode="auto">
          <a:xfrm>
            <a:off x="36576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6</a:t>
            </a:r>
          </a:p>
        </p:txBody>
      </p:sp>
      <p:sp>
        <p:nvSpPr>
          <p:cNvPr id="86026" name="Text Box 11"/>
          <p:cNvSpPr txBox="1">
            <a:spLocks noChangeArrowheads="1"/>
          </p:cNvSpPr>
          <p:nvPr/>
        </p:nvSpPr>
        <p:spPr bwMode="auto">
          <a:xfrm>
            <a:off x="4724400" y="27432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9</a:t>
            </a:r>
          </a:p>
        </p:txBody>
      </p:sp>
      <p:sp>
        <p:nvSpPr>
          <p:cNvPr id="86027" name="Text Box 12"/>
          <p:cNvSpPr txBox="1">
            <a:spLocks noChangeArrowheads="1"/>
          </p:cNvSpPr>
          <p:nvPr/>
        </p:nvSpPr>
        <p:spPr bwMode="auto">
          <a:xfrm>
            <a:off x="5257800" y="27432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10</a:t>
            </a:r>
          </a:p>
        </p:txBody>
      </p:sp>
      <p:sp>
        <p:nvSpPr>
          <p:cNvPr id="86028" name="Text Box 13"/>
          <p:cNvSpPr txBox="1">
            <a:spLocks noChangeArrowheads="1"/>
          </p:cNvSpPr>
          <p:nvPr/>
        </p:nvSpPr>
        <p:spPr bwMode="auto">
          <a:xfrm>
            <a:off x="5257800" y="40528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7</a:t>
            </a:r>
          </a:p>
        </p:txBody>
      </p:sp>
      <p:sp>
        <p:nvSpPr>
          <p:cNvPr id="86029" name="Text Box 14"/>
          <p:cNvSpPr txBox="1">
            <a:spLocks noChangeArrowheads="1"/>
          </p:cNvSpPr>
          <p:nvPr/>
        </p:nvSpPr>
        <p:spPr bwMode="auto">
          <a:xfrm>
            <a:off x="4724400" y="40528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6</a:t>
            </a:r>
          </a:p>
        </p:txBody>
      </p:sp>
      <p:sp>
        <p:nvSpPr>
          <p:cNvPr id="86030" name="Text Box 15"/>
          <p:cNvSpPr txBox="1">
            <a:spLocks noChangeArrowheads="1"/>
          </p:cNvSpPr>
          <p:nvPr/>
        </p:nvSpPr>
        <p:spPr bwMode="auto">
          <a:xfrm>
            <a:off x="52578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11</a:t>
            </a:r>
          </a:p>
        </p:txBody>
      </p:sp>
      <p:sp>
        <p:nvSpPr>
          <p:cNvPr id="86031" name="Text Box 16"/>
          <p:cNvSpPr txBox="1">
            <a:spLocks noChangeArrowheads="1"/>
          </p:cNvSpPr>
          <p:nvPr/>
        </p:nvSpPr>
        <p:spPr bwMode="auto">
          <a:xfrm>
            <a:off x="47244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9</a:t>
            </a:r>
          </a:p>
        </p:txBody>
      </p:sp>
      <p:sp>
        <p:nvSpPr>
          <p:cNvPr id="86032" name="AutoShape 17"/>
          <p:cNvSpPr>
            <a:spLocks noChangeArrowheads="1"/>
          </p:cNvSpPr>
          <p:nvPr/>
        </p:nvSpPr>
        <p:spPr bwMode="auto">
          <a:xfrm>
            <a:off x="6400800" y="2514600"/>
            <a:ext cx="1219200" cy="762000"/>
          </a:xfrm>
          <a:prstGeom prst="leftArrow">
            <a:avLst>
              <a:gd name="adj1" fmla="val 50000"/>
              <a:gd name="adj2" fmla="val 4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返回结果</a:t>
            </a:r>
          </a:p>
        </p:txBody>
      </p:sp>
      <p:sp>
        <p:nvSpPr>
          <p:cNvPr id="86033" name="AutoShape 18"/>
          <p:cNvSpPr>
            <a:spLocks noChangeArrowheads="1"/>
          </p:cNvSpPr>
          <p:nvPr/>
        </p:nvSpPr>
        <p:spPr bwMode="auto">
          <a:xfrm>
            <a:off x="6400800" y="3886200"/>
            <a:ext cx="1219200" cy="762000"/>
          </a:xfrm>
          <a:prstGeom prst="leftArrow">
            <a:avLst>
              <a:gd name="adj1" fmla="val 50000"/>
              <a:gd name="adj2" fmla="val 4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返回结果</a:t>
            </a:r>
          </a:p>
        </p:txBody>
      </p:sp>
      <p:sp>
        <p:nvSpPr>
          <p:cNvPr id="86034" name="AutoShape 19"/>
          <p:cNvSpPr>
            <a:spLocks noChangeArrowheads="1"/>
          </p:cNvSpPr>
          <p:nvPr/>
        </p:nvSpPr>
        <p:spPr bwMode="auto">
          <a:xfrm>
            <a:off x="6400800" y="5181600"/>
            <a:ext cx="1219200" cy="762000"/>
          </a:xfrm>
          <a:prstGeom prst="leftArrow">
            <a:avLst>
              <a:gd name="adj1" fmla="val 50000"/>
              <a:gd name="adj2" fmla="val 4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返回结果</a:t>
            </a:r>
          </a:p>
        </p:txBody>
      </p:sp>
      <p:sp>
        <p:nvSpPr>
          <p:cNvPr id="86035" name="Rectangle 20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latin typeface="微软雅黑"/>
                <a:ea typeface="微软雅黑"/>
                <a:cs typeface="微软雅黑"/>
              </a:rPr>
              <a:t>类似于原始方案</a:t>
            </a:r>
          </a:p>
        </p:txBody>
      </p:sp>
      <p:sp>
        <p:nvSpPr>
          <p:cNvPr id="86036" name="Text Box 21"/>
          <p:cNvSpPr txBox="1">
            <a:spLocks noChangeArrowheads="1"/>
          </p:cNvSpPr>
          <p:nvPr/>
        </p:nvSpPr>
        <p:spPr bwMode="auto">
          <a:xfrm>
            <a:off x="457200" y="609600"/>
            <a:ext cx="83058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latin typeface="Courier New" pitchFamily="49" charset="0"/>
                <a:ea typeface="宋体" charset="-122"/>
              </a:rPr>
              <a:t>select c1 from tb1 order by </a:t>
            </a:r>
            <a:r>
              <a:rPr lang="en-US" altLang="zh-CN" sz="240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c1</a:t>
            </a:r>
            <a:r>
              <a:rPr lang="en-US" altLang="zh-CN" sz="2400">
                <a:latin typeface="Courier New" pitchFamily="49" charset="0"/>
                <a:ea typeface="宋体" charset="-122"/>
              </a:rPr>
              <a:t> </a:t>
            </a:r>
            <a:br>
              <a:rPr lang="en-US" altLang="zh-CN" sz="2400">
                <a:latin typeface="Courier New" pitchFamily="49" charset="0"/>
                <a:ea typeface="宋体" charset="-122"/>
              </a:rPr>
            </a:br>
            <a:r>
              <a:rPr lang="en-US" altLang="zh-CN" sz="2400">
                <a:latin typeface="Courier New" pitchFamily="49" charset="0"/>
                <a:ea typeface="宋体" charset="-122"/>
              </a:rPr>
              <a:t>                         limit </a:t>
            </a:r>
            <a:r>
              <a:rPr lang="en-US" altLang="zh-CN" sz="240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9999999</a:t>
            </a:r>
            <a:r>
              <a:rPr lang="en-US" altLang="zh-CN" sz="2400">
                <a:latin typeface="Courier New" pitchFamily="49" charset="0"/>
                <a:ea typeface="宋体" charset="-122"/>
              </a:rPr>
              <a:t>, </a:t>
            </a:r>
            <a:r>
              <a:rPr lang="en-US" altLang="zh-CN" sz="240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4</a:t>
            </a:r>
          </a:p>
        </p:txBody>
      </p:sp>
      <p:sp>
        <p:nvSpPr>
          <p:cNvPr id="86037" name="Text Box 22"/>
          <p:cNvSpPr txBox="1">
            <a:spLocks noChangeArrowheads="1"/>
          </p:cNvSpPr>
          <p:nvPr/>
        </p:nvSpPr>
        <p:spPr bwMode="auto">
          <a:xfrm>
            <a:off x="3124200" y="27432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3</a:t>
            </a:r>
          </a:p>
        </p:txBody>
      </p:sp>
      <p:sp>
        <p:nvSpPr>
          <p:cNvPr id="86038" name="Text Box 23"/>
          <p:cNvSpPr txBox="1">
            <a:spLocks noChangeArrowheads="1"/>
          </p:cNvSpPr>
          <p:nvPr/>
        </p:nvSpPr>
        <p:spPr bwMode="auto">
          <a:xfrm>
            <a:off x="5791200" y="40528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11</a:t>
            </a:r>
          </a:p>
        </p:txBody>
      </p:sp>
      <p:sp>
        <p:nvSpPr>
          <p:cNvPr id="86039" name="Text Box 24"/>
          <p:cNvSpPr txBox="1">
            <a:spLocks noChangeArrowheads="1"/>
          </p:cNvSpPr>
          <p:nvPr/>
        </p:nvSpPr>
        <p:spPr bwMode="auto">
          <a:xfrm>
            <a:off x="31242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5</a:t>
            </a:r>
          </a:p>
        </p:txBody>
      </p:sp>
      <p:sp>
        <p:nvSpPr>
          <p:cNvPr id="86040" name="Text Box 25"/>
          <p:cNvSpPr txBox="1">
            <a:spLocks noChangeArrowheads="1"/>
          </p:cNvSpPr>
          <p:nvPr/>
        </p:nvSpPr>
        <p:spPr bwMode="auto">
          <a:xfrm>
            <a:off x="25908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3</a:t>
            </a:r>
          </a:p>
        </p:txBody>
      </p:sp>
      <p:sp>
        <p:nvSpPr>
          <p:cNvPr id="86041" name="Text Box 26"/>
          <p:cNvSpPr txBox="1">
            <a:spLocks noChangeArrowheads="1"/>
          </p:cNvSpPr>
          <p:nvPr/>
        </p:nvSpPr>
        <p:spPr bwMode="auto">
          <a:xfrm>
            <a:off x="5791200" y="27432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11</a:t>
            </a:r>
          </a:p>
        </p:txBody>
      </p:sp>
      <p:sp>
        <p:nvSpPr>
          <p:cNvPr id="86042" name="Oval 27"/>
          <p:cNvSpPr>
            <a:spLocks noChangeArrowheads="1"/>
          </p:cNvSpPr>
          <p:nvPr/>
        </p:nvSpPr>
        <p:spPr bwMode="auto">
          <a:xfrm>
            <a:off x="609600" y="2438400"/>
            <a:ext cx="2286000" cy="914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9999996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AutoShape 2"/>
          <p:cNvSpPr>
            <a:spLocks noChangeArrowheads="1"/>
          </p:cNvSpPr>
          <p:nvPr/>
        </p:nvSpPr>
        <p:spPr bwMode="auto">
          <a:xfrm>
            <a:off x="7696200" y="2590800"/>
            <a:ext cx="914400" cy="838200"/>
          </a:xfrm>
          <a:prstGeom prst="flowChartMagneticDisk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分库</a:t>
            </a:r>
            <a:r>
              <a:rPr lang="en-US" altLang="zh-CN">
                <a:ea typeface="宋体" charset="-122"/>
              </a:rPr>
              <a:t>1</a:t>
            </a:r>
          </a:p>
        </p:txBody>
      </p:sp>
      <p:sp>
        <p:nvSpPr>
          <p:cNvPr id="87042" name="AutoShape 3"/>
          <p:cNvSpPr>
            <a:spLocks noChangeArrowheads="1"/>
          </p:cNvSpPr>
          <p:nvPr/>
        </p:nvSpPr>
        <p:spPr bwMode="auto">
          <a:xfrm>
            <a:off x="7696200" y="3810000"/>
            <a:ext cx="914400" cy="838200"/>
          </a:xfrm>
          <a:prstGeom prst="flowChartMagneticDisk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分库</a:t>
            </a:r>
            <a:r>
              <a:rPr lang="en-US" altLang="zh-CN">
                <a:ea typeface="宋体" charset="-122"/>
              </a:rPr>
              <a:t>2</a:t>
            </a:r>
          </a:p>
        </p:txBody>
      </p:sp>
      <p:sp>
        <p:nvSpPr>
          <p:cNvPr id="87043" name="AutoShape 4"/>
          <p:cNvSpPr>
            <a:spLocks noChangeArrowheads="1"/>
          </p:cNvSpPr>
          <p:nvPr/>
        </p:nvSpPr>
        <p:spPr bwMode="auto">
          <a:xfrm>
            <a:off x="7696200" y="5105400"/>
            <a:ext cx="914400" cy="838200"/>
          </a:xfrm>
          <a:prstGeom prst="flowChartMagneticDisk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分库</a:t>
            </a:r>
            <a:r>
              <a:rPr lang="en-US" altLang="zh-CN">
                <a:ea typeface="宋体" charset="-122"/>
              </a:rPr>
              <a:t>3</a:t>
            </a:r>
          </a:p>
        </p:txBody>
      </p:sp>
      <p:sp>
        <p:nvSpPr>
          <p:cNvPr id="87044" name="Text Box 5"/>
          <p:cNvSpPr txBox="1">
            <a:spLocks noChangeArrowheads="1"/>
          </p:cNvSpPr>
          <p:nvPr/>
        </p:nvSpPr>
        <p:spPr bwMode="auto">
          <a:xfrm>
            <a:off x="4191000" y="27432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7</a:t>
            </a:r>
          </a:p>
        </p:txBody>
      </p:sp>
      <p:sp>
        <p:nvSpPr>
          <p:cNvPr id="87045" name="Text Box 6"/>
          <p:cNvSpPr txBox="1">
            <a:spLocks noChangeArrowheads="1"/>
          </p:cNvSpPr>
          <p:nvPr/>
        </p:nvSpPr>
        <p:spPr bwMode="auto">
          <a:xfrm>
            <a:off x="3657600" y="27432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4</a:t>
            </a:r>
          </a:p>
        </p:txBody>
      </p:sp>
      <p:sp>
        <p:nvSpPr>
          <p:cNvPr id="87046" name="Text Box 7"/>
          <p:cNvSpPr txBox="1">
            <a:spLocks noChangeArrowheads="1"/>
          </p:cNvSpPr>
          <p:nvPr/>
        </p:nvSpPr>
        <p:spPr bwMode="auto">
          <a:xfrm>
            <a:off x="4191000" y="40528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5</a:t>
            </a:r>
          </a:p>
        </p:txBody>
      </p:sp>
      <p:sp>
        <p:nvSpPr>
          <p:cNvPr id="87047" name="Text Box 8"/>
          <p:cNvSpPr txBox="1">
            <a:spLocks noChangeArrowheads="1"/>
          </p:cNvSpPr>
          <p:nvPr/>
        </p:nvSpPr>
        <p:spPr bwMode="auto">
          <a:xfrm>
            <a:off x="3657600" y="40528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3</a:t>
            </a:r>
          </a:p>
        </p:txBody>
      </p:sp>
      <p:sp>
        <p:nvSpPr>
          <p:cNvPr id="87048" name="Text Box 9"/>
          <p:cNvSpPr txBox="1">
            <a:spLocks noChangeArrowheads="1"/>
          </p:cNvSpPr>
          <p:nvPr/>
        </p:nvSpPr>
        <p:spPr bwMode="auto">
          <a:xfrm>
            <a:off x="41910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8</a:t>
            </a:r>
          </a:p>
        </p:txBody>
      </p:sp>
      <p:sp>
        <p:nvSpPr>
          <p:cNvPr id="87049" name="Text Box 10"/>
          <p:cNvSpPr txBox="1">
            <a:spLocks noChangeArrowheads="1"/>
          </p:cNvSpPr>
          <p:nvPr/>
        </p:nvSpPr>
        <p:spPr bwMode="auto">
          <a:xfrm>
            <a:off x="36576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6</a:t>
            </a:r>
          </a:p>
        </p:txBody>
      </p:sp>
      <p:sp>
        <p:nvSpPr>
          <p:cNvPr id="87050" name="Text Box 11"/>
          <p:cNvSpPr txBox="1">
            <a:spLocks noChangeArrowheads="1"/>
          </p:cNvSpPr>
          <p:nvPr/>
        </p:nvSpPr>
        <p:spPr bwMode="auto">
          <a:xfrm>
            <a:off x="4724400" y="27432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9</a:t>
            </a:r>
          </a:p>
        </p:txBody>
      </p:sp>
      <p:sp>
        <p:nvSpPr>
          <p:cNvPr id="87051" name="Text Box 12"/>
          <p:cNvSpPr txBox="1">
            <a:spLocks noChangeArrowheads="1"/>
          </p:cNvSpPr>
          <p:nvPr/>
        </p:nvSpPr>
        <p:spPr bwMode="auto">
          <a:xfrm>
            <a:off x="5257800" y="27432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10</a:t>
            </a:r>
          </a:p>
        </p:txBody>
      </p:sp>
      <p:sp>
        <p:nvSpPr>
          <p:cNvPr id="87052" name="Text Box 13"/>
          <p:cNvSpPr txBox="1">
            <a:spLocks noChangeArrowheads="1"/>
          </p:cNvSpPr>
          <p:nvPr/>
        </p:nvSpPr>
        <p:spPr bwMode="auto">
          <a:xfrm>
            <a:off x="5257800" y="40528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7</a:t>
            </a:r>
          </a:p>
        </p:txBody>
      </p:sp>
      <p:sp>
        <p:nvSpPr>
          <p:cNvPr id="87053" name="Text Box 14"/>
          <p:cNvSpPr txBox="1">
            <a:spLocks noChangeArrowheads="1"/>
          </p:cNvSpPr>
          <p:nvPr/>
        </p:nvSpPr>
        <p:spPr bwMode="auto">
          <a:xfrm>
            <a:off x="4724400" y="40528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6</a:t>
            </a:r>
          </a:p>
        </p:txBody>
      </p:sp>
      <p:sp>
        <p:nvSpPr>
          <p:cNvPr id="87054" name="Text Box 15"/>
          <p:cNvSpPr txBox="1">
            <a:spLocks noChangeArrowheads="1"/>
          </p:cNvSpPr>
          <p:nvPr/>
        </p:nvSpPr>
        <p:spPr bwMode="auto">
          <a:xfrm>
            <a:off x="52578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11</a:t>
            </a:r>
          </a:p>
        </p:txBody>
      </p:sp>
      <p:sp>
        <p:nvSpPr>
          <p:cNvPr id="87055" name="Text Box 16"/>
          <p:cNvSpPr txBox="1">
            <a:spLocks noChangeArrowheads="1"/>
          </p:cNvSpPr>
          <p:nvPr/>
        </p:nvSpPr>
        <p:spPr bwMode="auto">
          <a:xfrm>
            <a:off x="47244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9</a:t>
            </a:r>
          </a:p>
        </p:txBody>
      </p:sp>
      <p:sp>
        <p:nvSpPr>
          <p:cNvPr id="87056" name="AutoShape 17"/>
          <p:cNvSpPr>
            <a:spLocks noChangeArrowheads="1"/>
          </p:cNvSpPr>
          <p:nvPr/>
        </p:nvSpPr>
        <p:spPr bwMode="auto">
          <a:xfrm>
            <a:off x="6400800" y="2514600"/>
            <a:ext cx="1219200" cy="762000"/>
          </a:xfrm>
          <a:prstGeom prst="leftArrow">
            <a:avLst>
              <a:gd name="adj1" fmla="val 50000"/>
              <a:gd name="adj2" fmla="val 4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返回结果</a:t>
            </a:r>
          </a:p>
        </p:txBody>
      </p:sp>
      <p:sp>
        <p:nvSpPr>
          <p:cNvPr id="87057" name="AutoShape 18"/>
          <p:cNvSpPr>
            <a:spLocks noChangeArrowheads="1"/>
          </p:cNvSpPr>
          <p:nvPr/>
        </p:nvSpPr>
        <p:spPr bwMode="auto">
          <a:xfrm>
            <a:off x="6400800" y="3886200"/>
            <a:ext cx="1219200" cy="762000"/>
          </a:xfrm>
          <a:prstGeom prst="leftArrow">
            <a:avLst>
              <a:gd name="adj1" fmla="val 50000"/>
              <a:gd name="adj2" fmla="val 4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返回结果</a:t>
            </a:r>
          </a:p>
        </p:txBody>
      </p:sp>
      <p:sp>
        <p:nvSpPr>
          <p:cNvPr id="87058" name="AutoShape 19"/>
          <p:cNvSpPr>
            <a:spLocks noChangeArrowheads="1"/>
          </p:cNvSpPr>
          <p:nvPr/>
        </p:nvSpPr>
        <p:spPr bwMode="auto">
          <a:xfrm>
            <a:off x="6400800" y="5181600"/>
            <a:ext cx="1219200" cy="762000"/>
          </a:xfrm>
          <a:prstGeom prst="leftArrow">
            <a:avLst>
              <a:gd name="adj1" fmla="val 50000"/>
              <a:gd name="adj2" fmla="val 4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返回结果</a:t>
            </a:r>
          </a:p>
        </p:txBody>
      </p:sp>
      <p:sp>
        <p:nvSpPr>
          <p:cNvPr id="87059" name="Rectangle 20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latin typeface="微软雅黑"/>
                <a:ea typeface="微软雅黑"/>
                <a:cs typeface="微软雅黑"/>
              </a:rPr>
              <a:t>类似于原始方案</a:t>
            </a:r>
          </a:p>
        </p:txBody>
      </p:sp>
      <p:sp>
        <p:nvSpPr>
          <p:cNvPr id="87060" name="Text Box 21"/>
          <p:cNvSpPr txBox="1">
            <a:spLocks noChangeArrowheads="1"/>
          </p:cNvSpPr>
          <p:nvPr/>
        </p:nvSpPr>
        <p:spPr bwMode="auto">
          <a:xfrm>
            <a:off x="457200" y="609600"/>
            <a:ext cx="83058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latin typeface="Courier New" pitchFamily="49" charset="0"/>
                <a:ea typeface="宋体" charset="-122"/>
              </a:rPr>
              <a:t>select c1 from tb1 order by </a:t>
            </a:r>
            <a:r>
              <a:rPr lang="en-US" altLang="zh-CN" sz="240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c1</a:t>
            </a:r>
            <a:r>
              <a:rPr lang="en-US" altLang="zh-CN" sz="2400">
                <a:latin typeface="Courier New" pitchFamily="49" charset="0"/>
                <a:ea typeface="宋体" charset="-122"/>
              </a:rPr>
              <a:t> </a:t>
            </a:r>
            <a:br>
              <a:rPr lang="en-US" altLang="zh-CN" sz="2400">
                <a:latin typeface="Courier New" pitchFamily="49" charset="0"/>
                <a:ea typeface="宋体" charset="-122"/>
              </a:rPr>
            </a:br>
            <a:r>
              <a:rPr lang="en-US" altLang="zh-CN" sz="2400">
                <a:latin typeface="Courier New" pitchFamily="49" charset="0"/>
                <a:ea typeface="宋体" charset="-122"/>
              </a:rPr>
              <a:t>                         limit </a:t>
            </a:r>
            <a:r>
              <a:rPr lang="en-US" altLang="zh-CN" sz="240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9999999</a:t>
            </a:r>
            <a:r>
              <a:rPr lang="en-US" altLang="zh-CN" sz="2400">
                <a:latin typeface="Courier New" pitchFamily="49" charset="0"/>
                <a:ea typeface="宋体" charset="-122"/>
              </a:rPr>
              <a:t>, </a:t>
            </a:r>
            <a:r>
              <a:rPr lang="en-US" altLang="zh-CN" sz="240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4</a:t>
            </a:r>
          </a:p>
        </p:txBody>
      </p:sp>
      <p:sp>
        <p:nvSpPr>
          <p:cNvPr id="87061" name="Text Box 22"/>
          <p:cNvSpPr txBox="1">
            <a:spLocks noChangeArrowheads="1"/>
          </p:cNvSpPr>
          <p:nvPr/>
        </p:nvSpPr>
        <p:spPr bwMode="auto">
          <a:xfrm>
            <a:off x="5791200" y="40528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11</a:t>
            </a:r>
          </a:p>
        </p:txBody>
      </p:sp>
      <p:sp>
        <p:nvSpPr>
          <p:cNvPr id="87062" name="Text Box 23"/>
          <p:cNvSpPr txBox="1">
            <a:spLocks noChangeArrowheads="1"/>
          </p:cNvSpPr>
          <p:nvPr/>
        </p:nvSpPr>
        <p:spPr bwMode="auto">
          <a:xfrm>
            <a:off x="31242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5</a:t>
            </a:r>
          </a:p>
        </p:txBody>
      </p:sp>
      <p:sp>
        <p:nvSpPr>
          <p:cNvPr id="87063" name="Text Box 24"/>
          <p:cNvSpPr txBox="1">
            <a:spLocks noChangeArrowheads="1"/>
          </p:cNvSpPr>
          <p:nvPr/>
        </p:nvSpPr>
        <p:spPr bwMode="auto">
          <a:xfrm>
            <a:off x="25908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3</a:t>
            </a:r>
          </a:p>
        </p:txBody>
      </p:sp>
      <p:sp>
        <p:nvSpPr>
          <p:cNvPr id="87064" name="Text Box 25"/>
          <p:cNvSpPr txBox="1">
            <a:spLocks noChangeArrowheads="1"/>
          </p:cNvSpPr>
          <p:nvPr/>
        </p:nvSpPr>
        <p:spPr bwMode="auto">
          <a:xfrm>
            <a:off x="5791200" y="27432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11</a:t>
            </a:r>
          </a:p>
        </p:txBody>
      </p:sp>
      <p:sp>
        <p:nvSpPr>
          <p:cNvPr id="87065" name="Oval 26"/>
          <p:cNvSpPr>
            <a:spLocks noChangeArrowheads="1"/>
          </p:cNvSpPr>
          <p:nvPr/>
        </p:nvSpPr>
        <p:spPr bwMode="auto">
          <a:xfrm>
            <a:off x="609600" y="2438400"/>
            <a:ext cx="2286000" cy="914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9999997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AutoShape 2"/>
          <p:cNvSpPr>
            <a:spLocks noChangeArrowheads="1"/>
          </p:cNvSpPr>
          <p:nvPr/>
        </p:nvSpPr>
        <p:spPr bwMode="auto">
          <a:xfrm>
            <a:off x="7696200" y="2590800"/>
            <a:ext cx="914400" cy="838200"/>
          </a:xfrm>
          <a:prstGeom prst="flowChartMagneticDisk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分库</a:t>
            </a:r>
            <a:r>
              <a:rPr lang="en-US" altLang="zh-CN">
                <a:ea typeface="宋体" charset="-122"/>
              </a:rPr>
              <a:t>1</a:t>
            </a:r>
          </a:p>
        </p:txBody>
      </p:sp>
      <p:sp>
        <p:nvSpPr>
          <p:cNvPr id="88066" name="AutoShape 3"/>
          <p:cNvSpPr>
            <a:spLocks noChangeArrowheads="1"/>
          </p:cNvSpPr>
          <p:nvPr/>
        </p:nvSpPr>
        <p:spPr bwMode="auto">
          <a:xfrm>
            <a:off x="7696200" y="3810000"/>
            <a:ext cx="914400" cy="838200"/>
          </a:xfrm>
          <a:prstGeom prst="flowChartMagneticDisk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分库</a:t>
            </a:r>
            <a:r>
              <a:rPr lang="en-US" altLang="zh-CN">
                <a:ea typeface="宋体" charset="-122"/>
              </a:rPr>
              <a:t>2</a:t>
            </a:r>
          </a:p>
        </p:txBody>
      </p:sp>
      <p:sp>
        <p:nvSpPr>
          <p:cNvPr id="88067" name="AutoShape 4"/>
          <p:cNvSpPr>
            <a:spLocks noChangeArrowheads="1"/>
          </p:cNvSpPr>
          <p:nvPr/>
        </p:nvSpPr>
        <p:spPr bwMode="auto">
          <a:xfrm>
            <a:off x="7696200" y="5105400"/>
            <a:ext cx="914400" cy="838200"/>
          </a:xfrm>
          <a:prstGeom prst="flowChartMagneticDisk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分库</a:t>
            </a:r>
            <a:r>
              <a:rPr lang="en-US" altLang="zh-CN">
                <a:ea typeface="宋体" charset="-122"/>
              </a:rPr>
              <a:t>3</a:t>
            </a:r>
          </a:p>
        </p:txBody>
      </p:sp>
      <p:sp>
        <p:nvSpPr>
          <p:cNvPr id="88068" name="Text Box 5"/>
          <p:cNvSpPr txBox="1">
            <a:spLocks noChangeArrowheads="1"/>
          </p:cNvSpPr>
          <p:nvPr/>
        </p:nvSpPr>
        <p:spPr bwMode="auto">
          <a:xfrm>
            <a:off x="4191000" y="27432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7</a:t>
            </a:r>
          </a:p>
        </p:txBody>
      </p:sp>
      <p:sp>
        <p:nvSpPr>
          <p:cNvPr id="88069" name="Text Box 6"/>
          <p:cNvSpPr txBox="1">
            <a:spLocks noChangeArrowheads="1"/>
          </p:cNvSpPr>
          <p:nvPr/>
        </p:nvSpPr>
        <p:spPr bwMode="auto">
          <a:xfrm>
            <a:off x="3657600" y="27432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4</a:t>
            </a:r>
          </a:p>
        </p:txBody>
      </p:sp>
      <p:sp>
        <p:nvSpPr>
          <p:cNvPr id="88070" name="Text Box 7"/>
          <p:cNvSpPr txBox="1">
            <a:spLocks noChangeArrowheads="1"/>
          </p:cNvSpPr>
          <p:nvPr/>
        </p:nvSpPr>
        <p:spPr bwMode="auto">
          <a:xfrm>
            <a:off x="4191000" y="40528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5</a:t>
            </a:r>
          </a:p>
        </p:txBody>
      </p:sp>
      <p:sp>
        <p:nvSpPr>
          <p:cNvPr id="88071" name="Text Box 8"/>
          <p:cNvSpPr txBox="1">
            <a:spLocks noChangeArrowheads="1"/>
          </p:cNvSpPr>
          <p:nvPr/>
        </p:nvSpPr>
        <p:spPr bwMode="auto">
          <a:xfrm>
            <a:off x="41910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8</a:t>
            </a:r>
          </a:p>
        </p:txBody>
      </p:sp>
      <p:sp>
        <p:nvSpPr>
          <p:cNvPr id="88072" name="Text Box 9"/>
          <p:cNvSpPr txBox="1">
            <a:spLocks noChangeArrowheads="1"/>
          </p:cNvSpPr>
          <p:nvPr/>
        </p:nvSpPr>
        <p:spPr bwMode="auto">
          <a:xfrm>
            <a:off x="36576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6</a:t>
            </a:r>
          </a:p>
        </p:txBody>
      </p:sp>
      <p:sp>
        <p:nvSpPr>
          <p:cNvPr id="88073" name="Text Box 10"/>
          <p:cNvSpPr txBox="1">
            <a:spLocks noChangeArrowheads="1"/>
          </p:cNvSpPr>
          <p:nvPr/>
        </p:nvSpPr>
        <p:spPr bwMode="auto">
          <a:xfrm>
            <a:off x="4724400" y="27432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9</a:t>
            </a:r>
          </a:p>
        </p:txBody>
      </p:sp>
      <p:sp>
        <p:nvSpPr>
          <p:cNvPr id="88074" name="Text Box 11"/>
          <p:cNvSpPr txBox="1">
            <a:spLocks noChangeArrowheads="1"/>
          </p:cNvSpPr>
          <p:nvPr/>
        </p:nvSpPr>
        <p:spPr bwMode="auto">
          <a:xfrm>
            <a:off x="5257800" y="27432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10</a:t>
            </a:r>
          </a:p>
        </p:txBody>
      </p:sp>
      <p:sp>
        <p:nvSpPr>
          <p:cNvPr id="88075" name="Text Box 12"/>
          <p:cNvSpPr txBox="1">
            <a:spLocks noChangeArrowheads="1"/>
          </p:cNvSpPr>
          <p:nvPr/>
        </p:nvSpPr>
        <p:spPr bwMode="auto">
          <a:xfrm>
            <a:off x="5257800" y="40528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7</a:t>
            </a:r>
          </a:p>
        </p:txBody>
      </p:sp>
      <p:sp>
        <p:nvSpPr>
          <p:cNvPr id="88076" name="Text Box 13"/>
          <p:cNvSpPr txBox="1">
            <a:spLocks noChangeArrowheads="1"/>
          </p:cNvSpPr>
          <p:nvPr/>
        </p:nvSpPr>
        <p:spPr bwMode="auto">
          <a:xfrm>
            <a:off x="4724400" y="40528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6</a:t>
            </a:r>
          </a:p>
        </p:txBody>
      </p:sp>
      <p:sp>
        <p:nvSpPr>
          <p:cNvPr id="88077" name="Text Box 14"/>
          <p:cNvSpPr txBox="1">
            <a:spLocks noChangeArrowheads="1"/>
          </p:cNvSpPr>
          <p:nvPr/>
        </p:nvSpPr>
        <p:spPr bwMode="auto">
          <a:xfrm>
            <a:off x="52578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11</a:t>
            </a:r>
          </a:p>
        </p:txBody>
      </p:sp>
      <p:sp>
        <p:nvSpPr>
          <p:cNvPr id="88078" name="Text Box 15"/>
          <p:cNvSpPr txBox="1">
            <a:spLocks noChangeArrowheads="1"/>
          </p:cNvSpPr>
          <p:nvPr/>
        </p:nvSpPr>
        <p:spPr bwMode="auto">
          <a:xfrm>
            <a:off x="47244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9</a:t>
            </a:r>
          </a:p>
        </p:txBody>
      </p:sp>
      <p:sp>
        <p:nvSpPr>
          <p:cNvPr id="88079" name="AutoShape 16"/>
          <p:cNvSpPr>
            <a:spLocks noChangeArrowheads="1"/>
          </p:cNvSpPr>
          <p:nvPr/>
        </p:nvSpPr>
        <p:spPr bwMode="auto">
          <a:xfrm>
            <a:off x="6400800" y="2514600"/>
            <a:ext cx="1219200" cy="762000"/>
          </a:xfrm>
          <a:prstGeom prst="leftArrow">
            <a:avLst>
              <a:gd name="adj1" fmla="val 50000"/>
              <a:gd name="adj2" fmla="val 4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返回结果</a:t>
            </a:r>
          </a:p>
        </p:txBody>
      </p:sp>
      <p:sp>
        <p:nvSpPr>
          <p:cNvPr id="88080" name="AutoShape 17"/>
          <p:cNvSpPr>
            <a:spLocks noChangeArrowheads="1"/>
          </p:cNvSpPr>
          <p:nvPr/>
        </p:nvSpPr>
        <p:spPr bwMode="auto">
          <a:xfrm>
            <a:off x="6400800" y="3886200"/>
            <a:ext cx="1219200" cy="762000"/>
          </a:xfrm>
          <a:prstGeom prst="leftArrow">
            <a:avLst>
              <a:gd name="adj1" fmla="val 50000"/>
              <a:gd name="adj2" fmla="val 4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返回结果</a:t>
            </a:r>
          </a:p>
        </p:txBody>
      </p:sp>
      <p:sp>
        <p:nvSpPr>
          <p:cNvPr id="88081" name="AutoShape 18"/>
          <p:cNvSpPr>
            <a:spLocks noChangeArrowheads="1"/>
          </p:cNvSpPr>
          <p:nvPr/>
        </p:nvSpPr>
        <p:spPr bwMode="auto">
          <a:xfrm>
            <a:off x="6400800" y="5181600"/>
            <a:ext cx="1219200" cy="762000"/>
          </a:xfrm>
          <a:prstGeom prst="leftArrow">
            <a:avLst>
              <a:gd name="adj1" fmla="val 50000"/>
              <a:gd name="adj2" fmla="val 4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返回结果</a:t>
            </a:r>
          </a:p>
        </p:txBody>
      </p:sp>
      <p:sp>
        <p:nvSpPr>
          <p:cNvPr id="88082" name="Rectangle 19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latin typeface="微软雅黑"/>
                <a:ea typeface="微软雅黑"/>
                <a:cs typeface="微软雅黑"/>
              </a:rPr>
              <a:t>类似于原始方案</a:t>
            </a:r>
          </a:p>
        </p:txBody>
      </p:sp>
      <p:sp>
        <p:nvSpPr>
          <p:cNvPr id="88083" name="Text Box 20"/>
          <p:cNvSpPr txBox="1">
            <a:spLocks noChangeArrowheads="1"/>
          </p:cNvSpPr>
          <p:nvPr/>
        </p:nvSpPr>
        <p:spPr bwMode="auto">
          <a:xfrm>
            <a:off x="457200" y="609600"/>
            <a:ext cx="83058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latin typeface="Courier New" pitchFamily="49" charset="0"/>
                <a:ea typeface="宋体" charset="-122"/>
              </a:rPr>
              <a:t>select c1 from tb1 order by </a:t>
            </a:r>
            <a:r>
              <a:rPr lang="en-US" altLang="zh-CN" sz="240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c1</a:t>
            </a:r>
            <a:r>
              <a:rPr lang="en-US" altLang="zh-CN" sz="2400">
                <a:latin typeface="Courier New" pitchFamily="49" charset="0"/>
                <a:ea typeface="宋体" charset="-122"/>
              </a:rPr>
              <a:t> </a:t>
            </a:r>
            <a:br>
              <a:rPr lang="en-US" altLang="zh-CN" sz="2400">
                <a:latin typeface="Courier New" pitchFamily="49" charset="0"/>
                <a:ea typeface="宋体" charset="-122"/>
              </a:rPr>
            </a:br>
            <a:r>
              <a:rPr lang="en-US" altLang="zh-CN" sz="2400">
                <a:latin typeface="Courier New" pitchFamily="49" charset="0"/>
                <a:ea typeface="宋体" charset="-122"/>
              </a:rPr>
              <a:t>                         limit </a:t>
            </a:r>
            <a:r>
              <a:rPr lang="en-US" altLang="zh-CN" sz="240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9999999</a:t>
            </a:r>
            <a:r>
              <a:rPr lang="en-US" altLang="zh-CN" sz="2400">
                <a:latin typeface="Courier New" pitchFamily="49" charset="0"/>
                <a:ea typeface="宋体" charset="-122"/>
              </a:rPr>
              <a:t>, </a:t>
            </a:r>
            <a:r>
              <a:rPr lang="en-US" altLang="zh-CN" sz="240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4</a:t>
            </a:r>
          </a:p>
        </p:txBody>
      </p:sp>
      <p:sp>
        <p:nvSpPr>
          <p:cNvPr id="88084" name="Text Box 21"/>
          <p:cNvSpPr txBox="1">
            <a:spLocks noChangeArrowheads="1"/>
          </p:cNvSpPr>
          <p:nvPr/>
        </p:nvSpPr>
        <p:spPr bwMode="auto">
          <a:xfrm>
            <a:off x="5791200" y="40528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11</a:t>
            </a:r>
          </a:p>
        </p:txBody>
      </p:sp>
      <p:sp>
        <p:nvSpPr>
          <p:cNvPr id="88085" name="Text Box 22"/>
          <p:cNvSpPr txBox="1">
            <a:spLocks noChangeArrowheads="1"/>
          </p:cNvSpPr>
          <p:nvPr/>
        </p:nvSpPr>
        <p:spPr bwMode="auto">
          <a:xfrm>
            <a:off x="31242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5</a:t>
            </a:r>
          </a:p>
        </p:txBody>
      </p:sp>
      <p:sp>
        <p:nvSpPr>
          <p:cNvPr id="88086" name="Text Box 23"/>
          <p:cNvSpPr txBox="1">
            <a:spLocks noChangeArrowheads="1"/>
          </p:cNvSpPr>
          <p:nvPr/>
        </p:nvSpPr>
        <p:spPr bwMode="auto">
          <a:xfrm>
            <a:off x="25908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3</a:t>
            </a:r>
          </a:p>
        </p:txBody>
      </p:sp>
      <p:sp>
        <p:nvSpPr>
          <p:cNvPr id="88087" name="Text Box 24"/>
          <p:cNvSpPr txBox="1">
            <a:spLocks noChangeArrowheads="1"/>
          </p:cNvSpPr>
          <p:nvPr/>
        </p:nvSpPr>
        <p:spPr bwMode="auto">
          <a:xfrm>
            <a:off x="5791200" y="27432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11</a:t>
            </a:r>
          </a:p>
        </p:txBody>
      </p:sp>
      <p:sp>
        <p:nvSpPr>
          <p:cNvPr id="88088" name="Oval 25"/>
          <p:cNvSpPr>
            <a:spLocks noChangeArrowheads="1"/>
          </p:cNvSpPr>
          <p:nvPr/>
        </p:nvSpPr>
        <p:spPr bwMode="auto">
          <a:xfrm>
            <a:off x="609600" y="2438400"/>
            <a:ext cx="2286000" cy="914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9999998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AutoShape 2"/>
          <p:cNvSpPr>
            <a:spLocks noChangeArrowheads="1"/>
          </p:cNvSpPr>
          <p:nvPr/>
        </p:nvSpPr>
        <p:spPr bwMode="auto">
          <a:xfrm>
            <a:off x="7696200" y="2590800"/>
            <a:ext cx="914400" cy="838200"/>
          </a:xfrm>
          <a:prstGeom prst="flowChartMagneticDisk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分库</a:t>
            </a:r>
            <a:r>
              <a:rPr lang="en-US" altLang="zh-CN">
                <a:ea typeface="宋体" charset="-122"/>
              </a:rPr>
              <a:t>1</a:t>
            </a:r>
          </a:p>
        </p:txBody>
      </p:sp>
      <p:sp>
        <p:nvSpPr>
          <p:cNvPr id="89090" name="AutoShape 3"/>
          <p:cNvSpPr>
            <a:spLocks noChangeArrowheads="1"/>
          </p:cNvSpPr>
          <p:nvPr/>
        </p:nvSpPr>
        <p:spPr bwMode="auto">
          <a:xfrm>
            <a:off x="7696200" y="3810000"/>
            <a:ext cx="914400" cy="838200"/>
          </a:xfrm>
          <a:prstGeom prst="flowChartMagneticDisk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分库</a:t>
            </a:r>
            <a:r>
              <a:rPr lang="en-US" altLang="zh-CN">
                <a:ea typeface="宋体" charset="-122"/>
              </a:rPr>
              <a:t>2</a:t>
            </a:r>
          </a:p>
        </p:txBody>
      </p:sp>
      <p:sp>
        <p:nvSpPr>
          <p:cNvPr id="89091" name="AutoShape 4"/>
          <p:cNvSpPr>
            <a:spLocks noChangeArrowheads="1"/>
          </p:cNvSpPr>
          <p:nvPr/>
        </p:nvSpPr>
        <p:spPr bwMode="auto">
          <a:xfrm>
            <a:off x="7696200" y="5105400"/>
            <a:ext cx="914400" cy="838200"/>
          </a:xfrm>
          <a:prstGeom prst="flowChartMagneticDisk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分库</a:t>
            </a:r>
            <a:r>
              <a:rPr lang="en-US" altLang="zh-CN">
                <a:ea typeface="宋体" charset="-122"/>
              </a:rPr>
              <a:t>3</a:t>
            </a:r>
          </a:p>
        </p:txBody>
      </p:sp>
      <p:sp>
        <p:nvSpPr>
          <p:cNvPr id="89092" name="Text Box 5"/>
          <p:cNvSpPr txBox="1">
            <a:spLocks noChangeArrowheads="1"/>
          </p:cNvSpPr>
          <p:nvPr/>
        </p:nvSpPr>
        <p:spPr bwMode="auto">
          <a:xfrm>
            <a:off x="4191000" y="27432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7</a:t>
            </a:r>
          </a:p>
        </p:txBody>
      </p:sp>
      <p:sp>
        <p:nvSpPr>
          <p:cNvPr id="89093" name="Text Box 6"/>
          <p:cNvSpPr txBox="1">
            <a:spLocks noChangeArrowheads="1"/>
          </p:cNvSpPr>
          <p:nvPr/>
        </p:nvSpPr>
        <p:spPr bwMode="auto">
          <a:xfrm>
            <a:off x="3657600" y="27432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4</a:t>
            </a:r>
          </a:p>
        </p:txBody>
      </p:sp>
      <p:sp>
        <p:nvSpPr>
          <p:cNvPr id="89094" name="Text Box 7"/>
          <p:cNvSpPr txBox="1">
            <a:spLocks noChangeArrowheads="1"/>
          </p:cNvSpPr>
          <p:nvPr/>
        </p:nvSpPr>
        <p:spPr bwMode="auto">
          <a:xfrm>
            <a:off x="4191000" y="40528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5</a:t>
            </a:r>
          </a:p>
        </p:txBody>
      </p:sp>
      <p:sp>
        <p:nvSpPr>
          <p:cNvPr id="89095" name="Text Box 8"/>
          <p:cNvSpPr txBox="1">
            <a:spLocks noChangeArrowheads="1"/>
          </p:cNvSpPr>
          <p:nvPr/>
        </p:nvSpPr>
        <p:spPr bwMode="auto">
          <a:xfrm>
            <a:off x="41910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8</a:t>
            </a:r>
          </a:p>
        </p:txBody>
      </p:sp>
      <p:sp>
        <p:nvSpPr>
          <p:cNvPr id="89096" name="Text Box 9"/>
          <p:cNvSpPr txBox="1">
            <a:spLocks noChangeArrowheads="1"/>
          </p:cNvSpPr>
          <p:nvPr/>
        </p:nvSpPr>
        <p:spPr bwMode="auto">
          <a:xfrm>
            <a:off x="36576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6</a:t>
            </a:r>
          </a:p>
        </p:txBody>
      </p:sp>
      <p:sp>
        <p:nvSpPr>
          <p:cNvPr id="89097" name="Text Box 10"/>
          <p:cNvSpPr txBox="1">
            <a:spLocks noChangeArrowheads="1"/>
          </p:cNvSpPr>
          <p:nvPr/>
        </p:nvSpPr>
        <p:spPr bwMode="auto">
          <a:xfrm>
            <a:off x="4724400" y="27432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9</a:t>
            </a:r>
          </a:p>
        </p:txBody>
      </p:sp>
      <p:sp>
        <p:nvSpPr>
          <p:cNvPr id="89098" name="Text Box 11"/>
          <p:cNvSpPr txBox="1">
            <a:spLocks noChangeArrowheads="1"/>
          </p:cNvSpPr>
          <p:nvPr/>
        </p:nvSpPr>
        <p:spPr bwMode="auto">
          <a:xfrm>
            <a:off x="5257800" y="27432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10</a:t>
            </a:r>
          </a:p>
        </p:txBody>
      </p:sp>
      <p:sp>
        <p:nvSpPr>
          <p:cNvPr id="89099" name="Text Box 12"/>
          <p:cNvSpPr txBox="1">
            <a:spLocks noChangeArrowheads="1"/>
          </p:cNvSpPr>
          <p:nvPr/>
        </p:nvSpPr>
        <p:spPr bwMode="auto">
          <a:xfrm>
            <a:off x="5257800" y="40528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7</a:t>
            </a:r>
          </a:p>
        </p:txBody>
      </p:sp>
      <p:sp>
        <p:nvSpPr>
          <p:cNvPr id="89100" name="Text Box 13"/>
          <p:cNvSpPr txBox="1">
            <a:spLocks noChangeArrowheads="1"/>
          </p:cNvSpPr>
          <p:nvPr/>
        </p:nvSpPr>
        <p:spPr bwMode="auto">
          <a:xfrm>
            <a:off x="4724400" y="40528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6</a:t>
            </a:r>
          </a:p>
        </p:txBody>
      </p:sp>
      <p:sp>
        <p:nvSpPr>
          <p:cNvPr id="89101" name="Text Box 14"/>
          <p:cNvSpPr txBox="1">
            <a:spLocks noChangeArrowheads="1"/>
          </p:cNvSpPr>
          <p:nvPr/>
        </p:nvSpPr>
        <p:spPr bwMode="auto">
          <a:xfrm>
            <a:off x="52578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11</a:t>
            </a:r>
          </a:p>
        </p:txBody>
      </p:sp>
      <p:sp>
        <p:nvSpPr>
          <p:cNvPr id="89102" name="Text Box 15"/>
          <p:cNvSpPr txBox="1">
            <a:spLocks noChangeArrowheads="1"/>
          </p:cNvSpPr>
          <p:nvPr/>
        </p:nvSpPr>
        <p:spPr bwMode="auto">
          <a:xfrm>
            <a:off x="47244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9</a:t>
            </a:r>
          </a:p>
        </p:txBody>
      </p:sp>
      <p:sp>
        <p:nvSpPr>
          <p:cNvPr id="89103" name="AutoShape 16"/>
          <p:cNvSpPr>
            <a:spLocks noChangeArrowheads="1"/>
          </p:cNvSpPr>
          <p:nvPr/>
        </p:nvSpPr>
        <p:spPr bwMode="auto">
          <a:xfrm>
            <a:off x="6400800" y="2514600"/>
            <a:ext cx="1219200" cy="762000"/>
          </a:xfrm>
          <a:prstGeom prst="leftArrow">
            <a:avLst>
              <a:gd name="adj1" fmla="val 50000"/>
              <a:gd name="adj2" fmla="val 4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返回结果</a:t>
            </a:r>
          </a:p>
        </p:txBody>
      </p:sp>
      <p:sp>
        <p:nvSpPr>
          <p:cNvPr id="89104" name="AutoShape 17"/>
          <p:cNvSpPr>
            <a:spLocks noChangeArrowheads="1"/>
          </p:cNvSpPr>
          <p:nvPr/>
        </p:nvSpPr>
        <p:spPr bwMode="auto">
          <a:xfrm>
            <a:off x="6400800" y="3886200"/>
            <a:ext cx="1219200" cy="762000"/>
          </a:xfrm>
          <a:prstGeom prst="leftArrow">
            <a:avLst>
              <a:gd name="adj1" fmla="val 50000"/>
              <a:gd name="adj2" fmla="val 4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返回结果</a:t>
            </a:r>
          </a:p>
        </p:txBody>
      </p:sp>
      <p:sp>
        <p:nvSpPr>
          <p:cNvPr id="89105" name="AutoShape 18"/>
          <p:cNvSpPr>
            <a:spLocks noChangeArrowheads="1"/>
          </p:cNvSpPr>
          <p:nvPr/>
        </p:nvSpPr>
        <p:spPr bwMode="auto">
          <a:xfrm>
            <a:off x="6400800" y="5181600"/>
            <a:ext cx="1219200" cy="762000"/>
          </a:xfrm>
          <a:prstGeom prst="leftArrow">
            <a:avLst>
              <a:gd name="adj1" fmla="val 50000"/>
              <a:gd name="adj2" fmla="val 4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返回结果</a:t>
            </a:r>
          </a:p>
        </p:txBody>
      </p:sp>
      <p:sp>
        <p:nvSpPr>
          <p:cNvPr id="89106" name="Rectangle 19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latin typeface="微软雅黑"/>
                <a:ea typeface="微软雅黑"/>
                <a:cs typeface="微软雅黑"/>
              </a:rPr>
              <a:t>类似于原始方案</a:t>
            </a:r>
          </a:p>
        </p:txBody>
      </p:sp>
      <p:sp>
        <p:nvSpPr>
          <p:cNvPr id="89107" name="Text Box 20"/>
          <p:cNvSpPr txBox="1">
            <a:spLocks noChangeArrowheads="1"/>
          </p:cNvSpPr>
          <p:nvPr/>
        </p:nvSpPr>
        <p:spPr bwMode="auto">
          <a:xfrm>
            <a:off x="457200" y="609600"/>
            <a:ext cx="83058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latin typeface="Courier New" pitchFamily="49" charset="0"/>
                <a:ea typeface="宋体" charset="-122"/>
              </a:rPr>
              <a:t>select c1 from tb1 order by </a:t>
            </a:r>
            <a:r>
              <a:rPr lang="en-US" altLang="zh-CN" sz="240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c1</a:t>
            </a:r>
            <a:r>
              <a:rPr lang="en-US" altLang="zh-CN" sz="2400">
                <a:latin typeface="Courier New" pitchFamily="49" charset="0"/>
                <a:ea typeface="宋体" charset="-122"/>
              </a:rPr>
              <a:t> </a:t>
            </a:r>
            <a:br>
              <a:rPr lang="en-US" altLang="zh-CN" sz="2400">
                <a:latin typeface="Courier New" pitchFamily="49" charset="0"/>
                <a:ea typeface="宋体" charset="-122"/>
              </a:rPr>
            </a:br>
            <a:r>
              <a:rPr lang="en-US" altLang="zh-CN" sz="2400">
                <a:latin typeface="Courier New" pitchFamily="49" charset="0"/>
                <a:ea typeface="宋体" charset="-122"/>
              </a:rPr>
              <a:t>                         limit </a:t>
            </a:r>
            <a:r>
              <a:rPr lang="en-US" altLang="zh-CN" sz="2400">
                <a:solidFill>
                  <a:schemeClr val="bg2"/>
                </a:solidFill>
                <a:latin typeface="Courier New" pitchFamily="49" charset="0"/>
                <a:ea typeface="宋体" charset="-122"/>
              </a:rPr>
              <a:t>9999999</a:t>
            </a:r>
            <a:r>
              <a:rPr lang="en-US" altLang="zh-CN" sz="2400">
                <a:latin typeface="Courier New" pitchFamily="49" charset="0"/>
                <a:ea typeface="宋体" charset="-122"/>
              </a:rPr>
              <a:t>, </a:t>
            </a:r>
            <a:r>
              <a:rPr lang="en-US" altLang="zh-CN" sz="240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4</a:t>
            </a:r>
          </a:p>
        </p:txBody>
      </p:sp>
      <p:sp>
        <p:nvSpPr>
          <p:cNvPr id="89108" name="Text Box 21"/>
          <p:cNvSpPr txBox="1">
            <a:spLocks noChangeArrowheads="1"/>
          </p:cNvSpPr>
          <p:nvPr/>
        </p:nvSpPr>
        <p:spPr bwMode="auto">
          <a:xfrm>
            <a:off x="5791200" y="40528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11</a:t>
            </a:r>
          </a:p>
        </p:txBody>
      </p:sp>
      <p:sp>
        <p:nvSpPr>
          <p:cNvPr id="89109" name="Text Box 22"/>
          <p:cNvSpPr txBox="1">
            <a:spLocks noChangeArrowheads="1"/>
          </p:cNvSpPr>
          <p:nvPr/>
        </p:nvSpPr>
        <p:spPr bwMode="auto">
          <a:xfrm>
            <a:off x="31242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5</a:t>
            </a:r>
          </a:p>
        </p:txBody>
      </p:sp>
      <p:sp>
        <p:nvSpPr>
          <p:cNvPr id="89110" name="Text Box 23"/>
          <p:cNvSpPr txBox="1">
            <a:spLocks noChangeArrowheads="1"/>
          </p:cNvSpPr>
          <p:nvPr/>
        </p:nvSpPr>
        <p:spPr bwMode="auto">
          <a:xfrm>
            <a:off x="5791200" y="27432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11</a:t>
            </a:r>
          </a:p>
        </p:txBody>
      </p:sp>
      <p:sp>
        <p:nvSpPr>
          <p:cNvPr id="89111" name="Oval 24"/>
          <p:cNvSpPr>
            <a:spLocks noChangeArrowheads="1"/>
          </p:cNvSpPr>
          <p:nvPr/>
        </p:nvSpPr>
        <p:spPr bwMode="auto">
          <a:xfrm>
            <a:off x="609600" y="2438400"/>
            <a:ext cx="2286000" cy="914400"/>
          </a:xfrm>
          <a:prstGeom prst="ellipse">
            <a:avLst/>
          </a:prstGeom>
          <a:solidFill>
            <a:schemeClr val="bg2">
              <a:alpha val="50195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9999999</a:t>
            </a:r>
          </a:p>
        </p:txBody>
      </p:sp>
      <p:sp>
        <p:nvSpPr>
          <p:cNvPr id="89112" name="Rectangle 25"/>
          <p:cNvSpPr>
            <a:spLocks noChangeArrowheads="1"/>
          </p:cNvSpPr>
          <p:nvPr/>
        </p:nvSpPr>
        <p:spPr bwMode="auto">
          <a:xfrm>
            <a:off x="609600" y="3505200"/>
            <a:ext cx="2362200" cy="762000"/>
          </a:xfrm>
          <a:prstGeom prst="rect">
            <a:avLst/>
          </a:prstGeom>
          <a:solidFill>
            <a:srgbClr val="FF99CC">
              <a:alpha val="30196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zh-CN" altLang="en-US">
                <a:ea typeface="宋体" charset="-122"/>
              </a:rPr>
              <a:t>最终结果集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2"/>
          <p:cNvSpPr>
            <a:spLocks noChangeArrowheads="1"/>
          </p:cNvSpPr>
          <p:nvPr/>
        </p:nvSpPr>
        <p:spPr bwMode="auto">
          <a:xfrm>
            <a:off x="609600" y="3505200"/>
            <a:ext cx="2362200" cy="762000"/>
          </a:xfrm>
          <a:prstGeom prst="rect">
            <a:avLst/>
          </a:prstGeom>
          <a:solidFill>
            <a:srgbClr val="FF99CC">
              <a:alpha val="30196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zh-CN" altLang="en-US">
                <a:ea typeface="宋体" charset="-122"/>
              </a:rPr>
              <a:t>最终结果集</a:t>
            </a:r>
          </a:p>
        </p:txBody>
      </p:sp>
      <p:sp>
        <p:nvSpPr>
          <p:cNvPr id="90114" name="AutoShape 3"/>
          <p:cNvSpPr>
            <a:spLocks noChangeArrowheads="1"/>
          </p:cNvSpPr>
          <p:nvPr/>
        </p:nvSpPr>
        <p:spPr bwMode="auto">
          <a:xfrm>
            <a:off x="7696200" y="2590800"/>
            <a:ext cx="914400" cy="838200"/>
          </a:xfrm>
          <a:prstGeom prst="flowChartMagneticDisk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分库</a:t>
            </a:r>
            <a:r>
              <a:rPr lang="en-US" altLang="zh-CN">
                <a:ea typeface="宋体" charset="-122"/>
              </a:rPr>
              <a:t>1</a:t>
            </a:r>
          </a:p>
        </p:txBody>
      </p:sp>
      <p:sp>
        <p:nvSpPr>
          <p:cNvPr id="90115" name="AutoShape 4"/>
          <p:cNvSpPr>
            <a:spLocks noChangeArrowheads="1"/>
          </p:cNvSpPr>
          <p:nvPr/>
        </p:nvSpPr>
        <p:spPr bwMode="auto">
          <a:xfrm>
            <a:off x="7696200" y="3810000"/>
            <a:ext cx="914400" cy="838200"/>
          </a:xfrm>
          <a:prstGeom prst="flowChartMagneticDisk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分库</a:t>
            </a:r>
            <a:r>
              <a:rPr lang="en-US" altLang="zh-CN">
                <a:ea typeface="宋体" charset="-122"/>
              </a:rPr>
              <a:t>2</a:t>
            </a:r>
          </a:p>
        </p:txBody>
      </p:sp>
      <p:sp>
        <p:nvSpPr>
          <p:cNvPr id="90116" name="AutoShape 5"/>
          <p:cNvSpPr>
            <a:spLocks noChangeArrowheads="1"/>
          </p:cNvSpPr>
          <p:nvPr/>
        </p:nvSpPr>
        <p:spPr bwMode="auto">
          <a:xfrm>
            <a:off x="7696200" y="5105400"/>
            <a:ext cx="914400" cy="838200"/>
          </a:xfrm>
          <a:prstGeom prst="flowChartMagneticDisk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分库</a:t>
            </a:r>
            <a:r>
              <a:rPr lang="en-US" altLang="zh-CN">
                <a:ea typeface="宋体" charset="-122"/>
              </a:rPr>
              <a:t>3</a:t>
            </a:r>
          </a:p>
        </p:txBody>
      </p:sp>
      <p:sp>
        <p:nvSpPr>
          <p:cNvPr id="90117" name="Text Box 6"/>
          <p:cNvSpPr txBox="1">
            <a:spLocks noChangeArrowheads="1"/>
          </p:cNvSpPr>
          <p:nvPr/>
        </p:nvSpPr>
        <p:spPr bwMode="auto">
          <a:xfrm>
            <a:off x="4191000" y="27432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7</a:t>
            </a:r>
          </a:p>
        </p:txBody>
      </p:sp>
      <p:sp>
        <p:nvSpPr>
          <p:cNvPr id="90118" name="Text Box 7"/>
          <p:cNvSpPr txBox="1">
            <a:spLocks noChangeArrowheads="1"/>
          </p:cNvSpPr>
          <p:nvPr/>
        </p:nvSpPr>
        <p:spPr bwMode="auto">
          <a:xfrm>
            <a:off x="914400" y="3824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4</a:t>
            </a:r>
          </a:p>
        </p:txBody>
      </p:sp>
      <p:sp>
        <p:nvSpPr>
          <p:cNvPr id="90119" name="Text Box 8"/>
          <p:cNvSpPr txBox="1">
            <a:spLocks noChangeArrowheads="1"/>
          </p:cNvSpPr>
          <p:nvPr/>
        </p:nvSpPr>
        <p:spPr bwMode="auto">
          <a:xfrm>
            <a:off x="4191000" y="40528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5</a:t>
            </a:r>
          </a:p>
        </p:txBody>
      </p:sp>
      <p:sp>
        <p:nvSpPr>
          <p:cNvPr id="90120" name="Text Box 9"/>
          <p:cNvSpPr txBox="1">
            <a:spLocks noChangeArrowheads="1"/>
          </p:cNvSpPr>
          <p:nvPr/>
        </p:nvSpPr>
        <p:spPr bwMode="auto">
          <a:xfrm>
            <a:off x="41910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8</a:t>
            </a:r>
          </a:p>
        </p:txBody>
      </p:sp>
      <p:sp>
        <p:nvSpPr>
          <p:cNvPr id="90121" name="Text Box 10"/>
          <p:cNvSpPr txBox="1">
            <a:spLocks noChangeArrowheads="1"/>
          </p:cNvSpPr>
          <p:nvPr/>
        </p:nvSpPr>
        <p:spPr bwMode="auto">
          <a:xfrm>
            <a:off x="36576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6</a:t>
            </a:r>
          </a:p>
        </p:txBody>
      </p:sp>
      <p:sp>
        <p:nvSpPr>
          <p:cNvPr id="90122" name="Text Box 11"/>
          <p:cNvSpPr txBox="1">
            <a:spLocks noChangeArrowheads="1"/>
          </p:cNvSpPr>
          <p:nvPr/>
        </p:nvSpPr>
        <p:spPr bwMode="auto">
          <a:xfrm>
            <a:off x="4724400" y="27432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9</a:t>
            </a:r>
          </a:p>
        </p:txBody>
      </p:sp>
      <p:sp>
        <p:nvSpPr>
          <p:cNvPr id="90123" name="Text Box 12"/>
          <p:cNvSpPr txBox="1">
            <a:spLocks noChangeArrowheads="1"/>
          </p:cNvSpPr>
          <p:nvPr/>
        </p:nvSpPr>
        <p:spPr bwMode="auto">
          <a:xfrm>
            <a:off x="5257800" y="27432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10</a:t>
            </a:r>
          </a:p>
        </p:txBody>
      </p:sp>
      <p:sp>
        <p:nvSpPr>
          <p:cNvPr id="90124" name="Text Box 13"/>
          <p:cNvSpPr txBox="1">
            <a:spLocks noChangeArrowheads="1"/>
          </p:cNvSpPr>
          <p:nvPr/>
        </p:nvSpPr>
        <p:spPr bwMode="auto">
          <a:xfrm>
            <a:off x="5257800" y="40528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7</a:t>
            </a:r>
          </a:p>
        </p:txBody>
      </p:sp>
      <p:sp>
        <p:nvSpPr>
          <p:cNvPr id="90125" name="Text Box 14"/>
          <p:cNvSpPr txBox="1">
            <a:spLocks noChangeArrowheads="1"/>
          </p:cNvSpPr>
          <p:nvPr/>
        </p:nvSpPr>
        <p:spPr bwMode="auto">
          <a:xfrm>
            <a:off x="4724400" y="40528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6</a:t>
            </a:r>
          </a:p>
        </p:txBody>
      </p:sp>
      <p:sp>
        <p:nvSpPr>
          <p:cNvPr id="90126" name="Text Box 15"/>
          <p:cNvSpPr txBox="1">
            <a:spLocks noChangeArrowheads="1"/>
          </p:cNvSpPr>
          <p:nvPr/>
        </p:nvSpPr>
        <p:spPr bwMode="auto">
          <a:xfrm>
            <a:off x="52578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11</a:t>
            </a:r>
          </a:p>
        </p:txBody>
      </p:sp>
      <p:sp>
        <p:nvSpPr>
          <p:cNvPr id="90127" name="Text Box 16"/>
          <p:cNvSpPr txBox="1">
            <a:spLocks noChangeArrowheads="1"/>
          </p:cNvSpPr>
          <p:nvPr/>
        </p:nvSpPr>
        <p:spPr bwMode="auto">
          <a:xfrm>
            <a:off x="47244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9</a:t>
            </a:r>
          </a:p>
        </p:txBody>
      </p:sp>
      <p:sp>
        <p:nvSpPr>
          <p:cNvPr id="90128" name="AutoShape 17"/>
          <p:cNvSpPr>
            <a:spLocks noChangeArrowheads="1"/>
          </p:cNvSpPr>
          <p:nvPr/>
        </p:nvSpPr>
        <p:spPr bwMode="auto">
          <a:xfrm>
            <a:off x="6400800" y="2514600"/>
            <a:ext cx="1219200" cy="762000"/>
          </a:xfrm>
          <a:prstGeom prst="leftArrow">
            <a:avLst>
              <a:gd name="adj1" fmla="val 50000"/>
              <a:gd name="adj2" fmla="val 4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返回结果</a:t>
            </a:r>
          </a:p>
        </p:txBody>
      </p:sp>
      <p:sp>
        <p:nvSpPr>
          <p:cNvPr id="90129" name="AutoShape 18"/>
          <p:cNvSpPr>
            <a:spLocks noChangeArrowheads="1"/>
          </p:cNvSpPr>
          <p:nvPr/>
        </p:nvSpPr>
        <p:spPr bwMode="auto">
          <a:xfrm>
            <a:off x="6400800" y="3886200"/>
            <a:ext cx="1219200" cy="762000"/>
          </a:xfrm>
          <a:prstGeom prst="leftArrow">
            <a:avLst>
              <a:gd name="adj1" fmla="val 50000"/>
              <a:gd name="adj2" fmla="val 4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返回结果</a:t>
            </a:r>
          </a:p>
        </p:txBody>
      </p:sp>
      <p:sp>
        <p:nvSpPr>
          <p:cNvPr id="90130" name="AutoShape 19"/>
          <p:cNvSpPr>
            <a:spLocks noChangeArrowheads="1"/>
          </p:cNvSpPr>
          <p:nvPr/>
        </p:nvSpPr>
        <p:spPr bwMode="auto">
          <a:xfrm>
            <a:off x="6400800" y="5181600"/>
            <a:ext cx="1219200" cy="762000"/>
          </a:xfrm>
          <a:prstGeom prst="leftArrow">
            <a:avLst>
              <a:gd name="adj1" fmla="val 50000"/>
              <a:gd name="adj2" fmla="val 4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返回结果</a:t>
            </a:r>
          </a:p>
        </p:txBody>
      </p:sp>
      <p:sp>
        <p:nvSpPr>
          <p:cNvPr id="90131" name="Rectangle 20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latin typeface="微软雅黑"/>
                <a:ea typeface="微软雅黑"/>
                <a:cs typeface="微软雅黑"/>
              </a:rPr>
              <a:t>类似于原始方案</a:t>
            </a:r>
          </a:p>
        </p:txBody>
      </p:sp>
      <p:sp>
        <p:nvSpPr>
          <p:cNvPr id="90132" name="Text Box 21"/>
          <p:cNvSpPr txBox="1">
            <a:spLocks noChangeArrowheads="1"/>
          </p:cNvSpPr>
          <p:nvPr/>
        </p:nvSpPr>
        <p:spPr bwMode="auto">
          <a:xfrm>
            <a:off x="457200" y="609600"/>
            <a:ext cx="83058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latin typeface="Courier New" pitchFamily="49" charset="0"/>
                <a:ea typeface="宋体" charset="-122"/>
              </a:rPr>
              <a:t>select c1 from tb1 order by </a:t>
            </a:r>
            <a:r>
              <a:rPr lang="en-US" altLang="zh-CN" sz="240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c1</a:t>
            </a:r>
            <a:r>
              <a:rPr lang="en-US" altLang="zh-CN" sz="2400">
                <a:latin typeface="Courier New" pitchFamily="49" charset="0"/>
                <a:ea typeface="宋体" charset="-122"/>
              </a:rPr>
              <a:t> </a:t>
            </a:r>
            <a:br>
              <a:rPr lang="en-US" altLang="zh-CN" sz="2400">
                <a:latin typeface="Courier New" pitchFamily="49" charset="0"/>
                <a:ea typeface="宋体" charset="-122"/>
              </a:rPr>
            </a:br>
            <a:r>
              <a:rPr lang="en-US" altLang="zh-CN" sz="2400">
                <a:latin typeface="Courier New" pitchFamily="49" charset="0"/>
                <a:ea typeface="宋体" charset="-122"/>
              </a:rPr>
              <a:t>                         limit </a:t>
            </a:r>
            <a:r>
              <a:rPr lang="en-US" altLang="zh-CN" sz="2400">
                <a:solidFill>
                  <a:schemeClr val="bg2"/>
                </a:solidFill>
                <a:latin typeface="Courier New" pitchFamily="49" charset="0"/>
                <a:ea typeface="宋体" charset="-122"/>
              </a:rPr>
              <a:t>9999999</a:t>
            </a:r>
            <a:r>
              <a:rPr lang="en-US" altLang="zh-CN" sz="2400">
                <a:latin typeface="Courier New" pitchFamily="49" charset="0"/>
                <a:ea typeface="宋体" charset="-122"/>
              </a:rPr>
              <a:t>, </a:t>
            </a:r>
            <a:r>
              <a:rPr lang="en-US" altLang="zh-CN" sz="240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4</a:t>
            </a:r>
          </a:p>
        </p:txBody>
      </p:sp>
      <p:sp>
        <p:nvSpPr>
          <p:cNvPr id="90133" name="Text Box 22"/>
          <p:cNvSpPr txBox="1">
            <a:spLocks noChangeArrowheads="1"/>
          </p:cNvSpPr>
          <p:nvPr/>
        </p:nvSpPr>
        <p:spPr bwMode="auto">
          <a:xfrm>
            <a:off x="5791200" y="40528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11</a:t>
            </a:r>
          </a:p>
        </p:txBody>
      </p:sp>
      <p:sp>
        <p:nvSpPr>
          <p:cNvPr id="90134" name="Text Box 23"/>
          <p:cNvSpPr txBox="1">
            <a:spLocks noChangeArrowheads="1"/>
          </p:cNvSpPr>
          <p:nvPr/>
        </p:nvSpPr>
        <p:spPr bwMode="auto">
          <a:xfrm>
            <a:off x="31242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5</a:t>
            </a:r>
          </a:p>
        </p:txBody>
      </p:sp>
      <p:sp>
        <p:nvSpPr>
          <p:cNvPr id="90135" name="Text Box 24"/>
          <p:cNvSpPr txBox="1">
            <a:spLocks noChangeArrowheads="1"/>
          </p:cNvSpPr>
          <p:nvPr/>
        </p:nvSpPr>
        <p:spPr bwMode="auto">
          <a:xfrm>
            <a:off x="5791200" y="27432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11</a:t>
            </a:r>
          </a:p>
        </p:txBody>
      </p:sp>
      <p:sp>
        <p:nvSpPr>
          <p:cNvPr id="90136" name="Oval 25"/>
          <p:cNvSpPr>
            <a:spLocks noChangeArrowheads="1"/>
          </p:cNvSpPr>
          <p:nvPr/>
        </p:nvSpPr>
        <p:spPr bwMode="auto">
          <a:xfrm>
            <a:off x="609600" y="2438400"/>
            <a:ext cx="2286000" cy="914400"/>
          </a:xfrm>
          <a:prstGeom prst="ellipse">
            <a:avLst/>
          </a:prstGeom>
          <a:solidFill>
            <a:schemeClr val="bg2">
              <a:alpha val="50195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9999999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2"/>
          <p:cNvSpPr>
            <a:spLocks noChangeArrowheads="1"/>
          </p:cNvSpPr>
          <p:nvPr/>
        </p:nvSpPr>
        <p:spPr bwMode="auto">
          <a:xfrm>
            <a:off x="609600" y="3505200"/>
            <a:ext cx="2362200" cy="762000"/>
          </a:xfrm>
          <a:prstGeom prst="rect">
            <a:avLst/>
          </a:prstGeom>
          <a:solidFill>
            <a:srgbClr val="FF99CC">
              <a:alpha val="30196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zh-CN" altLang="en-US">
                <a:ea typeface="宋体" charset="-122"/>
              </a:rPr>
              <a:t>最终结果集</a:t>
            </a:r>
          </a:p>
        </p:txBody>
      </p:sp>
      <p:sp>
        <p:nvSpPr>
          <p:cNvPr id="91138" name="AutoShape 3"/>
          <p:cNvSpPr>
            <a:spLocks noChangeArrowheads="1"/>
          </p:cNvSpPr>
          <p:nvPr/>
        </p:nvSpPr>
        <p:spPr bwMode="auto">
          <a:xfrm>
            <a:off x="7696200" y="2590800"/>
            <a:ext cx="914400" cy="838200"/>
          </a:xfrm>
          <a:prstGeom prst="flowChartMagneticDisk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分库</a:t>
            </a:r>
            <a:r>
              <a:rPr lang="en-US" altLang="zh-CN">
                <a:ea typeface="宋体" charset="-122"/>
              </a:rPr>
              <a:t>1</a:t>
            </a:r>
          </a:p>
        </p:txBody>
      </p:sp>
      <p:sp>
        <p:nvSpPr>
          <p:cNvPr id="91139" name="AutoShape 4"/>
          <p:cNvSpPr>
            <a:spLocks noChangeArrowheads="1"/>
          </p:cNvSpPr>
          <p:nvPr/>
        </p:nvSpPr>
        <p:spPr bwMode="auto">
          <a:xfrm>
            <a:off x="7696200" y="3810000"/>
            <a:ext cx="914400" cy="838200"/>
          </a:xfrm>
          <a:prstGeom prst="flowChartMagneticDisk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分库</a:t>
            </a:r>
            <a:r>
              <a:rPr lang="en-US" altLang="zh-CN">
                <a:ea typeface="宋体" charset="-122"/>
              </a:rPr>
              <a:t>2</a:t>
            </a:r>
          </a:p>
        </p:txBody>
      </p:sp>
      <p:sp>
        <p:nvSpPr>
          <p:cNvPr id="91140" name="AutoShape 5"/>
          <p:cNvSpPr>
            <a:spLocks noChangeArrowheads="1"/>
          </p:cNvSpPr>
          <p:nvPr/>
        </p:nvSpPr>
        <p:spPr bwMode="auto">
          <a:xfrm>
            <a:off x="7696200" y="5105400"/>
            <a:ext cx="914400" cy="838200"/>
          </a:xfrm>
          <a:prstGeom prst="flowChartMagneticDisk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分库</a:t>
            </a:r>
            <a:r>
              <a:rPr lang="en-US" altLang="zh-CN">
                <a:ea typeface="宋体" charset="-122"/>
              </a:rPr>
              <a:t>3</a:t>
            </a:r>
          </a:p>
        </p:txBody>
      </p:sp>
      <p:sp>
        <p:nvSpPr>
          <p:cNvPr id="91141" name="Text Box 6"/>
          <p:cNvSpPr txBox="1">
            <a:spLocks noChangeArrowheads="1"/>
          </p:cNvSpPr>
          <p:nvPr/>
        </p:nvSpPr>
        <p:spPr bwMode="auto">
          <a:xfrm>
            <a:off x="4191000" y="27432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7</a:t>
            </a:r>
          </a:p>
        </p:txBody>
      </p:sp>
      <p:sp>
        <p:nvSpPr>
          <p:cNvPr id="91142" name="Text Box 7"/>
          <p:cNvSpPr txBox="1">
            <a:spLocks noChangeArrowheads="1"/>
          </p:cNvSpPr>
          <p:nvPr/>
        </p:nvSpPr>
        <p:spPr bwMode="auto">
          <a:xfrm>
            <a:off x="914400" y="3824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4</a:t>
            </a:r>
          </a:p>
        </p:txBody>
      </p:sp>
      <p:sp>
        <p:nvSpPr>
          <p:cNvPr id="91143" name="Text Box 8"/>
          <p:cNvSpPr txBox="1">
            <a:spLocks noChangeArrowheads="1"/>
          </p:cNvSpPr>
          <p:nvPr/>
        </p:nvSpPr>
        <p:spPr bwMode="auto">
          <a:xfrm>
            <a:off x="1219200" y="3824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5</a:t>
            </a:r>
          </a:p>
        </p:txBody>
      </p:sp>
      <p:sp>
        <p:nvSpPr>
          <p:cNvPr id="91144" name="Text Box 9"/>
          <p:cNvSpPr txBox="1">
            <a:spLocks noChangeArrowheads="1"/>
          </p:cNvSpPr>
          <p:nvPr/>
        </p:nvSpPr>
        <p:spPr bwMode="auto">
          <a:xfrm>
            <a:off x="41910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8</a:t>
            </a:r>
          </a:p>
        </p:txBody>
      </p:sp>
      <p:sp>
        <p:nvSpPr>
          <p:cNvPr id="91145" name="Text Box 10"/>
          <p:cNvSpPr txBox="1">
            <a:spLocks noChangeArrowheads="1"/>
          </p:cNvSpPr>
          <p:nvPr/>
        </p:nvSpPr>
        <p:spPr bwMode="auto">
          <a:xfrm>
            <a:off x="36576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6</a:t>
            </a:r>
          </a:p>
        </p:txBody>
      </p:sp>
      <p:sp>
        <p:nvSpPr>
          <p:cNvPr id="91146" name="Text Box 11"/>
          <p:cNvSpPr txBox="1">
            <a:spLocks noChangeArrowheads="1"/>
          </p:cNvSpPr>
          <p:nvPr/>
        </p:nvSpPr>
        <p:spPr bwMode="auto">
          <a:xfrm>
            <a:off x="4724400" y="27432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9</a:t>
            </a:r>
          </a:p>
        </p:txBody>
      </p:sp>
      <p:sp>
        <p:nvSpPr>
          <p:cNvPr id="91147" name="Text Box 12"/>
          <p:cNvSpPr txBox="1">
            <a:spLocks noChangeArrowheads="1"/>
          </p:cNvSpPr>
          <p:nvPr/>
        </p:nvSpPr>
        <p:spPr bwMode="auto">
          <a:xfrm>
            <a:off x="5257800" y="27432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10</a:t>
            </a:r>
          </a:p>
        </p:txBody>
      </p:sp>
      <p:sp>
        <p:nvSpPr>
          <p:cNvPr id="91148" name="Text Box 13"/>
          <p:cNvSpPr txBox="1">
            <a:spLocks noChangeArrowheads="1"/>
          </p:cNvSpPr>
          <p:nvPr/>
        </p:nvSpPr>
        <p:spPr bwMode="auto">
          <a:xfrm>
            <a:off x="5257800" y="40528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7</a:t>
            </a:r>
          </a:p>
        </p:txBody>
      </p:sp>
      <p:sp>
        <p:nvSpPr>
          <p:cNvPr id="91149" name="Text Box 14"/>
          <p:cNvSpPr txBox="1">
            <a:spLocks noChangeArrowheads="1"/>
          </p:cNvSpPr>
          <p:nvPr/>
        </p:nvSpPr>
        <p:spPr bwMode="auto">
          <a:xfrm>
            <a:off x="4724400" y="40528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6</a:t>
            </a:r>
          </a:p>
        </p:txBody>
      </p:sp>
      <p:sp>
        <p:nvSpPr>
          <p:cNvPr id="91150" name="Text Box 15"/>
          <p:cNvSpPr txBox="1">
            <a:spLocks noChangeArrowheads="1"/>
          </p:cNvSpPr>
          <p:nvPr/>
        </p:nvSpPr>
        <p:spPr bwMode="auto">
          <a:xfrm>
            <a:off x="52578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11</a:t>
            </a:r>
          </a:p>
        </p:txBody>
      </p:sp>
      <p:sp>
        <p:nvSpPr>
          <p:cNvPr id="91151" name="Text Box 16"/>
          <p:cNvSpPr txBox="1">
            <a:spLocks noChangeArrowheads="1"/>
          </p:cNvSpPr>
          <p:nvPr/>
        </p:nvSpPr>
        <p:spPr bwMode="auto">
          <a:xfrm>
            <a:off x="47244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9</a:t>
            </a:r>
          </a:p>
        </p:txBody>
      </p:sp>
      <p:sp>
        <p:nvSpPr>
          <p:cNvPr id="91152" name="AutoShape 17"/>
          <p:cNvSpPr>
            <a:spLocks noChangeArrowheads="1"/>
          </p:cNvSpPr>
          <p:nvPr/>
        </p:nvSpPr>
        <p:spPr bwMode="auto">
          <a:xfrm>
            <a:off x="6400800" y="2514600"/>
            <a:ext cx="1219200" cy="762000"/>
          </a:xfrm>
          <a:prstGeom prst="leftArrow">
            <a:avLst>
              <a:gd name="adj1" fmla="val 50000"/>
              <a:gd name="adj2" fmla="val 4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返回结果</a:t>
            </a:r>
          </a:p>
        </p:txBody>
      </p:sp>
      <p:sp>
        <p:nvSpPr>
          <p:cNvPr id="91153" name="AutoShape 18"/>
          <p:cNvSpPr>
            <a:spLocks noChangeArrowheads="1"/>
          </p:cNvSpPr>
          <p:nvPr/>
        </p:nvSpPr>
        <p:spPr bwMode="auto">
          <a:xfrm>
            <a:off x="6400800" y="3886200"/>
            <a:ext cx="1219200" cy="762000"/>
          </a:xfrm>
          <a:prstGeom prst="leftArrow">
            <a:avLst>
              <a:gd name="adj1" fmla="val 50000"/>
              <a:gd name="adj2" fmla="val 4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返回结果</a:t>
            </a:r>
          </a:p>
        </p:txBody>
      </p:sp>
      <p:sp>
        <p:nvSpPr>
          <p:cNvPr id="91154" name="AutoShape 19"/>
          <p:cNvSpPr>
            <a:spLocks noChangeArrowheads="1"/>
          </p:cNvSpPr>
          <p:nvPr/>
        </p:nvSpPr>
        <p:spPr bwMode="auto">
          <a:xfrm>
            <a:off x="6400800" y="5181600"/>
            <a:ext cx="1219200" cy="762000"/>
          </a:xfrm>
          <a:prstGeom prst="leftArrow">
            <a:avLst>
              <a:gd name="adj1" fmla="val 50000"/>
              <a:gd name="adj2" fmla="val 4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返回结果</a:t>
            </a:r>
          </a:p>
        </p:txBody>
      </p:sp>
      <p:sp>
        <p:nvSpPr>
          <p:cNvPr id="91155" name="Rectangle 20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latin typeface="微软雅黑"/>
                <a:ea typeface="微软雅黑"/>
                <a:cs typeface="微软雅黑"/>
              </a:rPr>
              <a:t>类似于原始方案</a:t>
            </a:r>
          </a:p>
        </p:txBody>
      </p:sp>
      <p:sp>
        <p:nvSpPr>
          <p:cNvPr id="91156" name="Text Box 21"/>
          <p:cNvSpPr txBox="1">
            <a:spLocks noChangeArrowheads="1"/>
          </p:cNvSpPr>
          <p:nvPr/>
        </p:nvSpPr>
        <p:spPr bwMode="auto">
          <a:xfrm>
            <a:off x="457200" y="609600"/>
            <a:ext cx="83058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latin typeface="Courier New" pitchFamily="49" charset="0"/>
                <a:ea typeface="宋体" charset="-122"/>
              </a:rPr>
              <a:t>select c1 from tb1 order by </a:t>
            </a:r>
            <a:r>
              <a:rPr lang="en-US" altLang="zh-CN" sz="240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c1</a:t>
            </a:r>
            <a:r>
              <a:rPr lang="en-US" altLang="zh-CN" sz="2400">
                <a:latin typeface="Courier New" pitchFamily="49" charset="0"/>
                <a:ea typeface="宋体" charset="-122"/>
              </a:rPr>
              <a:t> </a:t>
            </a:r>
            <a:br>
              <a:rPr lang="en-US" altLang="zh-CN" sz="2400">
                <a:latin typeface="Courier New" pitchFamily="49" charset="0"/>
                <a:ea typeface="宋体" charset="-122"/>
              </a:rPr>
            </a:br>
            <a:r>
              <a:rPr lang="en-US" altLang="zh-CN" sz="2400">
                <a:latin typeface="Courier New" pitchFamily="49" charset="0"/>
                <a:ea typeface="宋体" charset="-122"/>
              </a:rPr>
              <a:t>                         limit </a:t>
            </a:r>
            <a:r>
              <a:rPr lang="en-US" altLang="zh-CN" sz="2400">
                <a:solidFill>
                  <a:schemeClr val="bg2"/>
                </a:solidFill>
                <a:latin typeface="Courier New" pitchFamily="49" charset="0"/>
                <a:ea typeface="宋体" charset="-122"/>
              </a:rPr>
              <a:t>9999999</a:t>
            </a:r>
            <a:r>
              <a:rPr lang="en-US" altLang="zh-CN" sz="2400">
                <a:latin typeface="Courier New" pitchFamily="49" charset="0"/>
                <a:ea typeface="宋体" charset="-122"/>
              </a:rPr>
              <a:t>, </a:t>
            </a:r>
            <a:r>
              <a:rPr lang="en-US" altLang="zh-CN" sz="240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4</a:t>
            </a:r>
          </a:p>
        </p:txBody>
      </p:sp>
      <p:sp>
        <p:nvSpPr>
          <p:cNvPr id="91157" name="Text Box 22"/>
          <p:cNvSpPr txBox="1">
            <a:spLocks noChangeArrowheads="1"/>
          </p:cNvSpPr>
          <p:nvPr/>
        </p:nvSpPr>
        <p:spPr bwMode="auto">
          <a:xfrm>
            <a:off x="5791200" y="40528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11</a:t>
            </a:r>
          </a:p>
        </p:txBody>
      </p:sp>
      <p:sp>
        <p:nvSpPr>
          <p:cNvPr id="91158" name="Text Box 23"/>
          <p:cNvSpPr txBox="1">
            <a:spLocks noChangeArrowheads="1"/>
          </p:cNvSpPr>
          <p:nvPr/>
        </p:nvSpPr>
        <p:spPr bwMode="auto">
          <a:xfrm>
            <a:off x="31242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5</a:t>
            </a:r>
          </a:p>
        </p:txBody>
      </p:sp>
      <p:sp>
        <p:nvSpPr>
          <p:cNvPr id="91159" name="Text Box 24"/>
          <p:cNvSpPr txBox="1">
            <a:spLocks noChangeArrowheads="1"/>
          </p:cNvSpPr>
          <p:nvPr/>
        </p:nvSpPr>
        <p:spPr bwMode="auto">
          <a:xfrm>
            <a:off x="5791200" y="27432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11</a:t>
            </a:r>
          </a:p>
        </p:txBody>
      </p:sp>
      <p:sp>
        <p:nvSpPr>
          <p:cNvPr id="91160" name="Oval 25"/>
          <p:cNvSpPr>
            <a:spLocks noChangeArrowheads="1"/>
          </p:cNvSpPr>
          <p:nvPr/>
        </p:nvSpPr>
        <p:spPr bwMode="auto">
          <a:xfrm>
            <a:off x="609600" y="2438400"/>
            <a:ext cx="2286000" cy="914400"/>
          </a:xfrm>
          <a:prstGeom prst="ellipse">
            <a:avLst/>
          </a:prstGeom>
          <a:solidFill>
            <a:schemeClr val="bg2">
              <a:alpha val="50195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9999999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Rectangle 2"/>
          <p:cNvSpPr>
            <a:spLocks noChangeArrowheads="1"/>
          </p:cNvSpPr>
          <p:nvPr/>
        </p:nvSpPr>
        <p:spPr bwMode="auto">
          <a:xfrm>
            <a:off x="609600" y="3505200"/>
            <a:ext cx="2362200" cy="762000"/>
          </a:xfrm>
          <a:prstGeom prst="rect">
            <a:avLst/>
          </a:prstGeom>
          <a:solidFill>
            <a:srgbClr val="FF99CC">
              <a:alpha val="30196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zh-CN" altLang="en-US">
                <a:ea typeface="宋体" charset="-122"/>
              </a:rPr>
              <a:t>最终结果集</a:t>
            </a:r>
          </a:p>
        </p:txBody>
      </p:sp>
      <p:sp>
        <p:nvSpPr>
          <p:cNvPr id="92162" name="AutoShape 3"/>
          <p:cNvSpPr>
            <a:spLocks noChangeArrowheads="1"/>
          </p:cNvSpPr>
          <p:nvPr/>
        </p:nvSpPr>
        <p:spPr bwMode="auto">
          <a:xfrm>
            <a:off x="7696200" y="2590800"/>
            <a:ext cx="914400" cy="838200"/>
          </a:xfrm>
          <a:prstGeom prst="flowChartMagneticDisk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分库</a:t>
            </a:r>
            <a:r>
              <a:rPr lang="en-US" altLang="zh-CN">
                <a:ea typeface="宋体" charset="-122"/>
              </a:rPr>
              <a:t>1</a:t>
            </a:r>
          </a:p>
        </p:txBody>
      </p:sp>
      <p:sp>
        <p:nvSpPr>
          <p:cNvPr id="92163" name="AutoShape 4"/>
          <p:cNvSpPr>
            <a:spLocks noChangeArrowheads="1"/>
          </p:cNvSpPr>
          <p:nvPr/>
        </p:nvSpPr>
        <p:spPr bwMode="auto">
          <a:xfrm>
            <a:off x="7696200" y="3810000"/>
            <a:ext cx="914400" cy="838200"/>
          </a:xfrm>
          <a:prstGeom prst="flowChartMagneticDisk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分库</a:t>
            </a:r>
            <a:r>
              <a:rPr lang="en-US" altLang="zh-CN">
                <a:ea typeface="宋体" charset="-122"/>
              </a:rPr>
              <a:t>2</a:t>
            </a:r>
          </a:p>
        </p:txBody>
      </p:sp>
      <p:sp>
        <p:nvSpPr>
          <p:cNvPr id="92164" name="AutoShape 5"/>
          <p:cNvSpPr>
            <a:spLocks noChangeArrowheads="1"/>
          </p:cNvSpPr>
          <p:nvPr/>
        </p:nvSpPr>
        <p:spPr bwMode="auto">
          <a:xfrm>
            <a:off x="7696200" y="5105400"/>
            <a:ext cx="914400" cy="838200"/>
          </a:xfrm>
          <a:prstGeom prst="flowChartMagneticDisk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分库</a:t>
            </a:r>
            <a:r>
              <a:rPr lang="en-US" altLang="zh-CN">
                <a:ea typeface="宋体" charset="-122"/>
              </a:rPr>
              <a:t>3</a:t>
            </a:r>
          </a:p>
        </p:txBody>
      </p:sp>
      <p:sp>
        <p:nvSpPr>
          <p:cNvPr id="92165" name="Text Box 6"/>
          <p:cNvSpPr txBox="1">
            <a:spLocks noChangeArrowheads="1"/>
          </p:cNvSpPr>
          <p:nvPr/>
        </p:nvSpPr>
        <p:spPr bwMode="auto">
          <a:xfrm>
            <a:off x="4191000" y="27432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7</a:t>
            </a:r>
          </a:p>
        </p:txBody>
      </p:sp>
      <p:sp>
        <p:nvSpPr>
          <p:cNvPr id="92166" name="Text Box 7"/>
          <p:cNvSpPr txBox="1">
            <a:spLocks noChangeArrowheads="1"/>
          </p:cNvSpPr>
          <p:nvPr/>
        </p:nvSpPr>
        <p:spPr bwMode="auto">
          <a:xfrm>
            <a:off x="914400" y="3824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4</a:t>
            </a:r>
          </a:p>
        </p:txBody>
      </p:sp>
      <p:sp>
        <p:nvSpPr>
          <p:cNvPr id="92167" name="Text Box 8"/>
          <p:cNvSpPr txBox="1">
            <a:spLocks noChangeArrowheads="1"/>
          </p:cNvSpPr>
          <p:nvPr/>
        </p:nvSpPr>
        <p:spPr bwMode="auto">
          <a:xfrm>
            <a:off x="1219200" y="3824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5</a:t>
            </a:r>
          </a:p>
        </p:txBody>
      </p:sp>
      <p:sp>
        <p:nvSpPr>
          <p:cNvPr id="92168" name="Text Box 9"/>
          <p:cNvSpPr txBox="1">
            <a:spLocks noChangeArrowheads="1"/>
          </p:cNvSpPr>
          <p:nvPr/>
        </p:nvSpPr>
        <p:spPr bwMode="auto">
          <a:xfrm>
            <a:off x="41910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8</a:t>
            </a:r>
          </a:p>
        </p:txBody>
      </p:sp>
      <p:sp>
        <p:nvSpPr>
          <p:cNvPr id="92169" name="Text Box 10"/>
          <p:cNvSpPr txBox="1">
            <a:spLocks noChangeArrowheads="1"/>
          </p:cNvSpPr>
          <p:nvPr/>
        </p:nvSpPr>
        <p:spPr bwMode="auto">
          <a:xfrm>
            <a:off x="36576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6</a:t>
            </a:r>
          </a:p>
        </p:txBody>
      </p:sp>
      <p:sp>
        <p:nvSpPr>
          <p:cNvPr id="92170" name="Text Box 11"/>
          <p:cNvSpPr txBox="1">
            <a:spLocks noChangeArrowheads="1"/>
          </p:cNvSpPr>
          <p:nvPr/>
        </p:nvSpPr>
        <p:spPr bwMode="auto">
          <a:xfrm>
            <a:off x="4724400" y="27432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9</a:t>
            </a:r>
          </a:p>
        </p:txBody>
      </p:sp>
      <p:sp>
        <p:nvSpPr>
          <p:cNvPr id="92171" name="Text Box 12"/>
          <p:cNvSpPr txBox="1">
            <a:spLocks noChangeArrowheads="1"/>
          </p:cNvSpPr>
          <p:nvPr/>
        </p:nvSpPr>
        <p:spPr bwMode="auto">
          <a:xfrm>
            <a:off x="5257800" y="27432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10</a:t>
            </a:r>
          </a:p>
        </p:txBody>
      </p:sp>
      <p:sp>
        <p:nvSpPr>
          <p:cNvPr id="92172" name="Text Box 13"/>
          <p:cNvSpPr txBox="1">
            <a:spLocks noChangeArrowheads="1"/>
          </p:cNvSpPr>
          <p:nvPr/>
        </p:nvSpPr>
        <p:spPr bwMode="auto">
          <a:xfrm>
            <a:off x="5257800" y="40528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7</a:t>
            </a:r>
          </a:p>
        </p:txBody>
      </p:sp>
      <p:sp>
        <p:nvSpPr>
          <p:cNvPr id="92173" name="Text Box 14"/>
          <p:cNvSpPr txBox="1">
            <a:spLocks noChangeArrowheads="1"/>
          </p:cNvSpPr>
          <p:nvPr/>
        </p:nvSpPr>
        <p:spPr bwMode="auto">
          <a:xfrm>
            <a:off x="4724400" y="40528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6</a:t>
            </a:r>
          </a:p>
        </p:txBody>
      </p:sp>
      <p:sp>
        <p:nvSpPr>
          <p:cNvPr id="92174" name="Text Box 15"/>
          <p:cNvSpPr txBox="1">
            <a:spLocks noChangeArrowheads="1"/>
          </p:cNvSpPr>
          <p:nvPr/>
        </p:nvSpPr>
        <p:spPr bwMode="auto">
          <a:xfrm>
            <a:off x="52578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11</a:t>
            </a:r>
          </a:p>
        </p:txBody>
      </p:sp>
      <p:sp>
        <p:nvSpPr>
          <p:cNvPr id="92175" name="Text Box 16"/>
          <p:cNvSpPr txBox="1">
            <a:spLocks noChangeArrowheads="1"/>
          </p:cNvSpPr>
          <p:nvPr/>
        </p:nvSpPr>
        <p:spPr bwMode="auto">
          <a:xfrm>
            <a:off x="47244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9</a:t>
            </a:r>
          </a:p>
        </p:txBody>
      </p:sp>
      <p:sp>
        <p:nvSpPr>
          <p:cNvPr id="92176" name="AutoShape 17"/>
          <p:cNvSpPr>
            <a:spLocks noChangeArrowheads="1"/>
          </p:cNvSpPr>
          <p:nvPr/>
        </p:nvSpPr>
        <p:spPr bwMode="auto">
          <a:xfrm>
            <a:off x="6400800" y="2514600"/>
            <a:ext cx="1219200" cy="762000"/>
          </a:xfrm>
          <a:prstGeom prst="leftArrow">
            <a:avLst>
              <a:gd name="adj1" fmla="val 50000"/>
              <a:gd name="adj2" fmla="val 4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返回结果</a:t>
            </a:r>
          </a:p>
        </p:txBody>
      </p:sp>
      <p:sp>
        <p:nvSpPr>
          <p:cNvPr id="92177" name="AutoShape 18"/>
          <p:cNvSpPr>
            <a:spLocks noChangeArrowheads="1"/>
          </p:cNvSpPr>
          <p:nvPr/>
        </p:nvSpPr>
        <p:spPr bwMode="auto">
          <a:xfrm>
            <a:off x="6400800" y="3886200"/>
            <a:ext cx="1219200" cy="762000"/>
          </a:xfrm>
          <a:prstGeom prst="leftArrow">
            <a:avLst>
              <a:gd name="adj1" fmla="val 50000"/>
              <a:gd name="adj2" fmla="val 4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返回结果</a:t>
            </a:r>
          </a:p>
        </p:txBody>
      </p:sp>
      <p:sp>
        <p:nvSpPr>
          <p:cNvPr id="92178" name="AutoShape 19"/>
          <p:cNvSpPr>
            <a:spLocks noChangeArrowheads="1"/>
          </p:cNvSpPr>
          <p:nvPr/>
        </p:nvSpPr>
        <p:spPr bwMode="auto">
          <a:xfrm>
            <a:off x="6400800" y="5181600"/>
            <a:ext cx="1219200" cy="762000"/>
          </a:xfrm>
          <a:prstGeom prst="leftArrow">
            <a:avLst>
              <a:gd name="adj1" fmla="val 50000"/>
              <a:gd name="adj2" fmla="val 4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返回结果</a:t>
            </a:r>
          </a:p>
        </p:txBody>
      </p:sp>
      <p:sp>
        <p:nvSpPr>
          <p:cNvPr id="92179" name="Rectangle 20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latin typeface="微软雅黑"/>
                <a:ea typeface="微软雅黑"/>
                <a:cs typeface="微软雅黑"/>
              </a:rPr>
              <a:t>类似于原始方案</a:t>
            </a:r>
          </a:p>
        </p:txBody>
      </p:sp>
      <p:sp>
        <p:nvSpPr>
          <p:cNvPr id="92180" name="Text Box 21"/>
          <p:cNvSpPr txBox="1">
            <a:spLocks noChangeArrowheads="1"/>
          </p:cNvSpPr>
          <p:nvPr/>
        </p:nvSpPr>
        <p:spPr bwMode="auto">
          <a:xfrm>
            <a:off x="457200" y="609600"/>
            <a:ext cx="83058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latin typeface="Courier New" pitchFamily="49" charset="0"/>
                <a:ea typeface="宋体" charset="-122"/>
              </a:rPr>
              <a:t>select c1 from tb1 order by </a:t>
            </a:r>
            <a:r>
              <a:rPr lang="en-US" altLang="zh-CN" sz="240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c1</a:t>
            </a:r>
            <a:r>
              <a:rPr lang="en-US" altLang="zh-CN" sz="2400">
                <a:latin typeface="Courier New" pitchFamily="49" charset="0"/>
                <a:ea typeface="宋体" charset="-122"/>
              </a:rPr>
              <a:t> </a:t>
            </a:r>
            <a:br>
              <a:rPr lang="en-US" altLang="zh-CN" sz="2400">
                <a:latin typeface="Courier New" pitchFamily="49" charset="0"/>
                <a:ea typeface="宋体" charset="-122"/>
              </a:rPr>
            </a:br>
            <a:r>
              <a:rPr lang="en-US" altLang="zh-CN" sz="2400">
                <a:latin typeface="Courier New" pitchFamily="49" charset="0"/>
                <a:ea typeface="宋体" charset="-122"/>
              </a:rPr>
              <a:t>                         limit </a:t>
            </a:r>
            <a:r>
              <a:rPr lang="en-US" altLang="zh-CN" sz="2400">
                <a:solidFill>
                  <a:schemeClr val="bg2"/>
                </a:solidFill>
                <a:latin typeface="Courier New" pitchFamily="49" charset="0"/>
                <a:ea typeface="宋体" charset="-122"/>
              </a:rPr>
              <a:t>9999999</a:t>
            </a:r>
            <a:r>
              <a:rPr lang="en-US" altLang="zh-CN" sz="2400">
                <a:latin typeface="Courier New" pitchFamily="49" charset="0"/>
                <a:ea typeface="宋体" charset="-122"/>
              </a:rPr>
              <a:t>, </a:t>
            </a:r>
            <a:r>
              <a:rPr lang="en-US" altLang="zh-CN" sz="240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4</a:t>
            </a:r>
          </a:p>
        </p:txBody>
      </p:sp>
      <p:sp>
        <p:nvSpPr>
          <p:cNvPr id="92181" name="Text Box 22"/>
          <p:cNvSpPr txBox="1">
            <a:spLocks noChangeArrowheads="1"/>
          </p:cNvSpPr>
          <p:nvPr/>
        </p:nvSpPr>
        <p:spPr bwMode="auto">
          <a:xfrm>
            <a:off x="5791200" y="40528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11</a:t>
            </a:r>
          </a:p>
        </p:txBody>
      </p:sp>
      <p:sp>
        <p:nvSpPr>
          <p:cNvPr id="92182" name="Text Box 23"/>
          <p:cNvSpPr txBox="1">
            <a:spLocks noChangeArrowheads="1"/>
          </p:cNvSpPr>
          <p:nvPr/>
        </p:nvSpPr>
        <p:spPr bwMode="auto">
          <a:xfrm>
            <a:off x="1524000" y="3824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5</a:t>
            </a:r>
          </a:p>
        </p:txBody>
      </p:sp>
      <p:sp>
        <p:nvSpPr>
          <p:cNvPr id="92183" name="Text Box 24"/>
          <p:cNvSpPr txBox="1">
            <a:spLocks noChangeArrowheads="1"/>
          </p:cNvSpPr>
          <p:nvPr/>
        </p:nvSpPr>
        <p:spPr bwMode="auto">
          <a:xfrm>
            <a:off x="5791200" y="27432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11</a:t>
            </a:r>
          </a:p>
        </p:txBody>
      </p:sp>
      <p:sp>
        <p:nvSpPr>
          <p:cNvPr id="92184" name="Oval 25"/>
          <p:cNvSpPr>
            <a:spLocks noChangeArrowheads="1"/>
          </p:cNvSpPr>
          <p:nvPr/>
        </p:nvSpPr>
        <p:spPr bwMode="auto">
          <a:xfrm>
            <a:off x="609600" y="2438400"/>
            <a:ext cx="2286000" cy="914400"/>
          </a:xfrm>
          <a:prstGeom prst="ellipse">
            <a:avLst/>
          </a:prstGeom>
          <a:solidFill>
            <a:schemeClr val="bg2">
              <a:alpha val="50195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9999999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2"/>
          <p:cNvSpPr>
            <a:spLocks noChangeArrowheads="1"/>
          </p:cNvSpPr>
          <p:nvPr/>
        </p:nvSpPr>
        <p:spPr bwMode="auto">
          <a:xfrm>
            <a:off x="609600" y="3505200"/>
            <a:ext cx="2362200" cy="762000"/>
          </a:xfrm>
          <a:prstGeom prst="rect">
            <a:avLst/>
          </a:prstGeom>
          <a:solidFill>
            <a:srgbClr val="FF99CC">
              <a:alpha val="30196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zh-CN" altLang="en-US">
                <a:ea typeface="宋体" charset="-122"/>
              </a:rPr>
              <a:t>最终结果集</a:t>
            </a:r>
          </a:p>
        </p:txBody>
      </p:sp>
      <p:sp>
        <p:nvSpPr>
          <p:cNvPr id="93186" name="AutoShape 3"/>
          <p:cNvSpPr>
            <a:spLocks noChangeArrowheads="1"/>
          </p:cNvSpPr>
          <p:nvPr/>
        </p:nvSpPr>
        <p:spPr bwMode="auto">
          <a:xfrm>
            <a:off x="7696200" y="2590800"/>
            <a:ext cx="914400" cy="838200"/>
          </a:xfrm>
          <a:prstGeom prst="flowChartMagneticDisk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分库</a:t>
            </a:r>
            <a:r>
              <a:rPr lang="en-US" altLang="zh-CN">
                <a:ea typeface="宋体" charset="-122"/>
              </a:rPr>
              <a:t>1</a:t>
            </a:r>
          </a:p>
        </p:txBody>
      </p:sp>
      <p:sp>
        <p:nvSpPr>
          <p:cNvPr id="93187" name="AutoShape 4"/>
          <p:cNvSpPr>
            <a:spLocks noChangeArrowheads="1"/>
          </p:cNvSpPr>
          <p:nvPr/>
        </p:nvSpPr>
        <p:spPr bwMode="auto">
          <a:xfrm>
            <a:off x="7696200" y="3810000"/>
            <a:ext cx="914400" cy="838200"/>
          </a:xfrm>
          <a:prstGeom prst="flowChartMagneticDisk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分库</a:t>
            </a:r>
            <a:r>
              <a:rPr lang="en-US" altLang="zh-CN">
                <a:ea typeface="宋体" charset="-122"/>
              </a:rPr>
              <a:t>2</a:t>
            </a:r>
          </a:p>
        </p:txBody>
      </p:sp>
      <p:sp>
        <p:nvSpPr>
          <p:cNvPr id="93188" name="AutoShape 5"/>
          <p:cNvSpPr>
            <a:spLocks noChangeArrowheads="1"/>
          </p:cNvSpPr>
          <p:nvPr/>
        </p:nvSpPr>
        <p:spPr bwMode="auto">
          <a:xfrm>
            <a:off x="7696200" y="5105400"/>
            <a:ext cx="914400" cy="838200"/>
          </a:xfrm>
          <a:prstGeom prst="flowChartMagneticDisk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分库</a:t>
            </a:r>
            <a:r>
              <a:rPr lang="en-US" altLang="zh-CN">
                <a:ea typeface="宋体" charset="-122"/>
              </a:rPr>
              <a:t>3</a:t>
            </a:r>
          </a:p>
        </p:txBody>
      </p:sp>
      <p:sp>
        <p:nvSpPr>
          <p:cNvPr id="93189" name="Text Box 6"/>
          <p:cNvSpPr txBox="1">
            <a:spLocks noChangeArrowheads="1"/>
          </p:cNvSpPr>
          <p:nvPr/>
        </p:nvSpPr>
        <p:spPr bwMode="auto">
          <a:xfrm>
            <a:off x="4191000" y="27432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7</a:t>
            </a:r>
          </a:p>
        </p:txBody>
      </p:sp>
      <p:sp>
        <p:nvSpPr>
          <p:cNvPr id="93190" name="Text Box 7"/>
          <p:cNvSpPr txBox="1">
            <a:spLocks noChangeArrowheads="1"/>
          </p:cNvSpPr>
          <p:nvPr/>
        </p:nvSpPr>
        <p:spPr bwMode="auto">
          <a:xfrm>
            <a:off x="914400" y="3824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4</a:t>
            </a:r>
          </a:p>
        </p:txBody>
      </p:sp>
      <p:sp>
        <p:nvSpPr>
          <p:cNvPr id="93191" name="Text Box 8"/>
          <p:cNvSpPr txBox="1">
            <a:spLocks noChangeArrowheads="1"/>
          </p:cNvSpPr>
          <p:nvPr/>
        </p:nvSpPr>
        <p:spPr bwMode="auto">
          <a:xfrm>
            <a:off x="1219200" y="3824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5</a:t>
            </a:r>
          </a:p>
        </p:txBody>
      </p:sp>
      <p:sp>
        <p:nvSpPr>
          <p:cNvPr id="93192" name="Text Box 9"/>
          <p:cNvSpPr txBox="1">
            <a:spLocks noChangeArrowheads="1"/>
          </p:cNvSpPr>
          <p:nvPr/>
        </p:nvSpPr>
        <p:spPr bwMode="auto">
          <a:xfrm>
            <a:off x="41910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8</a:t>
            </a:r>
          </a:p>
        </p:txBody>
      </p:sp>
      <p:sp>
        <p:nvSpPr>
          <p:cNvPr id="93193" name="Text Box 10"/>
          <p:cNvSpPr txBox="1">
            <a:spLocks noChangeArrowheads="1"/>
          </p:cNvSpPr>
          <p:nvPr/>
        </p:nvSpPr>
        <p:spPr bwMode="auto">
          <a:xfrm>
            <a:off x="36576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6</a:t>
            </a:r>
          </a:p>
        </p:txBody>
      </p:sp>
      <p:sp>
        <p:nvSpPr>
          <p:cNvPr id="93194" name="Text Box 11"/>
          <p:cNvSpPr txBox="1">
            <a:spLocks noChangeArrowheads="1"/>
          </p:cNvSpPr>
          <p:nvPr/>
        </p:nvSpPr>
        <p:spPr bwMode="auto">
          <a:xfrm>
            <a:off x="4724400" y="27432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9</a:t>
            </a:r>
          </a:p>
        </p:txBody>
      </p:sp>
      <p:sp>
        <p:nvSpPr>
          <p:cNvPr id="93195" name="Text Box 12"/>
          <p:cNvSpPr txBox="1">
            <a:spLocks noChangeArrowheads="1"/>
          </p:cNvSpPr>
          <p:nvPr/>
        </p:nvSpPr>
        <p:spPr bwMode="auto">
          <a:xfrm>
            <a:off x="5257800" y="27432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10</a:t>
            </a:r>
          </a:p>
        </p:txBody>
      </p:sp>
      <p:sp>
        <p:nvSpPr>
          <p:cNvPr id="93196" name="Text Box 13"/>
          <p:cNvSpPr txBox="1">
            <a:spLocks noChangeArrowheads="1"/>
          </p:cNvSpPr>
          <p:nvPr/>
        </p:nvSpPr>
        <p:spPr bwMode="auto">
          <a:xfrm>
            <a:off x="5257800" y="40528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7</a:t>
            </a:r>
          </a:p>
        </p:txBody>
      </p:sp>
      <p:sp>
        <p:nvSpPr>
          <p:cNvPr id="93197" name="Text Box 14"/>
          <p:cNvSpPr txBox="1">
            <a:spLocks noChangeArrowheads="1"/>
          </p:cNvSpPr>
          <p:nvPr/>
        </p:nvSpPr>
        <p:spPr bwMode="auto">
          <a:xfrm>
            <a:off x="1828800" y="3824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6</a:t>
            </a:r>
          </a:p>
        </p:txBody>
      </p:sp>
      <p:sp>
        <p:nvSpPr>
          <p:cNvPr id="93198" name="Text Box 15"/>
          <p:cNvSpPr txBox="1">
            <a:spLocks noChangeArrowheads="1"/>
          </p:cNvSpPr>
          <p:nvPr/>
        </p:nvSpPr>
        <p:spPr bwMode="auto">
          <a:xfrm>
            <a:off x="52578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11</a:t>
            </a:r>
          </a:p>
        </p:txBody>
      </p:sp>
      <p:sp>
        <p:nvSpPr>
          <p:cNvPr id="93199" name="Text Box 16"/>
          <p:cNvSpPr txBox="1">
            <a:spLocks noChangeArrowheads="1"/>
          </p:cNvSpPr>
          <p:nvPr/>
        </p:nvSpPr>
        <p:spPr bwMode="auto">
          <a:xfrm>
            <a:off x="4724400" y="5348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9</a:t>
            </a:r>
          </a:p>
        </p:txBody>
      </p:sp>
      <p:sp>
        <p:nvSpPr>
          <p:cNvPr id="93200" name="AutoShape 17"/>
          <p:cNvSpPr>
            <a:spLocks noChangeArrowheads="1"/>
          </p:cNvSpPr>
          <p:nvPr/>
        </p:nvSpPr>
        <p:spPr bwMode="auto">
          <a:xfrm>
            <a:off x="6400800" y="2514600"/>
            <a:ext cx="1219200" cy="762000"/>
          </a:xfrm>
          <a:prstGeom prst="leftArrow">
            <a:avLst>
              <a:gd name="adj1" fmla="val 50000"/>
              <a:gd name="adj2" fmla="val 4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返回结果</a:t>
            </a:r>
          </a:p>
        </p:txBody>
      </p:sp>
      <p:sp>
        <p:nvSpPr>
          <p:cNvPr id="93201" name="AutoShape 18"/>
          <p:cNvSpPr>
            <a:spLocks noChangeArrowheads="1"/>
          </p:cNvSpPr>
          <p:nvPr/>
        </p:nvSpPr>
        <p:spPr bwMode="auto">
          <a:xfrm>
            <a:off x="6400800" y="3886200"/>
            <a:ext cx="1219200" cy="762000"/>
          </a:xfrm>
          <a:prstGeom prst="leftArrow">
            <a:avLst>
              <a:gd name="adj1" fmla="val 50000"/>
              <a:gd name="adj2" fmla="val 4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返回结果</a:t>
            </a:r>
          </a:p>
        </p:txBody>
      </p:sp>
      <p:sp>
        <p:nvSpPr>
          <p:cNvPr id="93202" name="AutoShape 19"/>
          <p:cNvSpPr>
            <a:spLocks noChangeArrowheads="1"/>
          </p:cNvSpPr>
          <p:nvPr/>
        </p:nvSpPr>
        <p:spPr bwMode="auto">
          <a:xfrm>
            <a:off x="6400800" y="5181600"/>
            <a:ext cx="1219200" cy="762000"/>
          </a:xfrm>
          <a:prstGeom prst="leftArrow">
            <a:avLst>
              <a:gd name="adj1" fmla="val 50000"/>
              <a:gd name="adj2" fmla="val 4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ea typeface="宋体" charset="-122"/>
              </a:rPr>
              <a:t>返回结果</a:t>
            </a:r>
          </a:p>
        </p:txBody>
      </p:sp>
      <p:sp>
        <p:nvSpPr>
          <p:cNvPr id="93203" name="Rectangle 20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latin typeface="微软雅黑"/>
                <a:ea typeface="微软雅黑"/>
                <a:cs typeface="微软雅黑"/>
              </a:rPr>
              <a:t>类似于原始方案</a:t>
            </a:r>
          </a:p>
        </p:txBody>
      </p:sp>
      <p:sp>
        <p:nvSpPr>
          <p:cNvPr id="93204" name="Text Box 21"/>
          <p:cNvSpPr txBox="1">
            <a:spLocks noChangeArrowheads="1"/>
          </p:cNvSpPr>
          <p:nvPr/>
        </p:nvSpPr>
        <p:spPr bwMode="auto">
          <a:xfrm>
            <a:off x="457200" y="609600"/>
            <a:ext cx="83058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latin typeface="Courier New" pitchFamily="49" charset="0"/>
                <a:ea typeface="宋体" charset="-122"/>
              </a:rPr>
              <a:t>select c1 from tb1 order by </a:t>
            </a:r>
            <a:r>
              <a:rPr lang="en-US" altLang="zh-CN" sz="240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c1</a:t>
            </a:r>
            <a:r>
              <a:rPr lang="en-US" altLang="zh-CN" sz="2400">
                <a:latin typeface="Courier New" pitchFamily="49" charset="0"/>
                <a:ea typeface="宋体" charset="-122"/>
              </a:rPr>
              <a:t> </a:t>
            </a:r>
            <a:br>
              <a:rPr lang="en-US" altLang="zh-CN" sz="2400">
                <a:latin typeface="Courier New" pitchFamily="49" charset="0"/>
                <a:ea typeface="宋体" charset="-122"/>
              </a:rPr>
            </a:br>
            <a:r>
              <a:rPr lang="en-US" altLang="zh-CN" sz="2400">
                <a:latin typeface="Courier New" pitchFamily="49" charset="0"/>
                <a:ea typeface="宋体" charset="-122"/>
              </a:rPr>
              <a:t>                         limit </a:t>
            </a:r>
            <a:r>
              <a:rPr lang="en-US" altLang="zh-CN" sz="2400">
                <a:solidFill>
                  <a:schemeClr val="bg2"/>
                </a:solidFill>
                <a:latin typeface="Courier New" pitchFamily="49" charset="0"/>
                <a:ea typeface="宋体" charset="-122"/>
              </a:rPr>
              <a:t>9999999</a:t>
            </a:r>
            <a:r>
              <a:rPr lang="en-US" altLang="zh-CN" sz="2400">
                <a:latin typeface="Courier New" pitchFamily="49" charset="0"/>
                <a:ea typeface="宋体" charset="-122"/>
              </a:rPr>
              <a:t>, </a:t>
            </a:r>
            <a:r>
              <a:rPr lang="en-US" altLang="zh-CN" sz="240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4</a:t>
            </a:r>
          </a:p>
        </p:txBody>
      </p:sp>
      <p:sp>
        <p:nvSpPr>
          <p:cNvPr id="93205" name="Text Box 22"/>
          <p:cNvSpPr txBox="1">
            <a:spLocks noChangeArrowheads="1"/>
          </p:cNvSpPr>
          <p:nvPr/>
        </p:nvSpPr>
        <p:spPr bwMode="auto">
          <a:xfrm>
            <a:off x="5791200" y="40528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11</a:t>
            </a:r>
          </a:p>
        </p:txBody>
      </p:sp>
      <p:sp>
        <p:nvSpPr>
          <p:cNvPr id="93206" name="Text Box 23"/>
          <p:cNvSpPr txBox="1">
            <a:spLocks noChangeArrowheads="1"/>
          </p:cNvSpPr>
          <p:nvPr/>
        </p:nvSpPr>
        <p:spPr bwMode="auto">
          <a:xfrm>
            <a:off x="1524000" y="3824288"/>
            <a:ext cx="45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5</a:t>
            </a:r>
          </a:p>
        </p:txBody>
      </p:sp>
      <p:sp>
        <p:nvSpPr>
          <p:cNvPr id="93207" name="Text Box 24"/>
          <p:cNvSpPr txBox="1">
            <a:spLocks noChangeArrowheads="1"/>
          </p:cNvSpPr>
          <p:nvPr/>
        </p:nvSpPr>
        <p:spPr bwMode="auto">
          <a:xfrm>
            <a:off x="5791200" y="27432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11</a:t>
            </a:r>
          </a:p>
        </p:txBody>
      </p:sp>
      <p:sp>
        <p:nvSpPr>
          <p:cNvPr id="93208" name="Oval 25"/>
          <p:cNvSpPr>
            <a:spLocks noChangeArrowheads="1"/>
          </p:cNvSpPr>
          <p:nvPr/>
        </p:nvSpPr>
        <p:spPr bwMode="auto">
          <a:xfrm>
            <a:off x="609600" y="2438400"/>
            <a:ext cx="2286000" cy="914400"/>
          </a:xfrm>
          <a:prstGeom prst="ellipse">
            <a:avLst/>
          </a:prstGeom>
          <a:solidFill>
            <a:schemeClr val="bg2">
              <a:alpha val="50195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9999999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latin typeface="微软雅黑"/>
                <a:ea typeface="微软雅黑"/>
                <a:cs typeface="微软雅黑"/>
              </a:rPr>
              <a:t>Order By / Limit </a:t>
            </a:r>
            <a:r>
              <a:rPr lang="zh-CN" altLang="en-US" smtClean="0">
                <a:latin typeface="微软雅黑"/>
                <a:ea typeface="微软雅黑"/>
                <a:cs typeface="微软雅黑"/>
              </a:rPr>
              <a:t>再优化</a:t>
            </a:r>
          </a:p>
        </p:txBody>
      </p:sp>
      <p:sp>
        <p:nvSpPr>
          <p:cNvPr id="9421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latin typeface="微软雅黑"/>
                <a:ea typeface="微软雅黑"/>
                <a:cs typeface="微软雅黑"/>
              </a:rPr>
              <a:t>Step1</a:t>
            </a:r>
            <a:r>
              <a:rPr lang="zh-CN" altLang="en-US" smtClean="0">
                <a:latin typeface="微软雅黑"/>
                <a:ea typeface="微软雅黑"/>
                <a:cs typeface="微软雅黑"/>
              </a:rPr>
              <a:t>不必得到全部结果</a:t>
            </a:r>
          </a:p>
          <a:p>
            <a:pPr lvl="1" eaLnBrk="1" hangingPunct="1"/>
            <a:r>
              <a:rPr lang="en-US" altLang="zh-CN" sz="1800" smtClean="0">
                <a:latin typeface="Courier New" pitchFamily="49" charset="0"/>
              </a:rPr>
              <a:t>select min(c1) </a:t>
            </a:r>
            <a:r>
              <a:rPr lang="en-US" altLang="zh-CN" sz="1800" smtClean="0">
                <a:solidFill>
                  <a:srgbClr val="FF0000"/>
                </a:solidFill>
                <a:latin typeface="Courier New" pitchFamily="49" charset="0"/>
              </a:rPr>
              <a:t>mi</a:t>
            </a:r>
            <a:r>
              <a:rPr lang="en-US" altLang="zh-CN" sz="1800" smtClean="0">
                <a:latin typeface="Courier New" pitchFamily="49" charset="0"/>
              </a:rPr>
              <a:t>, max(c1) </a:t>
            </a:r>
            <a:r>
              <a:rPr lang="en-US" altLang="zh-CN" sz="1800" smtClean="0">
                <a:solidFill>
                  <a:srgbClr val="FF0000"/>
                </a:solidFill>
                <a:latin typeface="Courier New" pitchFamily="49" charset="0"/>
              </a:rPr>
              <a:t>ma</a:t>
            </a:r>
            <a:r>
              <a:rPr lang="en-US" altLang="zh-CN" sz="1800" smtClean="0">
                <a:latin typeface="Courier New" pitchFamily="49" charset="0"/>
              </a:rPr>
              <a:t> from </a:t>
            </a:r>
            <a:br>
              <a:rPr lang="en-US" altLang="zh-CN" sz="1800" smtClean="0">
                <a:latin typeface="Courier New" pitchFamily="49" charset="0"/>
              </a:rPr>
            </a:br>
            <a:r>
              <a:rPr lang="en-US" altLang="zh-CN" sz="1800" smtClean="0">
                <a:latin typeface="Courier New" pitchFamily="49" charset="0"/>
              </a:rPr>
              <a:t>(select c1 from tb1 order by c1 limit 3333333,4) t</a:t>
            </a:r>
          </a:p>
          <a:p>
            <a:pPr eaLnBrk="1" hangingPunct="1"/>
            <a:r>
              <a:rPr lang="en-US" altLang="zh-CN" smtClean="0">
                <a:latin typeface="微软雅黑"/>
                <a:ea typeface="微软雅黑"/>
                <a:cs typeface="微软雅黑"/>
              </a:rPr>
              <a:t>Step2</a:t>
            </a:r>
            <a:r>
              <a:rPr lang="zh-CN" altLang="en-US" smtClean="0">
                <a:latin typeface="微软雅黑"/>
                <a:ea typeface="微软雅黑"/>
                <a:cs typeface="微软雅黑"/>
              </a:rPr>
              <a:t>和</a:t>
            </a:r>
            <a:r>
              <a:rPr lang="en-US" altLang="zh-CN" smtClean="0">
                <a:latin typeface="微软雅黑"/>
                <a:ea typeface="微软雅黑"/>
                <a:cs typeface="微软雅黑"/>
              </a:rPr>
              <a:t>Step3</a:t>
            </a:r>
            <a:r>
              <a:rPr lang="zh-CN" altLang="en-US" smtClean="0">
                <a:latin typeface="微软雅黑"/>
                <a:ea typeface="微软雅黑"/>
                <a:cs typeface="微软雅黑"/>
              </a:rPr>
              <a:t>合并</a:t>
            </a:r>
          </a:p>
          <a:p>
            <a:pPr lvl="1" eaLnBrk="1" hangingPunct="1"/>
            <a:r>
              <a:rPr lang="en-US" altLang="zh-CN" sz="1800" smtClean="0">
                <a:latin typeface="Courier New" pitchFamily="49" charset="0"/>
              </a:rPr>
              <a:t>select * from </a:t>
            </a:r>
            <a:br>
              <a:rPr lang="en-US" altLang="zh-CN" sz="1800" smtClean="0">
                <a:latin typeface="Courier New" pitchFamily="49" charset="0"/>
              </a:rPr>
            </a:br>
            <a:r>
              <a:rPr lang="en-US" altLang="zh-CN" sz="1800" smtClean="0">
                <a:latin typeface="Courier New" pitchFamily="49" charset="0"/>
              </a:rPr>
              <a:t>(select * from tb1 where c1 between </a:t>
            </a:r>
            <a:r>
              <a:rPr lang="en-US" altLang="zh-CN" sz="1800" smtClean="0">
                <a:solidFill>
                  <a:srgbClr val="FF0000"/>
                </a:solidFill>
                <a:latin typeface="Courier New" pitchFamily="49" charset="0"/>
              </a:rPr>
              <a:t>mi</a:t>
            </a:r>
            <a:r>
              <a:rPr lang="en-US" altLang="zh-CN" sz="1800" smtClean="0">
                <a:latin typeface="Courier New" pitchFamily="49" charset="0"/>
              </a:rPr>
              <a:t> and </a:t>
            </a:r>
            <a:r>
              <a:rPr lang="en-US" altLang="zh-CN" sz="1800" smtClean="0">
                <a:solidFill>
                  <a:srgbClr val="FF0000"/>
                </a:solidFill>
                <a:latin typeface="Courier New" pitchFamily="49" charset="0"/>
              </a:rPr>
              <a:t>ma</a:t>
            </a:r>
            <a:r>
              <a:rPr lang="en-US" altLang="zh-CN" sz="1800" smtClean="0">
                <a:latin typeface="Courier New" pitchFamily="49" charset="0"/>
              </a:rPr>
              <a:t>) t1, (select count(*) from tb1 where c1 &lt;</a:t>
            </a:r>
            <a:r>
              <a:rPr lang="en-US" altLang="zh-CN" sz="1800" smtClean="0">
                <a:solidFill>
                  <a:srgbClr val="FF0000"/>
                </a:solidFill>
                <a:latin typeface="Courier New" pitchFamily="49" charset="0"/>
              </a:rPr>
              <a:t>mi</a:t>
            </a:r>
            <a:r>
              <a:rPr lang="en-US" altLang="zh-CN" sz="1800" smtClean="0">
                <a:latin typeface="Courier New" pitchFamily="49" charset="0"/>
              </a:rPr>
              <a:t>) t2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微软雅黑"/>
                <a:cs typeface="微软雅黑"/>
              </a:rPr>
              <a:t>Group By</a:t>
            </a:r>
          </a:p>
        </p:txBody>
      </p:sp>
      <p:sp>
        <p:nvSpPr>
          <p:cNvPr id="95234" name="Text Box 4"/>
          <p:cNvSpPr txBox="1">
            <a:spLocks noChangeArrowheads="1"/>
          </p:cNvSpPr>
          <p:nvPr/>
        </p:nvSpPr>
        <p:spPr bwMode="auto">
          <a:xfrm>
            <a:off x="457200" y="1660525"/>
            <a:ext cx="36576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>
                <a:latin typeface="Courier New" pitchFamily="49" charset="0"/>
                <a:ea typeface="宋体" charset="-122"/>
              </a:rPr>
              <a:t>SELECT sum(price) </a:t>
            </a:r>
            <a:br>
              <a:rPr lang="en-US" altLang="zh-CN" sz="2000">
                <a:latin typeface="Courier New" pitchFamily="49" charset="0"/>
                <a:ea typeface="宋体" charset="-122"/>
              </a:rPr>
            </a:br>
            <a:r>
              <a:rPr lang="en-US" altLang="zh-CN" sz="2000">
                <a:latin typeface="Courier New" pitchFamily="49" charset="0"/>
                <a:ea typeface="宋体" charset="-122"/>
              </a:rPr>
              <a:t>  FROM tb1 GROUP BY c1</a:t>
            </a:r>
          </a:p>
        </p:txBody>
      </p:sp>
      <p:graphicFrame>
        <p:nvGraphicFramePr>
          <p:cNvPr id="413799" name="Group 103"/>
          <p:cNvGraphicFramePr>
            <a:graphicFrameLocks noGrp="1"/>
          </p:cNvGraphicFramePr>
          <p:nvPr/>
        </p:nvGraphicFramePr>
        <p:xfrm>
          <a:off x="6445250" y="2728913"/>
          <a:ext cx="1936750" cy="1830387"/>
        </p:xfrm>
        <a:graphic>
          <a:graphicData uri="http://schemas.openxmlformats.org/drawingml/2006/table">
            <a:tbl>
              <a:tblPr/>
              <a:tblGrid>
                <a:gridCol w="412750"/>
                <a:gridCol w="882650"/>
                <a:gridCol w="641350"/>
              </a:tblGrid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PRICE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C1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12.3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2222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1.6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131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5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8.8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604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61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7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6.3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131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3857" name="Group 161"/>
          <p:cNvGraphicFramePr>
            <a:graphicFrameLocks noGrp="1"/>
          </p:cNvGraphicFramePr>
          <p:nvPr/>
        </p:nvGraphicFramePr>
        <p:xfrm>
          <a:off x="6400800" y="4938713"/>
          <a:ext cx="1936750" cy="1463675"/>
        </p:xfrm>
        <a:graphic>
          <a:graphicData uri="http://schemas.openxmlformats.org/drawingml/2006/table">
            <a:tbl>
              <a:tblPr/>
              <a:tblGrid>
                <a:gridCol w="412750"/>
                <a:gridCol w="882650"/>
                <a:gridCol w="641350"/>
              </a:tblGrid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PRICE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C1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4.4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604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7.6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131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6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99.9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6633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56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微软雅黑"/>
                <a:cs typeface="微软雅黑"/>
              </a:rPr>
              <a:t>Group By</a:t>
            </a:r>
          </a:p>
        </p:txBody>
      </p:sp>
      <p:sp>
        <p:nvSpPr>
          <p:cNvPr id="96258" name="Text Box 3"/>
          <p:cNvSpPr txBox="1">
            <a:spLocks noChangeArrowheads="1"/>
          </p:cNvSpPr>
          <p:nvPr/>
        </p:nvSpPr>
        <p:spPr bwMode="auto">
          <a:xfrm>
            <a:off x="457200" y="1660525"/>
            <a:ext cx="36576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>
                <a:latin typeface="Courier New" pitchFamily="49" charset="0"/>
                <a:ea typeface="宋体" charset="-122"/>
              </a:rPr>
              <a:t>SELECT sum(price) </a:t>
            </a:r>
            <a:br>
              <a:rPr lang="en-US" altLang="zh-CN" sz="2000">
                <a:latin typeface="Courier New" pitchFamily="49" charset="0"/>
                <a:ea typeface="宋体" charset="-122"/>
              </a:rPr>
            </a:br>
            <a:r>
              <a:rPr lang="en-US" altLang="zh-CN" sz="2000">
                <a:latin typeface="Courier New" pitchFamily="49" charset="0"/>
                <a:ea typeface="宋体" charset="-122"/>
              </a:rPr>
              <a:t>  FROM tb1 GROUP BY c1</a:t>
            </a:r>
          </a:p>
        </p:txBody>
      </p:sp>
      <p:graphicFrame>
        <p:nvGraphicFramePr>
          <p:cNvPr id="418820" name="Group 4"/>
          <p:cNvGraphicFramePr>
            <a:graphicFrameLocks noGrp="1"/>
          </p:cNvGraphicFramePr>
          <p:nvPr/>
        </p:nvGraphicFramePr>
        <p:xfrm>
          <a:off x="6445250" y="2728913"/>
          <a:ext cx="1936750" cy="1830387"/>
        </p:xfrm>
        <a:graphic>
          <a:graphicData uri="http://schemas.openxmlformats.org/drawingml/2006/table">
            <a:tbl>
              <a:tblPr/>
              <a:tblGrid>
                <a:gridCol w="412750"/>
                <a:gridCol w="882650"/>
                <a:gridCol w="641350"/>
              </a:tblGrid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PRICE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C1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12.3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2222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1.6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131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5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8.8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604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61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7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6.3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131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8848" name="Group 32"/>
          <p:cNvGraphicFramePr>
            <a:graphicFrameLocks noGrp="1"/>
          </p:cNvGraphicFramePr>
          <p:nvPr/>
        </p:nvGraphicFramePr>
        <p:xfrm>
          <a:off x="6400800" y="4938713"/>
          <a:ext cx="1936750" cy="1463675"/>
        </p:xfrm>
        <a:graphic>
          <a:graphicData uri="http://schemas.openxmlformats.org/drawingml/2006/table">
            <a:tbl>
              <a:tblPr/>
              <a:tblGrid>
                <a:gridCol w="412750"/>
                <a:gridCol w="882650"/>
                <a:gridCol w="641350"/>
              </a:tblGrid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PRICE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C1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4.4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604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7.6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131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6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99.9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6633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56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96311" name="Text Box 56"/>
          <p:cNvSpPr txBox="1">
            <a:spLocks noChangeArrowheads="1"/>
          </p:cNvSpPr>
          <p:nvPr/>
        </p:nvSpPr>
        <p:spPr bwMode="auto">
          <a:xfrm>
            <a:off x="4876800" y="1508125"/>
            <a:ext cx="396240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>
                <a:latin typeface="Courier New" pitchFamily="49" charset="0"/>
                <a:ea typeface="宋体" charset="-122"/>
              </a:rPr>
              <a:t>SELECT sum(price)</a:t>
            </a:r>
            <a:r>
              <a:rPr lang="en-US" altLang="zh-CN" sz="2000" b="1">
                <a:latin typeface="Courier New" pitchFamily="49" charset="0"/>
                <a:ea typeface="宋体" charset="-122"/>
              </a:rPr>
              <a:t>, c1</a:t>
            </a:r>
            <a:r>
              <a:rPr lang="en-US" altLang="zh-CN" sz="2000">
                <a:latin typeface="Courier New" pitchFamily="49" charset="0"/>
                <a:ea typeface="宋体" charset="-122"/>
              </a:rPr>
              <a:t/>
            </a:r>
            <a:br>
              <a:rPr lang="en-US" altLang="zh-CN" sz="2000">
                <a:latin typeface="Courier New" pitchFamily="49" charset="0"/>
                <a:ea typeface="宋体" charset="-122"/>
              </a:rPr>
            </a:br>
            <a:r>
              <a:rPr lang="en-US" altLang="zh-CN" sz="2000">
                <a:latin typeface="Courier New" pitchFamily="49" charset="0"/>
                <a:ea typeface="宋体" charset="-122"/>
              </a:rPr>
              <a:t>  FROM tb1 GROUP BY c1</a:t>
            </a:r>
            <a:br>
              <a:rPr lang="en-US" altLang="zh-CN" sz="2000">
                <a:latin typeface="Courier New" pitchFamily="49" charset="0"/>
                <a:ea typeface="宋体" charset="-122"/>
              </a:rPr>
            </a:br>
            <a:r>
              <a:rPr lang="en-US" altLang="zh-CN" sz="2000">
                <a:latin typeface="Courier New" pitchFamily="49" charset="0"/>
                <a:ea typeface="宋体" charset="-122"/>
              </a:rPr>
              <a:t> </a:t>
            </a:r>
            <a:r>
              <a:rPr lang="en-US" altLang="zh-CN" sz="2000" b="1">
                <a:latin typeface="Courier New" pitchFamily="49" charset="0"/>
                <a:ea typeface="宋体" charset="-122"/>
              </a:rPr>
              <a:t>ORDER BY c1</a:t>
            </a:r>
          </a:p>
        </p:txBody>
      </p:sp>
      <p:cxnSp>
        <p:nvCxnSpPr>
          <p:cNvPr id="96312" name="AutoShape 57"/>
          <p:cNvCxnSpPr>
            <a:cxnSpLocks noChangeShapeType="1"/>
            <a:stCxn id="96258" idx="3"/>
            <a:endCxn id="96311" idx="1"/>
          </p:cNvCxnSpPr>
          <p:nvPr/>
        </p:nvCxnSpPr>
        <p:spPr bwMode="auto">
          <a:xfrm>
            <a:off x="4114800" y="2011363"/>
            <a:ext cx="762000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96313" name="Text Box 58"/>
          <p:cNvSpPr txBox="1">
            <a:spLocks noChangeArrowheads="1"/>
          </p:cNvSpPr>
          <p:nvPr/>
        </p:nvSpPr>
        <p:spPr bwMode="auto">
          <a:xfrm>
            <a:off x="4648200" y="3443288"/>
            <a:ext cx="9906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12.3</a:t>
            </a:r>
            <a:br>
              <a:rPr lang="en-US" altLang="zh-CN">
                <a:latin typeface="Courier New" pitchFamily="49" charset="0"/>
                <a:ea typeface="宋体" charset="-122"/>
              </a:rPr>
            </a:br>
            <a:r>
              <a:rPr lang="en-US" altLang="zh-CN">
                <a:latin typeface="Courier New" pitchFamily="49" charset="0"/>
                <a:ea typeface="宋体" charset="-122"/>
              </a:rPr>
              <a:t>2222</a:t>
            </a:r>
          </a:p>
        </p:txBody>
      </p:sp>
      <p:sp>
        <p:nvSpPr>
          <p:cNvPr id="96314" name="Text Box 59"/>
          <p:cNvSpPr txBox="1">
            <a:spLocks noChangeArrowheads="1"/>
          </p:cNvSpPr>
          <p:nvPr/>
        </p:nvSpPr>
        <p:spPr bwMode="auto">
          <a:xfrm>
            <a:off x="2514600" y="3429000"/>
            <a:ext cx="9906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7.9</a:t>
            </a:r>
            <a:br>
              <a:rPr lang="en-US" altLang="zh-CN">
                <a:latin typeface="Courier New" pitchFamily="49" charset="0"/>
                <a:ea typeface="宋体" charset="-122"/>
              </a:rPr>
            </a:br>
            <a:r>
              <a:rPr lang="en-US" altLang="zh-CN">
                <a:latin typeface="Courier New" pitchFamily="49" charset="0"/>
                <a:ea typeface="宋体" charset="-122"/>
              </a:rPr>
              <a:t>131</a:t>
            </a:r>
          </a:p>
        </p:txBody>
      </p:sp>
      <p:sp>
        <p:nvSpPr>
          <p:cNvPr id="96315" name="Text Box 60"/>
          <p:cNvSpPr txBox="1">
            <a:spLocks noChangeArrowheads="1"/>
          </p:cNvSpPr>
          <p:nvPr/>
        </p:nvSpPr>
        <p:spPr bwMode="auto">
          <a:xfrm>
            <a:off x="3581400" y="3429000"/>
            <a:ext cx="9906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8.8</a:t>
            </a:r>
            <a:br>
              <a:rPr lang="en-US" altLang="zh-CN">
                <a:latin typeface="Courier New" pitchFamily="49" charset="0"/>
                <a:ea typeface="宋体" charset="-122"/>
              </a:rPr>
            </a:br>
            <a:r>
              <a:rPr lang="en-US" altLang="zh-CN">
                <a:latin typeface="Courier New" pitchFamily="49" charset="0"/>
                <a:ea typeface="宋体" charset="-122"/>
              </a:rPr>
              <a:t>604</a:t>
            </a:r>
          </a:p>
        </p:txBody>
      </p:sp>
      <p:sp>
        <p:nvSpPr>
          <p:cNvPr id="96316" name="Text Box 61"/>
          <p:cNvSpPr txBox="1">
            <a:spLocks noChangeArrowheads="1"/>
          </p:cNvSpPr>
          <p:nvPr/>
        </p:nvSpPr>
        <p:spPr bwMode="auto">
          <a:xfrm>
            <a:off x="2590800" y="5226050"/>
            <a:ext cx="9906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99.9</a:t>
            </a:r>
            <a:br>
              <a:rPr lang="en-US" altLang="zh-CN">
                <a:latin typeface="Courier New" pitchFamily="49" charset="0"/>
                <a:ea typeface="宋体" charset="-122"/>
              </a:rPr>
            </a:br>
            <a:r>
              <a:rPr lang="en-US" altLang="zh-CN">
                <a:latin typeface="Courier New" pitchFamily="49" charset="0"/>
                <a:ea typeface="宋体" charset="-122"/>
              </a:rPr>
              <a:t>56</a:t>
            </a:r>
          </a:p>
        </p:txBody>
      </p:sp>
      <p:sp>
        <p:nvSpPr>
          <p:cNvPr id="96317" name="Text Box 62"/>
          <p:cNvSpPr txBox="1">
            <a:spLocks noChangeArrowheads="1"/>
          </p:cNvSpPr>
          <p:nvPr/>
        </p:nvSpPr>
        <p:spPr bwMode="auto">
          <a:xfrm>
            <a:off x="3657600" y="5226050"/>
            <a:ext cx="9906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7.6</a:t>
            </a:r>
            <a:br>
              <a:rPr lang="en-US" altLang="zh-CN">
                <a:latin typeface="Courier New" pitchFamily="49" charset="0"/>
                <a:ea typeface="宋体" charset="-122"/>
              </a:rPr>
            </a:br>
            <a:r>
              <a:rPr lang="en-US" altLang="zh-CN">
                <a:latin typeface="Courier New" pitchFamily="49" charset="0"/>
                <a:ea typeface="宋体" charset="-122"/>
              </a:rPr>
              <a:t>131</a:t>
            </a:r>
          </a:p>
        </p:txBody>
      </p:sp>
      <p:sp>
        <p:nvSpPr>
          <p:cNvPr id="96318" name="Text Box 63"/>
          <p:cNvSpPr txBox="1">
            <a:spLocks noChangeArrowheads="1"/>
          </p:cNvSpPr>
          <p:nvPr/>
        </p:nvSpPr>
        <p:spPr bwMode="auto">
          <a:xfrm>
            <a:off x="4724400" y="5226050"/>
            <a:ext cx="9906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4.4</a:t>
            </a:r>
            <a:br>
              <a:rPr lang="en-US" altLang="zh-CN">
                <a:latin typeface="Courier New" pitchFamily="49" charset="0"/>
                <a:ea typeface="宋体" charset="-122"/>
              </a:rPr>
            </a:br>
            <a:r>
              <a:rPr lang="en-US" altLang="zh-CN">
                <a:latin typeface="Courier New" pitchFamily="49" charset="0"/>
                <a:ea typeface="宋体" charset="-122"/>
              </a:rPr>
              <a:t>604</a:t>
            </a:r>
          </a:p>
        </p:txBody>
      </p:sp>
      <p:sp>
        <p:nvSpPr>
          <p:cNvPr id="96319" name="Line 65"/>
          <p:cNvSpPr>
            <a:spLocks noChangeShapeType="1"/>
          </p:cNvSpPr>
          <p:nvPr/>
        </p:nvSpPr>
        <p:spPr bwMode="auto">
          <a:xfrm flipH="1">
            <a:off x="2514600" y="4114800"/>
            <a:ext cx="32004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6320" name="Line 66"/>
          <p:cNvSpPr>
            <a:spLocks noChangeShapeType="1"/>
          </p:cNvSpPr>
          <p:nvPr/>
        </p:nvSpPr>
        <p:spPr bwMode="auto">
          <a:xfrm flipH="1">
            <a:off x="2514600" y="5867400"/>
            <a:ext cx="32004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lg"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微软雅黑"/>
                <a:cs typeface="微软雅黑"/>
              </a:rPr>
              <a:t>Group By</a:t>
            </a:r>
          </a:p>
        </p:txBody>
      </p:sp>
      <p:sp>
        <p:nvSpPr>
          <p:cNvPr id="97282" name="Text Box 3"/>
          <p:cNvSpPr txBox="1">
            <a:spLocks noChangeArrowheads="1"/>
          </p:cNvSpPr>
          <p:nvPr/>
        </p:nvSpPr>
        <p:spPr bwMode="auto">
          <a:xfrm>
            <a:off x="457200" y="1660525"/>
            <a:ext cx="36576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>
                <a:latin typeface="Courier New" pitchFamily="49" charset="0"/>
                <a:ea typeface="宋体" charset="-122"/>
              </a:rPr>
              <a:t>SELECT sum(price) </a:t>
            </a:r>
            <a:br>
              <a:rPr lang="en-US" altLang="zh-CN" sz="2000">
                <a:latin typeface="Courier New" pitchFamily="49" charset="0"/>
                <a:ea typeface="宋体" charset="-122"/>
              </a:rPr>
            </a:br>
            <a:r>
              <a:rPr lang="en-US" altLang="zh-CN" sz="2000">
                <a:latin typeface="Courier New" pitchFamily="49" charset="0"/>
                <a:ea typeface="宋体" charset="-122"/>
              </a:rPr>
              <a:t>  FROM tb1 GROUP BY c1</a:t>
            </a:r>
          </a:p>
        </p:txBody>
      </p:sp>
      <p:graphicFrame>
        <p:nvGraphicFramePr>
          <p:cNvPr id="417796" name="Group 4"/>
          <p:cNvGraphicFramePr>
            <a:graphicFrameLocks noGrp="1"/>
          </p:cNvGraphicFramePr>
          <p:nvPr/>
        </p:nvGraphicFramePr>
        <p:xfrm>
          <a:off x="6445250" y="2728913"/>
          <a:ext cx="1936750" cy="1830387"/>
        </p:xfrm>
        <a:graphic>
          <a:graphicData uri="http://schemas.openxmlformats.org/drawingml/2006/table">
            <a:tbl>
              <a:tblPr/>
              <a:tblGrid>
                <a:gridCol w="412750"/>
                <a:gridCol w="882650"/>
                <a:gridCol w="641350"/>
              </a:tblGrid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PRICE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C1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12.3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2222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1.6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131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5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8.8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604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61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7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6.3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131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7824" name="Group 32"/>
          <p:cNvGraphicFramePr>
            <a:graphicFrameLocks noGrp="1"/>
          </p:cNvGraphicFramePr>
          <p:nvPr/>
        </p:nvGraphicFramePr>
        <p:xfrm>
          <a:off x="6400800" y="4938713"/>
          <a:ext cx="1936750" cy="1463675"/>
        </p:xfrm>
        <a:graphic>
          <a:graphicData uri="http://schemas.openxmlformats.org/drawingml/2006/table">
            <a:tbl>
              <a:tblPr/>
              <a:tblGrid>
                <a:gridCol w="412750"/>
                <a:gridCol w="882650"/>
                <a:gridCol w="641350"/>
              </a:tblGrid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PRICE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C1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4.4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604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7.6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131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6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99.9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6633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56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97335" name="Text Box 56"/>
          <p:cNvSpPr txBox="1">
            <a:spLocks noChangeArrowheads="1"/>
          </p:cNvSpPr>
          <p:nvPr/>
        </p:nvSpPr>
        <p:spPr bwMode="auto">
          <a:xfrm>
            <a:off x="4876800" y="1508125"/>
            <a:ext cx="396240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>
                <a:latin typeface="Courier New" pitchFamily="49" charset="0"/>
                <a:ea typeface="宋体" charset="-122"/>
              </a:rPr>
              <a:t>SELECT sum(price)</a:t>
            </a:r>
            <a:r>
              <a:rPr lang="en-US" altLang="zh-CN" sz="2000" b="1">
                <a:latin typeface="Courier New" pitchFamily="49" charset="0"/>
                <a:ea typeface="宋体" charset="-122"/>
              </a:rPr>
              <a:t>, c1</a:t>
            </a:r>
            <a:r>
              <a:rPr lang="en-US" altLang="zh-CN" sz="2000">
                <a:latin typeface="Courier New" pitchFamily="49" charset="0"/>
                <a:ea typeface="宋体" charset="-122"/>
              </a:rPr>
              <a:t/>
            </a:r>
            <a:br>
              <a:rPr lang="en-US" altLang="zh-CN" sz="2000">
                <a:latin typeface="Courier New" pitchFamily="49" charset="0"/>
                <a:ea typeface="宋体" charset="-122"/>
              </a:rPr>
            </a:br>
            <a:r>
              <a:rPr lang="en-US" altLang="zh-CN" sz="2000">
                <a:latin typeface="Courier New" pitchFamily="49" charset="0"/>
                <a:ea typeface="宋体" charset="-122"/>
              </a:rPr>
              <a:t>  FROM tb1 GROUP BY c1</a:t>
            </a:r>
            <a:br>
              <a:rPr lang="en-US" altLang="zh-CN" sz="2000">
                <a:latin typeface="Courier New" pitchFamily="49" charset="0"/>
                <a:ea typeface="宋体" charset="-122"/>
              </a:rPr>
            </a:br>
            <a:r>
              <a:rPr lang="en-US" altLang="zh-CN" sz="2000">
                <a:latin typeface="Courier New" pitchFamily="49" charset="0"/>
                <a:ea typeface="宋体" charset="-122"/>
              </a:rPr>
              <a:t> </a:t>
            </a:r>
            <a:r>
              <a:rPr lang="en-US" altLang="zh-CN" sz="2000" b="1">
                <a:latin typeface="Courier New" pitchFamily="49" charset="0"/>
                <a:ea typeface="宋体" charset="-122"/>
              </a:rPr>
              <a:t>ORDER BY c1</a:t>
            </a:r>
          </a:p>
        </p:txBody>
      </p:sp>
      <p:cxnSp>
        <p:nvCxnSpPr>
          <p:cNvPr id="97336" name="AutoShape 57"/>
          <p:cNvCxnSpPr>
            <a:cxnSpLocks noChangeShapeType="1"/>
            <a:stCxn id="97282" idx="3"/>
            <a:endCxn id="97335" idx="1"/>
          </p:cNvCxnSpPr>
          <p:nvPr/>
        </p:nvCxnSpPr>
        <p:spPr bwMode="auto">
          <a:xfrm>
            <a:off x="4114800" y="2011363"/>
            <a:ext cx="762000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97337" name="Text Box 58"/>
          <p:cNvSpPr txBox="1">
            <a:spLocks noChangeArrowheads="1"/>
          </p:cNvSpPr>
          <p:nvPr/>
        </p:nvSpPr>
        <p:spPr bwMode="auto">
          <a:xfrm>
            <a:off x="4648200" y="3443288"/>
            <a:ext cx="9906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12.3</a:t>
            </a:r>
            <a:br>
              <a:rPr lang="en-US" altLang="zh-CN">
                <a:latin typeface="Courier New" pitchFamily="49" charset="0"/>
                <a:ea typeface="宋体" charset="-122"/>
              </a:rPr>
            </a:br>
            <a:r>
              <a:rPr lang="en-US" altLang="zh-CN">
                <a:latin typeface="Courier New" pitchFamily="49" charset="0"/>
                <a:ea typeface="宋体" charset="-122"/>
              </a:rPr>
              <a:t>2222</a:t>
            </a:r>
          </a:p>
        </p:txBody>
      </p:sp>
      <p:sp>
        <p:nvSpPr>
          <p:cNvPr id="97338" name="Text Box 59"/>
          <p:cNvSpPr txBox="1">
            <a:spLocks noChangeArrowheads="1"/>
          </p:cNvSpPr>
          <p:nvPr/>
        </p:nvSpPr>
        <p:spPr bwMode="auto">
          <a:xfrm>
            <a:off x="2514600" y="3429000"/>
            <a:ext cx="9906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7.9</a:t>
            </a:r>
            <a:br>
              <a:rPr lang="en-US" altLang="zh-CN">
                <a:latin typeface="Courier New" pitchFamily="49" charset="0"/>
                <a:ea typeface="宋体" charset="-122"/>
              </a:rPr>
            </a:br>
            <a:r>
              <a:rPr lang="en-US" altLang="zh-CN">
                <a:latin typeface="Courier New" pitchFamily="49" charset="0"/>
                <a:ea typeface="宋体" charset="-122"/>
              </a:rPr>
              <a:t>131</a:t>
            </a:r>
          </a:p>
        </p:txBody>
      </p:sp>
      <p:sp>
        <p:nvSpPr>
          <p:cNvPr id="97339" name="Text Box 60"/>
          <p:cNvSpPr txBox="1">
            <a:spLocks noChangeArrowheads="1"/>
          </p:cNvSpPr>
          <p:nvPr/>
        </p:nvSpPr>
        <p:spPr bwMode="auto">
          <a:xfrm>
            <a:off x="3581400" y="3429000"/>
            <a:ext cx="9906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8.8</a:t>
            </a:r>
            <a:br>
              <a:rPr lang="en-US" altLang="zh-CN">
                <a:latin typeface="Courier New" pitchFamily="49" charset="0"/>
                <a:ea typeface="宋体" charset="-122"/>
              </a:rPr>
            </a:br>
            <a:r>
              <a:rPr lang="en-US" altLang="zh-CN">
                <a:latin typeface="Courier New" pitchFamily="49" charset="0"/>
                <a:ea typeface="宋体" charset="-122"/>
              </a:rPr>
              <a:t>604</a:t>
            </a:r>
          </a:p>
        </p:txBody>
      </p:sp>
      <p:sp>
        <p:nvSpPr>
          <p:cNvPr id="97340" name="Text Box 62"/>
          <p:cNvSpPr txBox="1">
            <a:spLocks noChangeArrowheads="1"/>
          </p:cNvSpPr>
          <p:nvPr/>
        </p:nvSpPr>
        <p:spPr bwMode="auto">
          <a:xfrm>
            <a:off x="3657600" y="5226050"/>
            <a:ext cx="9906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7.6</a:t>
            </a:r>
            <a:br>
              <a:rPr lang="en-US" altLang="zh-CN">
                <a:latin typeface="Courier New" pitchFamily="49" charset="0"/>
                <a:ea typeface="宋体" charset="-122"/>
              </a:rPr>
            </a:br>
            <a:r>
              <a:rPr lang="en-US" altLang="zh-CN">
                <a:latin typeface="Courier New" pitchFamily="49" charset="0"/>
                <a:ea typeface="宋体" charset="-122"/>
              </a:rPr>
              <a:t>131</a:t>
            </a:r>
          </a:p>
        </p:txBody>
      </p:sp>
      <p:sp>
        <p:nvSpPr>
          <p:cNvPr id="97341" name="Text Box 63"/>
          <p:cNvSpPr txBox="1">
            <a:spLocks noChangeArrowheads="1"/>
          </p:cNvSpPr>
          <p:nvPr/>
        </p:nvSpPr>
        <p:spPr bwMode="auto">
          <a:xfrm>
            <a:off x="4724400" y="5226050"/>
            <a:ext cx="9906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4.4</a:t>
            </a:r>
            <a:br>
              <a:rPr lang="en-US" altLang="zh-CN">
                <a:latin typeface="Courier New" pitchFamily="49" charset="0"/>
                <a:ea typeface="宋体" charset="-122"/>
              </a:rPr>
            </a:br>
            <a:r>
              <a:rPr lang="en-US" altLang="zh-CN">
                <a:latin typeface="Courier New" pitchFamily="49" charset="0"/>
                <a:ea typeface="宋体" charset="-122"/>
              </a:rPr>
              <a:t>604</a:t>
            </a:r>
          </a:p>
        </p:txBody>
      </p:sp>
      <p:sp>
        <p:nvSpPr>
          <p:cNvPr id="97342" name="Rectangle 64"/>
          <p:cNvSpPr>
            <a:spLocks noChangeArrowheads="1"/>
          </p:cNvSpPr>
          <p:nvPr/>
        </p:nvSpPr>
        <p:spPr bwMode="auto">
          <a:xfrm>
            <a:off x="381000" y="2743200"/>
            <a:ext cx="1752600" cy="3505200"/>
          </a:xfrm>
          <a:prstGeom prst="rect">
            <a:avLst/>
          </a:prstGeom>
          <a:solidFill>
            <a:srgbClr val="FF99CC">
              <a:alpha val="30196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zh-CN" altLang="en-US">
                <a:ea typeface="宋体" charset="-122"/>
              </a:rPr>
              <a:t>最终结果集</a:t>
            </a:r>
            <a:br>
              <a:rPr lang="zh-CN" altLang="en-US">
                <a:ea typeface="宋体" charset="-122"/>
              </a:rPr>
            </a:br>
            <a:endParaRPr lang="zh-CN" altLang="en-US">
              <a:ea typeface="宋体" charset="-122"/>
            </a:endParaRPr>
          </a:p>
        </p:txBody>
      </p:sp>
      <p:sp>
        <p:nvSpPr>
          <p:cNvPr id="97343" name="Text Box 65"/>
          <p:cNvSpPr txBox="1">
            <a:spLocks noChangeArrowheads="1"/>
          </p:cNvSpPr>
          <p:nvPr/>
        </p:nvSpPr>
        <p:spPr bwMode="auto">
          <a:xfrm>
            <a:off x="2590800" y="5226050"/>
            <a:ext cx="9906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99.9</a:t>
            </a:r>
            <a:br>
              <a:rPr lang="en-US" altLang="zh-CN" b="1">
                <a:solidFill>
                  <a:srgbClr val="FF0000"/>
                </a:solidFill>
                <a:latin typeface="Courier New" pitchFamily="49" charset="0"/>
                <a:ea typeface="宋体" charset="-122"/>
              </a:rPr>
            </a:br>
            <a:r>
              <a:rPr lang="en-US" altLang="zh-CN" b="1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56</a:t>
            </a:r>
          </a:p>
        </p:txBody>
      </p:sp>
      <p:sp>
        <p:nvSpPr>
          <p:cNvPr id="97344" name="Line 66"/>
          <p:cNvSpPr>
            <a:spLocks noChangeShapeType="1"/>
          </p:cNvSpPr>
          <p:nvPr/>
        </p:nvSpPr>
        <p:spPr bwMode="auto">
          <a:xfrm flipH="1">
            <a:off x="2514600" y="4114800"/>
            <a:ext cx="32004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7345" name="Line 67"/>
          <p:cNvSpPr>
            <a:spLocks noChangeShapeType="1"/>
          </p:cNvSpPr>
          <p:nvPr/>
        </p:nvSpPr>
        <p:spPr bwMode="auto">
          <a:xfrm flipH="1">
            <a:off x="2514600" y="5867400"/>
            <a:ext cx="32004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lg"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微软雅黑"/>
                <a:cs typeface="微软雅黑"/>
              </a:rPr>
              <a:t>Group By</a:t>
            </a:r>
          </a:p>
        </p:txBody>
      </p:sp>
      <p:sp>
        <p:nvSpPr>
          <p:cNvPr id="98306" name="Text Box 3"/>
          <p:cNvSpPr txBox="1">
            <a:spLocks noChangeArrowheads="1"/>
          </p:cNvSpPr>
          <p:nvPr/>
        </p:nvSpPr>
        <p:spPr bwMode="auto">
          <a:xfrm>
            <a:off x="457200" y="1660525"/>
            <a:ext cx="36576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>
                <a:latin typeface="Courier New" pitchFamily="49" charset="0"/>
                <a:ea typeface="宋体" charset="-122"/>
              </a:rPr>
              <a:t>SELECT sum(price) </a:t>
            </a:r>
            <a:br>
              <a:rPr lang="en-US" altLang="zh-CN" sz="2000">
                <a:latin typeface="Courier New" pitchFamily="49" charset="0"/>
                <a:ea typeface="宋体" charset="-122"/>
              </a:rPr>
            </a:br>
            <a:r>
              <a:rPr lang="en-US" altLang="zh-CN" sz="2000">
                <a:latin typeface="Courier New" pitchFamily="49" charset="0"/>
                <a:ea typeface="宋体" charset="-122"/>
              </a:rPr>
              <a:t>  FROM tb1 GROUP BY c1</a:t>
            </a:r>
          </a:p>
        </p:txBody>
      </p:sp>
      <p:graphicFrame>
        <p:nvGraphicFramePr>
          <p:cNvPr id="419844" name="Group 4"/>
          <p:cNvGraphicFramePr>
            <a:graphicFrameLocks noGrp="1"/>
          </p:cNvGraphicFramePr>
          <p:nvPr/>
        </p:nvGraphicFramePr>
        <p:xfrm>
          <a:off x="6445250" y="2728913"/>
          <a:ext cx="1936750" cy="1830387"/>
        </p:xfrm>
        <a:graphic>
          <a:graphicData uri="http://schemas.openxmlformats.org/drawingml/2006/table">
            <a:tbl>
              <a:tblPr/>
              <a:tblGrid>
                <a:gridCol w="412750"/>
                <a:gridCol w="882650"/>
                <a:gridCol w="641350"/>
              </a:tblGrid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PRICE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C1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12.3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2222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1.6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131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5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8.8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604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61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7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6.3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131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9872" name="Group 32"/>
          <p:cNvGraphicFramePr>
            <a:graphicFrameLocks noGrp="1"/>
          </p:cNvGraphicFramePr>
          <p:nvPr/>
        </p:nvGraphicFramePr>
        <p:xfrm>
          <a:off x="6400800" y="4938713"/>
          <a:ext cx="1936750" cy="1463675"/>
        </p:xfrm>
        <a:graphic>
          <a:graphicData uri="http://schemas.openxmlformats.org/drawingml/2006/table">
            <a:tbl>
              <a:tblPr/>
              <a:tblGrid>
                <a:gridCol w="412750"/>
                <a:gridCol w="882650"/>
                <a:gridCol w="641350"/>
              </a:tblGrid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PRICE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C1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4.4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604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7.6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131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6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99.9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6633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56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98359" name="Text Box 56"/>
          <p:cNvSpPr txBox="1">
            <a:spLocks noChangeArrowheads="1"/>
          </p:cNvSpPr>
          <p:nvPr/>
        </p:nvSpPr>
        <p:spPr bwMode="auto">
          <a:xfrm>
            <a:off x="4876800" y="1508125"/>
            <a:ext cx="396240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>
                <a:latin typeface="Courier New" pitchFamily="49" charset="0"/>
                <a:ea typeface="宋体" charset="-122"/>
              </a:rPr>
              <a:t>SELECT sum(price)</a:t>
            </a:r>
            <a:r>
              <a:rPr lang="en-US" altLang="zh-CN" sz="2000" b="1">
                <a:latin typeface="Courier New" pitchFamily="49" charset="0"/>
                <a:ea typeface="宋体" charset="-122"/>
              </a:rPr>
              <a:t>, c1</a:t>
            </a:r>
            <a:r>
              <a:rPr lang="en-US" altLang="zh-CN" sz="2000">
                <a:latin typeface="Courier New" pitchFamily="49" charset="0"/>
                <a:ea typeface="宋体" charset="-122"/>
              </a:rPr>
              <a:t/>
            </a:r>
            <a:br>
              <a:rPr lang="en-US" altLang="zh-CN" sz="2000">
                <a:latin typeface="Courier New" pitchFamily="49" charset="0"/>
                <a:ea typeface="宋体" charset="-122"/>
              </a:rPr>
            </a:br>
            <a:r>
              <a:rPr lang="en-US" altLang="zh-CN" sz="2000">
                <a:latin typeface="Courier New" pitchFamily="49" charset="0"/>
                <a:ea typeface="宋体" charset="-122"/>
              </a:rPr>
              <a:t>  FROM tb1 GROUP BY c1</a:t>
            </a:r>
            <a:br>
              <a:rPr lang="en-US" altLang="zh-CN" sz="2000">
                <a:latin typeface="Courier New" pitchFamily="49" charset="0"/>
                <a:ea typeface="宋体" charset="-122"/>
              </a:rPr>
            </a:br>
            <a:r>
              <a:rPr lang="en-US" altLang="zh-CN" sz="2000">
                <a:latin typeface="Courier New" pitchFamily="49" charset="0"/>
                <a:ea typeface="宋体" charset="-122"/>
              </a:rPr>
              <a:t> </a:t>
            </a:r>
            <a:r>
              <a:rPr lang="en-US" altLang="zh-CN" sz="2000" b="1">
                <a:latin typeface="Courier New" pitchFamily="49" charset="0"/>
                <a:ea typeface="宋体" charset="-122"/>
              </a:rPr>
              <a:t>ORDER BY c1</a:t>
            </a:r>
          </a:p>
        </p:txBody>
      </p:sp>
      <p:cxnSp>
        <p:nvCxnSpPr>
          <p:cNvPr id="98360" name="AutoShape 57"/>
          <p:cNvCxnSpPr>
            <a:cxnSpLocks noChangeShapeType="1"/>
            <a:stCxn id="98306" idx="3"/>
            <a:endCxn id="98359" idx="1"/>
          </p:cNvCxnSpPr>
          <p:nvPr/>
        </p:nvCxnSpPr>
        <p:spPr bwMode="auto">
          <a:xfrm>
            <a:off x="4114800" y="2011363"/>
            <a:ext cx="762000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98361" name="Text Box 58"/>
          <p:cNvSpPr txBox="1">
            <a:spLocks noChangeArrowheads="1"/>
          </p:cNvSpPr>
          <p:nvPr/>
        </p:nvSpPr>
        <p:spPr bwMode="auto">
          <a:xfrm>
            <a:off x="4648200" y="3443288"/>
            <a:ext cx="9906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12.3</a:t>
            </a:r>
            <a:br>
              <a:rPr lang="en-US" altLang="zh-CN">
                <a:latin typeface="Courier New" pitchFamily="49" charset="0"/>
                <a:ea typeface="宋体" charset="-122"/>
              </a:rPr>
            </a:br>
            <a:r>
              <a:rPr lang="en-US" altLang="zh-CN">
                <a:latin typeface="Courier New" pitchFamily="49" charset="0"/>
                <a:ea typeface="宋体" charset="-122"/>
              </a:rPr>
              <a:t>2222</a:t>
            </a:r>
          </a:p>
        </p:txBody>
      </p:sp>
      <p:sp>
        <p:nvSpPr>
          <p:cNvPr id="98362" name="Text Box 59"/>
          <p:cNvSpPr txBox="1">
            <a:spLocks noChangeArrowheads="1"/>
          </p:cNvSpPr>
          <p:nvPr/>
        </p:nvSpPr>
        <p:spPr bwMode="auto">
          <a:xfrm>
            <a:off x="2514600" y="3429000"/>
            <a:ext cx="9906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7.9</a:t>
            </a:r>
            <a:br>
              <a:rPr lang="en-US" altLang="zh-CN" b="1">
                <a:solidFill>
                  <a:srgbClr val="FF0000"/>
                </a:solidFill>
                <a:latin typeface="Courier New" pitchFamily="49" charset="0"/>
                <a:ea typeface="宋体" charset="-122"/>
              </a:rPr>
            </a:br>
            <a:r>
              <a:rPr lang="en-US" altLang="zh-CN" b="1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131</a:t>
            </a:r>
          </a:p>
        </p:txBody>
      </p:sp>
      <p:sp>
        <p:nvSpPr>
          <p:cNvPr id="98363" name="Text Box 60"/>
          <p:cNvSpPr txBox="1">
            <a:spLocks noChangeArrowheads="1"/>
          </p:cNvSpPr>
          <p:nvPr/>
        </p:nvSpPr>
        <p:spPr bwMode="auto">
          <a:xfrm>
            <a:off x="3581400" y="3429000"/>
            <a:ext cx="9906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8.8</a:t>
            </a:r>
            <a:br>
              <a:rPr lang="en-US" altLang="zh-CN">
                <a:latin typeface="Courier New" pitchFamily="49" charset="0"/>
                <a:ea typeface="宋体" charset="-122"/>
              </a:rPr>
            </a:br>
            <a:r>
              <a:rPr lang="en-US" altLang="zh-CN">
                <a:latin typeface="Courier New" pitchFamily="49" charset="0"/>
                <a:ea typeface="宋体" charset="-122"/>
              </a:rPr>
              <a:t>604</a:t>
            </a:r>
          </a:p>
        </p:txBody>
      </p:sp>
      <p:sp>
        <p:nvSpPr>
          <p:cNvPr id="98364" name="Text Box 61"/>
          <p:cNvSpPr txBox="1">
            <a:spLocks noChangeArrowheads="1"/>
          </p:cNvSpPr>
          <p:nvPr/>
        </p:nvSpPr>
        <p:spPr bwMode="auto">
          <a:xfrm>
            <a:off x="3657600" y="5226050"/>
            <a:ext cx="9906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7.6</a:t>
            </a:r>
            <a:br>
              <a:rPr lang="en-US" altLang="zh-CN" b="1">
                <a:solidFill>
                  <a:srgbClr val="FF0000"/>
                </a:solidFill>
                <a:latin typeface="Courier New" pitchFamily="49" charset="0"/>
                <a:ea typeface="宋体" charset="-122"/>
              </a:rPr>
            </a:br>
            <a:r>
              <a:rPr lang="en-US" altLang="zh-CN" b="1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131</a:t>
            </a:r>
          </a:p>
        </p:txBody>
      </p:sp>
      <p:sp>
        <p:nvSpPr>
          <p:cNvPr id="98365" name="Text Box 62"/>
          <p:cNvSpPr txBox="1">
            <a:spLocks noChangeArrowheads="1"/>
          </p:cNvSpPr>
          <p:nvPr/>
        </p:nvSpPr>
        <p:spPr bwMode="auto">
          <a:xfrm>
            <a:off x="4724400" y="5226050"/>
            <a:ext cx="9906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4.4</a:t>
            </a:r>
            <a:br>
              <a:rPr lang="en-US" altLang="zh-CN">
                <a:latin typeface="Courier New" pitchFamily="49" charset="0"/>
                <a:ea typeface="宋体" charset="-122"/>
              </a:rPr>
            </a:br>
            <a:r>
              <a:rPr lang="en-US" altLang="zh-CN">
                <a:latin typeface="Courier New" pitchFamily="49" charset="0"/>
                <a:ea typeface="宋体" charset="-122"/>
              </a:rPr>
              <a:t>604</a:t>
            </a:r>
          </a:p>
        </p:txBody>
      </p:sp>
      <p:sp>
        <p:nvSpPr>
          <p:cNvPr id="98366" name="Rectangle 63"/>
          <p:cNvSpPr>
            <a:spLocks noChangeArrowheads="1"/>
          </p:cNvSpPr>
          <p:nvPr/>
        </p:nvSpPr>
        <p:spPr bwMode="auto">
          <a:xfrm>
            <a:off x="381000" y="2743200"/>
            <a:ext cx="1752600" cy="3505200"/>
          </a:xfrm>
          <a:prstGeom prst="rect">
            <a:avLst/>
          </a:prstGeom>
          <a:solidFill>
            <a:srgbClr val="FF99CC">
              <a:alpha val="30196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zh-CN" altLang="en-US">
                <a:ea typeface="宋体" charset="-122"/>
              </a:rPr>
              <a:t>最终结果集</a:t>
            </a:r>
            <a:br>
              <a:rPr lang="zh-CN" altLang="en-US">
                <a:ea typeface="宋体" charset="-122"/>
              </a:rPr>
            </a:br>
            <a:endParaRPr lang="zh-CN" altLang="en-US">
              <a:ea typeface="宋体" charset="-122"/>
            </a:endParaRPr>
          </a:p>
        </p:txBody>
      </p:sp>
      <p:sp>
        <p:nvSpPr>
          <p:cNvPr id="98367" name="Text Box 64"/>
          <p:cNvSpPr txBox="1">
            <a:spLocks noChangeArrowheads="1"/>
          </p:cNvSpPr>
          <p:nvPr/>
        </p:nvSpPr>
        <p:spPr bwMode="auto">
          <a:xfrm>
            <a:off x="762000" y="3276600"/>
            <a:ext cx="9906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99.9</a:t>
            </a:r>
            <a:br>
              <a:rPr lang="en-US" altLang="zh-CN">
                <a:latin typeface="Courier New" pitchFamily="49" charset="0"/>
                <a:ea typeface="宋体" charset="-122"/>
              </a:rPr>
            </a:br>
            <a:r>
              <a:rPr lang="en-US" altLang="zh-CN">
                <a:latin typeface="Courier New" pitchFamily="49" charset="0"/>
                <a:ea typeface="宋体" charset="-122"/>
              </a:rPr>
              <a:t>56</a:t>
            </a:r>
          </a:p>
        </p:txBody>
      </p:sp>
      <p:sp>
        <p:nvSpPr>
          <p:cNvPr id="98368" name="Line 65"/>
          <p:cNvSpPr>
            <a:spLocks noChangeShapeType="1"/>
          </p:cNvSpPr>
          <p:nvPr/>
        </p:nvSpPr>
        <p:spPr bwMode="auto">
          <a:xfrm flipH="1">
            <a:off x="2514600" y="4114800"/>
            <a:ext cx="32004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69" name="Line 66"/>
          <p:cNvSpPr>
            <a:spLocks noChangeShapeType="1"/>
          </p:cNvSpPr>
          <p:nvPr/>
        </p:nvSpPr>
        <p:spPr bwMode="auto">
          <a:xfrm flipH="1">
            <a:off x="2514600" y="5867400"/>
            <a:ext cx="32004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lg"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Rectangle 63"/>
          <p:cNvSpPr>
            <a:spLocks noChangeArrowheads="1"/>
          </p:cNvSpPr>
          <p:nvPr/>
        </p:nvSpPr>
        <p:spPr bwMode="auto">
          <a:xfrm>
            <a:off x="381000" y="2743200"/>
            <a:ext cx="1752600" cy="3505200"/>
          </a:xfrm>
          <a:prstGeom prst="rect">
            <a:avLst/>
          </a:prstGeom>
          <a:solidFill>
            <a:srgbClr val="FF99CC">
              <a:alpha val="30196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zh-CN" altLang="en-US">
                <a:ea typeface="宋体" charset="-122"/>
              </a:rPr>
              <a:t>最终结果集</a:t>
            </a:r>
            <a:br>
              <a:rPr lang="zh-CN" altLang="en-US">
                <a:ea typeface="宋体" charset="-122"/>
              </a:rPr>
            </a:br>
            <a:endParaRPr lang="zh-CN" altLang="en-US">
              <a:ea typeface="宋体" charset="-122"/>
            </a:endParaRPr>
          </a:p>
        </p:txBody>
      </p:sp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微软雅黑"/>
                <a:cs typeface="微软雅黑"/>
              </a:rPr>
              <a:t>Group By</a:t>
            </a:r>
          </a:p>
        </p:txBody>
      </p:sp>
      <p:sp>
        <p:nvSpPr>
          <p:cNvPr id="99331" name="Text Box 3"/>
          <p:cNvSpPr txBox="1">
            <a:spLocks noChangeArrowheads="1"/>
          </p:cNvSpPr>
          <p:nvPr/>
        </p:nvSpPr>
        <p:spPr bwMode="auto">
          <a:xfrm>
            <a:off x="457200" y="1660525"/>
            <a:ext cx="36576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>
                <a:latin typeface="Courier New" pitchFamily="49" charset="0"/>
                <a:ea typeface="宋体" charset="-122"/>
              </a:rPr>
              <a:t>SELECT sum(price) </a:t>
            </a:r>
            <a:br>
              <a:rPr lang="en-US" altLang="zh-CN" sz="2000">
                <a:latin typeface="Courier New" pitchFamily="49" charset="0"/>
                <a:ea typeface="宋体" charset="-122"/>
              </a:rPr>
            </a:br>
            <a:r>
              <a:rPr lang="en-US" altLang="zh-CN" sz="2000">
                <a:latin typeface="Courier New" pitchFamily="49" charset="0"/>
                <a:ea typeface="宋体" charset="-122"/>
              </a:rPr>
              <a:t>  FROM tb1 GROUP BY c1</a:t>
            </a:r>
          </a:p>
        </p:txBody>
      </p:sp>
      <p:graphicFrame>
        <p:nvGraphicFramePr>
          <p:cNvPr id="420868" name="Group 4"/>
          <p:cNvGraphicFramePr>
            <a:graphicFrameLocks noGrp="1"/>
          </p:cNvGraphicFramePr>
          <p:nvPr/>
        </p:nvGraphicFramePr>
        <p:xfrm>
          <a:off x="6445250" y="2728913"/>
          <a:ext cx="1936750" cy="1830387"/>
        </p:xfrm>
        <a:graphic>
          <a:graphicData uri="http://schemas.openxmlformats.org/drawingml/2006/table">
            <a:tbl>
              <a:tblPr/>
              <a:tblGrid>
                <a:gridCol w="412750"/>
                <a:gridCol w="882650"/>
                <a:gridCol w="641350"/>
              </a:tblGrid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PRICE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C1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12.3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2222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1.6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131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5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8.8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604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61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7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6.3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131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20896" name="Group 32"/>
          <p:cNvGraphicFramePr>
            <a:graphicFrameLocks noGrp="1"/>
          </p:cNvGraphicFramePr>
          <p:nvPr/>
        </p:nvGraphicFramePr>
        <p:xfrm>
          <a:off x="6400800" y="4938713"/>
          <a:ext cx="1936750" cy="1463675"/>
        </p:xfrm>
        <a:graphic>
          <a:graphicData uri="http://schemas.openxmlformats.org/drawingml/2006/table">
            <a:tbl>
              <a:tblPr/>
              <a:tblGrid>
                <a:gridCol w="412750"/>
                <a:gridCol w="882650"/>
                <a:gridCol w="641350"/>
              </a:tblGrid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PRICE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C1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4.4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604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7.6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131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6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99.9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6633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56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99384" name="Text Box 56"/>
          <p:cNvSpPr txBox="1">
            <a:spLocks noChangeArrowheads="1"/>
          </p:cNvSpPr>
          <p:nvPr/>
        </p:nvSpPr>
        <p:spPr bwMode="auto">
          <a:xfrm>
            <a:off x="4876800" y="1508125"/>
            <a:ext cx="396240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>
                <a:latin typeface="Courier New" pitchFamily="49" charset="0"/>
                <a:ea typeface="宋体" charset="-122"/>
              </a:rPr>
              <a:t>SELECT sum(price)</a:t>
            </a:r>
            <a:r>
              <a:rPr lang="en-US" altLang="zh-CN" sz="2000" b="1">
                <a:latin typeface="Courier New" pitchFamily="49" charset="0"/>
                <a:ea typeface="宋体" charset="-122"/>
              </a:rPr>
              <a:t>, c1</a:t>
            </a:r>
            <a:r>
              <a:rPr lang="en-US" altLang="zh-CN" sz="2000">
                <a:latin typeface="Courier New" pitchFamily="49" charset="0"/>
                <a:ea typeface="宋体" charset="-122"/>
              </a:rPr>
              <a:t/>
            </a:r>
            <a:br>
              <a:rPr lang="en-US" altLang="zh-CN" sz="2000">
                <a:latin typeface="Courier New" pitchFamily="49" charset="0"/>
                <a:ea typeface="宋体" charset="-122"/>
              </a:rPr>
            </a:br>
            <a:r>
              <a:rPr lang="en-US" altLang="zh-CN" sz="2000">
                <a:latin typeface="Courier New" pitchFamily="49" charset="0"/>
                <a:ea typeface="宋体" charset="-122"/>
              </a:rPr>
              <a:t>  FROM tb1 GROUP BY c1</a:t>
            </a:r>
            <a:br>
              <a:rPr lang="en-US" altLang="zh-CN" sz="2000">
                <a:latin typeface="Courier New" pitchFamily="49" charset="0"/>
                <a:ea typeface="宋体" charset="-122"/>
              </a:rPr>
            </a:br>
            <a:r>
              <a:rPr lang="en-US" altLang="zh-CN" sz="2000">
                <a:latin typeface="Courier New" pitchFamily="49" charset="0"/>
                <a:ea typeface="宋体" charset="-122"/>
              </a:rPr>
              <a:t> </a:t>
            </a:r>
            <a:r>
              <a:rPr lang="en-US" altLang="zh-CN" sz="2000" b="1">
                <a:latin typeface="Courier New" pitchFamily="49" charset="0"/>
                <a:ea typeface="宋体" charset="-122"/>
              </a:rPr>
              <a:t>ORDER BY c1</a:t>
            </a:r>
          </a:p>
        </p:txBody>
      </p:sp>
      <p:cxnSp>
        <p:nvCxnSpPr>
          <p:cNvPr id="99385" name="AutoShape 57"/>
          <p:cNvCxnSpPr>
            <a:cxnSpLocks noChangeShapeType="1"/>
            <a:stCxn id="99331" idx="3"/>
            <a:endCxn id="99384" idx="1"/>
          </p:cNvCxnSpPr>
          <p:nvPr/>
        </p:nvCxnSpPr>
        <p:spPr bwMode="auto">
          <a:xfrm>
            <a:off x="4114800" y="2011363"/>
            <a:ext cx="762000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99386" name="Text Box 58"/>
          <p:cNvSpPr txBox="1">
            <a:spLocks noChangeArrowheads="1"/>
          </p:cNvSpPr>
          <p:nvPr/>
        </p:nvSpPr>
        <p:spPr bwMode="auto">
          <a:xfrm>
            <a:off x="4648200" y="3443288"/>
            <a:ext cx="9906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12.3</a:t>
            </a:r>
            <a:br>
              <a:rPr lang="en-US" altLang="zh-CN">
                <a:latin typeface="Courier New" pitchFamily="49" charset="0"/>
                <a:ea typeface="宋体" charset="-122"/>
              </a:rPr>
            </a:br>
            <a:r>
              <a:rPr lang="en-US" altLang="zh-CN">
                <a:latin typeface="Courier New" pitchFamily="49" charset="0"/>
                <a:ea typeface="宋体" charset="-122"/>
              </a:rPr>
              <a:t>2222</a:t>
            </a:r>
          </a:p>
        </p:txBody>
      </p:sp>
      <p:sp>
        <p:nvSpPr>
          <p:cNvPr id="99387" name="Text Box 59"/>
          <p:cNvSpPr txBox="1">
            <a:spLocks noChangeArrowheads="1"/>
          </p:cNvSpPr>
          <p:nvPr/>
        </p:nvSpPr>
        <p:spPr bwMode="auto">
          <a:xfrm>
            <a:off x="762000" y="4006850"/>
            <a:ext cx="9906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15.5</a:t>
            </a:r>
            <a:br>
              <a:rPr lang="en-US" altLang="zh-CN">
                <a:latin typeface="Courier New" pitchFamily="49" charset="0"/>
                <a:ea typeface="宋体" charset="-122"/>
              </a:rPr>
            </a:br>
            <a:r>
              <a:rPr lang="en-US" altLang="zh-CN">
                <a:latin typeface="Courier New" pitchFamily="49" charset="0"/>
                <a:ea typeface="宋体" charset="-122"/>
              </a:rPr>
              <a:t>131</a:t>
            </a:r>
          </a:p>
        </p:txBody>
      </p:sp>
      <p:sp>
        <p:nvSpPr>
          <p:cNvPr id="99388" name="Text Box 60"/>
          <p:cNvSpPr txBox="1">
            <a:spLocks noChangeArrowheads="1"/>
          </p:cNvSpPr>
          <p:nvPr/>
        </p:nvSpPr>
        <p:spPr bwMode="auto">
          <a:xfrm>
            <a:off x="3581400" y="3429000"/>
            <a:ext cx="9906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8.8</a:t>
            </a:r>
            <a:br>
              <a:rPr lang="en-US" altLang="zh-CN" b="1">
                <a:solidFill>
                  <a:srgbClr val="FF0000"/>
                </a:solidFill>
                <a:latin typeface="Courier New" pitchFamily="49" charset="0"/>
                <a:ea typeface="宋体" charset="-122"/>
              </a:rPr>
            </a:br>
            <a:r>
              <a:rPr lang="en-US" altLang="zh-CN" b="1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604</a:t>
            </a:r>
          </a:p>
        </p:txBody>
      </p:sp>
      <p:sp>
        <p:nvSpPr>
          <p:cNvPr id="99389" name="Text Box 62"/>
          <p:cNvSpPr txBox="1">
            <a:spLocks noChangeArrowheads="1"/>
          </p:cNvSpPr>
          <p:nvPr/>
        </p:nvSpPr>
        <p:spPr bwMode="auto">
          <a:xfrm>
            <a:off x="4724400" y="5226050"/>
            <a:ext cx="9906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4.4</a:t>
            </a:r>
            <a:br>
              <a:rPr lang="en-US" altLang="zh-CN" b="1">
                <a:solidFill>
                  <a:srgbClr val="FF0000"/>
                </a:solidFill>
                <a:latin typeface="Courier New" pitchFamily="49" charset="0"/>
                <a:ea typeface="宋体" charset="-122"/>
              </a:rPr>
            </a:br>
            <a:r>
              <a:rPr lang="en-US" altLang="zh-CN" b="1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604</a:t>
            </a:r>
          </a:p>
        </p:txBody>
      </p:sp>
      <p:sp>
        <p:nvSpPr>
          <p:cNvPr id="99390" name="Text Box 64"/>
          <p:cNvSpPr txBox="1">
            <a:spLocks noChangeArrowheads="1"/>
          </p:cNvSpPr>
          <p:nvPr/>
        </p:nvSpPr>
        <p:spPr bwMode="auto">
          <a:xfrm>
            <a:off x="762000" y="3276600"/>
            <a:ext cx="9906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99.9</a:t>
            </a:r>
            <a:br>
              <a:rPr lang="en-US" altLang="zh-CN">
                <a:latin typeface="Courier New" pitchFamily="49" charset="0"/>
                <a:ea typeface="宋体" charset="-122"/>
              </a:rPr>
            </a:br>
            <a:r>
              <a:rPr lang="en-US" altLang="zh-CN">
                <a:latin typeface="Courier New" pitchFamily="49" charset="0"/>
                <a:ea typeface="宋体" charset="-122"/>
              </a:rPr>
              <a:t>56</a:t>
            </a:r>
          </a:p>
        </p:txBody>
      </p:sp>
      <p:sp>
        <p:nvSpPr>
          <p:cNvPr id="99391" name="Line 65"/>
          <p:cNvSpPr>
            <a:spLocks noChangeShapeType="1"/>
          </p:cNvSpPr>
          <p:nvPr/>
        </p:nvSpPr>
        <p:spPr bwMode="auto">
          <a:xfrm flipH="1">
            <a:off x="2514600" y="4114800"/>
            <a:ext cx="32004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392" name="Line 66"/>
          <p:cNvSpPr>
            <a:spLocks noChangeShapeType="1"/>
          </p:cNvSpPr>
          <p:nvPr/>
        </p:nvSpPr>
        <p:spPr bwMode="auto">
          <a:xfrm flipH="1">
            <a:off x="2514600" y="5867400"/>
            <a:ext cx="32004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lg"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Rectangle 2"/>
          <p:cNvSpPr>
            <a:spLocks noChangeArrowheads="1"/>
          </p:cNvSpPr>
          <p:nvPr/>
        </p:nvSpPr>
        <p:spPr bwMode="auto">
          <a:xfrm>
            <a:off x="381000" y="2743200"/>
            <a:ext cx="1752600" cy="3505200"/>
          </a:xfrm>
          <a:prstGeom prst="rect">
            <a:avLst/>
          </a:prstGeom>
          <a:solidFill>
            <a:srgbClr val="FF99CC">
              <a:alpha val="30196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zh-CN" altLang="en-US">
                <a:ea typeface="宋体" charset="-122"/>
              </a:rPr>
              <a:t>最终结果集</a:t>
            </a:r>
            <a:br>
              <a:rPr lang="zh-CN" altLang="en-US">
                <a:ea typeface="宋体" charset="-122"/>
              </a:rPr>
            </a:br>
            <a:endParaRPr lang="zh-CN" altLang="en-US">
              <a:ea typeface="宋体" charset="-122"/>
            </a:endParaRPr>
          </a:p>
        </p:txBody>
      </p:sp>
      <p:sp>
        <p:nvSpPr>
          <p:cNvPr id="100354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微软雅黑"/>
                <a:cs typeface="微软雅黑"/>
              </a:rPr>
              <a:t>Group By</a:t>
            </a:r>
          </a:p>
        </p:txBody>
      </p:sp>
      <p:sp>
        <p:nvSpPr>
          <p:cNvPr id="100355" name="Text Box 4"/>
          <p:cNvSpPr txBox="1">
            <a:spLocks noChangeArrowheads="1"/>
          </p:cNvSpPr>
          <p:nvPr/>
        </p:nvSpPr>
        <p:spPr bwMode="auto">
          <a:xfrm>
            <a:off x="457200" y="1660525"/>
            <a:ext cx="36576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>
                <a:latin typeface="Courier New" pitchFamily="49" charset="0"/>
                <a:ea typeface="宋体" charset="-122"/>
              </a:rPr>
              <a:t>SELECT sum(price) </a:t>
            </a:r>
            <a:br>
              <a:rPr lang="en-US" altLang="zh-CN" sz="2000">
                <a:latin typeface="Courier New" pitchFamily="49" charset="0"/>
                <a:ea typeface="宋体" charset="-122"/>
              </a:rPr>
            </a:br>
            <a:r>
              <a:rPr lang="en-US" altLang="zh-CN" sz="2000">
                <a:latin typeface="Courier New" pitchFamily="49" charset="0"/>
                <a:ea typeface="宋体" charset="-122"/>
              </a:rPr>
              <a:t>  FROM tb1 GROUP BY c1</a:t>
            </a:r>
          </a:p>
        </p:txBody>
      </p:sp>
      <p:graphicFrame>
        <p:nvGraphicFramePr>
          <p:cNvPr id="421893" name="Group 5"/>
          <p:cNvGraphicFramePr>
            <a:graphicFrameLocks noGrp="1"/>
          </p:cNvGraphicFramePr>
          <p:nvPr/>
        </p:nvGraphicFramePr>
        <p:xfrm>
          <a:off x="6445250" y="2728913"/>
          <a:ext cx="1936750" cy="1830387"/>
        </p:xfrm>
        <a:graphic>
          <a:graphicData uri="http://schemas.openxmlformats.org/drawingml/2006/table">
            <a:tbl>
              <a:tblPr/>
              <a:tblGrid>
                <a:gridCol w="412750"/>
                <a:gridCol w="882650"/>
                <a:gridCol w="641350"/>
              </a:tblGrid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PRICE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C1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12.3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2222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1.6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131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5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8.8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604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61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7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6.3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131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21921" name="Group 33"/>
          <p:cNvGraphicFramePr>
            <a:graphicFrameLocks noGrp="1"/>
          </p:cNvGraphicFramePr>
          <p:nvPr/>
        </p:nvGraphicFramePr>
        <p:xfrm>
          <a:off x="6400800" y="4938713"/>
          <a:ext cx="1936750" cy="1463675"/>
        </p:xfrm>
        <a:graphic>
          <a:graphicData uri="http://schemas.openxmlformats.org/drawingml/2006/table">
            <a:tbl>
              <a:tblPr/>
              <a:tblGrid>
                <a:gridCol w="412750"/>
                <a:gridCol w="882650"/>
                <a:gridCol w="641350"/>
              </a:tblGrid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PRICE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C1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4.4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604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7.6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131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6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99.9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6633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56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00408" name="Text Box 57"/>
          <p:cNvSpPr txBox="1">
            <a:spLocks noChangeArrowheads="1"/>
          </p:cNvSpPr>
          <p:nvPr/>
        </p:nvSpPr>
        <p:spPr bwMode="auto">
          <a:xfrm>
            <a:off x="4876800" y="1508125"/>
            <a:ext cx="396240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>
                <a:latin typeface="Courier New" pitchFamily="49" charset="0"/>
                <a:ea typeface="宋体" charset="-122"/>
              </a:rPr>
              <a:t>SELECT sum(price)</a:t>
            </a:r>
            <a:r>
              <a:rPr lang="en-US" altLang="zh-CN" sz="2000" b="1">
                <a:latin typeface="Courier New" pitchFamily="49" charset="0"/>
                <a:ea typeface="宋体" charset="-122"/>
              </a:rPr>
              <a:t>, c1</a:t>
            </a:r>
            <a:r>
              <a:rPr lang="en-US" altLang="zh-CN" sz="2000">
                <a:latin typeface="Courier New" pitchFamily="49" charset="0"/>
                <a:ea typeface="宋体" charset="-122"/>
              </a:rPr>
              <a:t/>
            </a:r>
            <a:br>
              <a:rPr lang="en-US" altLang="zh-CN" sz="2000">
                <a:latin typeface="Courier New" pitchFamily="49" charset="0"/>
                <a:ea typeface="宋体" charset="-122"/>
              </a:rPr>
            </a:br>
            <a:r>
              <a:rPr lang="en-US" altLang="zh-CN" sz="2000">
                <a:latin typeface="Courier New" pitchFamily="49" charset="0"/>
                <a:ea typeface="宋体" charset="-122"/>
              </a:rPr>
              <a:t>  FROM tb1 GROUP BY c1</a:t>
            </a:r>
            <a:br>
              <a:rPr lang="en-US" altLang="zh-CN" sz="2000">
                <a:latin typeface="Courier New" pitchFamily="49" charset="0"/>
                <a:ea typeface="宋体" charset="-122"/>
              </a:rPr>
            </a:br>
            <a:r>
              <a:rPr lang="en-US" altLang="zh-CN" sz="2000">
                <a:latin typeface="Courier New" pitchFamily="49" charset="0"/>
                <a:ea typeface="宋体" charset="-122"/>
              </a:rPr>
              <a:t> </a:t>
            </a:r>
            <a:r>
              <a:rPr lang="en-US" altLang="zh-CN" sz="2000" b="1">
                <a:latin typeface="Courier New" pitchFamily="49" charset="0"/>
                <a:ea typeface="宋体" charset="-122"/>
              </a:rPr>
              <a:t>ORDER BY c1</a:t>
            </a:r>
          </a:p>
        </p:txBody>
      </p:sp>
      <p:cxnSp>
        <p:nvCxnSpPr>
          <p:cNvPr id="100409" name="AutoShape 58"/>
          <p:cNvCxnSpPr>
            <a:cxnSpLocks noChangeShapeType="1"/>
            <a:stCxn id="100355" idx="3"/>
            <a:endCxn id="100408" idx="1"/>
          </p:cNvCxnSpPr>
          <p:nvPr/>
        </p:nvCxnSpPr>
        <p:spPr bwMode="auto">
          <a:xfrm>
            <a:off x="4114800" y="2011363"/>
            <a:ext cx="762000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00410" name="Text Box 59"/>
          <p:cNvSpPr txBox="1">
            <a:spLocks noChangeArrowheads="1"/>
          </p:cNvSpPr>
          <p:nvPr/>
        </p:nvSpPr>
        <p:spPr bwMode="auto">
          <a:xfrm>
            <a:off x="4648200" y="3443288"/>
            <a:ext cx="9906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12.3</a:t>
            </a:r>
            <a:br>
              <a:rPr lang="en-US" altLang="zh-CN" b="1">
                <a:solidFill>
                  <a:srgbClr val="FF0000"/>
                </a:solidFill>
                <a:latin typeface="Courier New" pitchFamily="49" charset="0"/>
                <a:ea typeface="宋体" charset="-122"/>
              </a:rPr>
            </a:br>
            <a:r>
              <a:rPr lang="en-US" altLang="zh-CN" b="1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2222</a:t>
            </a:r>
          </a:p>
        </p:txBody>
      </p:sp>
      <p:sp>
        <p:nvSpPr>
          <p:cNvPr id="100411" name="Text Box 60"/>
          <p:cNvSpPr txBox="1">
            <a:spLocks noChangeArrowheads="1"/>
          </p:cNvSpPr>
          <p:nvPr/>
        </p:nvSpPr>
        <p:spPr bwMode="auto">
          <a:xfrm>
            <a:off x="762000" y="4006850"/>
            <a:ext cx="9906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15.5</a:t>
            </a:r>
            <a:br>
              <a:rPr lang="en-US" altLang="zh-CN">
                <a:latin typeface="Courier New" pitchFamily="49" charset="0"/>
                <a:ea typeface="宋体" charset="-122"/>
              </a:rPr>
            </a:br>
            <a:r>
              <a:rPr lang="en-US" altLang="zh-CN">
                <a:latin typeface="Courier New" pitchFamily="49" charset="0"/>
                <a:ea typeface="宋体" charset="-122"/>
              </a:rPr>
              <a:t>131</a:t>
            </a:r>
          </a:p>
        </p:txBody>
      </p:sp>
      <p:sp>
        <p:nvSpPr>
          <p:cNvPr id="100412" name="Text Box 61"/>
          <p:cNvSpPr txBox="1">
            <a:spLocks noChangeArrowheads="1"/>
          </p:cNvSpPr>
          <p:nvPr/>
        </p:nvSpPr>
        <p:spPr bwMode="auto">
          <a:xfrm>
            <a:off x="762000" y="4768850"/>
            <a:ext cx="9906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13.2</a:t>
            </a:r>
            <a:br>
              <a:rPr lang="en-US" altLang="zh-CN">
                <a:latin typeface="Courier New" pitchFamily="49" charset="0"/>
                <a:ea typeface="宋体" charset="-122"/>
              </a:rPr>
            </a:br>
            <a:r>
              <a:rPr lang="en-US" altLang="zh-CN">
                <a:latin typeface="Courier New" pitchFamily="49" charset="0"/>
                <a:ea typeface="宋体" charset="-122"/>
              </a:rPr>
              <a:t>604</a:t>
            </a:r>
          </a:p>
        </p:txBody>
      </p:sp>
      <p:sp>
        <p:nvSpPr>
          <p:cNvPr id="100413" name="Text Box 63"/>
          <p:cNvSpPr txBox="1">
            <a:spLocks noChangeArrowheads="1"/>
          </p:cNvSpPr>
          <p:nvPr/>
        </p:nvSpPr>
        <p:spPr bwMode="auto">
          <a:xfrm>
            <a:off x="762000" y="3276600"/>
            <a:ext cx="9906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99.9</a:t>
            </a:r>
            <a:br>
              <a:rPr lang="en-US" altLang="zh-CN">
                <a:latin typeface="Courier New" pitchFamily="49" charset="0"/>
                <a:ea typeface="宋体" charset="-122"/>
              </a:rPr>
            </a:br>
            <a:r>
              <a:rPr lang="en-US" altLang="zh-CN">
                <a:latin typeface="Courier New" pitchFamily="49" charset="0"/>
                <a:ea typeface="宋体" charset="-122"/>
              </a:rPr>
              <a:t>56</a:t>
            </a:r>
          </a:p>
        </p:txBody>
      </p:sp>
      <p:sp>
        <p:nvSpPr>
          <p:cNvPr id="100414" name="Line 64"/>
          <p:cNvSpPr>
            <a:spLocks noChangeShapeType="1"/>
          </p:cNvSpPr>
          <p:nvPr/>
        </p:nvSpPr>
        <p:spPr bwMode="auto">
          <a:xfrm flipH="1">
            <a:off x="2514600" y="4114800"/>
            <a:ext cx="32004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415" name="Line 65"/>
          <p:cNvSpPr>
            <a:spLocks noChangeShapeType="1"/>
          </p:cNvSpPr>
          <p:nvPr/>
        </p:nvSpPr>
        <p:spPr bwMode="auto">
          <a:xfrm flipH="1">
            <a:off x="2514600" y="5867400"/>
            <a:ext cx="32004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lg"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Rectangle 2"/>
          <p:cNvSpPr>
            <a:spLocks noChangeArrowheads="1"/>
          </p:cNvSpPr>
          <p:nvPr/>
        </p:nvSpPr>
        <p:spPr bwMode="auto">
          <a:xfrm>
            <a:off x="381000" y="2743200"/>
            <a:ext cx="1752600" cy="3505200"/>
          </a:xfrm>
          <a:prstGeom prst="rect">
            <a:avLst/>
          </a:prstGeom>
          <a:solidFill>
            <a:srgbClr val="FF99CC">
              <a:alpha val="30196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r>
              <a:rPr lang="zh-CN" altLang="en-US">
                <a:ea typeface="宋体" charset="-122"/>
              </a:rPr>
              <a:t>最终结果集</a:t>
            </a:r>
            <a:br>
              <a:rPr lang="zh-CN" altLang="en-US">
                <a:ea typeface="宋体" charset="-122"/>
              </a:rPr>
            </a:br>
            <a:endParaRPr lang="zh-CN" altLang="en-US">
              <a:ea typeface="宋体" charset="-122"/>
            </a:endParaRPr>
          </a:p>
        </p:txBody>
      </p:sp>
      <p:sp>
        <p:nvSpPr>
          <p:cNvPr id="10137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微软雅黑"/>
                <a:cs typeface="微软雅黑"/>
              </a:rPr>
              <a:t>Group By</a:t>
            </a:r>
          </a:p>
        </p:txBody>
      </p:sp>
      <p:sp>
        <p:nvSpPr>
          <p:cNvPr id="101379" name="Text Box 4"/>
          <p:cNvSpPr txBox="1">
            <a:spLocks noChangeArrowheads="1"/>
          </p:cNvSpPr>
          <p:nvPr/>
        </p:nvSpPr>
        <p:spPr bwMode="auto">
          <a:xfrm>
            <a:off x="457200" y="1660525"/>
            <a:ext cx="36576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>
                <a:latin typeface="Courier New" pitchFamily="49" charset="0"/>
                <a:ea typeface="宋体" charset="-122"/>
              </a:rPr>
              <a:t>SELECT sum(price) </a:t>
            </a:r>
            <a:br>
              <a:rPr lang="en-US" altLang="zh-CN" sz="2000">
                <a:latin typeface="Courier New" pitchFamily="49" charset="0"/>
                <a:ea typeface="宋体" charset="-122"/>
              </a:rPr>
            </a:br>
            <a:r>
              <a:rPr lang="en-US" altLang="zh-CN" sz="2000">
                <a:latin typeface="Courier New" pitchFamily="49" charset="0"/>
                <a:ea typeface="宋体" charset="-122"/>
              </a:rPr>
              <a:t>  FROM tb1 GROUP BY c1</a:t>
            </a:r>
          </a:p>
        </p:txBody>
      </p:sp>
      <p:graphicFrame>
        <p:nvGraphicFramePr>
          <p:cNvPr id="422917" name="Group 5"/>
          <p:cNvGraphicFramePr>
            <a:graphicFrameLocks noGrp="1"/>
          </p:cNvGraphicFramePr>
          <p:nvPr/>
        </p:nvGraphicFramePr>
        <p:xfrm>
          <a:off x="6445250" y="2728913"/>
          <a:ext cx="1936750" cy="1830387"/>
        </p:xfrm>
        <a:graphic>
          <a:graphicData uri="http://schemas.openxmlformats.org/drawingml/2006/table">
            <a:tbl>
              <a:tblPr/>
              <a:tblGrid>
                <a:gridCol w="412750"/>
                <a:gridCol w="882650"/>
                <a:gridCol w="641350"/>
              </a:tblGrid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PRICE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C1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12.3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2222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1.6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131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5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8.8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604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61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7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6.3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131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22945" name="Group 33"/>
          <p:cNvGraphicFramePr>
            <a:graphicFrameLocks noGrp="1"/>
          </p:cNvGraphicFramePr>
          <p:nvPr/>
        </p:nvGraphicFramePr>
        <p:xfrm>
          <a:off x="6400800" y="4938713"/>
          <a:ext cx="1936750" cy="1463675"/>
        </p:xfrm>
        <a:graphic>
          <a:graphicData uri="http://schemas.openxmlformats.org/drawingml/2006/table">
            <a:tbl>
              <a:tblPr/>
              <a:tblGrid>
                <a:gridCol w="412750"/>
                <a:gridCol w="882650"/>
                <a:gridCol w="641350"/>
              </a:tblGrid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PRICE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C1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4.4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604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7.6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131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6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99.9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663300"/>
                          </a:solidFill>
                          <a:effectLst/>
                          <a:latin typeface="Times New Roman" pitchFamily="18" charset="0"/>
                          <a:ea typeface="微软雅黑"/>
                          <a:cs typeface="微软雅黑"/>
                        </a:rPr>
                        <a:t>56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01432" name="Text Box 57"/>
          <p:cNvSpPr txBox="1">
            <a:spLocks noChangeArrowheads="1"/>
          </p:cNvSpPr>
          <p:nvPr/>
        </p:nvSpPr>
        <p:spPr bwMode="auto">
          <a:xfrm>
            <a:off x="4876800" y="1508125"/>
            <a:ext cx="396240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>
                <a:latin typeface="Courier New" pitchFamily="49" charset="0"/>
                <a:ea typeface="宋体" charset="-122"/>
              </a:rPr>
              <a:t>SELECT sum(price)</a:t>
            </a:r>
            <a:r>
              <a:rPr lang="en-US" altLang="zh-CN" sz="2000" b="1">
                <a:latin typeface="Courier New" pitchFamily="49" charset="0"/>
                <a:ea typeface="宋体" charset="-122"/>
              </a:rPr>
              <a:t>, c1</a:t>
            </a:r>
            <a:r>
              <a:rPr lang="en-US" altLang="zh-CN" sz="2000">
                <a:latin typeface="Courier New" pitchFamily="49" charset="0"/>
                <a:ea typeface="宋体" charset="-122"/>
              </a:rPr>
              <a:t/>
            </a:r>
            <a:br>
              <a:rPr lang="en-US" altLang="zh-CN" sz="2000">
                <a:latin typeface="Courier New" pitchFamily="49" charset="0"/>
                <a:ea typeface="宋体" charset="-122"/>
              </a:rPr>
            </a:br>
            <a:r>
              <a:rPr lang="en-US" altLang="zh-CN" sz="2000">
                <a:latin typeface="Courier New" pitchFamily="49" charset="0"/>
                <a:ea typeface="宋体" charset="-122"/>
              </a:rPr>
              <a:t>  FROM tb1 GROUP BY c1</a:t>
            </a:r>
            <a:br>
              <a:rPr lang="en-US" altLang="zh-CN" sz="2000">
                <a:latin typeface="Courier New" pitchFamily="49" charset="0"/>
                <a:ea typeface="宋体" charset="-122"/>
              </a:rPr>
            </a:br>
            <a:r>
              <a:rPr lang="en-US" altLang="zh-CN" sz="2000">
                <a:latin typeface="Courier New" pitchFamily="49" charset="0"/>
                <a:ea typeface="宋体" charset="-122"/>
              </a:rPr>
              <a:t> </a:t>
            </a:r>
            <a:r>
              <a:rPr lang="en-US" altLang="zh-CN" sz="2000" b="1">
                <a:latin typeface="Courier New" pitchFamily="49" charset="0"/>
                <a:ea typeface="宋体" charset="-122"/>
              </a:rPr>
              <a:t>ORDER BY c1</a:t>
            </a:r>
          </a:p>
        </p:txBody>
      </p:sp>
      <p:cxnSp>
        <p:nvCxnSpPr>
          <p:cNvPr id="101433" name="AutoShape 58"/>
          <p:cNvCxnSpPr>
            <a:cxnSpLocks noChangeShapeType="1"/>
            <a:stCxn id="101379" idx="3"/>
            <a:endCxn id="101432" idx="1"/>
          </p:cNvCxnSpPr>
          <p:nvPr/>
        </p:nvCxnSpPr>
        <p:spPr bwMode="auto">
          <a:xfrm>
            <a:off x="4114800" y="2011363"/>
            <a:ext cx="762000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01434" name="Text Box 59"/>
          <p:cNvSpPr txBox="1">
            <a:spLocks noChangeArrowheads="1"/>
          </p:cNvSpPr>
          <p:nvPr/>
        </p:nvSpPr>
        <p:spPr bwMode="auto">
          <a:xfrm>
            <a:off x="762000" y="5530850"/>
            <a:ext cx="9906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12.3</a:t>
            </a:r>
            <a:br>
              <a:rPr lang="en-US" altLang="zh-CN">
                <a:latin typeface="Courier New" pitchFamily="49" charset="0"/>
                <a:ea typeface="宋体" charset="-122"/>
              </a:rPr>
            </a:br>
            <a:r>
              <a:rPr lang="en-US" altLang="zh-CN">
                <a:latin typeface="Courier New" pitchFamily="49" charset="0"/>
                <a:ea typeface="宋体" charset="-122"/>
              </a:rPr>
              <a:t>2222</a:t>
            </a:r>
          </a:p>
        </p:txBody>
      </p:sp>
      <p:sp>
        <p:nvSpPr>
          <p:cNvPr id="101435" name="Text Box 60"/>
          <p:cNvSpPr txBox="1">
            <a:spLocks noChangeArrowheads="1"/>
          </p:cNvSpPr>
          <p:nvPr/>
        </p:nvSpPr>
        <p:spPr bwMode="auto">
          <a:xfrm>
            <a:off x="762000" y="4006850"/>
            <a:ext cx="9906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15.5</a:t>
            </a:r>
            <a:br>
              <a:rPr lang="en-US" altLang="zh-CN">
                <a:latin typeface="Courier New" pitchFamily="49" charset="0"/>
                <a:ea typeface="宋体" charset="-122"/>
              </a:rPr>
            </a:br>
            <a:r>
              <a:rPr lang="en-US" altLang="zh-CN">
                <a:latin typeface="Courier New" pitchFamily="49" charset="0"/>
                <a:ea typeface="宋体" charset="-122"/>
              </a:rPr>
              <a:t>131</a:t>
            </a:r>
          </a:p>
        </p:txBody>
      </p:sp>
      <p:sp>
        <p:nvSpPr>
          <p:cNvPr id="101436" name="Text Box 61"/>
          <p:cNvSpPr txBox="1">
            <a:spLocks noChangeArrowheads="1"/>
          </p:cNvSpPr>
          <p:nvPr/>
        </p:nvSpPr>
        <p:spPr bwMode="auto">
          <a:xfrm>
            <a:off x="762000" y="4768850"/>
            <a:ext cx="9906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13.2</a:t>
            </a:r>
            <a:br>
              <a:rPr lang="en-US" altLang="zh-CN">
                <a:latin typeface="Courier New" pitchFamily="49" charset="0"/>
                <a:ea typeface="宋体" charset="-122"/>
              </a:rPr>
            </a:br>
            <a:r>
              <a:rPr lang="en-US" altLang="zh-CN">
                <a:latin typeface="Courier New" pitchFamily="49" charset="0"/>
                <a:ea typeface="宋体" charset="-122"/>
              </a:rPr>
              <a:t>604</a:t>
            </a:r>
          </a:p>
        </p:txBody>
      </p:sp>
      <p:sp>
        <p:nvSpPr>
          <p:cNvPr id="101437" name="Text Box 62"/>
          <p:cNvSpPr txBox="1">
            <a:spLocks noChangeArrowheads="1"/>
          </p:cNvSpPr>
          <p:nvPr/>
        </p:nvSpPr>
        <p:spPr bwMode="auto">
          <a:xfrm>
            <a:off x="762000" y="3276600"/>
            <a:ext cx="9906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99.9</a:t>
            </a:r>
            <a:br>
              <a:rPr lang="en-US" altLang="zh-CN">
                <a:latin typeface="Courier New" pitchFamily="49" charset="0"/>
                <a:ea typeface="宋体" charset="-122"/>
              </a:rPr>
            </a:br>
            <a:r>
              <a:rPr lang="en-US" altLang="zh-CN">
                <a:latin typeface="Courier New" pitchFamily="49" charset="0"/>
                <a:ea typeface="宋体" charset="-122"/>
              </a:rPr>
              <a:t>56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latin typeface="微软雅黑"/>
                <a:ea typeface="微软雅黑"/>
                <a:cs typeface="微软雅黑"/>
              </a:rPr>
              <a:t>SQL</a:t>
            </a:r>
            <a:r>
              <a:rPr lang="zh-CN" altLang="en-US" smtClean="0">
                <a:latin typeface="微软雅黑"/>
                <a:ea typeface="微软雅黑"/>
                <a:cs typeface="微软雅黑"/>
              </a:rPr>
              <a:t>执行策略总结</a:t>
            </a:r>
          </a:p>
        </p:txBody>
      </p:sp>
      <p:sp>
        <p:nvSpPr>
          <p:cNvPr id="10240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latin typeface="微软雅黑"/>
                <a:ea typeface="微软雅黑"/>
                <a:cs typeface="微软雅黑"/>
              </a:rPr>
              <a:t>WHERE  -  </a:t>
            </a:r>
            <a:r>
              <a:rPr lang="zh-CN" altLang="en-US" smtClean="0">
                <a:latin typeface="宋体" charset="-122"/>
              </a:rPr>
              <a:t>基于</a:t>
            </a:r>
            <a:r>
              <a:rPr lang="en-US" altLang="zh-CN" smtClean="0">
                <a:latin typeface="宋体" charset="-122"/>
              </a:rPr>
              <a:t>SQL</a:t>
            </a:r>
            <a:r>
              <a:rPr lang="zh-CN" altLang="en-US" smtClean="0">
                <a:latin typeface="宋体" charset="-122"/>
              </a:rPr>
              <a:t>转发</a:t>
            </a:r>
          </a:p>
          <a:p>
            <a:pPr eaLnBrk="1" hangingPunct="1"/>
            <a:r>
              <a:rPr lang="en-US" altLang="zh-CN" smtClean="0">
                <a:latin typeface="微软雅黑"/>
                <a:ea typeface="微软雅黑"/>
                <a:cs typeface="微软雅黑"/>
              </a:rPr>
              <a:t>JOIN  -  </a:t>
            </a:r>
            <a:r>
              <a:rPr lang="zh-CN" altLang="en-US" smtClean="0">
                <a:latin typeface="宋体" charset="-122"/>
              </a:rPr>
              <a:t>迭代  分布式索引</a:t>
            </a:r>
          </a:p>
          <a:p>
            <a:pPr eaLnBrk="1" hangingPunct="1"/>
            <a:r>
              <a:rPr lang="en-US" altLang="zh-CN" smtClean="0">
                <a:latin typeface="微软雅黑"/>
                <a:ea typeface="微软雅黑"/>
                <a:cs typeface="微软雅黑"/>
              </a:rPr>
              <a:t>ORDER BY/LIMIT  -  </a:t>
            </a:r>
            <a:r>
              <a:rPr lang="zh-CN" altLang="en-US" smtClean="0">
                <a:latin typeface="宋体" charset="-122"/>
              </a:rPr>
              <a:t>多次查询减小数据量</a:t>
            </a:r>
          </a:p>
          <a:p>
            <a:pPr eaLnBrk="1" hangingPunct="1"/>
            <a:r>
              <a:rPr lang="en-US" altLang="zh-CN" smtClean="0">
                <a:latin typeface="微软雅黑"/>
                <a:ea typeface="微软雅黑"/>
                <a:cs typeface="微软雅黑"/>
              </a:rPr>
              <a:t>GROUP BY  -  </a:t>
            </a:r>
            <a:r>
              <a:rPr lang="zh-CN" altLang="en-US" smtClean="0">
                <a:latin typeface="宋体" charset="-122"/>
              </a:rPr>
              <a:t>增加</a:t>
            </a:r>
            <a:r>
              <a:rPr lang="en-US" altLang="zh-CN" smtClean="0">
                <a:latin typeface="宋体" charset="-122"/>
              </a:rPr>
              <a:t>ORDER BY</a:t>
            </a:r>
          </a:p>
          <a:p>
            <a:pPr eaLnBrk="1" hangingPunct="1"/>
            <a:endParaRPr lang="en-US" altLang="zh-CN" smtClean="0">
              <a:latin typeface="微软雅黑"/>
              <a:ea typeface="微软雅黑"/>
              <a:cs typeface="微软雅黑"/>
            </a:endParaRPr>
          </a:p>
          <a:p>
            <a:pPr eaLnBrk="1" hangingPunct="1"/>
            <a:endParaRPr lang="en-US" altLang="zh-CN" smtClean="0"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latin typeface="微软雅黑"/>
                <a:ea typeface="微软雅黑"/>
                <a:cs typeface="微软雅黑"/>
              </a:rPr>
              <a:t>Cobar </a:t>
            </a:r>
            <a:r>
              <a:rPr lang="zh-CN" altLang="en-US" smtClean="0">
                <a:latin typeface="微软雅黑"/>
                <a:ea typeface="微软雅黑"/>
                <a:cs typeface="微软雅黑"/>
              </a:rPr>
              <a:t>事务支持</a:t>
            </a:r>
          </a:p>
        </p:txBody>
      </p:sp>
      <p:sp>
        <p:nvSpPr>
          <p:cNvPr id="104450" name="Rectangle 3"/>
          <p:cNvSpPr>
            <a:spLocks noChangeArrowheads="1"/>
          </p:cNvSpPr>
          <p:nvPr/>
        </p:nvSpPr>
        <p:spPr bwMode="auto">
          <a:xfrm>
            <a:off x="228600" y="3352800"/>
            <a:ext cx="4038600" cy="5334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zh-CN" altLang="en-US"/>
              <a:t>前端连接</a:t>
            </a:r>
          </a:p>
        </p:txBody>
      </p:sp>
      <p:sp>
        <p:nvSpPr>
          <p:cNvPr id="104451" name="Rectangle 4"/>
          <p:cNvSpPr>
            <a:spLocks noChangeArrowheads="1"/>
          </p:cNvSpPr>
          <p:nvPr/>
        </p:nvSpPr>
        <p:spPr bwMode="auto">
          <a:xfrm>
            <a:off x="3429000" y="3352800"/>
            <a:ext cx="838200" cy="5334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/>
              <a:t>sql1</a:t>
            </a:r>
          </a:p>
        </p:txBody>
      </p:sp>
      <p:sp>
        <p:nvSpPr>
          <p:cNvPr id="104452" name="Rectangle 5"/>
          <p:cNvSpPr>
            <a:spLocks noChangeArrowheads="1"/>
          </p:cNvSpPr>
          <p:nvPr/>
        </p:nvSpPr>
        <p:spPr bwMode="auto">
          <a:xfrm>
            <a:off x="2590800" y="3352800"/>
            <a:ext cx="838200" cy="5334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/>
              <a:t>sql2</a:t>
            </a:r>
          </a:p>
        </p:txBody>
      </p:sp>
      <p:sp>
        <p:nvSpPr>
          <p:cNvPr id="104453" name="Rectangle 6"/>
          <p:cNvSpPr>
            <a:spLocks noChangeArrowheads="1"/>
          </p:cNvSpPr>
          <p:nvPr/>
        </p:nvSpPr>
        <p:spPr bwMode="auto">
          <a:xfrm>
            <a:off x="1752600" y="3352800"/>
            <a:ext cx="838200" cy="5334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/>
              <a:t>commit</a:t>
            </a:r>
          </a:p>
        </p:txBody>
      </p:sp>
      <p:sp>
        <p:nvSpPr>
          <p:cNvPr id="104454" name="Line 7"/>
          <p:cNvSpPr>
            <a:spLocks noChangeShapeType="1"/>
          </p:cNvSpPr>
          <p:nvPr/>
        </p:nvSpPr>
        <p:spPr bwMode="auto">
          <a:xfrm>
            <a:off x="457200" y="3124200"/>
            <a:ext cx="3352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latin typeface="微软雅黑"/>
                <a:ea typeface="微软雅黑"/>
                <a:cs typeface="微软雅黑"/>
              </a:rPr>
              <a:t>Cobar 1.2 </a:t>
            </a:r>
            <a:r>
              <a:rPr lang="zh-CN" altLang="en-US" smtClean="0">
                <a:latin typeface="微软雅黑"/>
                <a:ea typeface="微软雅黑"/>
                <a:cs typeface="微软雅黑"/>
              </a:rPr>
              <a:t>事务支持</a:t>
            </a:r>
          </a:p>
        </p:txBody>
      </p:sp>
      <p:sp>
        <p:nvSpPr>
          <p:cNvPr id="105474" name="Rectangle 3"/>
          <p:cNvSpPr>
            <a:spLocks noChangeArrowheads="1"/>
          </p:cNvSpPr>
          <p:nvPr/>
        </p:nvSpPr>
        <p:spPr bwMode="auto">
          <a:xfrm>
            <a:off x="228600" y="3352800"/>
            <a:ext cx="4038600" cy="5334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zh-CN" altLang="en-US"/>
              <a:t>前端连接</a:t>
            </a:r>
          </a:p>
        </p:txBody>
      </p:sp>
      <p:sp>
        <p:nvSpPr>
          <p:cNvPr id="105475" name="Rectangle 4"/>
          <p:cNvSpPr>
            <a:spLocks noChangeArrowheads="1"/>
          </p:cNvSpPr>
          <p:nvPr/>
        </p:nvSpPr>
        <p:spPr bwMode="auto">
          <a:xfrm>
            <a:off x="5105400" y="2286000"/>
            <a:ext cx="3505200" cy="5334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r"/>
            <a:r>
              <a:rPr lang="zh-CN" altLang="en-US"/>
              <a:t>分库</a:t>
            </a:r>
            <a:r>
              <a:rPr lang="en-US" altLang="zh-CN"/>
              <a:t>1</a:t>
            </a:r>
            <a:r>
              <a:rPr lang="zh-CN" altLang="en-US"/>
              <a:t>连接</a:t>
            </a:r>
          </a:p>
        </p:txBody>
      </p:sp>
      <p:sp>
        <p:nvSpPr>
          <p:cNvPr id="105476" name="Rectangle 5"/>
          <p:cNvSpPr>
            <a:spLocks noChangeArrowheads="1"/>
          </p:cNvSpPr>
          <p:nvPr/>
        </p:nvSpPr>
        <p:spPr bwMode="auto">
          <a:xfrm>
            <a:off x="6553200" y="2286000"/>
            <a:ext cx="838200" cy="5334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/>
              <a:t>sql1</a:t>
            </a:r>
          </a:p>
        </p:txBody>
      </p:sp>
      <p:sp>
        <p:nvSpPr>
          <p:cNvPr id="105477" name="Rectangle 6"/>
          <p:cNvSpPr>
            <a:spLocks noChangeArrowheads="1"/>
          </p:cNvSpPr>
          <p:nvPr/>
        </p:nvSpPr>
        <p:spPr bwMode="auto">
          <a:xfrm>
            <a:off x="3429000" y="3352800"/>
            <a:ext cx="838200" cy="5334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/>
              <a:t>sql2</a:t>
            </a:r>
          </a:p>
        </p:txBody>
      </p:sp>
      <p:sp>
        <p:nvSpPr>
          <p:cNvPr id="105478" name="Rectangle 7"/>
          <p:cNvSpPr>
            <a:spLocks noChangeArrowheads="1"/>
          </p:cNvSpPr>
          <p:nvPr/>
        </p:nvSpPr>
        <p:spPr bwMode="auto">
          <a:xfrm>
            <a:off x="2590800" y="3352800"/>
            <a:ext cx="838200" cy="5334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/>
              <a:t>commit</a:t>
            </a:r>
          </a:p>
        </p:txBody>
      </p:sp>
      <p:sp>
        <p:nvSpPr>
          <p:cNvPr id="105479" name="Line 8"/>
          <p:cNvSpPr>
            <a:spLocks noChangeShapeType="1"/>
          </p:cNvSpPr>
          <p:nvPr/>
        </p:nvSpPr>
        <p:spPr bwMode="auto">
          <a:xfrm>
            <a:off x="457200" y="3124200"/>
            <a:ext cx="3352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cxnSp>
        <p:nvCxnSpPr>
          <p:cNvPr id="105480" name="AutoShape 9"/>
          <p:cNvCxnSpPr>
            <a:cxnSpLocks noChangeShapeType="1"/>
            <a:stCxn id="105474" idx="3"/>
            <a:endCxn id="105475" idx="1"/>
          </p:cNvCxnSpPr>
          <p:nvPr/>
        </p:nvCxnSpPr>
        <p:spPr bwMode="auto">
          <a:xfrm flipV="1">
            <a:off x="4267200" y="2552700"/>
            <a:ext cx="838200" cy="1066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latin typeface="微软雅黑"/>
                <a:ea typeface="微软雅黑"/>
                <a:cs typeface="微软雅黑"/>
              </a:rPr>
              <a:t>Cobar 1.2 </a:t>
            </a:r>
            <a:r>
              <a:rPr lang="zh-CN" altLang="en-US" smtClean="0">
                <a:latin typeface="微软雅黑"/>
                <a:ea typeface="微软雅黑"/>
                <a:cs typeface="微软雅黑"/>
              </a:rPr>
              <a:t>事务支持</a:t>
            </a:r>
          </a:p>
        </p:txBody>
      </p:sp>
      <p:sp>
        <p:nvSpPr>
          <p:cNvPr id="106498" name="Rectangle 3"/>
          <p:cNvSpPr>
            <a:spLocks noChangeArrowheads="1"/>
          </p:cNvSpPr>
          <p:nvPr/>
        </p:nvSpPr>
        <p:spPr bwMode="auto">
          <a:xfrm>
            <a:off x="228600" y="3352800"/>
            <a:ext cx="4038600" cy="5334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zh-CN" altLang="en-US"/>
              <a:t>前端连接</a:t>
            </a:r>
          </a:p>
        </p:txBody>
      </p:sp>
      <p:sp>
        <p:nvSpPr>
          <p:cNvPr id="106499" name="Rectangle 4"/>
          <p:cNvSpPr>
            <a:spLocks noChangeArrowheads="1"/>
          </p:cNvSpPr>
          <p:nvPr/>
        </p:nvSpPr>
        <p:spPr bwMode="auto">
          <a:xfrm>
            <a:off x="5105400" y="2286000"/>
            <a:ext cx="3505200" cy="5334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r"/>
            <a:r>
              <a:rPr lang="zh-CN" altLang="en-US"/>
              <a:t>分库</a:t>
            </a:r>
            <a:r>
              <a:rPr lang="en-US" altLang="zh-CN"/>
              <a:t>1</a:t>
            </a:r>
            <a:r>
              <a:rPr lang="zh-CN" altLang="en-US"/>
              <a:t>连接</a:t>
            </a:r>
          </a:p>
        </p:txBody>
      </p:sp>
      <p:sp>
        <p:nvSpPr>
          <p:cNvPr id="106500" name="Rectangle 5"/>
          <p:cNvSpPr>
            <a:spLocks noChangeArrowheads="1"/>
          </p:cNvSpPr>
          <p:nvPr/>
        </p:nvSpPr>
        <p:spPr bwMode="auto">
          <a:xfrm>
            <a:off x="6553200" y="2286000"/>
            <a:ext cx="838200" cy="5334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/>
              <a:t>sql1</a:t>
            </a:r>
          </a:p>
        </p:txBody>
      </p:sp>
      <p:sp>
        <p:nvSpPr>
          <p:cNvPr id="106501" name="Rectangle 6"/>
          <p:cNvSpPr>
            <a:spLocks noChangeArrowheads="1"/>
          </p:cNvSpPr>
          <p:nvPr/>
        </p:nvSpPr>
        <p:spPr bwMode="auto">
          <a:xfrm>
            <a:off x="3429000" y="3352800"/>
            <a:ext cx="838200" cy="5334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/>
              <a:t>commit</a:t>
            </a:r>
          </a:p>
        </p:txBody>
      </p:sp>
      <p:sp>
        <p:nvSpPr>
          <p:cNvPr id="106502" name="Line 7"/>
          <p:cNvSpPr>
            <a:spLocks noChangeShapeType="1"/>
          </p:cNvSpPr>
          <p:nvPr/>
        </p:nvSpPr>
        <p:spPr bwMode="auto">
          <a:xfrm>
            <a:off x="457200" y="3124200"/>
            <a:ext cx="3352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503" name="Rectangle 8"/>
          <p:cNvSpPr>
            <a:spLocks noChangeArrowheads="1"/>
          </p:cNvSpPr>
          <p:nvPr/>
        </p:nvSpPr>
        <p:spPr bwMode="auto">
          <a:xfrm>
            <a:off x="5105400" y="3352800"/>
            <a:ext cx="3505200" cy="5334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r"/>
            <a:r>
              <a:rPr lang="zh-CN" altLang="en-US"/>
              <a:t>分库</a:t>
            </a:r>
            <a:r>
              <a:rPr lang="en-US" altLang="zh-CN"/>
              <a:t>2</a:t>
            </a:r>
            <a:r>
              <a:rPr lang="zh-CN" altLang="en-US"/>
              <a:t>连接</a:t>
            </a:r>
          </a:p>
        </p:txBody>
      </p:sp>
      <p:sp>
        <p:nvSpPr>
          <p:cNvPr id="106504" name="Rectangle 9"/>
          <p:cNvSpPr>
            <a:spLocks noChangeArrowheads="1"/>
          </p:cNvSpPr>
          <p:nvPr/>
        </p:nvSpPr>
        <p:spPr bwMode="auto">
          <a:xfrm>
            <a:off x="5715000" y="3352800"/>
            <a:ext cx="838200" cy="5334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/>
              <a:t>sql2</a:t>
            </a:r>
          </a:p>
        </p:txBody>
      </p:sp>
      <p:sp>
        <p:nvSpPr>
          <p:cNvPr id="106505" name="Rectangle 10"/>
          <p:cNvSpPr>
            <a:spLocks noChangeArrowheads="1"/>
          </p:cNvSpPr>
          <p:nvPr/>
        </p:nvSpPr>
        <p:spPr bwMode="auto">
          <a:xfrm>
            <a:off x="5105400" y="4419600"/>
            <a:ext cx="3505200" cy="5334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r"/>
            <a:r>
              <a:rPr lang="zh-CN" altLang="en-US"/>
              <a:t>分库</a:t>
            </a:r>
            <a:r>
              <a:rPr lang="en-US" altLang="zh-CN"/>
              <a:t>3</a:t>
            </a:r>
            <a:r>
              <a:rPr lang="zh-CN" altLang="en-US"/>
              <a:t>连接</a:t>
            </a:r>
          </a:p>
        </p:txBody>
      </p:sp>
      <p:sp>
        <p:nvSpPr>
          <p:cNvPr id="106506" name="Rectangle 11"/>
          <p:cNvSpPr>
            <a:spLocks noChangeArrowheads="1"/>
          </p:cNvSpPr>
          <p:nvPr/>
        </p:nvSpPr>
        <p:spPr bwMode="auto">
          <a:xfrm>
            <a:off x="5715000" y="4419600"/>
            <a:ext cx="838200" cy="5334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/>
              <a:t>sql2</a:t>
            </a:r>
          </a:p>
        </p:txBody>
      </p:sp>
      <p:cxnSp>
        <p:nvCxnSpPr>
          <p:cNvPr id="106507" name="AutoShape 12"/>
          <p:cNvCxnSpPr>
            <a:cxnSpLocks noChangeShapeType="1"/>
            <a:stCxn id="106498" idx="3"/>
            <a:endCxn id="106503" idx="1"/>
          </p:cNvCxnSpPr>
          <p:nvPr/>
        </p:nvCxnSpPr>
        <p:spPr bwMode="auto">
          <a:xfrm>
            <a:off x="4267200" y="3619500"/>
            <a:ext cx="8382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06508" name="AutoShape 13"/>
          <p:cNvCxnSpPr>
            <a:cxnSpLocks noChangeShapeType="1"/>
            <a:stCxn id="106498" idx="3"/>
            <a:endCxn id="106505" idx="1"/>
          </p:cNvCxnSpPr>
          <p:nvPr/>
        </p:nvCxnSpPr>
        <p:spPr bwMode="auto">
          <a:xfrm>
            <a:off x="4267200" y="3619500"/>
            <a:ext cx="838200" cy="1066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06509" name="AutoShape 14"/>
          <p:cNvCxnSpPr>
            <a:cxnSpLocks noChangeShapeType="1"/>
            <a:stCxn id="106501" idx="3"/>
            <a:endCxn id="106499" idx="1"/>
          </p:cNvCxnSpPr>
          <p:nvPr/>
        </p:nvCxnSpPr>
        <p:spPr bwMode="auto">
          <a:xfrm flipV="1">
            <a:off x="4267200" y="2552700"/>
            <a:ext cx="838200" cy="1066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latin typeface="微软雅黑"/>
                <a:ea typeface="微软雅黑"/>
                <a:cs typeface="微软雅黑"/>
              </a:rPr>
              <a:t>Cobar </a:t>
            </a:r>
            <a:r>
              <a:rPr lang="zh-CN" altLang="en-US" smtClean="0">
                <a:latin typeface="微软雅黑"/>
                <a:ea typeface="微软雅黑"/>
                <a:cs typeface="微软雅黑"/>
              </a:rPr>
              <a:t>事务支持</a:t>
            </a:r>
          </a:p>
        </p:txBody>
      </p:sp>
      <p:sp>
        <p:nvSpPr>
          <p:cNvPr id="108546" name="Rectangle 3"/>
          <p:cNvSpPr>
            <a:spLocks noChangeArrowheads="1"/>
          </p:cNvSpPr>
          <p:nvPr/>
        </p:nvSpPr>
        <p:spPr bwMode="auto">
          <a:xfrm>
            <a:off x="228600" y="3352800"/>
            <a:ext cx="4038600" cy="5334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zh-CN" altLang="en-US"/>
              <a:t>前端连接</a:t>
            </a:r>
          </a:p>
        </p:txBody>
      </p:sp>
      <p:sp>
        <p:nvSpPr>
          <p:cNvPr id="108547" name="Rectangle 4"/>
          <p:cNvSpPr>
            <a:spLocks noChangeArrowheads="1"/>
          </p:cNvSpPr>
          <p:nvPr/>
        </p:nvSpPr>
        <p:spPr bwMode="auto">
          <a:xfrm>
            <a:off x="5105400" y="2286000"/>
            <a:ext cx="3505200" cy="5334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r"/>
            <a:r>
              <a:rPr lang="zh-CN" altLang="en-US"/>
              <a:t>分库</a:t>
            </a:r>
            <a:r>
              <a:rPr lang="en-US" altLang="zh-CN"/>
              <a:t>1</a:t>
            </a:r>
            <a:r>
              <a:rPr lang="zh-CN" altLang="en-US"/>
              <a:t>连接</a:t>
            </a:r>
          </a:p>
        </p:txBody>
      </p:sp>
      <p:sp>
        <p:nvSpPr>
          <p:cNvPr id="108548" name="Rectangle 5"/>
          <p:cNvSpPr>
            <a:spLocks noChangeArrowheads="1"/>
          </p:cNvSpPr>
          <p:nvPr/>
        </p:nvSpPr>
        <p:spPr bwMode="auto">
          <a:xfrm>
            <a:off x="6553200" y="2286000"/>
            <a:ext cx="838200" cy="5334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/>
              <a:t>sql1</a:t>
            </a:r>
          </a:p>
        </p:txBody>
      </p:sp>
      <p:sp>
        <p:nvSpPr>
          <p:cNvPr id="108549" name="Rectangle 6"/>
          <p:cNvSpPr>
            <a:spLocks noChangeArrowheads="1"/>
          </p:cNvSpPr>
          <p:nvPr/>
        </p:nvSpPr>
        <p:spPr bwMode="auto">
          <a:xfrm>
            <a:off x="3429000" y="3352800"/>
            <a:ext cx="838200" cy="5334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/>
              <a:t>commit</a:t>
            </a:r>
          </a:p>
        </p:txBody>
      </p:sp>
      <p:sp>
        <p:nvSpPr>
          <p:cNvPr id="108550" name="Line 7"/>
          <p:cNvSpPr>
            <a:spLocks noChangeShapeType="1"/>
          </p:cNvSpPr>
          <p:nvPr/>
        </p:nvSpPr>
        <p:spPr bwMode="auto">
          <a:xfrm>
            <a:off x="457200" y="3124200"/>
            <a:ext cx="3352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51" name="Rectangle 8"/>
          <p:cNvSpPr>
            <a:spLocks noChangeArrowheads="1"/>
          </p:cNvSpPr>
          <p:nvPr/>
        </p:nvSpPr>
        <p:spPr bwMode="auto">
          <a:xfrm>
            <a:off x="5105400" y="3352800"/>
            <a:ext cx="3505200" cy="5334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r"/>
            <a:r>
              <a:rPr lang="zh-CN" altLang="en-US"/>
              <a:t>分库</a:t>
            </a:r>
            <a:r>
              <a:rPr lang="en-US" altLang="zh-CN"/>
              <a:t>2</a:t>
            </a:r>
            <a:r>
              <a:rPr lang="zh-CN" altLang="en-US"/>
              <a:t>连接</a:t>
            </a:r>
          </a:p>
        </p:txBody>
      </p:sp>
      <p:sp>
        <p:nvSpPr>
          <p:cNvPr id="108552" name="Rectangle 9"/>
          <p:cNvSpPr>
            <a:spLocks noChangeArrowheads="1"/>
          </p:cNvSpPr>
          <p:nvPr/>
        </p:nvSpPr>
        <p:spPr bwMode="auto">
          <a:xfrm>
            <a:off x="5715000" y="3352800"/>
            <a:ext cx="838200" cy="5334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/>
              <a:t>sql2</a:t>
            </a:r>
          </a:p>
        </p:txBody>
      </p:sp>
      <p:sp>
        <p:nvSpPr>
          <p:cNvPr id="108553" name="Rectangle 10"/>
          <p:cNvSpPr>
            <a:spLocks noChangeArrowheads="1"/>
          </p:cNvSpPr>
          <p:nvPr/>
        </p:nvSpPr>
        <p:spPr bwMode="auto">
          <a:xfrm>
            <a:off x="5105400" y="4419600"/>
            <a:ext cx="3505200" cy="5334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r"/>
            <a:r>
              <a:rPr lang="zh-CN" altLang="en-US"/>
              <a:t>分库</a:t>
            </a:r>
            <a:r>
              <a:rPr lang="en-US" altLang="zh-CN"/>
              <a:t>3</a:t>
            </a:r>
            <a:r>
              <a:rPr lang="zh-CN" altLang="en-US"/>
              <a:t>连接</a:t>
            </a:r>
          </a:p>
        </p:txBody>
      </p:sp>
      <p:sp>
        <p:nvSpPr>
          <p:cNvPr id="108554" name="Rectangle 11"/>
          <p:cNvSpPr>
            <a:spLocks noChangeArrowheads="1"/>
          </p:cNvSpPr>
          <p:nvPr/>
        </p:nvSpPr>
        <p:spPr bwMode="auto">
          <a:xfrm>
            <a:off x="5715000" y="4419600"/>
            <a:ext cx="838200" cy="5334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/>
              <a:t>sql2</a:t>
            </a:r>
          </a:p>
        </p:txBody>
      </p:sp>
      <p:cxnSp>
        <p:nvCxnSpPr>
          <p:cNvPr id="108555" name="AutoShape 12"/>
          <p:cNvCxnSpPr>
            <a:cxnSpLocks noChangeShapeType="1"/>
            <a:stCxn id="108546" idx="3"/>
            <a:endCxn id="108551" idx="1"/>
          </p:cNvCxnSpPr>
          <p:nvPr/>
        </p:nvCxnSpPr>
        <p:spPr bwMode="auto">
          <a:xfrm>
            <a:off x="4267200" y="3619500"/>
            <a:ext cx="8382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08556" name="AutoShape 13"/>
          <p:cNvCxnSpPr>
            <a:cxnSpLocks noChangeShapeType="1"/>
            <a:stCxn id="108546" idx="3"/>
            <a:endCxn id="108553" idx="1"/>
          </p:cNvCxnSpPr>
          <p:nvPr/>
        </p:nvCxnSpPr>
        <p:spPr bwMode="auto">
          <a:xfrm>
            <a:off x="4267200" y="3619500"/>
            <a:ext cx="838200" cy="1066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08557" name="AutoShape 14"/>
          <p:cNvCxnSpPr>
            <a:cxnSpLocks noChangeShapeType="1"/>
            <a:stCxn id="108549" idx="3"/>
            <a:endCxn id="108547" idx="1"/>
          </p:cNvCxnSpPr>
          <p:nvPr/>
        </p:nvCxnSpPr>
        <p:spPr bwMode="auto">
          <a:xfrm flipV="1">
            <a:off x="4267200" y="2552700"/>
            <a:ext cx="838200" cy="1066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08558" name="Rectangle 15"/>
          <p:cNvSpPr>
            <a:spLocks noGrp="1" noChangeArrowheads="1"/>
          </p:cNvSpPr>
          <p:nvPr>
            <p:ph type="body" idx="1"/>
          </p:nvPr>
        </p:nvSpPr>
        <p:spPr>
          <a:xfrm>
            <a:off x="457200" y="5105400"/>
            <a:ext cx="8229600" cy="1219200"/>
          </a:xfrm>
        </p:spPr>
        <p:txBody>
          <a:bodyPr/>
          <a:lstStyle/>
          <a:p>
            <a:pPr eaLnBrk="1" hangingPunct="1"/>
            <a:r>
              <a:rPr lang="en-US" altLang="zh-CN" sz="2400" smtClean="0">
                <a:latin typeface="微软雅黑"/>
                <a:ea typeface="微软雅黑"/>
                <a:cs typeface="微软雅黑"/>
              </a:rPr>
              <a:t>Commit</a:t>
            </a:r>
            <a:r>
              <a:rPr lang="zh-CN" altLang="en-US" sz="2400" smtClean="0">
                <a:latin typeface="微软雅黑"/>
                <a:ea typeface="微软雅黑"/>
                <a:cs typeface="微软雅黑"/>
              </a:rPr>
              <a:t>有先后：隔离性问题</a:t>
            </a:r>
          </a:p>
          <a:p>
            <a:pPr eaLnBrk="1" hangingPunct="1"/>
            <a:r>
              <a:rPr lang="en-US" altLang="zh-CN" sz="2400" smtClean="0">
                <a:latin typeface="微软雅黑"/>
                <a:ea typeface="微软雅黑"/>
                <a:cs typeface="微软雅黑"/>
              </a:rPr>
              <a:t>Commit</a:t>
            </a:r>
            <a:r>
              <a:rPr lang="zh-CN" altLang="en-US" sz="2400" smtClean="0">
                <a:latin typeface="微软雅黑"/>
                <a:ea typeface="微软雅黑"/>
                <a:cs typeface="微软雅黑"/>
              </a:rPr>
              <a:t>有失败：一致性问题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59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594" name="Rectangle 3"/>
          <p:cNvSpPr>
            <a:spLocks noGrp="1" noChangeArrowheads="1"/>
          </p:cNvSpPr>
          <p:nvPr>
            <p:ph type="title"/>
          </p:nvPr>
        </p:nvSpPr>
        <p:spPr>
          <a:xfrm>
            <a:off x="1447800" y="76200"/>
            <a:ext cx="7696200" cy="1066800"/>
          </a:xfrm>
        </p:spPr>
        <p:txBody>
          <a:bodyPr/>
          <a:lstStyle/>
          <a:p>
            <a:pPr algn="l" eaLnBrk="1" hangingPunct="1"/>
            <a:r>
              <a:rPr lang="zh-CN" altLang="en-US" sz="4000" b="1" smtClean="0">
                <a:solidFill>
                  <a:schemeClr val="bg1"/>
                </a:solidFill>
                <a:ea typeface="微软雅黑"/>
                <a:cs typeface="微软雅黑"/>
              </a:rPr>
              <a:t>大纲</a:t>
            </a:r>
          </a:p>
        </p:txBody>
      </p:sp>
      <p:sp>
        <p:nvSpPr>
          <p:cNvPr id="110595" name="TextBox 7"/>
          <p:cNvSpPr txBox="1">
            <a:spLocks noChangeArrowheads="1"/>
          </p:cNvSpPr>
          <p:nvPr/>
        </p:nvSpPr>
        <p:spPr bwMode="auto">
          <a:xfrm>
            <a:off x="533400" y="1447800"/>
            <a:ext cx="7772400" cy="4965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>
              <a:buFont typeface="Wingdings" pitchFamily="2" charset="2"/>
              <a:buChar char="n"/>
            </a:pPr>
            <a:r>
              <a:rPr lang="zh-CN" altLang="en-US" sz="3200">
                <a:solidFill>
                  <a:schemeClr val="tx2"/>
                </a:solidFill>
                <a:latin typeface="微软雅黑"/>
                <a:sym typeface="Helvetica Neue"/>
              </a:rPr>
              <a:t>中间件引入</a:t>
            </a:r>
          </a:p>
          <a:p>
            <a:pPr marL="457200" indent="-457200">
              <a:buFont typeface="Wingdings" pitchFamily="2" charset="2"/>
              <a:buChar char="n"/>
            </a:pPr>
            <a:endParaRPr lang="zh-CN" altLang="en-US" sz="3200">
              <a:latin typeface="微软雅黑"/>
              <a:sym typeface="Helvetica Neue"/>
            </a:endParaRPr>
          </a:p>
          <a:p>
            <a:pPr marL="457200" indent="-457200">
              <a:buFont typeface="Wingdings" pitchFamily="2" charset="2"/>
              <a:buChar char="n"/>
            </a:pPr>
            <a:r>
              <a:rPr lang="en-US" altLang="zh-CN" sz="3200">
                <a:latin typeface="微软雅黑"/>
                <a:sym typeface="Helvetica Neue"/>
              </a:rPr>
              <a:t>Cobar</a:t>
            </a:r>
            <a:r>
              <a:rPr lang="zh-CN" altLang="en-US" sz="3200">
                <a:latin typeface="微软雅黑"/>
                <a:sym typeface="Helvetica Neue"/>
              </a:rPr>
              <a:t>策略</a:t>
            </a:r>
          </a:p>
          <a:p>
            <a:pPr marL="914400" lvl="1" indent="-457200">
              <a:buFont typeface="Wingdings" pitchFamily="2" charset="2"/>
              <a:buChar char="n"/>
            </a:pPr>
            <a:r>
              <a:rPr lang="zh-CN" altLang="en-US" sz="3200">
                <a:latin typeface="宋体" charset="-122"/>
                <a:ea typeface="宋体" charset="-122"/>
                <a:sym typeface="Helvetica Neue"/>
              </a:rPr>
              <a:t>水平拆分的数据分布</a:t>
            </a:r>
          </a:p>
          <a:p>
            <a:pPr marL="914400" lvl="1" indent="-457200">
              <a:buFont typeface="Wingdings" pitchFamily="2" charset="2"/>
              <a:buChar char="n"/>
            </a:pPr>
            <a:r>
              <a:rPr lang="zh-CN" altLang="en-US" sz="3200">
                <a:latin typeface="宋体" charset="-122"/>
                <a:ea typeface="宋体" charset="-122"/>
                <a:sym typeface="Helvetica Neue"/>
              </a:rPr>
              <a:t>几种</a:t>
            </a:r>
            <a:r>
              <a:rPr lang="en-US" altLang="zh-CN" sz="3200">
                <a:latin typeface="宋体" charset="-122"/>
                <a:ea typeface="宋体" charset="-122"/>
                <a:sym typeface="Helvetica Neue"/>
              </a:rPr>
              <a:t>SQL</a:t>
            </a:r>
            <a:r>
              <a:rPr lang="zh-CN" altLang="en-US" sz="3200">
                <a:latin typeface="宋体" charset="-122"/>
                <a:ea typeface="宋体" charset="-122"/>
                <a:sym typeface="Helvetica Neue"/>
              </a:rPr>
              <a:t>元素的执行策略</a:t>
            </a:r>
          </a:p>
          <a:p>
            <a:pPr marL="914400" lvl="1" indent="-457200">
              <a:buFont typeface="Wingdings" pitchFamily="2" charset="2"/>
              <a:buChar char="n"/>
            </a:pPr>
            <a:r>
              <a:rPr lang="zh-CN" altLang="en-US" sz="3200">
                <a:latin typeface="宋体" charset="-122"/>
                <a:ea typeface="宋体" charset="-122"/>
                <a:sym typeface="Helvetica Neue"/>
              </a:rPr>
              <a:t>事务策略</a:t>
            </a:r>
            <a:endParaRPr lang="zh-CN" altLang="en-US" sz="3200">
              <a:solidFill>
                <a:schemeClr val="tx2"/>
              </a:solidFill>
              <a:latin typeface="宋体" charset="-122"/>
              <a:ea typeface="宋体" charset="-122"/>
              <a:sym typeface="Helvetica Neue"/>
            </a:endParaRPr>
          </a:p>
          <a:p>
            <a:pPr marL="457200" indent="-457200">
              <a:buFont typeface="Wingdings" pitchFamily="2" charset="2"/>
              <a:buChar char="n"/>
            </a:pPr>
            <a:endParaRPr lang="zh-CN" altLang="en-US" sz="3200">
              <a:solidFill>
                <a:srgbClr val="FF0000"/>
              </a:solidFill>
              <a:latin typeface="微软雅黑"/>
              <a:sym typeface="Helvetica Neue"/>
            </a:endParaRPr>
          </a:p>
          <a:p>
            <a:pPr marL="457200" indent="-457200">
              <a:buFont typeface="Wingdings" pitchFamily="2" charset="2"/>
              <a:buChar char="n"/>
            </a:pPr>
            <a:r>
              <a:rPr lang="zh-CN" altLang="en-US" sz="3200">
                <a:solidFill>
                  <a:srgbClr val="FF0000"/>
                </a:solidFill>
                <a:latin typeface="微软雅黑"/>
                <a:sym typeface="Helvetica Neue"/>
              </a:rPr>
              <a:t>系统实现</a:t>
            </a:r>
          </a:p>
          <a:p>
            <a:pPr marL="457200" indent="-457200">
              <a:buFont typeface="Wingdings" pitchFamily="2" charset="2"/>
              <a:buChar char="n"/>
            </a:pPr>
            <a:endParaRPr lang="zh-CN" altLang="en-US" sz="3200">
              <a:solidFill>
                <a:schemeClr val="tx2"/>
              </a:solidFill>
              <a:latin typeface="微软雅黑"/>
              <a:sym typeface="Helvetica Neue"/>
            </a:endParaRPr>
          </a:p>
          <a:p>
            <a:pPr marL="457200" indent="-457200">
              <a:buFont typeface="Wingdings" pitchFamily="2" charset="2"/>
              <a:buChar char="n"/>
            </a:pPr>
            <a:r>
              <a:rPr lang="zh-CN" altLang="en-US" sz="3200">
                <a:solidFill>
                  <a:schemeClr val="tx2"/>
                </a:solidFill>
                <a:latin typeface="微软雅黑"/>
                <a:sym typeface="Helvetica Neue"/>
              </a:rPr>
              <a:t>实施应用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Rectangle 2"/>
          <p:cNvSpPr>
            <a:spLocks noChangeArrowheads="1"/>
          </p:cNvSpPr>
          <p:nvPr/>
        </p:nvSpPr>
        <p:spPr bwMode="auto">
          <a:xfrm>
            <a:off x="685800" y="1905000"/>
            <a:ext cx="6096000" cy="4648200"/>
          </a:xfrm>
          <a:prstGeom prst="rect">
            <a:avLst/>
          </a:prstGeom>
          <a:solidFill>
            <a:srgbClr val="99CCFF">
              <a:alpha val="29019"/>
            </a:srgbClr>
          </a:solidFill>
          <a:ln w="317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/>
          <a:lstStyle/>
          <a:p>
            <a:r>
              <a:rPr lang="en-US" altLang="zh-CN" b="1" i="1">
                <a:latin typeface="Times New Roman" pitchFamily="18" charset="0"/>
                <a:ea typeface="宋体" charset="-122"/>
              </a:rPr>
              <a:t>schema</a:t>
            </a:r>
          </a:p>
        </p:txBody>
      </p:sp>
      <p:sp>
        <p:nvSpPr>
          <p:cNvPr id="111618" name="Rectangle 3"/>
          <p:cNvSpPr>
            <a:spLocks noChangeArrowheads="1"/>
          </p:cNvSpPr>
          <p:nvPr/>
        </p:nvSpPr>
        <p:spPr bwMode="auto">
          <a:xfrm>
            <a:off x="2209800" y="2743200"/>
            <a:ext cx="2971800" cy="3733800"/>
          </a:xfrm>
          <a:prstGeom prst="rect">
            <a:avLst/>
          </a:prstGeom>
          <a:solidFill>
            <a:srgbClr val="99CCFF">
              <a:alpha val="29019"/>
            </a:srgbClr>
          </a:solidFill>
          <a:ln w="317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/>
          <a:lstStyle/>
          <a:p>
            <a:r>
              <a:rPr lang="en-US" altLang="zh-CN" b="1" i="1">
                <a:latin typeface="Times New Roman" pitchFamily="18" charset="0"/>
                <a:ea typeface="宋体" charset="-122"/>
              </a:rPr>
              <a:t>tableSpace</a:t>
            </a:r>
          </a:p>
        </p:txBody>
      </p:sp>
      <p:sp>
        <p:nvSpPr>
          <p:cNvPr id="111619" name="Rectangle 4"/>
          <p:cNvSpPr>
            <a:spLocks noChangeArrowheads="1"/>
          </p:cNvSpPr>
          <p:nvPr/>
        </p:nvSpPr>
        <p:spPr bwMode="auto">
          <a:xfrm>
            <a:off x="3581400" y="4038600"/>
            <a:ext cx="1524000" cy="2362200"/>
          </a:xfrm>
          <a:prstGeom prst="rect">
            <a:avLst/>
          </a:prstGeom>
          <a:solidFill>
            <a:srgbClr val="99CCFF">
              <a:alpha val="29019"/>
            </a:srgbClr>
          </a:solidFill>
          <a:ln w="317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/>
          <a:lstStyle/>
          <a:p>
            <a:r>
              <a:rPr lang="en-US" altLang="zh-CN" b="1" i="1">
                <a:latin typeface="Times New Roman" pitchFamily="18" charset="0"/>
                <a:ea typeface="宋体" charset="-122"/>
              </a:rPr>
              <a:t>dataNode</a:t>
            </a:r>
          </a:p>
        </p:txBody>
      </p:sp>
      <p:sp>
        <p:nvSpPr>
          <p:cNvPr id="111620" name="Rectangle 5"/>
          <p:cNvSpPr>
            <a:spLocks noChangeArrowheads="1"/>
          </p:cNvSpPr>
          <p:nvPr/>
        </p:nvSpPr>
        <p:spPr bwMode="auto">
          <a:xfrm>
            <a:off x="3733800" y="5029200"/>
            <a:ext cx="609600" cy="1295400"/>
          </a:xfrm>
          <a:prstGeom prst="rect">
            <a:avLst/>
          </a:prstGeom>
          <a:solidFill>
            <a:srgbClr val="99CCFF">
              <a:alpha val="29019"/>
            </a:srgbClr>
          </a:solidFill>
          <a:ln w="317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/>
          <a:lstStyle/>
          <a:p>
            <a:r>
              <a:rPr lang="en-US" altLang="zh-CN" sz="1400" b="1" i="1">
                <a:latin typeface="Times New Roman" pitchFamily="18" charset="0"/>
                <a:ea typeface="宋体" charset="-122"/>
              </a:rPr>
              <a:t>data</a:t>
            </a:r>
            <a:br>
              <a:rPr lang="en-US" altLang="zh-CN" sz="1400" b="1" i="1">
                <a:latin typeface="Times New Roman" pitchFamily="18" charset="0"/>
                <a:ea typeface="宋体" charset="-122"/>
              </a:rPr>
            </a:br>
            <a:r>
              <a:rPr lang="en-US" altLang="zh-CN" sz="1400" b="1" i="1">
                <a:latin typeface="Times New Roman" pitchFamily="18" charset="0"/>
                <a:ea typeface="宋体" charset="-122"/>
              </a:rPr>
              <a:t>source</a:t>
            </a:r>
          </a:p>
        </p:txBody>
      </p:sp>
      <p:sp>
        <p:nvSpPr>
          <p:cNvPr id="111621" name="Rectangle 6"/>
          <p:cNvSpPr>
            <a:spLocks noChangeArrowheads="1"/>
          </p:cNvSpPr>
          <p:nvPr/>
        </p:nvSpPr>
        <p:spPr bwMode="auto">
          <a:xfrm>
            <a:off x="2971800" y="2057400"/>
            <a:ext cx="1371600" cy="4572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cndb</a:t>
            </a:r>
          </a:p>
        </p:txBody>
      </p:sp>
      <p:sp>
        <p:nvSpPr>
          <p:cNvPr id="111622" name="Rectangle 7"/>
          <p:cNvSpPr>
            <a:spLocks noChangeArrowheads="1"/>
          </p:cNvSpPr>
          <p:nvPr/>
        </p:nvSpPr>
        <p:spPr bwMode="auto">
          <a:xfrm>
            <a:off x="7239000" y="2057400"/>
            <a:ext cx="914400" cy="4572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pc2</a:t>
            </a:r>
          </a:p>
        </p:txBody>
      </p:sp>
      <p:sp>
        <p:nvSpPr>
          <p:cNvPr id="111623" name="AutoShape 8"/>
          <p:cNvSpPr>
            <a:spLocks noChangeArrowheads="1"/>
          </p:cNvSpPr>
          <p:nvPr/>
        </p:nvSpPr>
        <p:spPr bwMode="auto">
          <a:xfrm>
            <a:off x="990600" y="5486400"/>
            <a:ext cx="457200" cy="762000"/>
          </a:xfrm>
          <a:prstGeom prst="can">
            <a:avLst>
              <a:gd name="adj" fmla="val 41667"/>
            </a:avLst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 sz="1600">
                <a:ea typeface="宋体" charset="-122"/>
              </a:rPr>
              <a:t>主</a:t>
            </a:r>
          </a:p>
        </p:txBody>
      </p:sp>
      <p:sp>
        <p:nvSpPr>
          <p:cNvPr id="111624" name="AutoShape 9"/>
          <p:cNvSpPr>
            <a:spLocks noChangeArrowheads="1"/>
          </p:cNvSpPr>
          <p:nvPr/>
        </p:nvSpPr>
        <p:spPr bwMode="auto">
          <a:xfrm>
            <a:off x="1676400" y="5486400"/>
            <a:ext cx="457200" cy="762000"/>
          </a:xfrm>
          <a:prstGeom prst="can">
            <a:avLst>
              <a:gd name="adj" fmla="val 41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 sz="1600">
                <a:ea typeface="宋体" charset="-122"/>
              </a:rPr>
              <a:t>备</a:t>
            </a:r>
          </a:p>
        </p:txBody>
      </p:sp>
      <p:cxnSp>
        <p:nvCxnSpPr>
          <p:cNvPr id="111625" name="AutoShape 10"/>
          <p:cNvCxnSpPr>
            <a:cxnSpLocks noChangeShapeType="1"/>
            <a:stCxn id="111623" idx="4"/>
            <a:endCxn id="111624" idx="2"/>
          </p:cNvCxnSpPr>
          <p:nvPr/>
        </p:nvCxnSpPr>
        <p:spPr bwMode="auto">
          <a:xfrm>
            <a:off x="1447800" y="5867400"/>
            <a:ext cx="228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</p:cxnSp>
      <p:sp>
        <p:nvSpPr>
          <p:cNvPr id="111626" name="AutoShape 11"/>
          <p:cNvSpPr>
            <a:spLocks noChangeArrowheads="1"/>
          </p:cNvSpPr>
          <p:nvPr/>
        </p:nvSpPr>
        <p:spPr bwMode="auto">
          <a:xfrm>
            <a:off x="2362200" y="5486400"/>
            <a:ext cx="457200" cy="762000"/>
          </a:xfrm>
          <a:prstGeom prst="can">
            <a:avLst>
              <a:gd name="adj" fmla="val 41667"/>
            </a:avLst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 sz="1600">
                <a:ea typeface="宋体" charset="-122"/>
              </a:rPr>
              <a:t>主</a:t>
            </a:r>
          </a:p>
        </p:txBody>
      </p:sp>
      <p:sp>
        <p:nvSpPr>
          <p:cNvPr id="111627" name="AutoShape 12"/>
          <p:cNvSpPr>
            <a:spLocks noChangeArrowheads="1"/>
          </p:cNvSpPr>
          <p:nvPr/>
        </p:nvSpPr>
        <p:spPr bwMode="auto">
          <a:xfrm>
            <a:off x="3048000" y="5486400"/>
            <a:ext cx="457200" cy="762000"/>
          </a:xfrm>
          <a:prstGeom prst="can">
            <a:avLst>
              <a:gd name="adj" fmla="val 41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 sz="1600">
                <a:ea typeface="宋体" charset="-122"/>
              </a:rPr>
              <a:t>备</a:t>
            </a:r>
          </a:p>
        </p:txBody>
      </p:sp>
      <p:cxnSp>
        <p:nvCxnSpPr>
          <p:cNvPr id="111628" name="AutoShape 13"/>
          <p:cNvCxnSpPr>
            <a:cxnSpLocks noChangeShapeType="1"/>
            <a:stCxn id="111626" idx="4"/>
            <a:endCxn id="111627" idx="2"/>
          </p:cNvCxnSpPr>
          <p:nvPr/>
        </p:nvCxnSpPr>
        <p:spPr bwMode="auto">
          <a:xfrm>
            <a:off x="2819400" y="5867400"/>
            <a:ext cx="228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</p:cxnSp>
      <p:cxnSp>
        <p:nvCxnSpPr>
          <p:cNvPr id="111629" name="AutoShape 14"/>
          <p:cNvCxnSpPr>
            <a:cxnSpLocks noChangeShapeType="1"/>
            <a:stCxn id="111621" idx="2"/>
            <a:endCxn id="111663" idx="0"/>
          </p:cNvCxnSpPr>
          <p:nvPr/>
        </p:nvCxnSpPr>
        <p:spPr bwMode="auto">
          <a:xfrm>
            <a:off x="3657600" y="2514600"/>
            <a:ext cx="0" cy="609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11630" name="AutoShape 15"/>
          <p:cNvCxnSpPr>
            <a:cxnSpLocks noChangeShapeType="1"/>
            <a:stCxn id="111621" idx="2"/>
            <a:endCxn id="111664" idx="0"/>
          </p:cNvCxnSpPr>
          <p:nvPr/>
        </p:nvCxnSpPr>
        <p:spPr bwMode="auto">
          <a:xfrm>
            <a:off x="3657600" y="2514600"/>
            <a:ext cx="2286000" cy="609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11631" name="AutoShape 16"/>
          <p:cNvCxnSpPr>
            <a:cxnSpLocks noChangeShapeType="1"/>
            <a:stCxn id="111621" idx="2"/>
            <a:endCxn id="111662" idx="0"/>
          </p:cNvCxnSpPr>
          <p:nvPr/>
        </p:nvCxnSpPr>
        <p:spPr bwMode="auto">
          <a:xfrm flipH="1">
            <a:off x="1524000" y="2514600"/>
            <a:ext cx="2133600" cy="609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11632" name="AutoShape 17"/>
          <p:cNvCxnSpPr>
            <a:cxnSpLocks noChangeShapeType="1"/>
            <a:stCxn id="111662" idx="2"/>
            <a:endCxn id="111642" idx="0"/>
          </p:cNvCxnSpPr>
          <p:nvPr/>
        </p:nvCxnSpPr>
        <p:spPr bwMode="auto">
          <a:xfrm>
            <a:off x="1524000" y="3733800"/>
            <a:ext cx="0" cy="685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11633" name="AutoShape 18"/>
          <p:cNvCxnSpPr>
            <a:cxnSpLocks noChangeShapeType="1"/>
            <a:stCxn id="111642" idx="2"/>
            <a:endCxn id="111623" idx="1"/>
          </p:cNvCxnSpPr>
          <p:nvPr/>
        </p:nvCxnSpPr>
        <p:spPr bwMode="auto">
          <a:xfrm flipH="1">
            <a:off x="1219200" y="4953000"/>
            <a:ext cx="304800" cy="533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11634" name="AutoShape 19"/>
          <p:cNvCxnSpPr>
            <a:cxnSpLocks noChangeShapeType="1"/>
            <a:stCxn id="111642" idx="2"/>
            <a:endCxn id="111624" idx="1"/>
          </p:cNvCxnSpPr>
          <p:nvPr/>
        </p:nvCxnSpPr>
        <p:spPr bwMode="auto">
          <a:xfrm>
            <a:off x="1524000" y="4953000"/>
            <a:ext cx="381000" cy="533400"/>
          </a:xfrm>
          <a:prstGeom prst="straightConnector1">
            <a:avLst/>
          </a:prstGeom>
          <a:noFill/>
          <a:ln w="3175">
            <a:solidFill>
              <a:schemeClr val="tx1"/>
            </a:solidFill>
            <a:prstDash val="dash"/>
            <a:round/>
            <a:headEnd/>
            <a:tailEnd/>
          </a:ln>
        </p:spPr>
      </p:cxnSp>
      <p:cxnSp>
        <p:nvCxnSpPr>
          <p:cNvPr id="111635" name="AutoShape 20"/>
          <p:cNvCxnSpPr>
            <a:cxnSpLocks noChangeShapeType="1"/>
            <a:stCxn id="111643" idx="2"/>
            <a:endCxn id="111626" idx="1"/>
          </p:cNvCxnSpPr>
          <p:nvPr/>
        </p:nvCxnSpPr>
        <p:spPr bwMode="auto">
          <a:xfrm flipH="1">
            <a:off x="2590800" y="4953000"/>
            <a:ext cx="304800" cy="533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11636" name="AutoShape 21"/>
          <p:cNvCxnSpPr>
            <a:cxnSpLocks noChangeShapeType="1"/>
            <a:stCxn id="111643" idx="2"/>
            <a:endCxn id="111627" idx="1"/>
          </p:cNvCxnSpPr>
          <p:nvPr/>
        </p:nvCxnSpPr>
        <p:spPr bwMode="auto">
          <a:xfrm>
            <a:off x="2895600" y="4953000"/>
            <a:ext cx="381000" cy="533400"/>
          </a:xfrm>
          <a:prstGeom prst="straightConnector1">
            <a:avLst/>
          </a:prstGeom>
          <a:noFill/>
          <a:ln w="3175">
            <a:solidFill>
              <a:schemeClr val="tx1"/>
            </a:solidFill>
            <a:prstDash val="dash"/>
            <a:round/>
            <a:headEnd/>
            <a:tailEnd/>
          </a:ln>
        </p:spPr>
      </p:cxnSp>
      <p:cxnSp>
        <p:nvCxnSpPr>
          <p:cNvPr id="111637" name="AutoShape 22"/>
          <p:cNvCxnSpPr>
            <a:cxnSpLocks noChangeShapeType="1"/>
            <a:stCxn id="111663" idx="2"/>
            <a:endCxn id="111643" idx="0"/>
          </p:cNvCxnSpPr>
          <p:nvPr/>
        </p:nvCxnSpPr>
        <p:spPr bwMode="auto">
          <a:xfrm flipH="1">
            <a:off x="2895600" y="3733800"/>
            <a:ext cx="762000" cy="685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11638" name="AutoShape 23"/>
          <p:cNvCxnSpPr>
            <a:cxnSpLocks noChangeShapeType="1"/>
            <a:stCxn id="111663" idx="2"/>
            <a:endCxn id="111649" idx="0"/>
          </p:cNvCxnSpPr>
          <p:nvPr/>
        </p:nvCxnSpPr>
        <p:spPr bwMode="auto">
          <a:xfrm>
            <a:off x="3657600" y="3733800"/>
            <a:ext cx="685800" cy="685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11639" name="AutoShape 24"/>
          <p:cNvCxnSpPr>
            <a:cxnSpLocks noChangeShapeType="1"/>
            <a:stCxn id="111664" idx="2"/>
            <a:endCxn id="111655" idx="0"/>
          </p:cNvCxnSpPr>
          <p:nvPr/>
        </p:nvCxnSpPr>
        <p:spPr bwMode="auto">
          <a:xfrm>
            <a:off x="5943600" y="3733800"/>
            <a:ext cx="0" cy="685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11640" name="AutoShape 25"/>
          <p:cNvCxnSpPr>
            <a:cxnSpLocks noChangeShapeType="1"/>
            <a:stCxn id="111665" idx="2"/>
            <a:endCxn id="111661" idx="0"/>
          </p:cNvCxnSpPr>
          <p:nvPr/>
        </p:nvCxnSpPr>
        <p:spPr bwMode="auto">
          <a:xfrm>
            <a:off x="7696200" y="3733800"/>
            <a:ext cx="0" cy="685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11641" name="AutoShape 26"/>
          <p:cNvCxnSpPr>
            <a:cxnSpLocks noChangeShapeType="1"/>
            <a:stCxn id="111622" idx="2"/>
            <a:endCxn id="111665" idx="0"/>
          </p:cNvCxnSpPr>
          <p:nvPr/>
        </p:nvCxnSpPr>
        <p:spPr bwMode="auto">
          <a:xfrm>
            <a:off x="7696200" y="2514600"/>
            <a:ext cx="0" cy="609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11642" name="AutoShape 27"/>
          <p:cNvSpPr>
            <a:spLocks noChangeArrowheads="1"/>
          </p:cNvSpPr>
          <p:nvPr/>
        </p:nvSpPr>
        <p:spPr bwMode="auto">
          <a:xfrm>
            <a:off x="1066800" y="4419600"/>
            <a:ext cx="914400" cy="533400"/>
          </a:xfrm>
          <a:prstGeom prst="roundRect">
            <a:avLst>
              <a:gd name="adj" fmla="val 16667"/>
            </a:avLst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default</a:t>
            </a:r>
          </a:p>
        </p:txBody>
      </p:sp>
      <p:sp>
        <p:nvSpPr>
          <p:cNvPr id="111643" name="AutoShape 28"/>
          <p:cNvSpPr>
            <a:spLocks noChangeArrowheads="1"/>
          </p:cNvSpPr>
          <p:nvPr/>
        </p:nvSpPr>
        <p:spPr bwMode="auto">
          <a:xfrm>
            <a:off x="2438400" y="4419600"/>
            <a:ext cx="914400" cy="533400"/>
          </a:xfrm>
          <a:prstGeom prst="roundRect">
            <a:avLst>
              <a:gd name="adj" fmla="val 16667"/>
            </a:avLst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offer[0]</a:t>
            </a:r>
          </a:p>
        </p:txBody>
      </p:sp>
      <p:sp>
        <p:nvSpPr>
          <p:cNvPr id="111644" name="AutoShape 29"/>
          <p:cNvSpPr>
            <a:spLocks noChangeArrowheads="1"/>
          </p:cNvSpPr>
          <p:nvPr/>
        </p:nvSpPr>
        <p:spPr bwMode="auto">
          <a:xfrm>
            <a:off x="3810000" y="5486400"/>
            <a:ext cx="457200" cy="762000"/>
          </a:xfrm>
          <a:prstGeom prst="can">
            <a:avLst>
              <a:gd name="adj" fmla="val 41667"/>
            </a:avLst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 sz="1600">
                <a:ea typeface="宋体" charset="-122"/>
              </a:rPr>
              <a:t>主</a:t>
            </a:r>
          </a:p>
        </p:txBody>
      </p:sp>
      <p:sp>
        <p:nvSpPr>
          <p:cNvPr id="111645" name="AutoShape 30"/>
          <p:cNvSpPr>
            <a:spLocks noChangeArrowheads="1"/>
          </p:cNvSpPr>
          <p:nvPr/>
        </p:nvSpPr>
        <p:spPr bwMode="auto">
          <a:xfrm>
            <a:off x="4495800" y="5486400"/>
            <a:ext cx="457200" cy="762000"/>
          </a:xfrm>
          <a:prstGeom prst="can">
            <a:avLst>
              <a:gd name="adj" fmla="val 41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 sz="1600">
                <a:ea typeface="宋体" charset="-122"/>
              </a:rPr>
              <a:t>备</a:t>
            </a:r>
          </a:p>
        </p:txBody>
      </p:sp>
      <p:cxnSp>
        <p:nvCxnSpPr>
          <p:cNvPr id="111646" name="AutoShape 31"/>
          <p:cNvCxnSpPr>
            <a:cxnSpLocks noChangeShapeType="1"/>
            <a:stCxn id="111644" idx="4"/>
            <a:endCxn id="111645" idx="2"/>
          </p:cNvCxnSpPr>
          <p:nvPr/>
        </p:nvCxnSpPr>
        <p:spPr bwMode="auto">
          <a:xfrm>
            <a:off x="4267200" y="5867400"/>
            <a:ext cx="228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</p:cxnSp>
      <p:cxnSp>
        <p:nvCxnSpPr>
          <p:cNvPr id="111647" name="AutoShape 32"/>
          <p:cNvCxnSpPr>
            <a:cxnSpLocks noChangeShapeType="1"/>
            <a:stCxn id="111649" idx="2"/>
            <a:endCxn id="111644" idx="1"/>
          </p:cNvCxnSpPr>
          <p:nvPr/>
        </p:nvCxnSpPr>
        <p:spPr bwMode="auto">
          <a:xfrm flipH="1">
            <a:off x="4038600" y="4953000"/>
            <a:ext cx="304800" cy="533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11648" name="AutoShape 33"/>
          <p:cNvCxnSpPr>
            <a:cxnSpLocks noChangeShapeType="1"/>
            <a:stCxn id="111649" idx="2"/>
            <a:endCxn id="111645" idx="1"/>
          </p:cNvCxnSpPr>
          <p:nvPr/>
        </p:nvCxnSpPr>
        <p:spPr bwMode="auto">
          <a:xfrm>
            <a:off x="4343400" y="4953000"/>
            <a:ext cx="381000" cy="533400"/>
          </a:xfrm>
          <a:prstGeom prst="straightConnector1">
            <a:avLst/>
          </a:prstGeom>
          <a:noFill/>
          <a:ln w="3175">
            <a:solidFill>
              <a:schemeClr val="tx1"/>
            </a:solidFill>
            <a:prstDash val="dash"/>
            <a:round/>
            <a:headEnd/>
            <a:tailEnd/>
          </a:ln>
        </p:spPr>
      </p:cxnSp>
      <p:sp>
        <p:nvSpPr>
          <p:cNvPr id="111649" name="AutoShape 34"/>
          <p:cNvSpPr>
            <a:spLocks noChangeArrowheads="1"/>
          </p:cNvSpPr>
          <p:nvPr/>
        </p:nvSpPr>
        <p:spPr bwMode="auto">
          <a:xfrm>
            <a:off x="3886200" y="4419600"/>
            <a:ext cx="914400" cy="533400"/>
          </a:xfrm>
          <a:prstGeom prst="roundRect">
            <a:avLst>
              <a:gd name="adj" fmla="val 16667"/>
            </a:avLst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offer[1]</a:t>
            </a:r>
          </a:p>
        </p:txBody>
      </p:sp>
      <p:sp>
        <p:nvSpPr>
          <p:cNvPr id="111650" name="AutoShape 35"/>
          <p:cNvSpPr>
            <a:spLocks noChangeArrowheads="1"/>
          </p:cNvSpPr>
          <p:nvPr/>
        </p:nvSpPr>
        <p:spPr bwMode="auto">
          <a:xfrm>
            <a:off x="5410200" y="5486400"/>
            <a:ext cx="457200" cy="762000"/>
          </a:xfrm>
          <a:prstGeom prst="can">
            <a:avLst>
              <a:gd name="adj" fmla="val 41667"/>
            </a:avLst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 sz="1600">
                <a:ea typeface="宋体" charset="-122"/>
              </a:rPr>
              <a:t>主</a:t>
            </a:r>
          </a:p>
        </p:txBody>
      </p:sp>
      <p:sp>
        <p:nvSpPr>
          <p:cNvPr id="111651" name="AutoShape 36"/>
          <p:cNvSpPr>
            <a:spLocks noChangeArrowheads="1"/>
          </p:cNvSpPr>
          <p:nvPr/>
        </p:nvSpPr>
        <p:spPr bwMode="auto">
          <a:xfrm>
            <a:off x="6096000" y="5486400"/>
            <a:ext cx="457200" cy="762000"/>
          </a:xfrm>
          <a:prstGeom prst="can">
            <a:avLst>
              <a:gd name="adj" fmla="val 41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 sz="1600">
                <a:ea typeface="宋体" charset="-122"/>
              </a:rPr>
              <a:t>备</a:t>
            </a:r>
          </a:p>
        </p:txBody>
      </p:sp>
      <p:cxnSp>
        <p:nvCxnSpPr>
          <p:cNvPr id="111652" name="AutoShape 37"/>
          <p:cNvCxnSpPr>
            <a:cxnSpLocks noChangeShapeType="1"/>
            <a:stCxn id="111650" idx="4"/>
            <a:endCxn id="111651" idx="2"/>
          </p:cNvCxnSpPr>
          <p:nvPr/>
        </p:nvCxnSpPr>
        <p:spPr bwMode="auto">
          <a:xfrm>
            <a:off x="5867400" y="5867400"/>
            <a:ext cx="228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</p:cxnSp>
      <p:cxnSp>
        <p:nvCxnSpPr>
          <p:cNvPr id="111653" name="AutoShape 38"/>
          <p:cNvCxnSpPr>
            <a:cxnSpLocks noChangeShapeType="1"/>
            <a:stCxn id="111655" idx="2"/>
            <a:endCxn id="111650" idx="1"/>
          </p:cNvCxnSpPr>
          <p:nvPr/>
        </p:nvCxnSpPr>
        <p:spPr bwMode="auto">
          <a:xfrm flipH="1">
            <a:off x="5638800" y="4953000"/>
            <a:ext cx="304800" cy="533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11654" name="AutoShape 39"/>
          <p:cNvCxnSpPr>
            <a:cxnSpLocks noChangeShapeType="1"/>
            <a:stCxn id="111655" idx="2"/>
            <a:endCxn id="111651" idx="1"/>
          </p:cNvCxnSpPr>
          <p:nvPr/>
        </p:nvCxnSpPr>
        <p:spPr bwMode="auto">
          <a:xfrm>
            <a:off x="5943600" y="4953000"/>
            <a:ext cx="381000" cy="533400"/>
          </a:xfrm>
          <a:prstGeom prst="straightConnector1">
            <a:avLst/>
          </a:prstGeom>
          <a:noFill/>
          <a:ln w="3175">
            <a:solidFill>
              <a:schemeClr val="tx1"/>
            </a:solidFill>
            <a:prstDash val="dash"/>
            <a:round/>
            <a:headEnd/>
            <a:tailEnd/>
          </a:ln>
        </p:spPr>
      </p:cxnSp>
      <p:sp>
        <p:nvSpPr>
          <p:cNvPr id="111655" name="AutoShape 40"/>
          <p:cNvSpPr>
            <a:spLocks noChangeArrowheads="1"/>
          </p:cNvSpPr>
          <p:nvPr/>
        </p:nvSpPr>
        <p:spPr bwMode="auto">
          <a:xfrm>
            <a:off x="5486400" y="4419600"/>
            <a:ext cx="914400" cy="533400"/>
          </a:xfrm>
          <a:prstGeom prst="roundRect">
            <a:avLst>
              <a:gd name="adj" fmla="val 16667"/>
            </a:avLst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detail[0]</a:t>
            </a:r>
          </a:p>
        </p:txBody>
      </p:sp>
      <p:sp>
        <p:nvSpPr>
          <p:cNvPr id="111656" name="AutoShape 41"/>
          <p:cNvSpPr>
            <a:spLocks noChangeArrowheads="1"/>
          </p:cNvSpPr>
          <p:nvPr/>
        </p:nvSpPr>
        <p:spPr bwMode="auto">
          <a:xfrm>
            <a:off x="7162800" y="5486400"/>
            <a:ext cx="457200" cy="762000"/>
          </a:xfrm>
          <a:prstGeom prst="can">
            <a:avLst>
              <a:gd name="adj" fmla="val 41667"/>
            </a:avLst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 sz="1600">
                <a:ea typeface="宋体" charset="-122"/>
              </a:rPr>
              <a:t>主</a:t>
            </a:r>
          </a:p>
        </p:txBody>
      </p:sp>
      <p:sp>
        <p:nvSpPr>
          <p:cNvPr id="111657" name="AutoShape 42"/>
          <p:cNvSpPr>
            <a:spLocks noChangeArrowheads="1"/>
          </p:cNvSpPr>
          <p:nvPr/>
        </p:nvSpPr>
        <p:spPr bwMode="auto">
          <a:xfrm>
            <a:off x="7848600" y="5486400"/>
            <a:ext cx="457200" cy="762000"/>
          </a:xfrm>
          <a:prstGeom prst="can">
            <a:avLst>
              <a:gd name="adj" fmla="val 41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 sz="1600">
                <a:ea typeface="宋体" charset="-122"/>
              </a:rPr>
              <a:t>备</a:t>
            </a:r>
          </a:p>
        </p:txBody>
      </p:sp>
      <p:cxnSp>
        <p:nvCxnSpPr>
          <p:cNvPr id="111658" name="AutoShape 43"/>
          <p:cNvCxnSpPr>
            <a:cxnSpLocks noChangeShapeType="1"/>
            <a:stCxn id="111656" idx="4"/>
            <a:endCxn id="111657" idx="2"/>
          </p:cNvCxnSpPr>
          <p:nvPr/>
        </p:nvCxnSpPr>
        <p:spPr bwMode="auto">
          <a:xfrm>
            <a:off x="7620000" y="5867400"/>
            <a:ext cx="228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</p:cxnSp>
      <p:cxnSp>
        <p:nvCxnSpPr>
          <p:cNvPr id="111659" name="AutoShape 44"/>
          <p:cNvCxnSpPr>
            <a:cxnSpLocks noChangeShapeType="1"/>
            <a:stCxn id="111661" idx="2"/>
            <a:endCxn id="111656" idx="1"/>
          </p:cNvCxnSpPr>
          <p:nvPr/>
        </p:nvCxnSpPr>
        <p:spPr bwMode="auto">
          <a:xfrm flipH="1">
            <a:off x="7391400" y="4953000"/>
            <a:ext cx="304800" cy="533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11660" name="AutoShape 45"/>
          <p:cNvCxnSpPr>
            <a:cxnSpLocks noChangeShapeType="1"/>
            <a:stCxn id="111661" idx="2"/>
            <a:endCxn id="111657" idx="1"/>
          </p:cNvCxnSpPr>
          <p:nvPr/>
        </p:nvCxnSpPr>
        <p:spPr bwMode="auto">
          <a:xfrm>
            <a:off x="7696200" y="4953000"/>
            <a:ext cx="381000" cy="533400"/>
          </a:xfrm>
          <a:prstGeom prst="straightConnector1">
            <a:avLst/>
          </a:prstGeom>
          <a:noFill/>
          <a:ln w="3175">
            <a:solidFill>
              <a:schemeClr val="tx1"/>
            </a:solidFill>
            <a:prstDash val="dash"/>
            <a:round/>
            <a:headEnd/>
            <a:tailEnd/>
          </a:ln>
        </p:spPr>
      </p:cxnSp>
      <p:sp>
        <p:nvSpPr>
          <p:cNvPr id="111661" name="AutoShape 46"/>
          <p:cNvSpPr>
            <a:spLocks noChangeArrowheads="1"/>
          </p:cNvSpPr>
          <p:nvPr/>
        </p:nvSpPr>
        <p:spPr bwMode="auto">
          <a:xfrm>
            <a:off x="7239000" y="4419600"/>
            <a:ext cx="914400" cy="533400"/>
          </a:xfrm>
          <a:prstGeom prst="roundRect">
            <a:avLst>
              <a:gd name="adj" fmla="val 16667"/>
            </a:avLst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default</a:t>
            </a:r>
          </a:p>
        </p:txBody>
      </p:sp>
      <p:sp>
        <p:nvSpPr>
          <p:cNvPr id="111662" name="AutoShape 47"/>
          <p:cNvSpPr>
            <a:spLocks noChangeArrowheads="1"/>
          </p:cNvSpPr>
          <p:nvPr/>
        </p:nvSpPr>
        <p:spPr bwMode="auto">
          <a:xfrm>
            <a:off x="990600" y="3124200"/>
            <a:ext cx="1066800" cy="609600"/>
          </a:xfrm>
          <a:prstGeom prst="flowChartInternalStorage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default</a:t>
            </a:r>
          </a:p>
        </p:txBody>
      </p:sp>
      <p:sp>
        <p:nvSpPr>
          <p:cNvPr id="111663" name="AutoShape 48"/>
          <p:cNvSpPr>
            <a:spLocks noChangeArrowheads="1"/>
          </p:cNvSpPr>
          <p:nvPr/>
        </p:nvSpPr>
        <p:spPr bwMode="auto">
          <a:xfrm>
            <a:off x="3124200" y="3124200"/>
            <a:ext cx="1066800" cy="609600"/>
          </a:xfrm>
          <a:prstGeom prst="flowChartInternalStorage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offer</a:t>
            </a:r>
          </a:p>
        </p:txBody>
      </p:sp>
      <p:sp>
        <p:nvSpPr>
          <p:cNvPr id="111664" name="AutoShape 49"/>
          <p:cNvSpPr>
            <a:spLocks noChangeArrowheads="1"/>
          </p:cNvSpPr>
          <p:nvPr/>
        </p:nvSpPr>
        <p:spPr bwMode="auto">
          <a:xfrm>
            <a:off x="5410200" y="3124200"/>
            <a:ext cx="1066800" cy="609600"/>
          </a:xfrm>
          <a:prstGeom prst="flowChartInternalStorage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detail</a:t>
            </a:r>
          </a:p>
        </p:txBody>
      </p:sp>
      <p:sp>
        <p:nvSpPr>
          <p:cNvPr id="111665" name="AutoShape 50"/>
          <p:cNvSpPr>
            <a:spLocks noChangeArrowheads="1"/>
          </p:cNvSpPr>
          <p:nvPr/>
        </p:nvSpPr>
        <p:spPr bwMode="auto">
          <a:xfrm>
            <a:off x="7162800" y="3124200"/>
            <a:ext cx="1066800" cy="609600"/>
          </a:xfrm>
          <a:prstGeom prst="flowChartInternalStorage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detail</a:t>
            </a:r>
          </a:p>
        </p:txBody>
      </p:sp>
      <p:sp>
        <p:nvSpPr>
          <p:cNvPr id="111666" name="Rectangle 5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latin typeface="微软雅黑"/>
                <a:ea typeface="微软雅黑"/>
                <a:cs typeface="微软雅黑"/>
              </a:rPr>
              <a:t>逻辑层次 </a:t>
            </a:r>
            <a:r>
              <a:rPr lang="en-US" altLang="zh-CN" smtClean="0">
                <a:latin typeface="微软雅黑"/>
                <a:ea typeface="微软雅黑"/>
                <a:cs typeface="微软雅黑"/>
              </a:rPr>
              <a:t>—— </a:t>
            </a:r>
            <a:r>
              <a:rPr lang="zh-CN" altLang="en-US" smtClean="0">
                <a:latin typeface="微软雅黑"/>
                <a:ea typeface="微软雅黑"/>
                <a:cs typeface="微软雅黑"/>
              </a:rPr>
              <a:t>接口同</a:t>
            </a:r>
            <a:r>
              <a:rPr lang="en-US" altLang="zh-CN" smtClean="0">
                <a:latin typeface="微软雅黑"/>
                <a:ea typeface="微软雅黑"/>
                <a:cs typeface="微软雅黑"/>
              </a:rPr>
              <a:t>MySQL</a:t>
            </a:r>
          </a:p>
        </p:txBody>
      </p:sp>
      <p:sp>
        <p:nvSpPr>
          <p:cNvPr id="111667" name="Text Box 52"/>
          <p:cNvSpPr txBox="1">
            <a:spLocks noChangeArrowheads="1"/>
          </p:cNvSpPr>
          <p:nvPr/>
        </p:nvSpPr>
        <p:spPr bwMode="auto">
          <a:xfrm>
            <a:off x="533400" y="1371600"/>
            <a:ext cx="7543800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cs typeface="Courier New" pitchFamily="49" charset="0"/>
              </a:rPr>
              <a:t>jdbc:mysql://cobarIp:8066/</a:t>
            </a:r>
            <a:r>
              <a:rPr lang="en-US" altLang="zh-CN" b="1">
                <a:latin typeface="Courier New" pitchFamily="49" charset="0"/>
                <a:cs typeface="Courier New" pitchFamily="49" charset="0"/>
              </a:rPr>
              <a:t>cndb</a:t>
            </a:r>
            <a:r>
              <a:rPr lang="en-US" altLang="zh-CN">
                <a:latin typeface="Courier New" pitchFamily="49" charset="0"/>
                <a:cs typeface="Courier New" pitchFamily="49" charset="0"/>
              </a:rPr>
              <a:t>?user=foo&amp;password=bar</a:t>
            </a:r>
            <a:r>
              <a:rPr lang="en-US" altLang="zh-CN">
                <a:latin typeface="Times New Roman" pitchFamily="18" charset="0"/>
                <a:cs typeface="Courier New" pitchFamily="49" charset="0"/>
              </a:rPr>
              <a:t> </a:t>
            </a:r>
          </a:p>
        </p:txBody>
      </p:sp>
      <p:cxnSp>
        <p:nvCxnSpPr>
          <p:cNvPr id="111668" name="AutoShape 54"/>
          <p:cNvCxnSpPr>
            <a:cxnSpLocks noChangeShapeType="1"/>
            <a:stCxn id="111667" idx="2"/>
            <a:endCxn id="111621" idx="0"/>
          </p:cNvCxnSpPr>
          <p:nvPr/>
        </p:nvCxnSpPr>
        <p:spPr bwMode="auto">
          <a:xfrm flipH="1">
            <a:off x="3657600" y="1738313"/>
            <a:ext cx="647700" cy="319087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AutoShape 2"/>
          <p:cNvSpPr>
            <a:spLocks noChangeArrowheads="1"/>
          </p:cNvSpPr>
          <p:nvPr/>
        </p:nvSpPr>
        <p:spPr bwMode="auto">
          <a:xfrm>
            <a:off x="4267200" y="5943600"/>
            <a:ext cx="1447800" cy="533400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ea typeface="宋体" charset="-122"/>
              </a:rPr>
              <a:t>MySQL</a:t>
            </a:r>
          </a:p>
        </p:txBody>
      </p:sp>
      <p:sp>
        <p:nvSpPr>
          <p:cNvPr id="112642" name="AutoShape 3"/>
          <p:cNvSpPr>
            <a:spLocks noChangeArrowheads="1"/>
          </p:cNvSpPr>
          <p:nvPr/>
        </p:nvSpPr>
        <p:spPr bwMode="auto">
          <a:xfrm>
            <a:off x="5943600" y="5943600"/>
            <a:ext cx="1447800" cy="533400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ea typeface="宋体" charset="-122"/>
              </a:rPr>
              <a:t>MySQL</a:t>
            </a:r>
          </a:p>
        </p:txBody>
      </p:sp>
      <p:sp>
        <p:nvSpPr>
          <p:cNvPr id="112643" name="AutoShape 4"/>
          <p:cNvSpPr>
            <a:spLocks noChangeArrowheads="1"/>
          </p:cNvSpPr>
          <p:nvPr/>
        </p:nvSpPr>
        <p:spPr bwMode="auto">
          <a:xfrm>
            <a:off x="7620000" y="5943600"/>
            <a:ext cx="1447800" cy="533400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ea typeface="宋体" charset="-122"/>
              </a:rPr>
              <a:t>MySQL</a:t>
            </a:r>
          </a:p>
        </p:txBody>
      </p:sp>
      <p:sp>
        <p:nvSpPr>
          <p:cNvPr id="112644" name="Rectangle 5"/>
          <p:cNvSpPr>
            <a:spLocks noChangeArrowheads="1"/>
          </p:cNvSpPr>
          <p:nvPr/>
        </p:nvSpPr>
        <p:spPr bwMode="auto">
          <a:xfrm>
            <a:off x="2362200" y="1676400"/>
            <a:ext cx="6477000" cy="3657600"/>
          </a:xfrm>
          <a:prstGeom prst="rect">
            <a:avLst/>
          </a:prstGeom>
          <a:solidFill>
            <a:srgbClr val="C0C0C0">
              <a:alpha val="58823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12645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CN" smtClean="0"/>
              <a:t>Cobar</a:t>
            </a:r>
            <a:r>
              <a:rPr lang="zh-CN" altLang="en-US" smtClean="0">
                <a:ea typeface="微软雅黑"/>
                <a:cs typeface="微软雅黑"/>
              </a:rPr>
              <a:t>结构</a:t>
            </a:r>
          </a:p>
        </p:txBody>
      </p:sp>
      <p:sp>
        <p:nvSpPr>
          <p:cNvPr id="112646" name="Rectangle 7"/>
          <p:cNvSpPr>
            <a:spLocks noChangeArrowheads="1"/>
          </p:cNvSpPr>
          <p:nvPr/>
        </p:nvSpPr>
        <p:spPr bwMode="auto">
          <a:xfrm>
            <a:off x="2514600" y="1371600"/>
            <a:ext cx="62484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Front-end Communication</a:t>
            </a:r>
          </a:p>
        </p:txBody>
      </p:sp>
      <p:sp>
        <p:nvSpPr>
          <p:cNvPr id="112647" name="Rectangle 8"/>
          <p:cNvSpPr>
            <a:spLocks noChangeArrowheads="1"/>
          </p:cNvSpPr>
          <p:nvPr/>
        </p:nvSpPr>
        <p:spPr bwMode="auto">
          <a:xfrm>
            <a:off x="3048000" y="5105400"/>
            <a:ext cx="54864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MySQL Protcol Adaptor (BIO)</a:t>
            </a:r>
          </a:p>
        </p:txBody>
      </p:sp>
      <p:sp>
        <p:nvSpPr>
          <p:cNvPr id="112648" name="Rectangle 9"/>
          <p:cNvSpPr>
            <a:spLocks noChangeArrowheads="1"/>
          </p:cNvSpPr>
          <p:nvPr/>
        </p:nvSpPr>
        <p:spPr bwMode="auto">
          <a:xfrm>
            <a:off x="3657600" y="304800"/>
            <a:ext cx="48006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Application1</a:t>
            </a:r>
          </a:p>
        </p:txBody>
      </p:sp>
      <p:sp>
        <p:nvSpPr>
          <p:cNvPr id="112649" name="AutoShape 10"/>
          <p:cNvSpPr>
            <a:spLocks noChangeArrowheads="1"/>
          </p:cNvSpPr>
          <p:nvPr/>
        </p:nvSpPr>
        <p:spPr bwMode="auto">
          <a:xfrm>
            <a:off x="4191000" y="6019800"/>
            <a:ext cx="1447800" cy="533400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ea typeface="宋体" charset="-122"/>
              </a:rPr>
              <a:t>MySQL</a:t>
            </a:r>
          </a:p>
        </p:txBody>
      </p:sp>
      <p:sp>
        <p:nvSpPr>
          <p:cNvPr id="112650" name="AutoShape 11"/>
          <p:cNvSpPr>
            <a:spLocks noChangeArrowheads="1"/>
          </p:cNvSpPr>
          <p:nvPr/>
        </p:nvSpPr>
        <p:spPr bwMode="auto">
          <a:xfrm>
            <a:off x="4800600" y="5486400"/>
            <a:ext cx="304800" cy="609600"/>
          </a:xfrm>
          <a:prstGeom prst="upDownArrow">
            <a:avLst>
              <a:gd name="adj1" fmla="val 42704"/>
              <a:gd name="adj2" fmla="val 56250"/>
            </a:avLst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/>
            <a:endParaRPr lang="zh-CN" altLang="en-US"/>
          </a:p>
        </p:txBody>
      </p:sp>
      <p:grpSp>
        <p:nvGrpSpPr>
          <p:cNvPr id="112651" name="Group 12"/>
          <p:cNvGrpSpPr>
            <a:grpSpLocks/>
          </p:cNvGrpSpPr>
          <p:nvPr/>
        </p:nvGrpSpPr>
        <p:grpSpPr bwMode="auto">
          <a:xfrm>
            <a:off x="5105400" y="685800"/>
            <a:ext cx="2209800" cy="762000"/>
            <a:chOff x="3120" y="576"/>
            <a:chExt cx="1392" cy="480"/>
          </a:xfrm>
        </p:grpSpPr>
        <p:sp>
          <p:nvSpPr>
            <p:cNvPr id="112690" name="AutoShape 13"/>
            <p:cNvSpPr>
              <a:spLocks noChangeArrowheads="1"/>
            </p:cNvSpPr>
            <p:nvPr/>
          </p:nvSpPr>
          <p:spPr bwMode="auto">
            <a:xfrm>
              <a:off x="3504" y="576"/>
              <a:ext cx="576" cy="480"/>
            </a:xfrm>
            <a:prstGeom prst="upDownArrow">
              <a:avLst>
                <a:gd name="adj1" fmla="val 50694"/>
                <a:gd name="adj2" fmla="val 31667"/>
              </a:avLst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anchor="ctr"/>
            <a:lstStyle/>
            <a:p>
              <a:pPr algn="ctr"/>
              <a:endParaRPr lang="zh-CN" altLang="zh-CN">
                <a:ea typeface="宋体" charset="-122"/>
              </a:endParaRPr>
            </a:p>
          </p:txBody>
        </p:sp>
        <p:sp>
          <p:nvSpPr>
            <p:cNvPr id="112691" name="Text Box 14"/>
            <p:cNvSpPr txBox="1">
              <a:spLocks noChangeArrowheads="1"/>
            </p:cNvSpPr>
            <p:nvPr/>
          </p:nvSpPr>
          <p:spPr bwMode="auto">
            <a:xfrm>
              <a:off x="3120" y="681"/>
              <a:ext cx="139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i="1">
                  <a:latin typeface="Times New Roman" pitchFamily="18" charset="0"/>
                  <a:ea typeface="宋体" charset="-122"/>
                </a:rPr>
                <a:t>MySQL Protocol</a:t>
              </a:r>
            </a:p>
          </p:txBody>
        </p:sp>
      </p:grpSp>
      <p:sp>
        <p:nvSpPr>
          <p:cNvPr id="112652" name="AutoShape 15"/>
          <p:cNvSpPr>
            <a:spLocks noChangeArrowheads="1"/>
          </p:cNvSpPr>
          <p:nvPr/>
        </p:nvSpPr>
        <p:spPr bwMode="auto">
          <a:xfrm>
            <a:off x="5867400" y="6019800"/>
            <a:ext cx="1447800" cy="533400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ea typeface="宋体" charset="-122"/>
              </a:rPr>
              <a:t>MySQL</a:t>
            </a:r>
          </a:p>
        </p:txBody>
      </p:sp>
      <p:sp>
        <p:nvSpPr>
          <p:cNvPr id="112653" name="AutoShape 16"/>
          <p:cNvSpPr>
            <a:spLocks noChangeArrowheads="1"/>
          </p:cNvSpPr>
          <p:nvPr/>
        </p:nvSpPr>
        <p:spPr bwMode="auto">
          <a:xfrm>
            <a:off x="6477000" y="5486400"/>
            <a:ext cx="304800" cy="609600"/>
          </a:xfrm>
          <a:prstGeom prst="upDownArrow">
            <a:avLst>
              <a:gd name="adj1" fmla="val 42704"/>
              <a:gd name="adj2" fmla="val 56250"/>
            </a:avLst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/>
            <a:endParaRPr lang="zh-CN" altLang="en-US"/>
          </a:p>
        </p:txBody>
      </p:sp>
      <p:sp>
        <p:nvSpPr>
          <p:cNvPr id="112654" name="AutoShape 17"/>
          <p:cNvSpPr>
            <a:spLocks noChangeArrowheads="1"/>
          </p:cNvSpPr>
          <p:nvPr/>
        </p:nvSpPr>
        <p:spPr bwMode="auto">
          <a:xfrm>
            <a:off x="7543800" y="6019800"/>
            <a:ext cx="1447800" cy="533400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ea typeface="宋体" charset="-122"/>
              </a:rPr>
              <a:t>MySQL</a:t>
            </a:r>
          </a:p>
        </p:txBody>
      </p:sp>
      <p:sp>
        <p:nvSpPr>
          <p:cNvPr id="112655" name="AutoShape 18"/>
          <p:cNvSpPr>
            <a:spLocks noChangeArrowheads="1"/>
          </p:cNvSpPr>
          <p:nvPr/>
        </p:nvSpPr>
        <p:spPr bwMode="auto">
          <a:xfrm>
            <a:off x="8153400" y="5486400"/>
            <a:ext cx="304800" cy="609600"/>
          </a:xfrm>
          <a:prstGeom prst="upDownArrow">
            <a:avLst>
              <a:gd name="adj1" fmla="val 42704"/>
              <a:gd name="adj2" fmla="val 56250"/>
            </a:avLst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/>
            <a:endParaRPr lang="zh-CN" altLang="en-US"/>
          </a:p>
        </p:txBody>
      </p:sp>
      <p:sp>
        <p:nvSpPr>
          <p:cNvPr id="112656" name="Rectangle 19"/>
          <p:cNvSpPr>
            <a:spLocks noChangeArrowheads="1"/>
          </p:cNvSpPr>
          <p:nvPr/>
        </p:nvSpPr>
        <p:spPr bwMode="auto">
          <a:xfrm>
            <a:off x="3048000" y="4343400"/>
            <a:ext cx="5486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Data Nodes</a:t>
            </a:r>
          </a:p>
        </p:txBody>
      </p:sp>
      <p:sp>
        <p:nvSpPr>
          <p:cNvPr id="112657" name="Rectangle 20"/>
          <p:cNvSpPr>
            <a:spLocks noChangeArrowheads="1"/>
          </p:cNvSpPr>
          <p:nvPr/>
        </p:nvSpPr>
        <p:spPr bwMode="auto">
          <a:xfrm rot="10800000" flipV="1">
            <a:off x="1828800" y="2057400"/>
            <a:ext cx="990600" cy="3124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400">
                <a:ea typeface="宋体" charset="-122"/>
              </a:rPr>
              <a:t>Monitor</a:t>
            </a:r>
            <a:br>
              <a:rPr lang="en-US" altLang="zh-CN" sz="1400">
                <a:ea typeface="宋体" charset="-122"/>
              </a:rPr>
            </a:br>
            <a:endParaRPr lang="en-US" altLang="zh-CN" sz="1400">
              <a:ea typeface="宋体" charset="-122"/>
            </a:endParaRPr>
          </a:p>
          <a:p>
            <a:pPr algn="ctr"/>
            <a:r>
              <a:rPr lang="en-US" altLang="zh-CN" sz="1400">
                <a:ea typeface="宋体" charset="-122"/>
              </a:rPr>
              <a:t>Configure</a:t>
            </a:r>
          </a:p>
        </p:txBody>
      </p:sp>
      <p:sp>
        <p:nvSpPr>
          <p:cNvPr id="112658" name="Rectangle 21"/>
          <p:cNvSpPr>
            <a:spLocks noChangeArrowheads="1"/>
          </p:cNvSpPr>
          <p:nvPr/>
        </p:nvSpPr>
        <p:spPr bwMode="auto">
          <a:xfrm>
            <a:off x="3048000" y="4724400"/>
            <a:ext cx="5486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HA Pool</a:t>
            </a:r>
          </a:p>
        </p:txBody>
      </p:sp>
      <p:sp>
        <p:nvSpPr>
          <p:cNvPr id="112659" name="AutoShape 22"/>
          <p:cNvSpPr>
            <a:spLocks noChangeArrowheads="1"/>
          </p:cNvSpPr>
          <p:nvPr/>
        </p:nvSpPr>
        <p:spPr bwMode="auto">
          <a:xfrm>
            <a:off x="2590800" y="5943600"/>
            <a:ext cx="1447800" cy="533400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ea typeface="宋体" charset="-122"/>
              </a:rPr>
              <a:t>MySQL</a:t>
            </a:r>
          </a:p>
        </p:txBody>
      </p:sp>
      <p:sp>
        <p:nvSpPr>
          <p:cNvPr id="112660" name="AutoShape 23"/>
          <p:cNvSpPr>
            <a:spLocks noChangeArrowheads="1"/>
          </p:cNvSpPr>
          <p:nvPr/>
        </p:nvSpPr>
        <p:spPr bwMode="auto">
          <a:xfrm>
            <a:off x="2514600" y="6019800"/>
            <a:ext cx="1447800" cy="533400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ea typeface="宋体" charset="-122"/>
              </a:rPr>
              <a:t>MySQL</a:t>
            </a:r>
          </a:p>
        </p:txBody>
      </p:sp>
      <p:sp>
        <p:nvSpPr>
          <p:cNvPr id="112661" name="AutoShape 24"/>
          <p:cNvSpPr>
            <a:spLocks noChangeArrowheads="1"/>
          </p:cNvSpPr>
          <p:nvPr/>
        </p:nvSpPr>
        <p:spPr bwMode="auto">
          <a:xfrm>
            <a:off x="3124200" y="5486400"/>
            <a:ext cx="304800" cy="609600"/>
          </a:xfrm>
          <a:prstGeom prst="upDownArrow">
            <a:avLst>
              <a:gd name="adj1" fmla="val 42704"/>
              <a:gd name="adj2" fmla="val 56250"/>
            </a:avLst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/>
            <a:endParaRPr lang="zh-CN" altLang="en-US"/>
          </a:p>
        </p:txBody>
      </p:sp>
      <p:sp>
        <p:nvSpPr>
          <p:cNvPr id="112662" name="Rectangle 25"/>
          <p:cNvSpPr>
            <a:spLocks noChangeArrowheads="1"/>
          </p:cNvSpPr>
          <p:nvPr/>
        </p:nvSpPr>
        <p:spPr bwMode="auto">
          <a:xfrm>
            <a:off x="2971800" y="1752600"/>
            <a:ext cx="2590800" cy="2667000"/>
          </a:xfrm>
          <a:prstGeom prst="rect">
            <a:avLst/>
          </a:prstGeom>
          <a:solidFill>
            <a:srgbClr val="333333">
              <a:alpha val="83136"/>
            </a:srgbClr>
          </a:solidFill>
          <a:ln w="317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/>
          <a:lstStyle/>
          <a:p>
            <a:pPr algn="ctr"/>
            <a:r>
              <a:rPr lang="en-US" altLang="zh-CN" b="1" i="1">
                <a:solidFill>
                  <a:schemeClr val="bg1"/>
                </a:solidFill>
                <a:latin typeface="Times New Roman" pitchFamily="18" charset="0"/>
                <a:ea typeface="宋体" charset="-122"/>
              </a:rPr>
              <a:t>Processor(1)</a:t>
            </a:r>
          </a:p>
        </p:txBody>
      </p:sp>
      <p:sp>
        <p:nvSpPr>
          <p:cNvPr id="112663" name="Rectangle 26"/>
          <p:cNvSpPr>
            <a:spLocks noChangeArrowheads="1"/>
          </p:cNvSpPr>
          <p:nvPr/>
        </p:nvSpPr>
        <p:spPr bwMode="auto">
          <a:xfrm>
            <a:off x="6019800" y="1752600"/>
            <a:ext cx="2590800" cy="2667000"/>
          </a:xfrm>
          <a:prstGeom prst="rect">
            <a:avLst/>
          </a:prstGeom>
          <a:solidFill>
            <a:srgbClr val="333333">
              <a:alpha val="83136"/>
            </a:srgbClr>
          </a:solidFill>
          <a:ln w="317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/>
          <a:lstStyle/>
          <a:p>
            <a:pPr algn="ctr"/>
            <a:r>
              <a:rPr lang="en-US" altLang="zh-CN" b="1" i="1">
                <a:solidFill>
                  <a:schemeClr val="bg1"/>
                </a:solidFill>
                <a:latin typeface="Times New Roman" pitchFamily="18" charset="0"/>
                <a:ea typeface="宋体" charset="-122"/>
              </a:rPr>
              <a:t>Processor(n)</a:t>
            </a:r>
          </a:p>
        </p:txBody>
      </p:sp>
      <p:sp>
        <p:nvSpPr>
          <p:cNvPr id="112664" name="Rectangle 27"/>
          <p:cNvSpPr>
            <a:spLocks noChangeArrowheads="1"/>
          </p:cNvSpPr>
          <p:nvPr/>
        </p:nvSpPr>
        <p:spPr bwMode="auto">
          <a:xfrm>
            <a:off x="3048000" y="3733800"/>
            <a:ext cx="24384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SQL Executor</a:t>
            </a:r>
          </a:p>
        </p:txBody>
      </p:sp>
      <p:sp>
        <p:nvSpPr>
          <p:cNvPr id="112665" name="Rectangle 28"/>
          <p:cNvSpPr>
            <a:spLocks noChangeArrowheads="1"/>
          </p:cNvSpPr>
          <p:nvPr/>
        </p:nvSpPr>
        <p:spPr bwMode="auto">
          <a:xfrm>
            <a:off x="3048000" y="3048000"/>
            <a:ext cx="13716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SQL Router</a:t>
            </a:r>
          </a:p>
        </p:txBody>
      </p:sp>
      <p:sp>
        <p:nvSpPr>
          <p:cNvPr id="112666" name="Rectangle 29"/>
          <p:cNvSpPr>
            <a:spLocks noChangeArrowheads="1"/>
          </p:cNvSpPr>
          <p:nvPr/>
        </p:nvSpPr>
        <p:spPr bwMode="auto">
          <a:xfrm>
            <a:off x="3048000" y="2362200"/>
            <a:ext cx="13716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SQL Parser</a:t>
            </a:r>
          </a:p>
        </p:txBody>
      </p:sp>
      <p:sp>
        <p:nvSpPr>
          <p:cNvPr id="112667" name="Rectangle 30"/>
          <p:cNvSpPr>
            <a:spLocks noChangeArrowheads="1"/>
          </p:cNvSpPr>
          <p:nvPr/>
        </p:nvSpPr>
        <p:spPr bwMode="auto">
          <a:xfrm>
            <a:off x="4572000" y="2362200"/>
            <a:ext cx="914400" cy="1143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Result</a:t>
            </a:r>
            <a:br>
              <a:rPr lang="en-US" altLang="zh-CN">
                <a:ea typeface="宋体" charset="-122"/>
              </a:rPr>
            </a:br>
            <a:r>
              <a:rPr lang="en-US" altLang="zh-CN">
                <a:ea typeface="宋体" charset="-122"/>
              </a:rPr>
              <a:t>Merger</a:t>
            </a:r>
          </a:p>
        </p:txBody>
      </p:sp>
      <p:sp>
        <p:nvSpPr>
          <p:cNvPr id="112668" name="AutoShape 31"/>
          <p:cNvSpPr>
            <a:spLocks noChangeArrowheads="1"/>
          </p:cNvSpPr>
          <p:nvPr/>
        </p:nvSpPr>
        <p:spPr bwMode="auto">
          <a:xfrm>
            <a:off x="3373438" y="1828800"/>
            <a:ext cx="228600" cy="609600"/>
          </a:xfrm>
          <a:prstGeom prst="downArrow">
            <a:avLst>
              <a:gd name="adj1" fmla="val 50000"/>
              <a:gd name="adj2" fmla="val 66667"/>
            </a:avLst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/>
            <a:endParaRPr lang="zh-CN" altLang="en-US"/>
          </a:p>
        </p:txBody>
      </p:sp>
      <p:sp>
        <p:nvSpPr>
          <p:cNvPr id="112669" name="AutoShape 32"/>
          <p:cNvSpPr>
            <a:spLocks noChangeArrowheads="1"/>
          </p:cNvSpPr>
          <p:nvPr/>
        </p:nvSpPr>
        <p:spPr bwMode="auto">
          <a:xfrm>
            <a:off x="3352800" y="2667000"/>
            <a:ext cx="249238" cy="457200"/>
          </a:xfrm>
          <a:prstGeom prst="downArrow">
            <a:avLst>
              <a:gd name="adj1" fmla="val 50000"/>
              <a:gd name="adj2" fmla="val 45860"/>
            </a:avLst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/>
            <a:endParaRPr lang="zh-CN" altLang="en-US"/>
          </a:p>
        </p:txBody>
      </p:sp>
      <p:sp>
        <p:nvSpPr>
          <p:cNvPr id="112670" name="AutoShape 33"/>
          <p:cNvSpPr>
            <a:spLocks noChangeArrowheads="1"/>
          </p:cNvSpPr>
          <p:nvPr/>
        </p:nvSpPr>
        <p:spPr bwMode="auto">
          <a:xfrm>
            <a:off x="3352800" y="3429000"/>
            <a:ext cx="249238" cy="381000"/>
          </a:xfrm>
          <a:prstGeom prst="downArrow">
            <a:avLst>
              <a:gd name="adj1" fmla="val 50000"/>
              <a:gd name="adj2" fmla="val 38216"/>
            </a:avLst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/>
            <a:endParaRPr lang="zh-CN" altLang="en-US"/>
          </a:p>
        </p:txBody>
      </p:sp>
      <p:sp>
        <p:nvSpPr>
          <p:cNvPr id="112671" name="AutoShape 34"/>
          <p:cNvSpPr>
            <a:spLocks noChangeArrowheads="1"/>
          </p:cNvSpPr>
          <p:nvPr/>
        </p:nvSpPr>
        <p:spPr bwMode="auto">
          <a:xfrm rot="10800000">
            <a:off x="4932363" y="3429000"/>
            <a:ext cx="249237" cy="381000"/>
          </a:xfrm>
          <a:prstGeom prst="downArrow">
            <a:avLst>
              <a:gd name="adj1" fmla="val 50000"/>
              <a:gd name="adj2" fmla="val 38217"/>
            </a:avLst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/>
            <a:endParaRPr lang="zh-CN" altLang="en-US"/>
          </a:p>
        </p:txBody>
      </p:sp>
      <p:sp>
        <p:nvSpPr>
          <p:cNvPr id="112672" name="AutoShape 35"/>
          <p:cNvSpPr>
            <a:spLocks noChangeArrowheads="1"/>
          </p:cNvSpPr>
          <p:nvPr/>
        </p:nvSpPr>
        <p:spPr bwMode="auto">
          <a:xfrm rot="10800000">
            <a:off x="4953000" y="1828800"/>
            <a:ext cx="228600" cy="609600"/>
          </a:xfrm>
          <a:prstGeom prst="downArrow">
            <a:avLst>
              <a:gd name="adj1" fmla="val 50000"/>
              <a:gd name="adj2" fmla="val 66667"/>
            </a:avLst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/>
            <a:endParaRPr lang="zh-CN" altLang="en-US"/>
          </a:p>
        </p:txBody>
      </p:sp>
      <p:sp>
        <p:nvSpPr>
          <p:cNvPr id="112673" name="Rectangle 36"/>
          <p:cNvSpPr>
            <a:spLocks noChangeArrowheads="1"/>
          </p:cNvSpPr>
          <p:nvPr/>
        </p:nvSpPr>
        <p:spPr bwMode="auto">
          <a:xfrm>
            <a:off x="6096000" y="3733800"/>
            <a:ext cx="24384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SQL Executor</a:t>
            </a:r>
          </a:p>
        </p:txBody>
      </p:sp>
      <p:sp>
        <p:nvSpPr>
          <p:cNvPr id="112674" name="Rectangle 37"/>
          <p:cNvSpPr>
            <a:spLocks noChangeArrowheads="1"/>
          </p:cNvSpPr>
          <p:nvPr/>
        </p:nvSpPr>
        <p:spPr bwMode="auto">
          <a:xfrm>
            <a:off x="6096000" y="3048000"/>
            <a:ext cx="13716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SQL Router</a:t>
            </a:r>
          </a:p>
        </p:txBody>
      </p:sp>
      <p:sp>
        <p:nvSpPr>
          <p:cNvPr id="112675" name="Rectangle 38"/>
          <p:cNvSpPr>
            <a:spLocks noChangeArrowheads="1"/>
          </p:cNvSpPr>
          <p:nvPr/>
        </p:nvSpPr>
        <p:spPr bwMode="auto">
          <a:xfrm>
            <a:off x="6096000" y="2362200"/>
            <a:ext cx="13716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SQL Parser</a:t>
            </a:r>
          </a:p>
        </p:txBody>
      </p:sp>
      <p:sp>
        <p:nvSpPr>
          <p:cNvPr id="112676" name="Rectangle 39"/>
          <p:cNvSpPr>
            <a:spLocks noChangeArrowheads="1"/>
          </p:cNvSpPr>
          <p:nvPr/>
        </p:nvSpPr>
        <p:spPr bwMode="auto">
          <a:xfrm>
            <a:off x="7620000" y="2362200"/>
            <a:ext cx="914400" cy="1143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Result</a:t>
            </a:r>
            <a:br>
              <a:rPr lang="en-US" altLang="zh-CN">
                <a:ea typeface="宋体" charset="-122"/>
              </a:rPr>
            </a:br>
            <a:r>
              <a:rPr lang="en-US" altLang="zh-CN">
                <a:ea typeface="宋体" charset="-122"/>
              </a:rPr>
              <a:t>Merger</a:t>
            </a:r>
          </a:p>
        </p:txBody>
      </p:sp>
      <p:sp>
        <p:nvSpPr>
          <p:cNvPr id="112677" name="AutoShape 40"/>
          <p:cNvSpPr>
            <a:spLocks noChangeArrowheads="1"/>
          </p:cNvSpPr>
          <p:nvPr/>
        </p:nvSpPr>
        <p:spPr bwMode="auto">
          <a:xfrm>
            <a:off x="6421438" y="1828800"/>
            <a:ext cx="228600" cy="609600"/>
          </a:xfrm>
          <a:prstGeom prst="downArrow">
            <a:avLst>
              <a:gd name="adj1" fmla="val 50000"/>
              <a:gd name="adj2" fmla="val 66667"/>
            </a:avLst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/>
            <a:endParaRPr lang="zh-CN" altLang="en-US"/>
          </a:p>
        </p:txBody>
      </p:sp>
      <p:sp>
        <p:nvSpPr>
          <p:cNvPr id="112678" name="AutoShape 41"/>
          <p:cNvSpPr>
            <a:spLocks noChangeArrowheads="1"/>
          </p:cNvSpPr>
          <p:nvPr/>
        </p:nvSpPr>
        <p:spPr bwMode="auto">
          <a:xfrm>
            <a:off x="6400800" y="2667000"/>
            <a:ext cx="249238" cy="457200"/>
          </a:xfrm>
          <a:prstGeom prst="downArrow">
            <a:avLst>
              <a:gd name="adj1" fmla="val 50000"/>
              <a:gd name="adj2" fmla="val 45860"/>
            </a:avLst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/>
            <a:endParaRPr lang="zh-CN" altLang="en-US"/>
          </a:p>
        </p:txBody>
      </p:sp>
      <p:sp>
        <p:nvSpPr>
          <p:cNvPr id="112679" name="AutoShape 42"/>
          <p:cNvSpPr>
            <a:spLocks noChangeArrowheads="1"/>
          </p:cNvSpPr>
          <p:nvPr/>
        </p:nvSpPr>
        <p:spPr bwMode="auto">
          <a:xfrm>
            <a:off x="6400800" y="3429000"/>
            <a:ext cx="249238" cy="381000"/>
          </a:xfrm>
          <a:prstGeom prst="downArrow">
            <a:avLst>
              <a:gd name="adj1" fmla="val 50000"/>
              <a:gd name="adj2" fmla="val 38216"/>
            </a:avLst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/>
            <a:endParaRPr lang="zh-CN" altLang="en-US"/>
          </a:p>
        </p:txBody>
      </p:sp>
      <p:sp>
        <p:nvSpPr>
          <p:cNvPr id="112680" name="AutoShape 43"/>
          <p:cNvSpPr>
            <a:spLocks noChangeArrowheads="1"/>
          </p:cNvSpPr>
          <p:nvPr/>
        </p:nvSpPr>
        <p:spPr bwMode="auto">
          <a:xfrm rot="10800000">
            <a:off x="7980363" y="3429000"/>
            <a:ext cx="249237" cy="381000"/>
          </a:xfrm>
          <a:prstGeom prst="downArrow">
            <a:avLst>
              <a:gd name="adj1" fmla="val 50000"/>
              <a:gd name="adj2" fmla="val 38217"/>
            </a:avLst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/>
            <a:endParaRPr lang="zh-CN" altLang="en-US"/>
          </a:p>
        </p:txBody>
      </p:sp>
      <p:sp>
        <p:nvSpPr>
          <p:cNvPr id="112681" name="AutoShape 44"/>
          <p:cNvSpPr>
            <a:spLocks noChangeArrowheads="1"/>
          </p:cNvSpPr>
          <p:nvPr/>
        </p:nvSpPr>
        <p:spPr bwMode="auto">
          <a:xfrm rot="10800000">
            <a:off x="8001000" y="1828800"/>
            <a:ext cx="228600" cy="609600"/>
          </a:xfrm>
          <a:prstGeom prst="downArrow">
            <a:avLst>
              <a:gd name="adj1" fmla="val 50000"/>
              <a:gd name="adj2" fmla="val 66667"/>
            </a:avLst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/>
            <a:endParaRPr lang="zh-CN" altLang="en-US"/>
          </a:p>
        </p:txBody>
      </p:sp>
      <p:sp>
        <p:nvSpPr>
          <p:cNvPr id="112682" name="Text Box 45"/>
          <p:cNvSpPr txBox="1">
            <a:spLocks noChangeArrowheads="1"/>
          </p:cNvSpPr>
          <p:nvPr/>
        </p:nvSpPr>
        <p:spPr bwMode="auto">
          <a:xfrm>
            <a:off x="5257800" y="2590800"/>
            <a:ext cx="1143000" cy="823913"/>
          </a:xfrm>
          <a:prstGeom prst="rect">
            <a:avLst/>
          </a:prstGeom>
          <a:noFill/>
          <a:ln w="3175">
            <a:noFill/>
            <a:prstDash val="dashDot"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4800">
                <a:ea typeface="宋体" charset="-122"/>
              </a:rPr>
              <a:t>... </a:t>
            </a:r>
          </a:p>
        </p:txBody>
      </p:sp>
      <p:sp>
        <p:nvSpPr>
          <p:cNvPr id="112683" name="Rectangle 46"/>
          <p:cNvSpPr>
            <a:spLocks noChangeArrowheads="1"/>
          </p:cNvSpPr>
          <p:nvPr/>
        </p:nvSpPr>
        <p:spPr bwMode="auto">
          <a:xfrm rot="10800000" flipV="1">
            <a:off x="304800" y="2057400"/>
            <a:ext cx="914400" cy="3124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ea typeface="宋体" charset="-122"/>
              </a:rPr>
              <a:t>Manager</a:t>
            </a:r>
          </a:p>
        </p:txBody>
      </p:sp>
      <p:sp>
        <p:nvSpPr>
          <p:cNvPr id="112684" name="AutoShape 47"/>
          <p:cNvSpPr>
            <a:spLocks noChangeArrowheads="1"/>
          </p:cNvSpPr>
          <p:nvPr/>
        </p:nvSpPr>
        <p:spPr bwMode="auto">
          <a:xfrm rot="-5400000">
            <a:off x="1257300" y="3238500"/>
            <a:ext cx="533400" cy="762000"/>
          </a:xfrm>
          <a:prstGeom prst="upDownArrow">
            <a:avLst>
              <a:gd name="adj1" fmla="val 42704"/>
              <a:gd name="adj2" fmla="val 40179"/>
            </a:avLst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/>
            <a:endParaRPr lang="zh-CN" altLang="en-US"/>
          </a:p>
        </p:txBody>
      </p:sp>
      <p:sp>
        <p:nvSpPr>
          <p:cNvPr id="112685" name="Rectangle 48"/>
          <p:cNvSpPr>
            <a:spLocks noChangeArrowheads="1"/>
          </p:cNvSpPr>
          <p:nvPr/>
        </p:nvSpPr>
        <p:spPr bwMode="auto">
          <a:xfrm>
            <a:off x="2298700" y="5562600"/>
            <a:ext cx="1739900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i="1">
                <a:latin typeface="Times New Roman" pitchFamily="18" charset="0"/>
              </a:rPr>
              <a:t>MySQL Protocol</a:t>
            </a:r>
          </a:p>
        </p:txBody>
      </p:sp>
      <p:sp>
        <p:nvSpPr>
          <p:cNvPr id="112686" name="Rectangle 49"/>
          <p:cNvSpPr>
            <a:spLocks noChangeArrowheads="1"/>
          </p:cNvSpPr>
          <p:nvPr/>
        </p:nvSpPr>
        <p:spPr bwMode="auto">
          <a:xfrm>
            <a:off x="4051300" y="5562600"/>
            <a:ext cx="1739900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i="1">
                <a:latin typeface="Times New Roman" pitchFamily="18" charset="0"/>
              </a:rPr>
              <a:t>MySQL Protocol</a:t>
            </a:r>
          </a:p>
        </p:txBody>
      </p:sp>
      <p:sp>
        <p:nvSpPr>
          <p:cNvPr id="112687" name="Rectangle 50"/>
          <p:cNvSpPr>
            <a:spLocks noChangeArrowheads="1"/>
          </p:cNvSpPr>
          <p:nvPr/>
        </p:nvSpPr>
        <p:spPr bwMode="auto">
          <a:xfrm>
            <a:off x="5727700" y="5562600"/>
            <a:ext cx="1739900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i="1">
                <a:latin typeface="Times New Roman" pitchFamily="18" charset="0"/>
              </a:rPr>
              <a:t>MySQL Protocol</a:t>
            </a:r>
          </a:p>
        </p:txBody>
      </p:sp>
      <p:sp>
        <p:nvSpPr>
          <p:cNvPr id="112688" name="Rectangle 51"/>
          <p:cNvSpPr>
            <a:spLocks noChangeArrowheads="1"/>
          </p:cNvSpPr>
          <p:nvPr/>
        </p:nvSpPr>
        <p:spPr bwMode="auto">
          <a:xfrm>
            <a:off x="7404100" y="5562600"/>
            <a:ext cx="1739900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i="1">
                <a:latin typeface="Times New Roman" pitchFamily="18" charset="0"/>
              </a:rPr>
              <a:t>MySQL Protocol</a:t>
            </a:r>
          </a:p>
        </p:txBody>
      </p:sp>
      <p:sp>
        <p:nvSpPr>
          <p:cNvPr id="112689" name="Rectangle 52"/>
          <p:cNvSpPr>
            <a:spLocks noChangeArrowheads="1"/>
          </p:cNvSpPr>
          <p:nvPr/>
        </p:nvSpPr>
        <p:spPr bwMode="auto">
          <a:xfrm rot="-5400000">
            <a:off x="819150" y="3257550"/>
            <a:ext cx="137795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i="1">
                <a:latin typeface="Times New Roman" pitchFamily="18" charset="0"/>
              </a:rPr>
              <a:t>Management</a:t>
            </a:r>
            <a:br>
              <a:rPr lang="en-US" altLang="zh-CN" i="1">
                <a:latin typeface="Times New Roman" pitchFamily="18" charset="0"/>
              </a:rPr>
            </a:br>
            <a:r>
              <a:rPr lang="en-US" altLang="zh-CN" i="1">
                <a:latin typeface="Times New Roman" pitchFamily="18" charset="0"/>
              </a:rPr>
              <a:t>Protocol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AutoShape 2"/>
          <p:cNvSpPr>
            <a:spLocks noChangeArrowheads="1"/>
          </p:cNvSpPr>
          <p:nvPr/>
        </p:nvSpPr>
        <p:spPr bwMode="auto">
          <a:xfrm>
            <a:off x="4267200" y="5943600"/>
            <a:ext cx="1447800" cy="533400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solidFill>
                  <a:srgbClr val="C0C0C0"/>
                </a:solidFill>
                <a:ea typeface="宋体" charset="-122"/>
              </a:rPr>
              <a:t>MySQL</a:t>
            </a:r>
          </a:p>
        </p:txBody>
      </p:sp>
      <p:sp>
        <p:nvSpPr>
          <p:cNvPr id="113666" name="AutoShape 3"/>
          <p:cNvSpPr>
            <a:spLocks noChangeArrowheads="1"/>
          </p:cNvSpPr>
          <p:nvPr/>
        </p:nvSpPr>
        <p:spPr bwMode="auto">
          <a:xfrm>
            <a:off x="5943600" y="5943600"/>
            <a:ext cx="1447800" cy="533400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solidFill>
                  <a:srgbClr val="C0C0C0"/>
                </a:solidFill>
                <a:ea typeface="宋体" charset="-122"/>
              </a:rPr>
              <a:t>MySQL</a:t>
            </a:r>
          </a:p>
        </p:txBody>
      </p:sp>
      <p:sp>
        <p:nvSpPr>
          <p:cNvPr id="113667" name="AutoShape 4"/>
          <p:cNvSpPr>
            <a:spLocks noChangeArrowheads="1"/>
          </p:cNvSpPr>
          <p:nvPr/>
        </p:nvSpPr>
        <p:spPr bwMode="auto">
          <a:xfrm>
            <a:off x="7620000" y="5943600"/>
            <a:ext cx="1447800" cy="533400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solidFill>
                  <a:srgbClr val="C0C0C0"/>
                </a:solidFill>
                <a:ea typeface="宋体" charset="-122"/>
              </a:rPr>
              <a:t>MySQL</a:t>
            </a:r>
          </a:p>
        </p:txBody>
      </p:sp>
      <p:sp>
        <p:nvSpPr>
          <p:cNvPr id="113668" name="Rectangle 5"/>
          <p:cNvSpPr>
            <a:spLocks noChangeArrowheads="1"/>
          </p:cNvSpPr>
          <p:nvPr/>
        </p:nvSpPr>
        <p:spPr bwMode="auto">
          <a:xfrm>
            <a:off x="2362200" y="1676400"/>
            <a:ext cx="6477000" cy="3657600"/>
          </a:xfrm>
          <a:prstGeom prst="rect">
            <a:avLst/>
          </a:prstGeom>
          <a:solidFill>
            <a:schemeClr val="bg1">
              <a:alpha val="58823"/>
            </a:schemeClr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13669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CN" smtClean="0"/>
              <a:t>Cobar</a:t>
            </a:r>
            <a:r>
              <a:rPr lang="zh-CN" altLang="en-US" smtClean="0">
                <a:ea typeface="微软雅黑"/>
                <a:cs typeface="微软雅黑"/>
              </a:rPr>
              <a:t>结构</a:t>
            </a:r>
          </a:p>
        </p:txBody>
      </p:sp>
      <p:sp>
        <p:nvSpPr>
          <p:cNvPr id="113670" name="Rectangle 7"/>
          <p:cNvSpPr>
            <a:spLocks noChangeArrowheads="1"/>
          </p:cNvSpPr>
          <p:nvPr/>
        </p:nvSpPr>
        <p:spPr bwMode="auto">
          <a:xfrm>
            <a:off x="2514600" y="1371600"/>
            <a:ext cx="62484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solidFill>
                  <a:srgbClr val="C0C0C0"/>
                </a:solidFill>
                <a:ea typeface="宋体" charset="-122"/>
              </a:rPr>
              <a:t>Front-end Communication</a:t>
            </a:r>
          </a:p>
        </p:txBody>
      </p:sp>
      <p:sp>
        <p:nvSpPr>
          <p:cNvPr id="113671" name="Rectangle 8"/>
          <p:cNvSpPr>
            <a:spLocks noChangeArrowheads="1"/>
          </p:cNvSpPr>
          <p:nvPr/>
        </p:nvSpPr>
        <p:spPr bwMode="auto">
          <a:xfrm>
            <a:off x="3048000" y="5105400"/>
            <a:ext cx="54864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solidFill>
                  <a:srgbClr val="C0C0C0"/>
                </a:solidFill>
                <a:ea typeface="宋体" charset="-122"/>
              </a:rPr>
              <a:t>MySQL Protcol Adaptor (BIO)</a:t>
            </a:r>
          </a:p>
        </p:txBody>
      </p:sp>
      <p:sp>
        <p:nvSpPr>
          <p:cNvPr id="113672" name="Rectangle 9"/>
          <p:cNvSpPr>
            <a:spLocks noChangeArrowheads="1"/>
          </p:cNvSpPr>
          <p:nvPr/>
        </p:nvSpPr>
        <p:spPr bwMode="auto">
          <a:xfrm>
            <a:off x="3657600" y="304800"/>
            <a:ext cx="4800600" cy="457200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solidFill>
                  <a:srgbClr val="C0C0C0"/>
                </a:solidFill>
                <a:ea typeface="宋体" charset="-122"/>
              </a:rPr>
              <a:t>Application1</a:t>
            </a:r>
          </a:p>
        </p:txBody>
      </p:sp>
      <p:sp>
        <p:nvSpPr>
          <p:cNvPr id="113673" name="AutoShape 10"/>
          <p:cNvSpPr>
            <a:spLocks noChangeArrowheads="1"/>
          </p:cNvSpPr>
          <p:nvPr/>
        </p:nvSpPr>
        <p:spPr bwMode="auto">
          <a:xfrm>
            <a:off x="4191000" y="6019800"/>
            <a:ext cx="1447800" cy="533400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solidFill>
                  <a:srgbClr val="C0C0C0"/>
                </a:solidFill>
                <a:ea typeface="宋体" charset="-122"/>
              </a:rPr>
              <a:t>MySQL</a:t>
            </a:r>
          </a:p>
        </p:txBody>
      </p:sp>
      <p:sp>
        <p:nvSpPr>
          <p:cNvPr id="113674" name="AutoShape 11"/>
          <p:cNvSpPr>
            <a:spLocks noChangeArrowheads="1"/>
          </p:cNvSpPr>
          <p:nvPr/>
        </p:nvSpPr>
        <p:spPr bwMode="auto">
          <a:xfrm>
            <a:off x="4800600" y="5486400"/>
            <a:ext cx="304800" cy="609600"/>
          </a:xfrm>
          <a:prstGeom prst="upDownArrow">
            <a:avLst>
              <a:gd name="adj1" fmla="val 42704"/>
              <a:gd name="adj2" fmla="val 56250"/>
            </a:avLst>
          </a:prstGeom>
          <a:solidFill>
            <a:schemeClr val="bg1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/>
            <a:endParaRPr lang="zh-CN" altLang="en-US"/>
          </a:p>
        </p:txBody>
      </p:sp>
      <p:grpSp>
        <p:nvGrpSpPr>
          <p:cNvPr id="113675" name="Group 12"/>
          <p:cNvGrpSpPr>
            <a:grpSpLocks/>
          </p:cNvGrpSpPr>
          <p:nvPr/>
        </p:nvGrpSpPr>
        <p:grpSpPr bwMode="auto">
          <a:xfrm>
            <a:off x="5105400" y="685800"/>
            <a:ext cx="2209800" cy="762000"/>
            <a:chOff x="3120" y="576"/>
            <a:chExt cx="1392" cy="480"/>
          </a:xfrm>
        </p:grpSpPr>
        <p:sp>
          <p:nvSpPr>
            <p:cNvPr id="113714" name="AutoShape 13"/>
            <p:cNvSpPr>
              <a:spLocks noChangeArrowheads="1"/>
            </p:cNvSpPr>
            <p:nvPr/>
          </p:nvSpPr>
          <p:spPr bwMode="auto">
            <a:xfrm>
              <a:off x="3504" y="576"/>
              <a:ext cx="576" cy="480"/>
            </a:xfrm>
            <a:prstGeom prst="upDownArrow">
              <a:avLst>
                <a:gd name="adj1" fmla="val 50694"/>
                <a:gd name="adj2" fmla="val 31667"/>
              </a:avLst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anchor="ctr"/>
            <a:lstStyle/>
            <a:p>
              <a:pPr algn="ctr"/>
              <a:endParaRPr lang="zh-CN" altLang="zh-CN">
                <a:ea typeface="宋体" charset="-122"/>
              </a:endParaRPr>
            </a:p>
          </p:txBody>
        </p:sp>
        <p:sp>
          <p:nvSpPr>
            <p:cNvPr id="113715" name="Text Box 14"/>
            <p:cNvSpPr txBox="1">
              <a:spLocks noChangeArrowheads="1"/>
            </p:cNvSpPr>
            <p:nvPr/>
          </p:nvSpPr>
          <p:spPr bwMode="auto">
            <a:xfrm>
              <a:off x="3120" y="681"/>
              <a:ext cx="139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i="1">
                  <a:latin typeface="Times New Roman" pitchFamily="18" charset="0"/>
                  <a:ea typeface="宋体" charset="-122"/>
                </a:rPr>
                <a:t>MySQL Protocol</a:t>
              </a:r>
            </a:p>
          </p:txBody>
        </p:sp>
      </p:grpSp>
      <p:sp>
        <p:nvSpPr>
          <p:cNvPr id="113676" name="AutoShape 15"/>
          <p:cNvSpPr>
            <a:spLocks noChangeArrowheads="1"/>
          </p:cNvSpPr>
          <p:nvPr/>
        </p:nvSpPr>
        <p:spPr bwMode="auto">
          <a:xfrm>
            <a:off x="5867400" y="6019800"/>
            <a:ext cx="1447800" cy="533400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solidFill>
                  <a:srgbClr val="C0C0C0"/>
                </a:solidFill>
                <a:ea typeface="宋体" charset="-122"/>
              </a:rPr>
              <a:t>MySQL</a:t>
            </a:r>
          </a:p>
        </p:txBody>
      </p:sp>
      <p:sp>
        <p:nvSpPr>
          <p:cNvPr id="113677" name="AutoShape 16"/>
          <p:cNvSpPr>
            <a:spLocks noChangeArrowheads="1"/>
          </p:cNvSpPr>
          <p:nvPr/>
        </p:nvSpPr>
        <p:spPr bwMode="auto">
          <a:xfrm>
            <a:off x="6477000" y="5486400"/>
            <a:ext cx="304800" cy="609600"/>
          </a:xfrm>
          <a:prstGeom prst="upDownArrow">
            <a:avLst>
              <a:gd name="adj1" fmla="val 42704"/>
              <a:gd name="adj2" fmla="val 56250"/>
            </a:avLst>
          </a:prstGeom>
          <a:solidFill>
            <a:schemeClr val="bg1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/>
            <a:endParaRPr lang="zh-CN" altLang="en-US"/>
          </a:p>
        </p:txBody>
      </p:sp>
      <p:sp>
        <p:nvSpPr>
          <p:cNvPr id="113678" name="AutoShape 17"/>
          <p:cNvSpPr>
            <a:spLocks noChangeArrowheads="1"/>
          </p:cNvSpPr>
          <p:nvPr/>
        </p:nvSpPr>
        <p:spPr bwMode="auto">
          <a:xfrm>
            <a:off x="7543800" y="6019800"/>
            <a:ext cx="1447800" cy="533400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solidFill>
                  <a:srgbClr val="C0C0C0"/>
                </a:solidFill>
                <a:ea typeface="宋体" charset="-122"/>
              </a:rPr>
              <a:t>MySQL</a:t>
            </a:r>
          </a:p>
        </p:txBody>
      </p:sp>
      <p:sp>
        <p:nvSpPr>
          <p:cNvPr id="113679" name="AutoShape 18"/>
          <p:cNvSpPr>
            <a:spLocks noChangeArrowheads="1"/>
          </p:cNvSpPr>
          <p:nvPr/>
        </p:nvSpPr>
        <p:spPr bwMode="auto">
          <a:xfrm>
            <a:off x="8153400" y="5486400"/>
            <a:ext cx="304800" cy="609600"/>
          </a:xfrm>
          <a:prstGeom prst="upDownArrow">
            <a:avLst>
              <a:gd name="adj1" fmla="val 42704"/>
              <a:gd name="adj2" fmla="val 56250"/>
            </a:avLst>
          </a:prstGeom>
          <a:solidFill>
            <a:schemeClr val="bg1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/>
            <a:endParaRPr lang="zh-CN" altLang="en-US"/>
          </a:p>
        </p:txBody>
      </p:sp>
      <p:sp>
        <p:nvSpPr>
          <p:cNvPr id="113680" name="Rectangle 19"/>
          <p:cNvSpPr>
            <a:spLocks noChangeArrowheads="1"/>
          </p:cNvSpPr>
          <p:nvPr/>
        </p:nvSpPr>
        <p:spPr bwMode="auto">
          <a:xfrm>
            <a:off x="3048000" y="4343400"/>
            <a:ext cx="54864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solidFill>
                  <a:srgbClr val="C0C0C0"/>
                </a:solidFill>
                <a:ea typeface="宋体" charset="-122"/>
              </a:rPr>
              <a:t>Data Nodes</a:t>
            </a:r>
          </a:p>
        </p:txBody>
      </p:sp>
      <p:sp>
        <p:nvSpPr>
          <p:cNvPr id="113681" name="Rectangle 20"/>
          <p:cNvSpPr>
            <a:spLocks noChangeArrowheads="1"/>
          </p:cNvSpPr>
          <p:nvPr/>
        </p:nvSpPr>
        <p:spPr bwMode="auto">
          <a:xfrm rot="10800000" flipV="1">
            <a:off x="1828800" y="2057400"/>
            <a:ext cx="990600" cy="31242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400">
                <a:solidFill>
                  <a:srgbClr val="C0C0C0"/>
                </a:solidFill>
                <a:ea typeface="宋体" charset="-122"/>
              </a:rPr>
              <a:t>Monitor</a:t>
            </a:r>
            <a:br>
              <a:rPr lang="en-US" altLang="zh-CN" sz="1400">
                <a:solidFill>
                  <a:srgbClr val="C0C0C0"/>
                </a:solidFill>
                <a:ea typeface="宋体" charset="-122"/>
              </a:rPr>
            </a:br>
            <a:endParaRPr lang="en-US" altLang="zh-CN" sz="1400">
              <a:solidFill>
                <a:srgbClr val="C0C0C0"/>
              </a:solidFill>
              <a:ea typeface="宋体" charset="-122"/>
            </a:endParaRPr>
          </a:p>
          <a:p>
            <a:pPr algn="ctr"/>
            <a:r>
              <a:rPr lang="en-US" altLang="zh-CN" sz="1400">
                <a:solidFill>
                  <a:srgbClr val="C0C0C0"/>
                </a:solidFill>
                <a:ea typeface="宋体" charset="-122"/>
              </a:rPr>
              <a:t>Configure</a:t>
            </a:r>
          </a:p>
        </p:txBody>
      </p:sp>
      <p:sp>
        <p:nvSpPr>
          <p:cNvPr id="113682" name="Rectangle 21"/>
          <p:cNvSpPr>
            <a:spLocks noChangeArrowheads="1"/>
          </p:cNvSpPr>
          <p:nvPr/>
        </p:nvSpPr>
        <p:spPr bwMode="auto">
          <a:xfrm>
            <a:off x="3048000" y="4724400"/>
            <a:ext cx="54864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solidFill>
                  <a:srgbClr val="C0C0C0"/>
                </a:solidFill>
                <a:ea typeface="宋体" charset="-122"/>
              </a:rPr>
              <a:t>HA Pool</a:t>
            </a:r>
          </a:p>
        </p:txBody>
      </p:sp>
      <p:sp>
        <p:nvSpPr>
          <p:cNvPr id="113683" name="AutoShape 22"/>
          <p:cNvSpPr>
            <a:spLocks noChangeArrowheads="1"/>
          </p:cNvSpPr>
          <p:nvPr/>
        </p:nvSpPr>
        <p:spPr bwMode="auto">
          <a:xfrm>
            <a:off x="2590800" y="5943600"/>
            <a:ext cx="1447800" cy="533400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solidFill>
                  <a:srgbClr val="C0C0C0"/>
                </a:solidFill>
                <a:ea typeface="宋体" charset="-122"/>
              </a:rPr>
              <a:t>MySQL</a:t>
            </a:r>
          </a:p>
        </p:txBody>
      </p:sp>
      <p:sp>
        <p:nvSpPr>
          <p:cNvPr id="113684" name="AutoShape 23"/>
          <p:cNvSpPr>
            <a:spLocks noChangeArrowheads="1"/>
          </p:cNvSpPr>
          <p:nvPr/>
        </p:nvSpPr>
        <p:spPr bwMode="auto">
          <a:xfrm>
            <a:off x="2514600" y="6019800"/>
            <a:ext cx="1447800" cy="533400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solidFill>
                  <a:srgbClr val="C0C0C0"/>
                </a:solidFill>
                <a:ea typeface="宋体" charset="-122"/>
              </a:rPr>
              <a:t>MySQL</a:t>
            </a:r>
          </a:p>
        </p:txBody>
      </p:sp>
      <p:sp>
        <p:nvSpPr>
          <p:cNvPr id="113685" name="AutoShape 24"/>
          <p:cNvSpPr>
            <a:spLocks noChangeArrowheads="1"/>
          </p:cNvSpPr>
          <p:nvPr/>
        </p:nvSpPr>
        <p:spPr bwMode="auto">
          <a:xfrm>
            <a:off x="3124200" y="5486400"/>
            <a:ext cx="304800" cy="609600"/>
          </a:xfrm>
          <a:prstGeom prst="upDownArrow">
            <a:avLst>
              <a:gd name="adj1" fmla="val 42704"/>
              <a:gd name="adj2" fmla="val 56250"/>
            </a:avLst>
          </a:prstGeom>
          <a:solidFill>
            <a:schemeClr val="bg1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/>
            <a:endParaRPr lang="zh-CN" altLang="en-US"/>
          </a:p>
        </p:txBody>
      </p:sp>
      <p:sp>
        <p:nvSpPr>
          <p:cNvPr id="113686" name="Rectangle 25"/>
          <p:cNvSpPr>
            <a:spLocks noChangeArrowheads="1"/>
          </p:cNvSpPr>
          <p:nvPr/>
        </p:nvSpPr>
        <p:spPr bwMode="auto">
          <a:xfrm>
            <a:off x="2971800" y="1752600"/>
            <a:ext cx="2590800" cy="2667000"/>
          </a:xfrm>
          <a:prstGeom prst="rect">
            <a:avLst/>
          </a:prstGeom>
          <a:solidFill>
            <a:schemeClr val="bg1">
              <a:alpha val="83136"/>
            </a:schemeClr>
          </a:solidFill>
          <a:ln w="3175">
            <a:solidFill>
              <a:schemeClr val="bg2"/>
            </a:solidFill>
            <a:prstDash val="dash"/>
            <a:miter lim="800000"/>
            <a:headEnd/>
            <a:tailEnd/>
          </a:ln>
        </p:spPr>
        <p:txBody>
          <a:bodyPr wrap="none"/>
          <a:lstStyle/>
          <a:p>
            <a:pPr algn="ctr"/>
            <a:r>
              <a:rPr lang="en-US" altLang="zh-CN" b="1" i="1">
                <a:solidFill>
                  <a:srgbClr val="C0C0C0"/>
                </a:solidFill>
                <a:latin typeface="Times New Roman" pitchFamily="18" charset="0"/>
                <a:ea typeface="宋体" charset="-122"/>
              </a:rPr>
              <a:t>Processor(1)</a:t>
            </a:r>
          </a:p>
        </p:txBody>
      </p:sp>
      <p:sp>
        <p:nvSpPr>
          <p:cNvPr id="113687" name="Rectangle 26"/>
          <p:cNvSpPr>
            <a:spLocks noChangeArrowheads="1"/>
          </p:cNvSpPr>
          <p:nvPr/>
        </p:nvSpPr>
        <p:spPr bwMode="auto">
          <a:xfrm>
            <a:off x="6019800" y="1752600"/>
            <a:ext cx="2590800" cy="2667000"/>
          </a:xfrm>
          <a:prstGeom prst="rect">
            <a:avLst/>
          </a:prstGeom>
          <a:solidFill>
            <a:schemeClr val="bg1">
              <a:alpha val="83136"/>
            </a:schemeClr>
          </a:solidFill>
          <a:ln w="3175">
            <a:solidFill>
              <a:schemeClr val="bg2"/>
            </a:solidFill>
            <a:prstDash val="dash"/>
            <a:miter lim="800000"/>
            <a:headEnd/>
            <a:tailEnd/>
          </a:ln>
        </p:spPr>
        <p:txBody>
          <a:bodyPr wrap="none"/>
          <a:lstStyle/>
          <a:p>
            <a:pPr algn="ctr"/>
            <a:r>
              <a:rPr lang="en-US" altLang="zh-CN" b="1" i="1">
                <a:solidFill>
                  <a:srgbClr val="C0C0C0"/>
                </a:solidFill>
                <a:latin typeface="Times New Roman" pitchFamily="18" charset="0"/>
                <a:ea typeface="宋体" charset="-122"/>
              </a:rPr>
              <a:t>Processor(n)</a:t>
            </a:r>
          </a:p>
        </p:txBody>
      </p:sp>
      <p:sp>
        <p:nvSpPr>
          <p:cNvPr id="113688" name="Rectangle 27"/>
          <p:cNvSpPr>
            <a:spLocks noChangeArrowheads="1"/>
          </p:cNvSpPr>
          <p:nvPr/>
        </p:nvSpPr>
        <p:spPr bwMode="auto">
          <a:xfrm>
            <a:off x="3048000" y="3733800"/>
            <a:ext cx="24384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solidFill>
                  <a:srgbClr val="C0C0C0"/>
                </a:solidFill>
                <a:ea typeface="宋体" charset="-122"/>
              </a:rPr>
              <a:t>SQL Executor</a:t>
            </a:r>
          </a:p>
        </p:txBody>
      </p:sp>
      <p:sp>
        <p:nvSpPr>
          <p:cNvPr id="113689" name="Rectangle 28"/>
          <p:cNvSpPr>
            <a:spLocks noChangeArrowheads="1"/>
          </p:cNvSpPr>
          <p:nvPr/>
        </p:nvSpPr>
        <p:spPr bwMode="auto">
          <a:xfrm>
            <a:off x="3048000" y="3048000"/>
            <a:ext cx="13716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solidFill>
                  <a:srgbClr val="C0C0C0"/>
                </a:solidFill>
                <a:ea typeface="宋体" charset="-122"/>
              </a:rPr>
              <a:t>SQL Router</a:t>
            </a:r>
          </a:p>
        </p:txBody>
      </p:sp>
      <p:sp>
        <p:nvSpPr>
          <p:cNvPr id="113690" name="Rectangle 29"/>
          <p:cNvSpPr>
            <a:spLocks noChangeArrowheads="1"/>
          </p:cNvSpPr>
          <p:nvPr/>
        </p:nvSpPr>
        <p:spPr bwMode="auto">
          <a:xfrm>
            <a:off x="3048000" y="2362200"/>
            <a:ext cx="13716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solidFill>
                  <a:srgbClr val="C0C0C0"/>
                </a:solidFill>
                <a:ea typeface="宋体" charset="-122"/>
              </a:rPr>
              <a:t>SQL Parser</a:t>
            </a:r>
          </a:p>
        </p:txBody>
      </p:sp>
      <p:sp>
        <p:nvSpPr>
          <p:cNvPr id="113691" name="Rectangle 30"/>
          <p:cNvSpPr>
            <a:spLocks noChangeArrowheads="1"/>
          </p:cNvSpPr>
          <p:nvPr/>
        </p:nvSpPr>
        <p:spPr bwMode="auto">
          <a:xfrm>
            <a:off x="4572000" y="2362200"/>
            <a:ext cx="914400" cy="11430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solidFill>
                  <a:srgbClr val="C0C0C0"/>
                </a:solidFill>
                <a:ea typeface="宋体" charset="-122"/>
              </a:rPr>
              <a:t>Result</a:t>
            </a:r>
            <a:br>
              <a:rPr lang="en-US" altLang="zh-CN">
                <a:solidFill>
                  <a:srgbClr val="C0C0C0"/>
                </a:solidFill>
                <a:ea typeface="宋体" charset="-122"/>
              </a:rPr>
            </a:br>
            <a:r>
              <a:rPr lang="en-US" altLang="zh-CN">
                <a:solidFill>
                  <a:srgbClr val="C0C0C0"/>
                </a:solidFill>
                <a:ea typeface="宋体" charset="-122"/>
              </a:rPr>
              <a:t>Merger</a:t>
            </a:r>
          </a:p>
        </p:txBody>
      </p:sp>
      <p:sp>
        <p:nvSpPr>
          <p:cNvPr id="113692" name="AutoShape 31"/>
          <p:cNvSpPr>
            <a:spLocks noChangeArrowheads="1"/>
          </p:cNvSpPr>
          <p:nvPr/>
        </p:nvSpPr>
        <p:spPr bwMode="auto">
          <a:xfrm>
            <a:off x="3373438" y="1828800"/>
            <a:ext cx="228600" cy="609600"/>
          </a:xfrm>
          <a:prstGeom prst="downArrow">
            <a:avLst>
              <a:gd name="adj1" fmla="val 50000"/>
              <a:gd name="adj2" fmla="val 66667"/>
            </a:avLst>
          </a:prstGeom>
          <a:solidFill>
            <a:schemeClr val="bg1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/>
            <a:endParaRPr lang="zh-CN" altLang="en-US"/>
          </a:p>
        </p:txBody>
      </p:sp>
      <p:sp>
        <p:nvSpPr>
          <p:cNvPr id="113693" name="AutoShape 32"/>
          <p:cNvSpPr>
            <a:spLocks noChangeArrowheads="1"/>
          </p:cNvSpPr>
          <p:nvPr/>
        </p:nvSpPr>
        <p:spPr bwMode="auto">
          <a:xfrm>
            <a:off x="3352800" y="2667000"/>
            <a:ext cx="249238" cy="457200"/>
          </a:xfrm>
          <a:prstGeom prst="downArrow">
            <a:avLst>
              <a:gd name="adj1" fmla="val 50000"/>
              <a:gd name="adj2" fmla="val 45860"/>
            </a:avLst>
          </a:prstGeom>
          <a:solidFill>
            <a:schemeClr val="bg1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/>
            <a:endParaRPr lang="zh-CN" altLang="en-US"/>
          </a:p>
        </p:txBody>
      </p:sp>
      <p:sp>
        <p:nvSpPr>
          <p:cNvPr id="113694" name="AutoShape 33"/>
          <p:cNvSpPr>
            <a:spLocks noChangeArrowheads="1"/>
          </p:cNvSpPr>
          <p:nvPr/>
        </p:nvSpPr>
        <p:spPr bwMode="auto">
          <a:xfrm>
            <a:off x="3352800" y="3429000"/>
            <a:ext cx="249238" cy="381000"/>
          </a:xfrm>
          <a:prstGeom prst="downArrow">
            <a:avLst>
              <a:gd name="adj1" fmla="val 50000"/>
              <a:gd name="adj2" fmla="val 38216"/>
            </a:avLst>
          </a:prstGeom>
          <a:solidFill>
            <a:schemeClr val="bg1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/>
            <a:endParaRPr lang="zh-CN" altLang="en-US"/>
          </a:p>
        </p:txBody>
      </p:sp>
      <p:sp>
        <p:nvSpPr>
          <p:cNvPr id="113695" name="AutoShape 34"/>
          <p:cNvSpPr>
            <a:spLocks noChangeArrowheads="1"/>
          </p:cNvSpPr>
          <p:nvPr/>
        </p:nvSpPr>
        <p:spPr bwMode="auto">
          <a:xfrm rot="10800000">
            <a:off x="4932363" y="3429000"/>
            <a:ext cx="249237" cy="381000"/>
          </a:xfrm>
          <a:prstGeom prst="downArrow">
            <a:avLst>
              <a:gd name="adj1" fmla="val 50000"/>
              <a:gd name="adj2" fmla="val 38217"/>
            </a:avLst>
          </a:prstGeom>
          <a:solidFill>
            <a:schemeClr val="bg1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/>
            <a:endParaRPr lang="zh-CN" altLang="en-US"/>
          </a:p>
        </p:txBody>
      </p:sp>
      <p:sp>
        <p:nvSpPr>
          <p:cNvPr id="113696" name="AutoShape 35"/>
          <p:cNvSpPr>
            <a:spLocks noChangeArrowheads="1"/>
          </p:cNvSpPr>
          <p:nvPr/>
        </p:nvSpPr>
        <p:spPr bwMode="auto">
          <a:xfrm rot="10800000">
            <a:off x="4953000" y="1828800"/>
            <a:ext cx="228600" cy="609600"/>
          </a:xfrm>
          <a:prstGeom prst="downArrow">
            <a:avLst>
              <a:gd name="adj1" fmla="val 50000"/>
              <a:gd name="adj2" fmla="val 66667"/>
            </a:avLst>
          </a:prstGeom>
          <a:solidFill>
            <a:schemeClr val="bg1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/>
            <a:endParaRPr lang="zh-CN" altLang="en-US"/>
          </a:p>
        </p:txBody>
      </p:sp>
      <p:sp>
        <p:nvSpPr>
          <p:cNvPr id="113697" name="Rectangle 36"/>
          <p:cNvSpPr>
            <a:spLocks noChangeArrowheads="1"/>
          </p:cNvSpPr>
          <p:nvPr/>
        </p:nvSpPr>
        <p:spPr bwMode="auto">
          <a:xfrm>
            <a:off x="6096000" y="3733800"/>
            <a:ext cx="24384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solidFill>
                  <a:srgbClr val="C0C0C0"/>
                </a:solidFill>
                <a:ea typeface="宋体" charset="-122"/>
              </a:rPr>
              <a:t>SQL Executor</a:t>
            </a:r>
          </a:p>
        </p:txBody>
      </p:sp>
      <p:sp>
        <p:nvSpPr>
          <p:cNvPr id="113698" name="Rectangle 37"/>
          <p:cNvSpPr>
            <a:spLocks noChangeArrowheads="1"/>
          </p:cNvSpPr>
          <p:nvPr/>
        </p:nvSpPr>
        <p:spPr bwMode="auto">
          <a:xfrm>
            <a:off x="6096000" y="3048000"/>
            <a:ext cx="13716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solidFill>
                  <a:srgbClr val="C0C0C0"/>
                </a:solidFill>
                <a:ea typeface="宋体" charset="-122"/>
              </a:rPr>
              <a:t>SQL Router</a:t>
            </a:r>
          </a:p>
        </p:txBody>
      </p:sp>
      <p:sp>
        <p:nvSpPr>
          <p:cNvPr id="113699" name="Rectangle 38"/>
          <p:cNvSpPr>
            <a:spLocks noChangeArrowheads="1"/>
          </p:cNvSpPr>
          <p:nvPr/>
        </p:nvSpPr>
        <p:spPr bwMode="auto">
          <a:xfrm>
            <a:off x="6096000" y="2362200"/>
            <a:ext cx="13716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solidFill>
                  <a:srgbClr val="C0C0C0"/>
                </a:solidFill>
                <a:ea typeface="宋体" charset="-122"/>
              </a:rPr>
              <a:t>SQL Parser</a:t>
            </a:r>
          </a:p>
        </p:txBody>
      </p:sp>
      <p:sp>
        <p:nvSpPr>
          <p:cNvPr id="113700" name="Rectangle 39"/>
          <p:cNvSpPr>
            <a:spLocks noChangeArrowheads="1"/>
          </p:cNvSpPr>
          <p:nvPr/>
        </p:nvSpPr>
        <p:spPr bwMode="auto">
          <a:xfrm>
            <a:off x="7620000" y="2362200"/>
            <a:ext cx="914400" cy="11430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solidFill>
                  <a:srgbClr val="C0C0C0"/>
                </a:solidFill>
                <a:ea typeface="宋体" charset="-122"/>
              </a:rPr>
              <a:t>Result</a:t>
            </a:r>
            <a:br>
              <a:rPr lang="en-US" altLang="zh-CN">
                <a:solidFill>
                  <a:srgbClr val="C0C0C0"/>
                </a:solidFill>
                <a:ea typeface="宋体" charset="-122"/>
              </a:rPr>
            </a:br>
            <a:r>
              <a:rPr lang="en-US" altLang="zh-CN">
                <a:solidFill>
                  <a:srgbClr val="C0C0C0"/>
                </a:solidFill>
                <a:ea typeface="宋体" charset="-122"/>
              </a:rPr>
              <a:t>Merger</a:t>
            </a:r>
          </a:p>
        </p:txBody>
      </p:sp>
      <p:sp>
        <p:nvSpPr>
          <p:cNvPr id="113701" name="AutoShape 40"/>
          <p:cNvSpPr>
            <a:spLocks noChangeArrowheads="1"/>
          </p:cNvSpPr>
          <p:nvPr/>
        </p:nvSpPr>
        <p:spPr bwMode="auto">
          <a:xfrm>
            <a:off x="6421438" y="1828800"/>
            <a:ext cx="228600" cy="609600"/>
          </a:xfrm>
          <a:prstGeom prst="downArrow">
            <a:avLst>
              <a:gd name="adj1" fmla="val 50000"/>
              <a:gd name="adj2" fmla="val 66667"/>
            </a:avLst>
          </a:prstGeom>
          <a:solidFill>
            <a:schemeClr val="bg1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/>
            <a:endParaRPr lang="zh-CN" altLang="en-US"/>
          </a:p>
        </p:txBody>
      </p:sp>
      <p:sp>
        <p:nvSpPr>
          <p:cNvPr id="113702" name="AutoShape 41"/>
          <p:cNvSpPr>
            <a:spLocks noChangeArrowheads="1"/>
          </p:cNvSpPr>
          <p:nvPr/>
        </p:nvSpPr>
        <p:spPr bwMode="auto">
          <a:xfrm>
            <a:off x="6400800" y="2667000"/>
            <a:ext cx="249238" cy="457200"/>
          </a:xfrm>
          <a:prstGeom prst="downArrow">
            <a:avLst>
              <a:gd name="adj1" fmla="val 50000"/>
              <a:gd name="adj2" fmla="val 45860"/>
            </a:avLst>
          </a:prstGeom>
          <a:solidFill>
            <a:schemeClr val="bg1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/>
            <a:endParaRPr lang="zh-CN" altLang="en-US"/>
          </a:p>
        </p:txBody>
      </p:sp>
      <p:sp>
        <p:nvSpPr>
          <p:cNvPr id="113703" name="AutoShape 42"/>
          <p:cNvSpPr>
            <a:spLocks noChangeArrowheads="1"/>
          </p:cNvSpPr>
          <p:nvPr/>
        </p:nvSpPr>
        <p:spPr bwMode="auto">
          <a:xfrm>
            <a:off x="6400800" y="3429000"/>
            <a:ext cx="249238" cy="381000"/>
          </a:xfrm>
          <a:prstGeom prst="downArrow">
            <a:avLst>
              <a:gd name="adj1" fmla="val 50000"/>
              <a:gd name="adj2" fmla="val 38216"/>
            </a:avLst>
          </a:prstGeom>
          <a:solidFill>
            <a:schemeClr val="bg1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/>
            <a:endParaRPr lang="zh-CN" altLang="en-US"/>
          </a:p>
        </p:txBody>
      </p:sp>
      <p:sp>
        <p:nvSpPr>
          <p:cNvPr id="113704" name="AutoShape 43"/>
          <p:cNvSpPr>
            <a:spLocks noChangeArrowheads="1"/>
          </p:cNvSpPr>
          <p:nvPr/>
        </p:nvSpPr>
        <p:spPr bwMode="auto">
          <a:xfrm rot="10800000">
            <a:off x="7980363" y="3429000"/>
            <a:ext cx="249237" cy="381000"/>
          </a:xfrm>
          <a:prstGeom prst="downArrow">
            <a:avLst>
              <a:gd name="adj1" fmla="val 50000"/>
              <a:gd name="adj2" fmla="val 38217"/>
            </a:avLst>
          </a:prstGeom>
          <a:solidFill>
            <a:schemeClr val="bg1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/>
            <a:endParaRPr lang="zh-CN" altLang="en-US"/>
          </a:p>
        </p:txBody>
      </p:sp>
      <p:sp>
        <p:nvSpPr>
          <p:cNvPr id="113705" name="AutoShape 44"/>
          <p:cNvSpPr>
            <a:spLocks noChangeArrowheads="1"/>
          </p:cNvSpPr>
          <p:nvPr/>
        </p:nvSpPr>
        <p:spPr bwMode="auto">
          <a:xfrm rot="10800000">
            <a:off x="8001000" y="1828800"/>
            <a:ext cx="228600" cy="609600"/>
          </a:xfrm>
          <a:prstGeom prst="downArrow">
            <a:avLst>
              <a:gd name="adj1" fmla="val 50000"/>
              <a:gd name="adj2" fmla="val 66667"/>
            </a:avLst>
          </a:prstGeom>
          <a:solidFill>
            <a:schemeClr val="bg1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/>
            <a:endParaRPr lang="zh-CN" altLang="en-US"/>
          </a:p>
        </p:txBody>
      </p:sp>
      <p:sp>
        <p:nvSpPr>
          <p:cNvPr id="113706" name="Text Box 45"/>
          <p:cNvSpPr txBox="1">
            <a:spLocks noChangeArrowheads="1"/>
          </p:cNvSpPr>
          <p:nvPr/>
        </p:nvSpPr>
        <p:spPr bwMode="auto">
          <a:xfrm>
            <a:off x="5257800" y="2590800"/>
            <a:ext cx="1143000" cy="827088"/>
          </a:xfrm>
          <a:prstGeom prst="rect">
            <a:avLst/>
          </a:prstGeom>
          <a:noFill/>
          <a:ln w="3175">
            <a:solidFill>
              <a:schemeClr val="bg1"/>
            </a:solidFill>
            <a:prstDash val="dashDot"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4800">
                <a:solidFill>
                  <a:srgbClr val="C0C0C0"/>
                </a:solidFill>
                <a:ea typeface="宋体" charset="-122"/>
              </a:rPr>
              <a:t>... </a:t>
            </a:r>
          </a:p>
        </p:txBody>
      </p:sp>
      <p:sp>
        <p:nvSpPr>
          <p:cNvPr id="113707" name="Rectangle 46"/>
          <p:cNvSpPr>
            <a:spLocks noChangeArrowheads="1"/>
          </p:cNvSpPr>
          <p:nvPr/>
        </p:nvSpPr>
        <p:spPr bwMode="auto">
          <a:xfrm rot="10800000" flipV="1">
            <a:off x="304800" y="2057400"/>
            <a:ext cx="914400" cy="31242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solidFill>
                  <a:srgbClr val="C0C0C0"/>
                </a:solidFill>
                <a:ea typeface="宋体" charset="-122"/>
              </a:rPr>
              <a:t>Manager</a:t>
            </a:r>
          </a:p>
        </p:txBody>
      </p:sp>
      <p:sp>
        <p:nvSpPr>
          <p:cNvPr id="113708" name="AutoShape 47"/>
          <p:cNvSpPr>
            <a:spLocks noChangeArrowheads="1"/>
          </p:cNvSpPr>
          <p:nvPr/>
        </p:nvSpPr>
        <p:spPr bwMode="auto">
          <a:xfrm rot="-5400000">
            <a:off x="1257300" y="3238500"/>
            <a:ext cx="533400" cy="762000"/>
          </a:xfrm>
          <a:prstGeom prst="upDownArrow">
            <a:avLst>
              <a:gd name="adj1" fmla="val 42704"/>
              <a:gd name="adj2" fmla="val 40179"/>
            </a:avLst>
          </a:prstGeom>
          <a:solidFill>
            <a:schemeClr val="bg1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/>
            <a:endParaRPr lang="zh-CN" altLang="en-US"/>
          </a:p>
        </p:txBody>
      </p:sp>
      <p:sp>
        <p:nvSpPr>
          <p:cNvPr id="113709" name="Rectangle 48"/>
          <p:cNvSpPr>
            <a:spLocks noChangeArrowheads="1"/>
          </p:cNvSpPr>
          <p:nvPr/>
        </p:nvSpPr>
        <p:spPr bwMode="auto">
          <a:xfrm>
            <a:off x="2293938" y="5562600"/>
            <a:ext cx="1749425" cy="37623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2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i="1">
                <a:solidFill>
                  <a:srgbClr val="C0C0C0"/>
                </a:solidFill>
                <a:latin typeface="Times New Roman" pitchFamily="18" charset="0"/>
              </a:rPr>
              <a:t>MySQL Protocol</a:t>
            </a:r>
          </a:p>
        </p:txBody>
      </p:sp>
      <p:sp>
        <p:nvSpPr>
          <p:cNvPr id="113710" name="Rectangle 49"/>
          <p:cNvSpPr>
            <a:spLocks noChangeArrowheads="1"/>
          </p:cNvSpPr>
          <p:nvPr/>
        </p:nvSpPr>
        <p:spPr bwMode="auto">
          <a:xfrm>
            <a:off x="4046538" y="5562600"/>
            <a:ext cx="1749425" cy="37623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2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i="1">
                <a:solidFill>
                  <a:srgbClr val="C0C0C0"/>
                </a:solidFill>
                <a:latin typeface="Times New Roman" pitchFamily="18" charset="0"/>
              </a:rPr>
              <a:t>MySQL Protocol</a:t>
            </a:r>
          </a:p>
        </p:txBody>
      </p:sp>
      <p:sp>
        <p:nvSpPr>
          <p:cNvPr id="113711" name="Rectangle 50"/>
          <p:cNvSpPr>
            <a:spLocks noChangeArrowheads="1"/>
          </p:cNvSpPr>
          <p:nvPr/>
        </p:nvSpPr>
        <p:spPr bwMode="auto">
          <a:xfrm>
            <a:off x="5722938" y="5562600"/>
            <a:ext cx="1749425" cy="37623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2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i="1">
                <a:solidFill>
                  <a:srgbClr val="C0C0C0"/>
                </a:solidFill>
                <a:latin typeface="Times New Roman" pitchFamily="18" charset="0"/>
              </a:rPr>
              <a:t>MySQL Protocol</a:t>
            </a:r>
          </a:p>
        </p:txBody>
      </p:sp>
      <p:sp>
        <p:nvSpPr>
          <p:cNvPr id="113712" name="Rectangle 51"/>
          <p:cNvSpPr>
            <a:spLocks noChangeArrowheads="1"/>
          </p:cNvSpPr>
          <p:nvPr/>
        </p:nvSpPr>
        <p:spPr bwMode="auto">
          <a:xfrm>
            <a:off x="7399338" y="5562600"/>
            <a:ext cx="1749425" cy="37623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2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i="1">
                <a:solidFill>
                  <a:srgbClr val="C0C0C0"/>
                </a:solidFill>
                <a:latin typeface="Times New Roman" pitchFamily="18" charset="0"/>
              </a:rPr>
              <a:t>MySQL Protocol</a:t>
            </a:r>
          </a:p>
        </p:txBody>
      </p:sp>
      <p:sp>
        <p:nvSpPr>
          <p:cNvPr id="113713" name="Rectangle 52"/>
          <p:cNvSpPr>
            <a:spLocks noChangeArrowheads="1"/>
          </p:cNvSpPr>
          <p:nvPr/>
        </p:nvSpPr>
        <p:spPr bwMode="auto">
          <a:xfrm rot="-5400000">
            <a:off x="817563" y="3252788"/>
            <a:ext cx="1387475" cy="65087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2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i="1">
                <a:solidFill>
                  <a:srgbClr val="C0C0C0"/>
                </a:solidFill>
                <a:latin typeface="Times New Roman" pitchFamily="18" charset="0"/>
              </a:rPr>
              <a:t>Management</a:t>
            </a:r>
            <a:br>
              <a:rPr lang="en-US" altLang="zh-CN" i="1">
                <a:solidFill>
                  <a:srgbClr val="C0C0C0"/>
                </a:solidFill>
                <a:latin typeface="Times New Roman" pitchFamily="18" charset="0"/>
              </a:rPr>
            </a:br>
            <a:r>
              <a:rPr lang="en-US" altLang="zh-CN" i="1">
                <a:solidFill>
                  <a:srgbClr val="C0C0C0"/>
                </a:solidFill>
                <a:latin typeface="Times New Roman" pitchFamily="18" charset="0"/>
              </a:rPr>
              <a:t>Protocol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Rectangle 2"/>
          <p:cNvSpPr>
            <a:spLocks noChangeArrowheads="1"/>
          </p:cNvSpPr>
          <p:nvPr/>
        </p:nvSpPr>
        <p:spPr bwMode="auto">
          <a:xfrm>
            <a:off x="609600" y="2971800"/>
            <a:ext cx="1600200" cy="3505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b"/>
          <a:lstStyle/>
          <a:p>
            <a:pPr algn="ctr"/>
            <a:r>
              <a:rPr lang="en-US" altLang="zh-CN">
                <a:ea typeface="宋体" charset="-122"/>
              </a:rPr>
              <a:t>Application1</a:t>
            </a:r>
          </a:p>
        </p:txBody>
      </p:sp>
      <p:sp>
        <p:nvSpPr>
          <p:cNvPr id="114690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latin typeface="微软雅黑"/>
                <a:ea typeface="微软雅黑"/>
                <a:cs typeface="微软雅黑"/>
              </a:rPr>
              <a:t>JDBC</a:t>
            </a:r>
            <a:r>
              <a:rPr lang="zh-CN" altLang="en-US" smtClean="0">
                <a:latin typeface="微软雅黑"/>
                <a:ea typeface="微软雅黑"/>
                <a:cs typeface="微软雅黑"/>
              </a:rPr>
              <a:t>和</a:t>
            </a:r>
            <a:r>
              <a:rPr lang="en-US" altLang="zh-CN" smtClean="0">
                <a:latin typeface="微软雅黑"/>
                <a:ea typeface="微软雅黑"/>
                <a:cs typeface="微软雅黑"/>
              </a:rPr>
              <a:t>Server</a:t>
            </a:r>
            <a:r>
              <a:rPr lang="zh-CN" altLang="en-US" smtClean="0">
                <a:latin typeface="微软雅黑"/>
                <a:ea typeface="微软雅黑"/>
                <a:cs typeface="微软雅黑"/>
              </a:rPr>
              <a:t>的通信协议</a:t>
            </a:r>
          </a:p>
        </p:txBody>
      </p:sp>
      <p:sp>
        <p:nvSpPr>
          <p:cNvPr id="114691" name="Rectangle 4"/>
          <p:cNvSpPr>
            <a:spLocks noChangeArrowheads="1"/>
          </p:cNvSpPr>
          <p:nvPr/>
        </p:nvSpPr>
        <p:spPr bwMode="auto">
          <a:xfrm>
            <a:off x="1371600" y="3048000"/>
            <a:ext cx="1219200" cy="3124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/>
              <a:t>MySQL</a:t>
            </a:r>
            <a:br>
              <a:rPr lang="en-US" altLang="zh-CN"/>
            </a:br>
            <a:r>
              <a:rPr lang="en-US" altLang="zh-CN"/>
              <a:t>JDBC</a:t>
            </a:r>
          </a:p>
          <a:p>
            <a:pPr algn="ctr"/>
            <a:r>
              <a:rPr lang="en-US" altLang="zh-CN"/>
              <a:t>Driver</a:t>
            </a:r>
          </a:p>
        </p:txBody>
      </p:sp>
      <p:sp>
        <p:nvSpPr>
          <p:cNvPr id="114692" name="AutoShape 5"/>
          <p:cNvSpPr>
            <a:spLocks noChangeArrowheads="1"/>
          </p:cNvSpPr>
          <p:nvPr/>
        </p:nvSpPr>
        <p:spPr bwMode="auto">
          <a:xfrm>
            <a:off x="6705600" y="3124200"/>
            <a:ext cx="1676400" cy="3200400"/>
          </a:xfrm>
          <a:prstGeom prst="can">
            <a:avLst>
              <a:gd name="adj" fmla="val 26895"/>
            </a:avLst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/>
              <a:t>MySQL</a:t>
            </a:r>
            <a:br>
              <a:rPr lang="en-US" altLang="zh-CN"/>
            </a:br>
            <a:r>
              <a:rPr lang="en-US" altLang="zh-CN"/>
              <a:t>Server</a:t>
            </a:r>
          </a:p>
        </p:txBody>
      </p:sp>
      <p:sp>
        <p:nvSpPr>
          <p:cNvPr id="114693" name="AutoShape 6"/>
          <p:cNvSpPr>
            <a:spLocks noChangeArrowheads="1"/>
          </p:cNvSpPr>
          <p:nvPr/>
        </p:nvSpPr>
        <p:spPr bwMode="auto">
          <a:xfrm rot="-5400000">
            <a:off x="4038600" y="2438400"/>
            <a:ext cx="1143000" cy="4343400"/>
          </a:xfrm>
          <a:prstGeom prst="upDownArrow">
            <a:avLst>
              <a:gd name="adj1" fmla="val 55907"/>
              <a:gd name="adj2" fmla="val 76598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anchor="ctr"/>
          <a:lstStyle/>
          <a:p>
            <a:pPr algn="ctr"/>
            <a:endParaRPr lang="zh-CN" altLang="zh-CN">
              <a:ea typeface="宋体" charset="-122"/>
            </a:endParaRPr>
          </a:p>
        </p:txBody>
      </p:sp>
      <p:sp>
        <p:nvSpPr>
          <p:cNvPr id="114694" name="Text Box 7"/>
          <p:cNvSpPr txBox="1">
            <a:spLocks noChangeArrowheads="1"/>
          </p:cNvSpPr>
          <p:nvPr/>
        </p:nvSpPr>
        <p:spPr bwMode="auto">
          <a:xfrm>
            <a:off x="3276600" y="4419600"/>
            <a:ext cx="2209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000" b="1" i="1">
                <a:solidFill>
                  <a:srgbClr val="FF0000"/>
                </a:solidFill>
                <a:latin typeface="Times New Roman" pitchFamily="18" charset="0"/>
                <a:ea typeface="宋体" charset="-122"/>
              </a:rPr>
              <a:t>MySQL Protocol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latin typeface="微软雅黑"/>
                <a:ea typeface="微软雅黑"/>
                <a:cs typeface="微软雅黑"/>
              </a:rPr>
              <a:t>JDBC</a:t>
            </a:r>
            <a:r>
              <a:rPr lang="zh-CN" altLang="en-US" smtClean="0">
                <a:latin typeface="微软雅黑"/>
                <a:ea typeface="微软雅黑"/>
                <a:cs typeface="微软雅黑"/>
              </a:rPr>
              <a:t>和</a:t>
            </a:r>
            <a:r>
              <a:rPr lang="en-US" altLang="zh-CN" smtClean="0">
                <a:latin typeface="微软雅黑"/>
                <a:ea typeface="微软雅黑"/>
                <a:cs typeface="微软雅黑"/>
              </a:rPr>
              <a:t>Server</a:t>
            </a:r>
            <a:r>
              <a:rPr lang="zh-CN" altLang="en-US" smtClean="0">
                <a:latin typeface="微软雅黑"/>
                <a:ea typeface="微软雅黑"/>
                <a:cs typeface="微软雅黑"/>
              </a:rPr>
              <a:t>的通信协议</a:t>
            </a:r>
          </a:p>
        </p:txBody>
      </p:sp>
      <p:sp>
        <p:nvSpPr>
          <p:cNvPr id="115714" name="Rectangle 3"/>
          <p:cNvSpPr>
            <a:spLocks noChangeArrowheads="1"/>
          </p:cNvSpPr>
          <p:nvPr/>
        </p:nvSpPr>
        <p:spPr bwMode="auto">
          <a:xfrm>
            <a:off x="533400" y="1371600"/>
            <a:ext cx="8305800" cy="1317625"/>
          </a:xfrm>
          <a:prstGeom prst="rect">
            <a:avLst/>
          </a:prstGeom>
          <a:noFill/>
          <a:ln w="6350" algn="ctr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000" b="1">
                <a:latin typeface="Courier New" pitchFamily="49" charset="0"/>
              </a:rPr>
              <a:t>PreparedStatement </a:t>
            </a:r>
            <a:r>
              <a:rPr lang="en-US" altLang="zh-CN" sz="2000" b="1">
                <a:solidFill>
                  <a:srgbClr val="FF0000"/>
                </a:solidFill>
                <a:latin typeface="Courier New" pitchFamily="49" charset="0"/>
              </a:rPr>
              <a:t>ps</a:t>
            </a:r>
            <a:r>
              <a:rPr lang="en-US" altLang="zh-CN" sz="2000" b="1">
                <a:latin typeface="Courier New" pitchFamily="49" charset="0"/>
              </a:rPr>
              <a:t> = conn.prepareStatement(</a:t>
            </a:r>
            <a:br>
              <a:rPr lang="en-US" altLang="zh-CN" sz="2000" b="1">
                <a:latin typeface="Courier New" pitchFamily="49" charset="0"/>
              </a:rPr>
            </a:br>
            <a:r>
              <a:rPr lang="en-US" altLang="zh-CN" sz="2000" b="1">
                <a:latin typeface="Courier New" pitchFamily="49" charset="0"/>
              </a:rPr>
              <a:t>                    </a:t>
            </a:r>
            <a:r>
              <a:rPr lang="en-US" altLang="zh-CN" sz="2000" b="1">
                <a:solidFill>
                  <a:srgbClr val="000066"/>
                </a:solidFill>
                <a:latin typeface="Courier New" pitchFamily="49" charset="0"/>
              </a:rPr>
              <a:t> "select * from tb1 where id=?"</a:t>
            </a:r>
            <a:r>
              <a:rPr lang="en-US" altLang="zh-CN" sz="2000" b="1">
                <a:latin typeface="Courier New" pitchFamily="49" charset="0"/>
              </a:rPr>
              <a:t>);        </a:t>
            </a:r>
            <a:r>
              <a:rPr lang="en-US" altLang="zh-CN" sz="2000" b="1">
                <a:solidFill>
                  <a:srgbClr val="FF0000"/>
                </a:solidFill>
                <a:latin typeface="Courier New" pitchFamily="49" charset="0"/>
              </a:rPr>
              <a:t>ps</a:t>
            </a:r>
            <a:r>
              <a:rPr lang="en-US" altLang="zh-CN" sz="2000" b="1">
                <a:latin typeface="Courier New" pitchFamily="49" charset="0"/>
              </a:rPr>
              <a:t>.setLong(1, 12345);</a:t>
            </a:r>
          </a:p>
          <a:p>
            <a:r>
              <a:rPr lang="en-US" altLang="zh-CN" sz="2000" b="1">
                <a:latin typeface="Courier New" pitchFamily="49" charset="0"/>
              </a:rPr>
              <a:t>ResultSet rs = </a:t>
            </a:r>
            <a:r>
              <a:rPr lang="en-US" altLang="zh-CN" sz="2000" b="1">
                <a:solidFill>
                  <a:srgbClr val="FF0000"/>
                </a:solidFill>
                <a:latin typeface="Courier New" pitchFamily="49" charset="0"/>
              </a:rPr>
              <a:t>ps</a:t>
            </a:r>
            <a:r>
              <a:rPr lang="en-US" altLang="zh-CN" sz="2000" b="1">
                <a:latin typeface="Courier New" pitchFamily="49" charset="0"/>
              </a:rPr>
              <a:t>.executeQuery();</a:t>
            </a:r>
          </a:p>
        </p:txBody>
      </p:sp>
      <p:sp>
        <p:nvSpPr>
          <p:cNvPr id="115715" name="AutoShape 4"/>
          <p:cNvSpPr>
            <a:spLocks noChangeArrowheads="1"/>
          </p:cNvSpPr>
          <p:nvPr/>
        </p:nvSpPr>
        <p:spPr bwMode="auto">
          <a:xfrm>
            <a:off x="6705600" y="3124200"/>
            <a:ext cx="1676400" cy="3200400"/>
          </a:xfrm>
          <a:prstGeom prst="can">
            <a:avLst>
              <a:gd name="adj" fmla="val 26895"/>
            </a:avLst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/>
              <a:t>MySQL</a:t>
            </a:r>
            <a:br>
              <a:rPr lang="en-US" altLang="zh-CN"/>
            </a:br>
            <a:r>
              <a:rPr lang="en-US" altLang="zh-CN"/>
              <a:t>Server</a:t>
            </a:r>
          </a:p>
        </p:txBody>
      </p:sp>
      <p:sp>
        <p:nvSpPr>
          <p:cNvPr id="115716" name="Line 5"/>
          <p:cNvSpPr>
            <a:spLocks noChangeShapeType="1"/>
          </p:cNvSpPr>
          <p:nvPr/>
        </p:nvSpPr>
        <p:spPr bwMode="auto">
          <a:xfrm flipV="1">
            <a:off x="1371600" y="2667000"/>
            <a:ext cx="609600" cy="304800"/>
          </a:xfrm>
          <a:prstGeom prst="line">
            <a:avLst/>
          </a:prstGeom>
          <a:noFill/>
          <a:ln w="63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5717" name="Rectangle 6"/>
          <p:cNvSpPr>
            <a:spLocks noChangeArrowheads="1"/>
          </p:cNvSpPr>
          <p:nvPr/>
        </p:nvSpPr>
        <p:spPr bwMode="auto">
          <a:xfrm>
            <a:off x="609600" y="2971800"/>
            <a:ext cx="1600200" cy="3505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b"/>
          <a:lstStyle/>
          <a:p>
            <a:pPr algn="ctr"/>
            <a:r>
              <a:rPr lang="en-US" altLang="zh-CN">
                <a:ea typeface="宋体" charset="-122"/>
              </a:rPr>
              <a:t>Application1</a:t>
            </a:r>
          </a:p>
        </p:txBody>
      </p:sp>
      <p:sp>
        <p:nvSpPr>
          <p:cNvPr id="115718" name="Rectangle 7"/>
          <p:cNvSpPr>
            <a:spLocks noChangeArrowheads="1"/>
          </p:cNvSpPr>
          <p:nvPr/>
        </p:nvSpPr>
        <p:spPr bwMode="auto">
          <a:xfrm>
            <a:off x="1371600" y="3048000"/>
            <a:ext cx="1219200" cy="3124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/>
              <a:t>MySQL</a:t>
            </a:r>
            <a:br>
              <a:rPr lang="en-US" altLang="zh-CN"/>
            </a:br>
            <a:r>
              <a:rPr lang="en-US" altLang="zh-CN"/>
              <a:t>JDBC</a:t>
            </a:r>
          </a:p>
          <a:p>
            <a:pPr algn="ctr"/>
            <a:r>
              <a:rPr lang="en-US" altLang="zh-CN"/>
              <a:t>Driver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latin typeface="微软雅黑"/>
                <a:ea typeface="微软雅黑"/>
                <a:cs typeface="微软雅黑"/>
              </a:rPr>
              <a:t>JDBC</a:t>
            </a:r>
            <a:r>
              <a:rPr lang="zh-CN" altLang="en-US" smtClean="0">
                <a:latin typeface="微软雅黑"/>
                <a:ea typeface="微软雅黑"/>
                <a:cs typeface="微软雅黑"/>
              </a:rPr>
              <a:t>和</a:t>
            </a:r>
            <a:r>
              <a:rPr lang="en-US" altLang="zh-CN" smtClean="0">
                <a:latin typeface="微软雅黑"/>
                <a:ea typeface="微软雅黑"/>
                <a:cs typeface="微软雅黑"/>
              </a:rPr>
              <a:t>Server</a:t>
            </a:r>
            <a:r>
              <a:rPr lang="zh-CN" altLang="en-US" smtClean="0">
                <a:latin typeface="微软雅黑"/>
                <a:ea typeface="微软雅黑"/>
                <a:cs typeface="微软雅黑"/>
              </a:rPr>
              <a:t>的通信协议</a:t>
            </a:r>
          </a:p>
        </p:txBody>
      </p:sp>
      <p:sp>
        <p:nvSpPr>
          <p:cNvPr id="116738" name="AutoShape 3"/>
          <p:cNvSpPr>
            <a:spLocks noChangeArrowheads="1"/>
          </p:cNvSpPr>
          <p:nvPr/>
        </p:nvSpPr>
        <p:spPr bwMode="auto">
          <a:xfrm>
            <a:off x="6705600" y="3124200"/>
            <a:ext cx="1676400" cy="3200400"/>
          </a:xfrm>
          <a:prstGeom prst="can">
            <a:avLst>
              <a:gd name="adj" fmla="val 26895"/>
            </a:avLst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/>
              <a:t>MySQL</a:t>
            </a:r>
            <a:br>
              <a:rPr lang="en-US" altLang="zh-CN"/>
            </a:br>
            <a:r>
              <a:rPr lang="en-US" altLang="zh-CN"/>
              <a:t>Server</a:t>
            </a:r>
          </a:p>
        </p:txBody>
      </p:sp>
      <p:sp>
        <p:nvSpPr>
          <p:cNvPr id="116739" name="Rectangle 4"/>
          <p:cNvSpPr>
            <a:spLocks noChangeArrowheads="1"/>
          </p:cNvSpPr>
          <p:nvPr/>
        </p:nvSpPr>
        <p:spPr bwMode="auto">
          <a:xfrm>
            <a:off x="609600" y="2971800"/>
            <a:ext cx="1600200" cy="3505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b"/>
          <a:lstStyle/>
          <a:p>
            <a:pPr algn="ctr"/>
            <a:r>
              <a:rPr lang="en-US" altLang="zh-CN">
                <a:ea typeface="宋体" charset="-122"/>
              </a:rPr>
              <a:t>Application1</a:t>
            </a:r>
          </a:p>
        </p:txBody>
      </p:sp>
      <p:sp>
        <p:nvSpPr>
          <p:cNvPr id="116740" name="Rectangle 5"/>
          <p:cNvSpPr>
            <a:spLocks noChangeArrowheads="1"/>
          </p:cNvSpPr>
          <p:nvPr/>
        </p:nvSpPr>
        <p:spPr bwMode="auto">
          <a:xfrm>
            <a:off x="1371600" y="3048000"/>
            <a:ext cx="1219200" cy="3124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/>
              <a:t>MySQL</a:t>
            </a:r>
            <a:br>
              <a:rPr lang="en-US" altLang="zh-CN"/>
            </a:br>
            <a:r>
              <a:rPr lang="en-US" altLang="zh-CN"/>
              <a:t>JDBC</a:t>
            </a:r>
          </a:p>
          <a:p>
            <a:pPr algn="ctr"/>
            <a:r>
              <a:rPr lang="en-US" altLang="zh-CN"/>
              <a:t>Driver</a:t>
            </a:r>
          </a:p>
        </p:txBody>
      </p:sp>
      <p:sp>
        <p:nvSpPr>
          <p:cNvPr id="116741" name="Rectangle 6"/>
          <p:cNvSpPr>
            <a:spLocks noChangeArrowheads="1"/>
          </p:cNvSpPr>
          <p:nvPr/>
        </p:nvSpPr>
        <p:spPr bwMode="auto">
          <a:xfrm>
            <a:off x="533400" y="1371600"/>
            <a:ext cx="8305800" cy="1317625"/>
          </a:xfrm>
          <a:prstGeom prst="rect">
            <a:avLst/>
          </a:prstGeom>
          <a:noFill/>
          <a:ln w="6350" algn="ctr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000" b="1">
                <a:solidFill>
                  <a:srgbClr val="FF0000"/>
                </a:solidFill>
                <a:latin typeface="Courier New" pitchFamily="49" charset="0"/>
              </a:rPr>
              <a:t>PreparedStatement ps = conn.prepareStatement(</a:t>
            </a:r>
            <a:br>
              <a:rPr lang="en-US" altLang="zh-CN" sz="2000" b="1">
                <a:solidFill>
                  <a:srgbClr val="FF0000"/>
                </a:solidFill>
                <a:latin typeface="Courier New" pitchFamily="49" charset="0"/>
              </a:rPr>
            </a:br>
            <a:r>
              <a:rPr lang="en-US" altLang="zh-CN" sz="2000" b="1">
                <a:solidFill>
                  <a:srgbClr val="FF0000"/>
                </a:solidFill>
                <a:latin typeface="Courier New" pitchFamily="49" charset="0"/>
              </a:rPr>
              <a:t>                     "select * from tb1 where id=?");</a:t>
            </a:r>
            <a:r>
              <a:rPr lang="en-US" altLang="zh-CN" sz="2000" b="1">
                <a:latin typeface="Courier New" pitchFamily="49" charset="0"/>
              </a:rPr>
              <a:t>        ps.setLong(1, 12345);</a:t>
            </a:r>
          </a:p>
          <a:p>
            <a:r>
              <a:rPr lang="en-US" altLang="zh-CN" sz="2000" b="1">
                <a:latin typeface="Courier New" pitchFamily="49" charset="0"/>
              </a:rPr>
              <a:t>ResultSet rs = ps.executeQuery();</a:t>
            </a:r>
          </a:p>
        </p:txBody>
      </p:sp>
      <p:sp>
        <p:nvSpPr>
          <p:cNvPr id="116742" name="Line 7"/>
          <p:cNvSpPr>
            <a:spLocks noChangeShapeType="1"/>
          </p:cNvSpPr>
          <p:nvPr/>
        </p:nvSpPr>
        <p:spPr bwMode="auto">
          <a:xfrm>
            <a:off x="2590800" y="3352800"/>
            <a:ext cx="41148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743" name="Line 8"/>
          <p:cNvSpPr>
            <a:spLocks noChangeShapeType="1"/>
          </p:cNvSpPr>
          <p:nvPr/>
        </p:nvSpPr>
        <p:spPr bwMode="auto">
          <a:xfrm flipH="1">
            <a:off x="2590800" y="3810000"/>
            <a:ext cx="41148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744" name="AutoShape 9"/>
          <p:cNvSpPr>
            <a:spLocks noChangeArrowheads="1"/>
          </p:cNvSpPr>
          <p:nvPr/>
        </p:nvSpPr>
        <p:spPr bwMode="auto">
          <a:xfrm>
            <a:off x="3505200" y="2895600"/>
            <a:ext cx="1905000" cy="6858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400">
                <a:latin typeface="Courier New" pitchFamily="49" charset="0"/>
              </a:rPr>
              <a:t>&lt;</a:t>
            </a:r>
            <a:r>
              <a:rPr lang="en-US" altLang="zh-CN" sz="1400" b="1">
                <a:latin typeface="微软雅黑"/>
              </a:rPr>
              <a:t>PREPARED</a:t>
            </a:r>
            <a:r>
              <a:rPr lang="en-US" altLang="zh-CN" sz="1400">
                <a:latin typeface="Courier New" pitchFamily="49" charset="0"/>
              </a:rPr>
              <a:t>&gt;</a:t>
            </a:r>
            <a:br>
              <a:rPr lang="en-US" altLang="zh-CN" sz="1400">
                <a:latin typeface="Courier New" pitchFamily="49" charset="0"/>
              </a:rPr>
            </a:br>
            <a:r>
              <a:rPr lang="en-US" altLang="zh-CN" sz="1400">
                <a:latin typeface="Courier New" pitchFamily="49" charset="0"/>
              </a:rPr>
              <a:t>select * from tb1</a:t>
            </a:r>
            <a:br>
              <a:rPr lang="en-US" altLang="zh-CN" sz="1400">
                <a:latin typeface="Courier New" pitchFamily="49" charset="0"/>
              </a:rPr>
            </a:br>
            <a:r>
              <a:rPr lang="en-US" altLang="zh-CN" sz="1400">
                <a:latin typeface="Courier New" pitchFamily="49" charset="0"/>
              </a:rPr>
              <a:t>where id=?</a:t>
            </a:r>
          </a:p>
        </p:txBody>
      </p:sp>
      <p:sp>
        <p:nvSpPr>
          <p:cNvPr id="116745" name="AutoShape 10"/>
          <p:cNvSpPr>
            <a:spLocks noChangeArrowheads="1"/>
          </p:cNvSpPr>
          <p:nvPr/>
        </p:nvSpPr>
        <p:spPr bwMode="auto">
          <a:xfrm>
            <a:off x="3200400" y="3657600"/>
            <a:ext cx="3048000" cy="5334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400">
                <a:latin typeface="Courier New" pitchFamily="49" charset="0"/>
              </a:rPr>
              <a:t>&lt;</a:t>
            </a:r>
            <a:r>
              <a:rPr lang="en-US" altLang="zh-CN" sz="1400" b="1">
                <a:latin typeface="微软雅黑"/>
              </a:rPr>
              <a:t>OK</a:t>
            </a:r>
            <a:r>
              <a:rPr lang="en-US" altLang="zh-CN" sz="1400">
                <a:latin typeface="Courier New" pitchFamily="49" charset="0"/>
              </a:rPr>
              <a:t>&gt;</a:t>
            </a:r>
            <a:br>
              <a:rPr lang="en-US" altLang="zh-CN" sz="1400">
                <a:latin typeface="Courier New" pitchFamily="49" charset="0"/>
              </a:rPr>
            </a:br>
            <a:r>
              <a:rPr lang="en-US" altLang="zh-CN" sz="1400">
                <a:latin typeface="Courier New" pitchFamily="49" charset="0"/>
              </a:rPr>
              <a:t>stmt_id/param_num/columm_num</a:t>
            </a:r>
          </a:p>
        </p:txBody>
      </p:sp>
      <p:sp>
        <p:nvSpPr>
          <p:cNvPr id="116746" name="Line 11"/>
          <p:cNvSpPr>
            <a:spLocks noChangeShapeType="1"/>
          </p:cNvSpPr>
          <p:nvPr/>
        </p:nvSpPr>
        <p:spPr bwMode="auto">
          <a:xfrm flipH="1">
            <a:off x="2590800" y="4419600"/>
            <a:ext cx="41148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747" name="AutoShape 12"/>
          <p:cNvSpPr>
            <a:spLocks noChangeArrowheads="1"/>
          </p:cNvSpPr>
          <p:nvPr/>
        </p:nvSpPr>
        <p:spPr bwMode="auto">
          <a:xfrm>
            <a:off x="3505200" y="4267200"/>
            <a:ext cx="1905000" cy="4572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400">
                <a:latin typeface="Courier New" pitchFamily="49" charset="0"/>
              </a:rPr>
              <a:t>&lt;</a:t>
            </a:r>
            <a:r>
              <a:rPr lang="en-US" altLang="zh-CN" sz="1400" b="1">
                <a:latin typeface="微软雅黑"/>
              </a:rPr>
              <a:t>FIELD</a:t>
            </a:r>
            <a:r>
              <a:rPr lang="en-US" altLang="zh-CN" sz="1400">
                <a:latin typeface="Courier New" pitchFamily="49" charset="0"/>
              </a:rPr>
              <a:t>&gt;</a:t>
            </a:r>
            <a:br>
              <a:rPr lang="en-US" altLang="zh-CN" sz="1400">
                <a:latin typeface="Courier New" pitchFamily="49" charset="0"/>
              </a:rPr>
            </a:br>
            <a:r>
              <a:rPr lang="en-US" altLang="zh-CN" sz="1400">
                <a:latin typeface="Courier New" pitchFamily="49" charset="0"/>
              </a:rPr>
              <a:t>parameter_type</a:t>
            </a:r>
          </a:p>
        </p:txBody>
      </p:sp>
      <p:sp>
        <p:nvSpPr>
          <p:cNvPr id="116748" name="Line 13"/>
          <p:cNvSpPr>
            <a:spLocks noChangeShapeType="1"/>
          </p:cNvSpPr>
          <p:nvPr/>
        </p:nvSpPr>
        <p:spPr bwMode="auto">
          <a:xfrm flipH="1">
            <a:off x="2590800" y="4876800"/>
            <a:ext cx="41148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749" name="AutoShape 14"/>
          <p:cNvSpPr>
            <a:spLocks noChangeArrowheads="1"/>
          </p:cNvSpPr>
          <p:nvPr/>
        </p:nvSpPr>
        <p:spPr bwMode="auto">
          <a:xfrm>
            <a:off x="3505200" y="4800600"/>
            <a:ext cx="1905000" cy="3048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400">
                <a:latin typeface="Courier New" pitchFamily="49" charset="0"/>
              </a:rPr>
              <a:t>&lt;</a:t>
            </a:r>
            <a:r>
              <a:rPr lang="en-US" altLang="zh-CN" sz="1400" b="1">
                <a:latin typeface="微软雅黑"/>
              </a:rPr>
              <a:t>EOF</a:t>
            </a:r>
            <a:r>
              <a:rPr lang="en-US" altLang="zh-CN" sz="1400">
                <a:latin typeface="Courier New" pitchFamily="49" charset="0"/>
              </a:rPr>
              <a:t>&gt;</a:t>
            </a:r>
          </a:p>
        </p:txBody>
      </p:sp>
      <p:sp>
        <p:nvSpPr>
          <p:cNvPr id="116750" name="Line 15"/>
          <p:cNvSpPr>
            <a:spLocks noChangeShapeType="1"/>
          </p:cNvSpPr>
          <p:nvPr/>
        </p:nvSpPr>
        <p:spPr bwMode="auto">
          <a:xfrm flipH="1">
            <a:off x="2590800" y="5334000"/>
            <a:ext cx="41148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751" name="AutoShape 16"/>
          <p:cNvSpPr>
            <a:spLocks noChangeArrowheads="1"/>
          </p:cNvSpPr>
          <p:nvPr/>
        </p:nvSpPr>
        <p:spPr bwMode="auto">
          <a:xfrm>
            <a:off x="3505200" y="5181600"/>
            <a:ext cx="1905000" cy="4572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400">
                <a:latin typeface="Courier New" pitchFamily="49" charset="0"/>
              </a:rPr>
              <a:t>&lt;</a:t>
            </a:r>
            <a:r>
              <a:rPr lang="en-US" altLang="zh-CN" sz="1400" b="1">
                <a:latin typeface="微软雅黑"/>
              </a:rPr>
              <a:t>FIELD</a:t>
            </a:r>
            <a:r>
              <a:rPr lang="en-US" altLang="zh-CN" sz="1400">
                <a:latin typeface="Courier New" pitchFamily="49" charset="0"/>
              </a:rPr>
              <a:t>&gt;</a:t>
            </a:r>
            <a:br>
              <a:rPr lang="en-US" altLang="zh-CN" sz="1400">
                <a:latin typeface="Courier New" pitchFamily="49" charset="0"/>
              </a:rPr>
            </a:br>
            <a:r>
              <a:rPr lang="en-US" altLang="zh-CN" sz="1400">
                <a:latin typeface="Courier New" pitchFamily="49" charset="0"/>
              </a:rPr>
              <a:t>column_type</a:t>
            </a:r>
          </a:p>
        </p:txBody>
      </p:sp>
      <p:sp>
        <p:nvSpPr>
          <p:cNvPr id="116752" name="Line 17"/>
          <p:cNvSpPr>
            <a:spLocks noChangeShapeType="1"/>
          </p:cNvSpPr>
          <p:nvPr/>
        </p:nvSpPr>
        <p:spPr bwMode="auto">
          <a:xfrm flipH="1">
            <a:off x="2590800" y="5791200"/>
            <a:ext cx="41148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753" name="AutoShape 18"/>
          <p:cNvSpPr>
            <a:spLocks noChangeArrowheads="1"/>
          </p:cNvSpPr>
          <p:nvPr/>
        </p:nvSpPr>
        <p:spPr bwMode="auto">
          <a:xfrm>
            <a:off x="3505200" y="5715000"/>
            <a:ext cx="1905000" cy="3048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400">
                <a:latin typeface="Courier New" pitchFamily="49" charset="0"/>
              </a:rPr>
              <a:t>&lt;</a:t>
            </a:r>
            <a:r>
              <a:rPr lang="en-US" altLang="zh-CN" sz="1400" b="1">
                <a:latin typeface="微软雅黑"/>
              </a:rPr>
              <a:t>EOF</a:t>
            </a:r>
            <a:r>
              <a:rPr lang="en-US" altLang="zh-CN" sz="1400">
                <a:latin typeface="Courier New" pitchFamily="49" charset="0"/>
              </a:rPr>
              <a:t>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latin typeface="微软雅黑"/>
                <a:ea typeface="微软雅黑"/>
                <a:cs typeface="微软雅黑"/>
              </a:rPr>
              <a:t>JDBC</a:t>
            </a:r>
            <a:r>
              <a:rPr lang="zh-CN" altLang="en-US" smtClean="0">
                <a:latin typeface="微软雅黑"/>
                <a:ea typeface="微软雅黑"/>
                <a:cs typeface="微软雅黑"/>
              </a:rPr>
              <a:t>和</a:t>
            </a:r>
            <a:r>
              <a:rPr lang="en-US" altLang="zh-CN" smtClean="0">
                <a:latin typeface="微软雅黑"/>
                <a:ea typeface="微软雅黑"/>
                <a:cs typeface="微软雅黑"/>
              </a:rPr>
              <a:t>Server</a:t>
            </a:r>
            <a:r>
              <a:rPr lang="zh-CN" altLang="en-US" smtClean="0">
                <a:latin typeface="微软雅黑"/>
                <a:ea typeface="微软雅黑"/>
                <a:cs typeface="微软雅黑"/>
              </a:rPr>
              <a:t>的通信协议</a:t>
            </a:r>
          </a:p>
        </p:txBody>
      </p:sp>
      <p:sp>
        <p:nvSpPr>
          <p:cNvPr id="117762" name="Rectangle 3"/>
          <p:cNvSpPr>
            <a:spLocks noChangeArrowheads="1"/>
          </p:cNvSpPr>
          <p:nvPr/>
        </p:nvSpPr>
        <p:spPr bwMode="auto">
          <a:xfrm>
            <a:off x="533400" y="1371600"/>
            <a:ext cx="8305800" cy="1317625"/>
          </a:xfrm>
          <a:prstGeom prst="rect">
            <a:avLst/>
          </a:prstGeom>
          <a:noFill/>
          <a:ln w="6350" algn="ctr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000" b="1">
                <a:latin typeface="Courier New" pitchFamily="49" charset="0"/>
              </a:rPr>
              <a:t>PreparedStatement ps = conn.prepareStatement(</a:t>
            </a:r>
            <a:br>
              <a:rPr lang="en-US" altLang="zh-CN" sz="2000" b="1">
                <a:latin typeface="Courier New" pitchFamily="49" charset="0"/>
              </a:rPr>
            </a:br>
            <a:r>
              <a:rPr lang="en-US" altLang="zh-CN" sz="2000" b="1">
                <a:latin typeface="Courier New" pitchFamily="49" charset="0"/>
              </a:rPr>
              <a:t>                     "select * from tb1 where id=?");        </a:t>
            </a:r>
            <a:r>
              <a:rPr lang="en-US" altLang="zh-CN" sz="2000" b="1">
                <a:solidFill>
                  <a:srgbClr val="FF0000"/>
                </a:solidFill>
                <a:latin typeface="Courier New" pitchFamily="49" charset="0"/>
              </a:rPr>
              <a:t>ps.setLong(1, 12345);</a:t>
            </a:r>
          </a:p>
          <a:p>
            <a:r>
              <a:rPr lang="en-US" altLang="zh-CN" sz="2000" b="1">
                <a:latin typeface="Courier New" pitchFamily="49" charset="0"/>
              </a:rPr>
              <a:t>ResultSet rs = ps.executeQuery();</a:t>
            </a:r>
          </a:p>
        </p:txBody>
      </p:sp>
      <p:sp>
        <p:nvSpPr>
          <p:cNvPr id="117763" name="AutoShape 4"/>
          <p:cNvSpPr>
            <a:spLocks noChangeArrowheads="1"/>
          </p:cNvSpPr>
          <p:nvPr/>
        </p:nvSpPr>
        <p:spPr bwMode="auto">
          <a:xfrm>
            <a:off x="6705600" y="3124200"/>
            <a:ext cx="1676400" cy="3200400"/>
          </a:xfrm>
          <a:prstGeom prst="can">
            <a:avLst>
              <a:gd name="adj" fmla="val 26895"/>
            </a:avLst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/>
              <a:t>MySQL</a:t>
            </a:r>
            <a:br>
              <a:rPr lang="en-US" altLang="zh-CN"/>
            </a:br>
            <a:r>
              <a:rPr lang="en-US" altLang="zh-CN"/>
              <a:t>Server</a:t>
            </a:r>
          </a:p>
        </p:txBody>
      </p:sp>
      <p:sp>
        <p:nvSpPr>
          <p:cNvPr id="117764" name="Line 5"/>
          <p:cNvSpPr>
            <a:spLocks noChangeShapeType="1"/>
          </p:cNvSpPr>
          <p:nvPr/>
        </p:nvSpPr>
        <p:spPr bwMode="auto">
          <a:xfrm flipV="1">
            <a:off x="1371600" y="2667000"/>
            <a:ext cx="609600" cy="304800"/>
          </a:xfrm>
          <a:prstGeom prst="line">
            <a:avLst/>
          </a:prstGeom>
          <a:noFill/>
          <a:ln w="63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765" name="Rectangle 6"/>
          <p:cNvSpPr>
            <a:spLocks noChangeArrowheads="1"/>
          </p:cNvSpPr>
          <p:nvPr/>
        </p:nvSpPr>
        <p:spPr bwMode="auto">
          <a:xfrm>
            <a:off x="609600" y="2971800"/>
            <a:ext cx="1600200" cy="3505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b"/>
          <a:lstStyle/>
          <a:p>
            <a:pPr algn="ctr"/>
            <a:r>
              <a:rPr lang="en-US" altLang="zh-CN">
                <a:ea typeface="宋体" charset="-122"/>
              </a:rPr>
              <a:t>Application1</a:t>
            </a:r>
          </a:p>
        </p:txBody>
      </p:sp>
      <p:sp>
        <p:nvSpPr>
          <p:cNvPr id="117766" name="Rectangle 7"/>
          <p:cNvSpPr>
            <a:spLocks noChangeArrowheads="1"/>
          </p:cNvSpPr>
          <p:nvPr/>
        </p:nvSpPr>
        <p:spPr bwMode="auto">
          <a:xfrm>
            <a:off x="1371600" y="3048000"/>
            <a:ext cx="1219200" cy="3124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/>
              <a:t>MySQL</a:t>
            </a:r>
            <a:br>
              <a:rPr lang="en-US" altLang="zh-CN"/>
            </a:br>
            <a:r>
              <a:rPr lang="en-US" altLang="zh-CN"/>
              <a:t>JDBC</a:t>
            </a:r>
          </a:p>
          <a:p>
            <a:pPr algn="ctr"/>
            <a:r>
              <a:rPr lang="en-US" altLang="zh-CN"/>
              <a:t>Driver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latin typeface="微软雅黑"/>
                <a:ea typeface="微软雅黑"/>
                <a:cs typeface="微软雅黑"/>
              </a:rPr>
              <a:t>JDBC</a:t>
            </a:r>
            <a:r>
              <a:rPr lang="zh-CN" altLang="en-US" smtClean="0">
                <a:latin typeface="微软雅黑"/>
                <a:ea typeface="微软雅黑"/>
                <a:cs typeface="微软雅黑"/>
              </a:rPr>
              <a:t>和</a:t>
            </a:r>
            <a:r>
              <a:rPr lang="en-US" altLang="zh-CN" smtClean="0">
                <a:latin typeface="微软雅黑"/>
                <a:ea typeface="微软雅黑"/>
                <a:cs typeface="微软雅黑"/>
              </a:rPr>
              <a:t>Server</a:t>
            </a:r>
            <a:r>
              <a:rPr lang="zh-CN" altLang="en-US" smtClean="0">
                <a:latin typeface="微软雅黑"/>
                <a:ea typeface="微软雅黑"/>
                <a:cs typeface="微软雅黑"/>
              </a:rPr>
              <a:t>的通信协议</a:t>
            </a:r>
          </a:p>
        </p:txBody>
      </p:sp>
      <p:sp>
        <p:nvSpPr>
          <p:cNvPr id="118786" name="Rectangle 3"/>
          <p:cNvSpPr>
            <a:spLocks noChangeArrowheads="1"/>
          </p:cNvSpPr>
          <p:nvPr/>
        </p:nvSpPr>
        <p:spPr bwMode="auto">
          <a:xfrm>
            <a:off x="533400" y="1371600"/>
            <a:ext cx="8305800" cy="1317625"/>
          </a:xfrm>
          <a:prstGeom prst="rect">
            <a:avLst/>
          </a:prstGeom>
          <a:noFill/>
          <a:ln w="6350" algn="ctr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000" b="1">
                <a:latin typeface="Courier New" pitchFamily="49" charset="0"/>
              </a:rPr>
              <a:t>PreparedStatement ps = conn.prepareStatement(</a:t>
            </a:r>
            <a:br>
              <a:rPr lang="en-US" altLang="zh-CN" sz="2000" b="1">
                <a:latin typeface="Courier New" pitchFamily="49" charset="0"/>
              </a:rPr>
            </a:br>
            <a:r>
              <a:rPr lang="en-US" altLang="zh-CN" sz="2000" b="1">
                <a:latin typeface="Courier New" pitchFamily="49" charset="0"/>
              </a:rPr>
              <a:t>                     "select * from tb1 where id=?");        ps.setLong(1, 12345);</a:t>
            </a:r>
          </a:p>
          <a:p>
            <a:r>
              <a:rPr lang="en-US" altLang="zh-CN" sz="2000" b="1">
                <a:solidFill>
                  <a:srgbClr val="FF0000"/>
                </a:solidFill>
                <a:latin typeface="Courier New" pitchFamily="49" charset="0"/>
              </a:rPr>
              <a:t>ResultSet rs = ps.executeQuery();</a:t>
            </a:r>
          </a:p>
        </p:txBody>
      </p:sp>
      <p:sp>
        <p:nvSpPr>
          <p:cNvPr id="118787" name="AutoShape 4"/>
          <p:cNvSpPr>
            <a:spLocks noChangeArrowheads="1"/>
          </p:cNvSpPr>
          <p:nvPr/>
        </p:nvSpPr>
        <p:spPr bwMode="auto">
          <a:xfrm>
            <a:off x="6705600" y="3124200"/>
            <a:ext cx="1676400" cy="3200400"/>
          </a:xfrm>
          <a:prstGeom prst="can">
            <a:avLst>
              <a:gd name="adj" fmla="val 26895"/>
            </a:avLst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/>
              <a:t>MySQL</a:t>
            </a:r>
            <a:br>
              <a:rPr lang="en-US" altLang="zh-CN"/>
            </a:br>
            <a:r>
              <a:rPr lang="en-US" altLang="zh-CN"/>
              <a:t>Server</a:t>
            </a:r>
          </a:p>
        </p:txBody>
      </p:sp>
      <p:sp>
        <p:nvSpPr>
          <p:cNvPr id="118788" name="Line 5"/>
          <p:cNvSpPr>
            <a:spLocks noChangeShapeType="1"/>
          </p:cNvSpPr>
          <p:nvPr/>
        </p:nvSpPr>
        <p:spPr bwMode="auto">
          <a:xfrm flipV="1">
            <a:off x="1371600" y="2667000"/>
            <a:ext cx="609600" cy="304800"/>
          </a:xfrm>
          <a:prstGeom prst="line">
            <a:avLst/>
          </a:prstGeom>
          <a:noFill/>
          <a:ln w="63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8789" name="Rectangle 6"/>
          <p:cNvSpPr>
            <a:spLocks noChangeArrowheads="1"/>
          </p:cNvSpPr>
          <p:nvPr/>
        </p:nvSpPr>
        <p:spPr bwMode="auto">
          <a:xfrm>
            <a:off x="609600" y="2971800"/>
            <a:ext cx="1600200" cy="3505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b"/>
          <a:lstStyle/>
          <a:p>
            <a:pPr algn="ctr"/>
            <a:r>
              <a:rPr lang="en-US" altLang="zh-CN">
                <a:ea typeface="宋体" charset="-122"/>
              </a:rPr>
              <a:t>Application1</a:t>
            </a:r>
          </a:p>
        </p:txBody>
      </p:sp>
      <p:sp>
        <p:nvSpPr>
          <p:cNvPr id="118790" name="Rectangle 7"/>
          <p:cNvSpPr>
            <a:spLocks noChangeArrowheads="1"/>
          </p:cNvSpPr>
          <p:nvPr/>
        </p:nvSpPr>
        <p:spPr bwMode="auto">
          <a:xfrm>
            <a:off x="1371600" y="3048000"/>
            <a:ext cx="1219200" cy="3276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/>
              <a:t>MySQL</a:t>
            </a:r>
            <a:br>
              <a:rPr lang="en-US" altLang="zh-CN"/>
            </a:br>
            <a:r>
              <a:rPr lang="en-US" altLang="zh-CN"/>
              <a:t>JDBC</a:t>
            </a:r>
          </a:p>
          <a:p>
            <a:pPr algn="ctr"/>
            <a:r>
              <a:rPr lang="en-US" altLang="zh-CN"/>
              <a:t>Driver</a:t>
            </a:r>
          </a:p>
        </p:txBody>
      </p:sp>
      <p:sp>
        <p:nvSpPr>
          <p:cNvPr id="118791" name="Line 8"/>
          <p:cNvSpPr>
            <a:spLocks noChangeShapeType="1"/>
          </p:cNvSpPr>
          <p:nvPr/>
        </p:nvSpPr>
        <p:spPr bwMode="auto">
          <a:xfrm>
            <a:off x="2590800" y="3276600"/>
            <a:ext cx="41148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8792" name="AutoShape 9"/>
          <p:cNvSpPr>
            <a:spLocks noChangeArrowheads="1"/>
          </p:cNvSpPr>
          <p:nvPr/>
        </p:nvSpPr>
        <p:spPr bwMode="auto">
          <a:xfrm>
            <a:off x="3505200" y="2895600"/>
            <a:ext cx="1905000" cy="5334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400">
                <a:latin typeface="Courier New" pitchFamily="49" charset="0"/>
              </a:rPr>
              <a:t>&lt;</a:t>
            </a:r>
            <a:r>
              <a:rPr lang="en-US" altLang="zh-CN" sz="1400" b="1">
                <a:latin typeface="微软雅黑"/>
              </a:rPr>
              <a:t>EXECUTE</a:t>
            </a:r>
            <a:r>
              <a:rPr lang="en-US" altLang="zh-CN" sz="1400">
                <a:latin typeface="Courier New" pitchFamily="49" charset="0"/>
              </a:rPr>
              <a:t>&gt;</a:t>
            </a:r>
            <a:br>
              <a:rPr lang="en-US" altLang="zh-CN" sz="1400">
                <a:latin typeface="Courier New" pitchFamily="49" charset="0"/>
              </a:rPr>
            </a:br>
            <a:r>
              <a:rPr lang="en-US" altLang="zh-CN" sz="1400">
                <a:latin typeface="Courier New" pitchFamily="49" charset="0"/>
              </a:rPr>
              <a:t>stmt_id {param}+</a:t>
            </a:r>
          </a:p>
        </p:txBody>
      </p:sp>
      <p:sp>
        <p:nvSpPr>
          <p:cNvPr id="118793" name="Line 10"/>
          <p:cNvSpPr>
            <a:spLocks noChangeShapeType="1"/>
          </p:cNvSpPr>
          <p:nvPr/>
        </p:nvSpPr>
        <p:spPr bwMode="auto">
          <a:xfrm flipH="1">
            <a:off x="2590800" y="3657600"/>
            <a:ext cx="41148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8794" name="AutoShape 11"/>
          <p:cNvSpPr>
            <a:spLocks noChangeArrowheads="1"/>
          </p:cNvSpPr>
          <p:nvPr/>
        </p:nvSpPr>
        <p:spPr bwMode="auto">
          <a:xfrm>
            <a:off x="3505200" y="3505200"/>
            <a:ext cx="1905000" cy="4572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400">
                <a:latin typeface="Courier New" pitchFamily="49" charset="0"/>
              </a:rPr>
              <a:t>&lt;</a:t>
            </a:r>
            <a:r>
              <a:rPr lang="en-US" altLang="zh-CN" sz="1400" b="1">
                <a:latin typeface="微软雅黑"/>
              </a:rPr>
              <a:t>HEADER</a:t>
            </a:r>
            <a:r>
              <a:rPr lang="en-US" altLang="zh-CN" sz="1400">
                <a:latin typeface="Courier New" pitchFamily="49" charset="0"/>
              </a:rPr>
              <a:t>&gt;</a:t>
            </a:r>
            <a:br>
              <a:rPr lang="en-US" altLang="zh-CN" sz="1400">
                <a:latin typeface="Courier New" pitchFamily="49" charset="0"/>
              </a:rPr>
            </a:br>
            <a:r>
              <a:rPr lang="en-US" altLang="zh-CN" sz="1400">
                <a:latin typeface="Courier New" pitchFamily="49" charset="0"/>
              </a:rPr>
              <a:t>field_count</a:t>
            </a:r>
          </a:p>
        </p:txBody>
      </p:sp>
      <p:sp>
        <p:nvSpPr>
          <p:cNvPr id="118795" name="Line 12"/>
          <p:cNvSpPr>
            <a:spLocks noChangeShapeType="1"/>
          </p:cNvSpPr>
          <p:nvPr/>
        </p:nvSpPr>
        <p:spPr bwMode="auto">
          <a:xfrm flipH="1">
            <a:off x="2590800" y="4191000"/>
            <a:ext cx="41148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8796" name="AutoShape 13"/>
          <p:cNvSpPr>
            <a:spLocks noChangeArrowheads="1"/>
          </p:cNvSpPr>
          <p:nvPr/>
        </p:nvSpPr>
        <p:spPr bwMode="auto">
          <a:xfrm>
            <a:off x="3505200" y="4038600"/>
            <a:ext cx="1905000" cy="4572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400">
                <a:latin typeface="Courier New" pitchFamily="49" charset="0"/>
              </a:rPr>
              <a:t>&lt;</a:t>
            </a:r>
            <a:r>
              <a:rPr lang="en-US" altLang="zh-CN" sz="1400" b="1">
                <a:latin typeface="微软雅黑"/>
              </a:rPr>
              <a:t>FIELD</a:t>
            </a:r>
            <a:r>
              <a:rPr lang="en-US" altLang="zh-CN" sz="1400">
                <a:latin typeface="Courier New" pitchFamily="49" charset="0"/>
              </a:rPr>
              <a:t>&gt;</a:t>
            </a:r>
            <a:br>
              <a:rPr lang="en-US" altLang="zh-CN" sz="1400">
                <a:latin typeface="Courier New" pitchFamily="49" charset="0"/>
              </a:rPr>
            </a:br>
            <a:r>
              <a:rPr lang="en-US" altLang="zh-CN" sz="1400">
                <a:latin typeface="Courier New" pitchFamily="49" charset="0"/>
              </a:rPr>
              <a:t>column_type</a:t>
            </a:r>
          </a:p>
        </p:txBody>
      </p:sp>
      <p:sp>
        <p:nvSpPr>
          <p:cNvPr id="118797" name="Line 14"/>
          <p:cNvSpPr>
            <a:spLocks noChangeShapeType="1"/>
          </p:cNvSpPr>
          <p:nvPr/>
        </p:nvSpPr>
        <p:spPr bwMode="auto">
          <a:xfrm flipH="1">
            <a:off x="2590800" y="4648200"/>
            <a:ext cx="41148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8798" name="AutoShape 15"/>
          <p:cNvSpPr>
            <a:spLocks noChangeArrowheads="1"/>
          </p:cNvSpPr>
          <p:nvPr/>
        </p:nvSpPr>
        <p:spPr bwMode="auto">
          <a:xfrm>
            <a:off x="3505200" y="4572000"/>
            <a:ext cx="1905000" cy="3048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400">
                <a:latin typeface="Courier New" pitchFamily="49" charset="0"/>
              </a:rPr>
              <a:t>&lt;</a:t>
            </a:r>
            <a:r>
              <a:rPr lang="en-US" altLang="zh-CN" sz="1400" b="1">
                <a:latin typeface="微软雅黑"/>
              </a:rPr>
              <a:t>EOF</a:t>
            </a:r>
            <a:r>
              <a:rPr lang="en-US" altLang="zh-CN" sz="1400">
                <a:latin typeface="Courier New" pitchFamily="49" charset="0"/>
              </a:rPr>
              <a:t>&gt;</a:t>
            </a:r>
          </a:p>
        </p:txBody>
      </p:sp>
      <p:sp>
        <p:nvSpPr>
          <p:cNvPr id="118799" name="Line 16"/>
          <p:cNvSpPr>
            <a:spLocks noChangeShapeType="1"/>
          </p:cNvSpPr>
          <p:nvPr/>
        </p:nvSpPr>
        <p:spPr bwMode="auto">
          <a:xfrm flipH="1">
            <a:off x="2590800" y="5105400"/>
            <a:ext cx="41148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8800" name="AutoShape 17"/>
          <p:cNvSpPr>
            <a:spLocks noChangeArrowheads="1"/>
          </p:cNvSpPr>
          <p:nvPr/>
        </p:nvSpPr>
        <p:spPr bwMode="auto">
          <a:xfrm>
            <a:off x="3505200" y="4953000"/>
            <a:ext cx="1905000" cy="4572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400">
                <a:latin typeface="Courier New" pitchFamily="49" charset="0"/>
              </a:rPr>
              <a:t>&lt;</a:t>
            </a:r>
            <a:r>
              <a:rPr lang="en-US" altLang="zh-CN" sz="1400" b="1">
                <a:latin typeface="微软雅黑"/>
              </a:rPr>
              <a:t>ROW_DATA</a:t>
            </a:r>
            <a:r>
              <a:rPr lang="en-US" altLang="zh-CN" sz="1400">
                <a:latin typeface="Courier New" pitchFamily="49" charset="0"/>
              </a:rPr>
              <a:t>&gt;</a:t>
            </a:r>
            <a:br>
              <a:rPr lang="en-US" altLang="zh-CN" sz="1400">
                <a:latin typeface="Courier New" pitchFamily="49" charset="0"/>
              </a:rPr>
            </a:br>
            <a:r>
              <a:rPr lang="en-US" altLang="zh-CN" sz="1400">
                <a:latin typeface="Courier New" pitchFamily="49" charset="0"/>
              </a:rPr>
              <a:t>{column_val}+</a:t>
            </a:r>
          </a:p>
        </p:txBody>
      </p:sp>
      <p:sp>
        <p:nvSpPr>
          <p:cNvPr id="118801" name="Line 18"/>
          <p:cNvSpPr>
            <a:spLocks noChangeShapeType="1"/>
          </p:cNvSpPr>
          <p:nvPr/>
        </p:nvSpPr>
        <p:spPr bwMode="auto">
          <a:xfrm flipH="1">
            <a:off x="2590800" y="5638800"/>
            <a:ext cx="41148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8802" name="AutoShape 19"/>
          <p:cNvSpPr>
            <a:spLocks noChangeArrowheads="1"/>
          </p:cNvSpPr>
          <p:nvPr/>
        </p:nvSpPr>
        <p:spPr bwMode="auto">
          <a:xfrm>
            <a:off x="3505200" y="5486400"/>
            <a:ext cx="1905000" cy="4572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400">
                <a:latin typeface="Courier New" pitchFamily="49" charset="0"/>
              </a:rPr>
              <a:t>&lt;</a:t>
            </a:r>
            <a:r>
              <a:rPr lang="en-US" altLang="zh-CN" sz="1400" b="1">
                <a:latin typeface="微软雅黑"/>
              </a:rPr>
              <a:t>ROW_DATA</a:t>
            </a:r>
            <a:r>
              <a:rPr lang="en-US" altLang="zh-CN" sz="1400">
                <a:latin typeface="Courier New" pitchFamily="49" charset="0"/>
              </a:rPr>
              <a:t>&gt;</a:t>
            </a:r>
            <a:br>
              <a:rPr lang="en-US" altLang="zh-CN" sz="1400">
                <a:latin typeface="Courier New" pitchFamily="49" charset="0"/>
              </a:rPr>
            </a:br>
            <a:r>
              <a:rPr lang="en-US" altLang="zh-CN" sz="1400">
                <a:latin typeface="Courier New" pitchFamily="49" charset="0"/>
              </a:rPr>
              <a:t>{column_val}+</a:t>
            </a:r>
          </a:p>
        </p:txBody>
      </p:sp>
      <p:sp>
        <p:nvSpPr>
          <p:cNvPr id="118803" name="Line 20"/>
          <p:cNvSpPr>
            <a:spLocks noChangeShapeType="1"/>
          </p:cNvSpPr>
          <p:nvPr/>
        </p:nvSpPr>
        <p:spPr bwMode="auto">
          <a:xfrm flipH="1">
            <a:off x="2590800" y="6096000"/>
            <a:ext cx="41148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8804" name="AutoShape 21"/>
          <p:cNvSpPr>
            <a:spLocks noChangeArrowheads="1"/>
          </p:cNvSpPr>
          <p:nvPr/>
        </p:nvSpPr>
        <p:spPr bwMode="auto">
          <a:xfrm>
            <a:off x="3505200" y="6019800"/>
            <a:ext cx="1905000" cy="3048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400">
                <a:latin typeface="Courier New" pitchFamily="49" charset="0"/>
              </a:rPr>
              <a:t>&lt;</a:t>
            </a:r>
            <a:r>
              <a:rPr lang="en-US" altLang="zh-CN" sz="1400" b="1">
                <a:latin typeface="微软雅黑"/>
              </a:rPr>
              <a:t>EOF</a:t>
            </a:r>
            <a:r>
              <a:rPr lang="en-US" altLang="zh-CN" sz="1400">
                <a:latin typeface="Courier New" pitchFamily="49" charset="0"/>
              </a:rPr>
              <a:t>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latin typeface="微软雅黑"/>
                <a:ea typeface="微软雅黑"/>
                <a:cs typeface="微软雅黑"/>
              </a:rPr>
              <a:t>JDBC</a:t>
            </a:r>
            <a:r>
              <a:rPr lang="zh-CN" altLang="en-US" smtClean="0">
                <a:latin typeface="微软雅黑"/>
                <a:ea typeface="微软雅黑"/>
                <a:cs typeface="微软雅黑"/>
              </a:rPr>
              <a:t>和</a:t>
            </a:r>
            <a:r>
              <a:rPr lang="en-US" altLang="zh-CN" smtClean="0">
                <a:latin typeface="微软雅黑"/>
                <a:ea typeface="微软雅黑"/>
                <a:cs typeface="微软雅黑"/>
              </a:rPr>
              <a:t>Server</a:t>
            </a:r>
            <a:r>
              <a:rPr lang="zh-CN" altLang="en-US" smtClean="0">
                <a:latin typeface="微软雅黑"/>
                <a:ea typeface="微软雅黑"/>
                <a:cs typeface="微软雅黑"/>
              </a:rPr>
              <a:t>的通信协议</a:t>
            </a:r>
          </a:p>
        </p:txBody>
      </p:sp>
      <p:sp>
        <p:nvSpPr>
          <p:cNvPr id="119810" name="Rectangle 3"/>
          <p:cNvSpPr>
            <a:spLocks noChangeArrowheads="1"/>
          </p:cNvSpPr>
          <p:nvPr/>
        </p:nvSpPr>
        <p:spPr bwMode="auto">
          <a:xfrm>
            <a:off x="533400" y="1371600"/>
            <a:ext cx="8305800" cy="1012825"/>
          </a:xfrm>
          <a:prstGeom prst="rect">
            <a:avLst/>
          </a:prstGeom>
          <a:noFill/>
          <a:ln w="6350" algn="ctr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000" b="1">
                <a:latin typeface="Courier New" pitchFamily="49" charset="0"/>
              </a:rPr>
              <a:t>Statement stmt = conn.createStatement();</a:t>
            </a:r>
          </a:p>
          <a:p>
            <a:r>
              <a:rPr lang="en-US" altLang="zh-CN" sz="2000" b="1">
                <a:solidFill>
                  <a:srgbClr val="FF0000"/>
                </a:solidFill>
                <a:latin typeface="Courier New" pitchFamily="49" charset="0"/>
              </a:rPr>
              <a:t>ResultSet rs = stmt.executeQuery(</a:t>
            </a:r>
          </a:p>
          <a:p>
            <a:r>
              <a:rPr lang="en-US" altLang="zh-CN" sz="2000" b="1">
                <a:solidFill>
                  <a:srgbClr val="FF0000"/>
                </a:solidFill>
                <a:latin typeface="Courier New" pitchFamily="49" charset="0"/>
              </a:rPr>
              <a:t>                 “select * from tb1 where id=12345”);</a:t>
            </a:r>
          </a:p>
        </p:txBody>
      </p:sp>
      <p:sp>
        <p:nvSpPr>
          <p:cNvPr id="119811" name="Line 4"/>
          <p:cNvSpPr>
            <a:spLocks noChangeShapeType="1"/>
          </p:cNvSpPr>
          <p:nvPr/>
        </p:nvSpPr>
        <p:spPr bwMode="auto">
          <a:xfrm flipV="1">
            <a:off x="1371600" y="2362200"/>
            <a:ext cx="838200" cy="609600"/>
          </a:xfrm>
          <a:prstGeom prst="line">
            <a:avLst/>
          </a:prstGeom>
          <a:noFill/>
          <a:ln w="63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9812" name="Rectangle 5"/>
          <p:cNvSpPr>
            <a:spLocks noChangeArrowheads="1"/>
          </p:cNvSpPr>
          <p:nvPr/>
        </p:nvSpPr>
        <p:spPr bwMode="auto">
          <a:xfrm>
            <a:off x="609600" y="2971800"/>
            <a:ext cx="1600200" cy="3505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b"/>
          <a:lstStyle/>
          <a:p>
            <a:pPr algn="ctr"/>
            <a:r>
              <a:rPr lang="en-US" altLang="zh-CN">
                <a:ea typeface="宋体" charset="-122"/>
              </a:rPr>
              <a:t>Application1</a:t>
            </a:r>
          </a:p>
        </p:txBody>
      </p:sp>
      <p:sp>
        <p:nvSpPr>
          <p:cNvPr id="119813" name="Rectangle 6"/>
          <p:cNvSpPr>
            <a:spLocks noChangeArrowheads="1"/>
          </p:cNvSpPr>
          <p:nvPr/>
        </p:nvSpPr>
        <p:spPr bwMode="auto">
          <a:xfrm>
            <a:off x="1371600" y="3048000"/>
            <a:ext cx="1219200" cy="3276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/>
              <a:t>MySQL</a:t>
            </a:r>
            <a:br>
              <a:rPr lang="en-US" altLang="zh-CN"/>
            </a:br>
            <a:r>
              <a:rPr lang="en-US" altLang="zh-CN"/>
              <a:t>JDBC</a:t>
            </a:r>
          </a:p>
          <a:p>
            <a:pPr algn="ctr"/>
            <a:r>
              <a:rPr lang="en-US" altLang="zh-CN"/>
              <a:t>Driver</a:t>
            </a:r>
          </a:p>
        </p:txBody>
      </p:sp>
      <p:sp>
        <p:nvSpPr>
          <p:cNvPr id="119814" name="Line 7"/>
          <p:cNvSpPr>
            <a:spLocks noChangeShapeType="1"/>
          </p:cNvSpPr>
          <p:nvPr/>
        </p:nvSpPr>
        <p:spPr bwMode="auto">
          <a:xfrm>
            <a:off x="2590800" y="3276600"/>
            <a:ext cx="41148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9815" name="AutoShape 8"/>
          <p:cNvSpPr>
            <a:spLocks noChangeArrowheads="1"/>
          </p:cNvSpPr>
          <p:nvPr/>
        </p:nvSpPr>
        <p:spPr bwMode="auto">
          <a:xfrm>
            <a:off x="3505200" y="2895600"/>
            <a:ext cx="1905000" cy="5334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400">
                <a:latin typeface="Courier New" pitchFamily="49" charset="0"/>
              </a:rPr>
              <a:t>&lt;</a:t>
            </a:r>
            <a:r>
              <a:rPr lang="en-US" altLang="zh-CN" sz="1400" b="1">
                <a:latin typeface="微软雅黑"/>
              </a:rPr>
              <a:t>QUERY</a:t>
            </a:r>
            <a:r>
              <a:rPr lang="en-US" altLang="zh-CN" sz="1400">
                <a:latin typeface="Courier New" pitchFamily="49" charset="0"/>
              </a:rPr>
              <a:t>&gt;</a:t>
            </a:r>
            <a:br>
              <a:rPr lang="en-US" altLang="zh-CN" sz="1400">
                <a:latin typeface="Courier New" pitchFamily="49" charset="0"/>
              </a:rPr>
            </a:br>
            <a:r>
              <a:rPr lang="en-US" altLang="zh-CN" sz="1400">
                <a:latin typeface="Courier New" pitchFamily="49" charset="0"/>
              </a:rPr>
              <a:t>sql</a:t>
            </a:r>
          </a:p>
        </p:txBody>
      </p:sp>
      <p:sp>
        <p:nvSpPr>
          <p:cNvPr id="119816" name="Line 9"/>
          <p:cNvSpPr>
            <a:spLocks noChangeShapeType="1"/>
          </p:cNvSpPr>
          <p:nvPr/>
        </p:nvSpPr>
        <p:spPr bwMode="auto">
          <a:xfrm flipH="1">
            <a:off x="2590800" y="3657600"/>
            <a:ext cx="41148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9817" name="AutoShape 10"/>
          <p:cNvSpPr>
            <a:spLocks noChangeArrowheads="1"/>
          </p:cNvSpPr>
          <p:nvPr/>
        </p:nvSpPr>
        <p:spPr bwMode="auto">
          <a:xfrm>
            <a:off x="3505200" y="3505200"/>
            <a:ext cx="1905000" cy="4572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400">
                <a:latin typeface="Courier New" pitchFamily="49" charset="0"/>
              </a:rPr>
              <a:t>&lt;</a:t>
            </a:r>
            <a:r>
              <a:rPr lang="en-US" altLang="zh-CN" sz="1400" b="1">
                <a:latin typeface="微软雅黑"/>
              </a:rPr>
              <a:t>HEADER</a:t>
            </a:r>
            <a:r>
              <a:rPr lang="en-US" altLang="zh-CN" sz="1400">
                <a:latin typeface="Courier New" pitchFamily="49" charset="0"/>
              </a:rPr>
              <a:t>&gt;</a:t>
            </a:r>
            <a:br>
              <a:rPr lang="en-US" altLang="zh-CN" sz="1400">
                <a:latin typeface="Courier New" pitchFamily="49" charset="0"/>
              </a:rPr>
            </a:br>
            <a:r>
              <a:rPr lang="en-US" altLang="zh-CN" sz="1400">
                <a:latin typeface="Courier New" pitchFamily="49" charset="0"/>
              </a:rPr>
              <a:t>field_count</a:t>
            </a:r>
          </a:p>
        </p:txBody>
      </p:sp>
      <p:sp>
        <p:nvSpPr>
          <p:cNvPr id="119818" name="Line 11"/>
          <p:cNvSpPr>
            <a:spLocks noChangeShapeType="1"/>
          </p:cNvSpPr>
          <p:nvPr/>
        </p:nvSpPr>
        <p:spPr bwMode="auto">
          <a:xfrm flipH="1">
            <a:off x="2590800" y="4191000"/>
            <a:ext cx="41148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9819" name="AutoShape 12"/>
          <p:cNvSpPr>
            <a:spLocks noChangeArrowheads="1"/>
          </p:cNvSpPr>
          <p:nvPr/>
        </p:nvSpPr>
        <p:spPr bwMode="auto">
          <a:xfrm>
            <a:off x="3505200" y="4038600"/>
            <a:ext cx="1905000" cy="4572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400">
                <a:latin typeface="Courier New" pitchFamily="49" charset="0"/>
              </a:rPr>
              <a:t>&lt;</a:t>
            </a:r>
            <a:r>
              <a:rPr lang="en-US" altLang="zh-CN" sz="1400" b="1">
                <a:latin typeface="微软雅黑"/>
              </a:rPr>
              <a:t>FIELD</a:t>
            </a:r>
            <a:r>
              <a:rPr lang="en-US" altLang="zh-CN" sz="1400">
                <a:latin typeface="Courier New" pitchFamily="49" charset="0"/>
              </a:rPr>
              <a:t>&gt;</a:t>
            </a:r>
            <a:br>
              <a:rPr lang="en-US" altLang="zh-CN" sz="1400">
                <a:latin typeface="Courier New" pitchFamily="49" charset="0"/>
              </a:rPr>
            </a:br>
            <a:r>
              <a:rPr lang="en-US" altLang="zh-CN" sz="1400">
                <a:latin typeface="Courier New" pitchFamily="49" charset="0"/>
              </a:rPr>
              <a:t>column_type</a:t>
            </a:r>
          </a:p>
        </p:txBody>
      </p:sp>
      <p:sp>
        <p:nvSpPr>
          <p:cNvPr id="119820" name="Line 13"/>
          <p:cNvSpPr>
            <a:spLocks noChangeShapeType="1"/>
          </p:cNvSpPr>
          <p:nvPr/>
        </p:nvSpPr>
        <p:spPr bwMode="auto">
          <a:xfrm flipH="1">
            <a:off x="2590800" y="4648200"/>
            <a:ext cx="41148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9821" name="AutoShape 14"/>
          <p:cNvSpPr>
            <a:spLocks noChangeArrowheads="1"/>
          </p:cNvSpPr>
          <p:nvPr/>
        </p:nvSpPr>
        <p:spPr bwMode="auto">
          <a:xfrm>
            <a:off x="3505200" y="4572000"/>
            <a:ext cx="1905000" cy="3048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400">
                <a:latin typeface="Courier New" pitchFamily="49" charset="0"/>
              </a:rPr>
              <a:t>&lt;</a:t>
            </a:r>
            <a:r>
              <a:rPr lang="en-US" altLang="zh-CN" sz="1400" b="1">
                <a:latin typeface="微软雅黑"/>
              </a:rPr>
              <a:t>EOF</a:t>
            </a:r>
            <a:r>
              <a:rPr lang="en-US" altLang="zh-CN" sz="1400">
                <a:latin typeface="Courier New" pitchFamily="49" charset="0"/>
              </a:rPr>
              <a:t>&gt;</a:t>
            </a:r>
          </a:p>
        </p:txBody>
      </p:sp>
      <p:sp>
        <p:nvSpPr>
          <p:cNvPr id="119822" name="Line 15"/>
          <p:cNvSpPr>
            <a:spLocks noChangeShapeType="1"/>
          </p:cNvSpPr>
          <p:nvPr/>
        </p:nvSpPr>
        <p:spPr bwMode="auto">
          <a:xfrm flipH="1">
            <a:off x="2590800" y="5105400"/>
            <a:ext cx="41148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9823" name="AutoShape 16"/>
          <p:cNvSpPr>
            <a:spLocks noChangeArrowheads="1"/>
          </p:cNvSpPr>
          <p:nvPr/>
        </p:nvSpPr>
        <p:spPr bwMode="auto">
          <a:xfrm>
            <a:off x="3505200" y="4953000"/>
            <a:ext cx="1905000" cy="4572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400">
                <a:latin typeface="Courier New" pitchFamily="49" charset="0"/>
              </a:rPr>
              <a:t>&lt;</a:t>
            </a:r>
            <a:r>
              <a:rPr lang="en-US" altLang="zh-CN" sz="1400" b="1">
                <a:latin typeface="微软雅黑"/>
              </a:rPr>
              <a:t>ROW_DATA</a:t>
            </a:r>
            <a:r>
              <a:rPr lang="en-US" altLang="zh-CN" sz="1400">
                <a:latin typeface="Courier New" pitchFamily="49" charset="0"/>
              </a:rPr>
              <a:t>&gt;</a:t>
            </a:r>
            <a:br>
              <a:rPr lang="en-US" altLang="zh-CN" sz="1400">
                <a:latin typeface="Courier New" pitchFamily="49" charset="0"/>
              </a:rPr>
            </a:br>
            <a:r>
              <a:rPr lang="en-US" altLang="zh-CN" sz="1400">
                <a:latin typeface="Courier New" pitchFamily="49" charset="0"/>
              </a:rPr>
              <a:t>{column_val}+</a:t>
            </a:r>
          </a:p>
        </p:txBody>
      </p:sp>
      <p:sp>
        <p:nvSpPr>
          <p:cNvPr id="119824" name="Line 17"/>
          <p:cNvSpPr>
            <a:spLocks noChangeShapeType="1"/>
          </p:cNvSpPr>
          <p:nvPr/>
        </p:nvSpPr>
        <p:spPr bwMode="auto">
          <a:xfrm flipH="1">
            <a:off x="2590800" y="5638800"/>
            <a:ext cx="41148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9825" name="AutoShape 18"/>
          <p:cNvSpPr>
            <a:spLocks noChangeArrowheads="1"/>
          </p:cNvSpPr>
          <p:nvPr/>
        </p:nvSpPr>
        <p:spPr bwMode="auto">
          <a:xfrm>
            <a:off x="3505200" y="5486400"/>
            <a:ext cx="1905000" cy="4572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400">
                <a:latin typeface="Courier New" pitchFamily="49" charset="0"/>
              </a:rPr>
              <a:t>&lt;</a:t>
            </a:r>
            <a:r>
              <a:rPr lang="en-US" altLang="zh-CN" sz="1400" b="1">
                <a:latin typeface="微软雅黑"/>
              </a:rPr>
              <a:t>ROW_DATA</a:t>
            </a:r>
            <a:r>
              <a:rPr lang="en-US" altLang="zh-CN" sz="1400">
                <a:latin typeface="Courier New" pitchFamily="49" charset="0"/>
              </a:rPr>
              <a:t>&gt;</a:t>
            </a:r>
            <a:br>
              <a:rPr lang="en-US" altLang="zh-CN" sz="1400">
                <a:latin typeface="Courier New" pitchFamily="49" charset="0"/>
              </a:rPr>
            </a:br>
            <a:r>
              <a:rPr lang="en-US" altLang="zh-CN" sz="1400">
                <a:latin typeface="Courier New" pitchFamily="49" charset="0"/>
              </a:rPr>
              <a:t>{column_val}+</a:t>
            </a:r>
          </a:p>
        </p:txBody>
      </p:sp>
      <p:sp>
        <p:nvSpPr>
          <p:cNvPr id="119826" name="Line 19"/>
          <p:cNvSpPr>
            <a:spLocks noChangeShapeType="1"/>
          </p:cNvSpPr>
          <p:nvPr/>
        </p:nvSpPr>
        <p:spPr bwMode="auto">
          <a:xfrm flipH="1">
            <a:off x="2590800" y="6096000"/>
            <a:ext cx="41148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9827" name="AutoShape 20"/>
          <p:cNvSpPr>
            <a:spLocks noChangeArrowheads="1"/>
          </p:cNvSpPr>
          <p:nvPr/>
        </p:nvSpPr>
        <p:spPr bwMode="auto">
          <a:xfrm>
            <a:off x="3505200" y="6019800"/>
            <a:ext cx="1905000" cy="3048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400">
                <a:latin typeface="Courier New" pitchFamily="49" charset="0"/>
              </a:rPr>
              <a:t>&lt;</a:t>
            </a:r>
            <a:r>
              <a:rPr lang="en-US" altLang="zh-CN" sz="1400" b="1">
                <a:latin typeface="微软雅黑"/>
              </a:rPr>
              <a:t>EOF</a:t>
            </a:r>
            <a:r>
              <a:rPr lang="en-US" altLang="zh-CN" sz="1400">
                <a:latin typeface="Courier New" pitchFamily="49" charset="0"/>
              </a:rPr>
              <a:t>&gt;</a:t>
            </a:r>
          </a:p>
        </p:txBody>
      </p:sp>
      <p:sp>
        <p:nvSpPr>
          <p:cNvPr id="119828" name="AutoShape 21"/>
          <p:cNvSpPr>
            <a:spLocks noChangeArrowheads="1"/>
          </p:cNvSpPr>
          <p:nvPr/>
        </p:nvSpPr>
        <p:spPr bwMode="auto">
          <a:xfrm>
            <a:off x="6705600" y="3124200"/>
            <a:ext cx="1676400" cy="3200400"/>
          </a:xfrm>
          <a:prstGeom prst="can">
            <a:avLst>
              <a:gd name="adj" fmla="val 26895"/>
            </a:avLst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/>
              <a:t>MySQL</a:t>
            </a:r>
            <a:br>
              <a:rPr lang="en-US" altLang="zh-CN"/>
            </a:br>
            <a:r>
              <a:rPr lang="en-US" altLang="zh-CN"/>
              <a:t>Server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latin typeface="微软雅黑"/>
                <a:ea typeface="微软雅黑"/>
                <a:cs typeface="微软雅黑"/>
              </a:rPr>
              <a:t>JDBC</a:t>
            </a:r>
            <a:r>
              <a:rPr lang="zh-CN" altLang="en-US" smtClean="0">
                <a:latin typeface="微软雅黑"/>
                <a:ea typeface="微软雅黑"/>
                <a:cs typeface="微软雅黑"/>
              </a:rPr>
              <a:t>和</a:t>
            </a:r>
            <a:r>
              <a:rPr lang="en-US" altLang="zh-CN" smtClean="0">
                <a:latin typeface="微软雅黑"/>
                <a:ea typeface="微软雅黑"/>
                <a:cs typeface="微软雅黑"/>
              </a:rPr>
              <a:t>Server</a:t>
            </a:r>
            <a:r>
              <a:rPr lang="zh-CN" altLang="en-US" smtClean="0">
                <a:latin typeface="微软雅黑"/>
                <a:ea typeface="微软雅黑"/>
                <a:cs typeface="微软雅黑"/>
              </a:rPr>
              <a:t>的通信协议</a:t>
            </a:r>
          </a:p>
        </p:txBody>
      </p:sp>
      <p:sp>
        <p:nvSpPr>
          <p:cNvPr id="120834" name="Rectangle 3"/>
          <p:cNvSpPr>
            <a:spLocks noChangeArrowheads="1"/>
          </p:cNvSpPr>
          <p:nvPr/>
        </p:nvSpPr>
        <p:spPr bwMode="auto">
          <a:xfrm>
            <a:off x="533400" y="1371600"/>
            <a:ext cx="8305800" cy="1012825"/>
          </a:xfrm>
          <a:prstGeom prst="rect">
            <a:avLst/>
          </a:prstGeom>
          <a:noFill/>
          <a:ln w="6350" algn="ctr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000" b="1">
                <a:latin typeface="Courier New" pitchFamily="49" charset="0"/>
              </a:rPr>
              <a:t>Statement stmt = conn.createStatement();</a:t>
            </a:r>
          </a:p>
          <a:p>
            <a:r>
              <a:rPr lang="en-US" altLang="zh-CN" sz="2000" b="1">
                <a:solidFill>
                  <a:srgbClr val="FF0000"/>
                </a:solidFill>
                <a:latin typeface="Courier New" pitchFamily="49" charset="0"/>
              </a:rPr>
              <a:t>ResultSet rs = stmt.executeQuery(</a:t>
            </a:r>
          </a:p>
          <a:p>
            <a:r>
              <a:rPr lang="en-US" altLang="zh-CN" sz="2000" b="1">
                <a:solidFill>
                  <a:srgbClr val="FF0000"/>
                </a:solidFill>
                <a:latin typeface="Courier New" pitchFamily="49" charset="0"/>
              </a:rPr>
              <a:t>                 “select * from tb1 where id=12345”);</a:t>
            </a:r>
          </a:p>
        </p:txBody>
      </p:sp>
      <p:sp>
        <p:nvSpPr>
          <p:cNvPr id="120835" name="Line 5"/>
          <p:cNvSpPr>
            <a:spLocks noChangeShapeType="1"/>
          </p:cNvSpPr>
          <p:nvPr/>
        </p:nvSpPr>
        <p:spPr bwMode="auto">
          <a:xfrm flipV="1">
            <a:off x="1371600" y="2362200"/>
            <a:ext cx="838200" cy="609600"/>
          </a:xfrm>
          <a:prstGeom prst="line">
            <a:avLst/>
          </a:prstGeom>
          <a:noFill/>
          <a:ln w="63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0836" name="Rectangle 6"/>
          <p:cNvSpPr>
            <a:spLocks noChangeArrowheads="1"/>
          </p:cNvSpPr>
          <p:nvPr/>
        </p:nvSpPr>
        <p:spPr bwMode="auto">
          <a:xfrm>
            <a:off x="609600" y="2971800"/>
            <a:ext cx="1600200" cy="3505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b"/>
          <a:lstStyle/>
          <a:p>
            <a:pPr algn="ctr"/>
            <a:r>
              <a:rPr lang="en-US" altLang="zh-CN">
                <a:ea typeface="宋体" charset="-122"/>
              </a:rPr>
              <a:t>Application1</a:t>
            </a:r>
          </a:p>
        </p:txBody>
      </p:sp>
      <p:sp>
        <p:nvSpPr>
          <p:cNvPr id="120837" name="Rectangle 7"/>
          <p:cNvSpPr>
            <a:spLocks noChangeArrowheads="1"/>
          </p:cNvSpPr>
          <p:nvPr/>
        </p:nvSpPr>
        <p:spPr bwMode="auto">
          <a:xfrm>
            <a:off x="1371600" y="3048000"/>
            <a:ext cx="1219200" cy="3276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/>
              <a:t>MySQL</a:t>
            </a:r>
            <a:br>
              <a:rPr lang="en-US" altLang="zh-CN"/>
            </a:br>
            <a:r>
              <a:rPr lang="en-US" altLang="zh-CN"/>
              <a:t>JDBC</a:t>
            </a:r>
          </a:p>
          <a:p>
            <a:pPr algn="ctr"/>
            <a:r>
              <a:rPr lang="en-US" altLang="zh-CN"/>
              <a:t>Driver</a:t>
            </a:r>
          </a:p>
        </p:txBody>
      </p:sp>
      <p:sp>
        <p:nvSpPr>
          <p:cNvPr id="120838" name="Line 8"/>
          <p:cNvSpPr>
            <a:spLocks noChangeShapeType="1"/>
          </p:cNvSpPr>
          <p:nvPr/>
        </p:nvSpPr>
        <p:spPr bwMode="auto">
          <a:xfrm>
            <a:off x="2590800" y="3276600"/>
            <a:ext cx="38862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0839" name="AutoShape 9"/>
          <p:cNvSpPr>
            <a:spLocks noChangeArrowheads="1"/>
          </p:cNvSpPr>
          <p:nvPr/>
        </p:nvSpPr>
        <p:spPr bwMode="auto">
          <a:xfrm>
            <a:off x="3505200" y="2895600"/>
            <a:ext cx="1905000" cy="5334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400">
                <a:latin typeface="Courier New" pitchFamily="49" charset="0"/>
              </a:rPr>
              <a:t>&lt;</a:t>
            </a:r>
            <a:r>
              <a:rPr lang="en-US" altLang="zh-CN" sz="1400" b="1">
                <a:latin typeface="微软雅黑"/>
              </a:rPr>
              <a:t>QUERY</a:t>
            </a:r>
            <a:r>
              <a:rPr lang="en-US" altLang="zh-CN" sz="1400">
                <a:latin typeface="Courier New" pitchFamily="49" charset="0"/>
              </a:rPr>
              <a:t>&gt;</a:t>
            </a:r>
            <a:br>
              <a:rPr lang="en-US" altLang="zh-CN" sz="1400">
                <a:latin typeface="Courier New" pitchFamily="49" charset="0"/>
              </a:rPr>
            </a:br>
            <a:r>
              <a:rPr lang="en-US" altLang="zh-CN" sz="1400">
                <a:latin typeface="Courier New" pitchFamily="49" charset="0"/>
              </a:rPr>
              <a:t>sql</a:t>
            </a:r>
          </a:p>
        </p:txBody>
      </p:sp>
      <p:sp>
        <p:nvSpPr>
          <p:cNvPr id="120840" name="Line 10"/>
          <p:cNvSpPr>
            <a:spLocks noChangeShapeType="1"/>
          </p:cNvSpPr>
          <p:nvPr/>
        </p:nvSpPr>
        <p:spPr bwMode="auto">
          <a:xfrm flipH="1">
            <a:off x="2590800" y="3657600"/>
            <a:ext cx="38862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0841" name="AutoShape 11"/>
          <p:cNvSpPr>
            <a:spLocks noChangeArrowheads="1"/>
          </p:cNvSpPr>
          <p:nvPr/>
        </p:nvSpPr>
        <p:spPr bwMode="auto">
          <a:xfrm>
            <a:off x="3505200" y="3505200"/>
            <a:ext cx="1905000" cy="4572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400">
                <a:latin typeface="Courier New" pitchFamily="49" charset="0"/>
              </a:rPr>
              <a:t>&lt;</a:t>
            </a:r>
            <a:r>
              <a:rPr lang="en-US" altLang="zh-CN" sz="1400" b="1">
                <a:latin typeface="微软雅黑"/>
              </a:rPr>
              <a:t>HEADER</a:t>
            </a:r>
            <a:r>
              <a:rPr lang="en-US" altLang="zh-CN" sz="1400">
                <a:latin typeface="Courier New" pitchFamily="49" charset="0"/>
              </a:rPr>
              <a:t>&gt;</a:t>
            </a:r>
            <a:br>
              <a:rPr lang="en-US" altLang="zh-CN" sz="1400">
                <a:latin typeface="Courier New" pitchFamily="49" charset="0"/>
              </a:rPr>
            </a:br>
            <a:r>
              <a:rPr lang="en-US" altLang="zh-CN" sz="1400">
                <a:latin typeface="Courier New" pitchFamily="49" charset="0"/>
              </a:rPr>
              <a:t>field_count</a:t>
            </a:r>
          </a:p>
        </p:txBody>
      </p:sp>
      <p:sp>
        <p:nvSpPr>
          <p:cNvPr id="120842" name="Line 12"/>
          <p:cNvSpPr>
            <a:spLocks noChangeShapeType="1"/>
          </p:cNvSpPr>
          <p:nvPr/>
        </p:nvSpPr>
        <p:spPr bwMode="auto">
          <a:xfrm flipH="1">
            <a:off x="2590800" y="4191000"/>
            <a:ext cx="41148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0843" name="AutoShape 13"/>
          <p:cNvSpPr>
            <a:spLocks noChangeArrowheads="1"/>
          </p:cNvSpPr>
          <p:nvPr/>
        </p:nvSpPr>
        <p:spPr bwMode="auto">
          <a:xfrm>
            <a:off x="3505200" y="4038600"/>
            <a:ext cx="1905000" cy="4572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400">
                <a:latin typeface="Courier New" pitchFamily="49" charset="0"/>
              </a:rPr>
              <a:t>&lt;</a:t>
            </a:r>
            <a:r>
              <a:rPr lang="en-US" altLang="zh-CN" sz="1400" b="1">
                <a:latin typeface="微软雅黑"/>
              </a:rPr>
              <a:t>FIELD</a:t>
            </a:r>
            <a:r>
              <a:rPr lang="en-US" altLang="zh-CN" sz="1400">
                <a:latin typeface="Courier New" pitchFamily="49" charset="0"/>
              </a:rPr>
              <a:t>&gt;</a:t>
            </a:r>
            <a:br>
              <a:rPr lang="en-US" altLang="zh-CN" sz="1400">
                <a:latin typeface="Courier New" pitchFamily="49" charset="0"/>
              </a:rPr>
            </a:br>
            <a:r>
              <a:rPr lang="en-US" altLang="zh-CN" sz="1400">
                <a:latin typeface="Courier New" pitchFamily="49" charset="0"/>
              </a:rPr>
              <a:t>column_type</a:t>
            </a:r>
          </a:p>
        </p:txBody>
      </p:sp>
      <p:sp>
        <p:nvSpPr>
          <p:cNvPr id="120844" name="Line 14"/>
          <p:cNvSpPr>
            <a:spLocks noChangeShapeType="1"/>
          </p:cNvSpPr>
          <p:nvPr/>
        </p:nvSpPr>
        <p:spPr bwMode="auto">
          <a:xfrm flipH="1">
            <a:off x="2590800" y="4648200"/>
            <a:ext cx="41148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0845" name="AutoShape 15"/>
          <p:cNvSpPr>
            <a:spLocks noChangeArrowheads="1"/>
          </p:cNvSpPr>
          <p:nvPr/>
        </p:nvSpPr>
        <p:spPr bwMode="auto">
          <a:xfrm>
            <a:off x="3505200" y="4572000"/>
            <a:ext cx="1905000" cy="3048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400">
                <a:latin typeface="Courier New" pitchFamily="49" charset="0"/>
              </a:rPr>
              <a:t>&lt;</a:t>
            </a:r>
            <a:r>
              <a:rPr lang="en-US" altLang="zh-CN" sz="1400" b="1">
                <a:latin typeface="微软雅黑"/>
              </a:rPr>
              <a:t>EOF</a:t>
            </a:r>
            <a:r>
              <a:rPr lang="en-US" altLang="zh-CN" sz="1400">
                <a:latin typeface="Courier New" pitchFamily="49" charset="0"/>
              </a:rPr>
              <a:t>&gt;</a:t>
            </a:r>
          </a:p>
        </p:txBody>
      </p:sp>
      <p:sp>
        <p:nvSpPr>
          <p:cNvPr id="120846" name="Line 16"/>
          <p:cNvSpPr>
            <a:spLocks noChangeShapeType="1"/>
          </p:cNvSpPr>
          <p:nvPr/>
        </p:nvSpPr>
        <p:spPr bwMode="auto">
          <a:xfrm flipH="1">
            <a:off x="2590800" y="5105400"/>
            <a:ext cx="41148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0847" name="AutoShape 17"/>
          <p:cNvSpPr>
            <a:spLocks noChangeArrowheads="1"/>
          </p:cNvSpPr>
          <p:nvPr/>
        </p:nvSpPr>
        <p:spPr bwMode="auto">
          <a:xfrm>
            <a:off x="3505200" y="4953000"/>
            <a:ext cx="1905000" cy="4572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400">
                <a:latin typeface="Courier New" pitchFamily="49" charset="0"/>
              </a:rPr>
              <a:t>&lt;</a:t>
            </a:r>
            <a:r>
              <a:rPr lang="en-US" altLang="zh-CN" sz="1400" b="1">
                <a:latin typeface="微软雅黑"/>
              </a:rPr>
              <a:t>ROW_DATA</a:t>
            </a:r>
            <a:r>
              <a:rPr lang="en-US" altLang="zh-CN" sz="1400">
                <a:latin typeface="Courier New" pitchFamily="49" charset="0"/>
              </a:rPr>
              <a:t>&gt;</a:t>
            </a:r>
            <a:br>
              <a:rPr lang="en-US" altLang="zh-CN" sz="1400">
                <a:latin typeface="Courier New" pitchFamily="49" charset="0"/>
              </a:rPr>
            </a:br>
            <a:r>
              <a:rPr lang="en-US" altLang="zh-CN" sz="1400">
                <a:latin typeface="Courier New" pitchFamily="49" charset="0"/>
              </a:rPr>
              <a:t>{column_val}+</a:t>
            </a:r>
          </a:p>
        </p:txBody>
      </p:sp>
      <p:sp>
        <p:nvSpPr>
          <p:cNvPr id="120848" name="Line 18"/>
          <p:cNvSpPr>
            <a:spLocks noChangeShapeType="1"/>
          </p:cNvSpPr>
          <p:nvPr/>
        </p:nvSpPr>
        <p:spPr bwMode="auto">
          <a:xfrm flipH="1">
            <a:off x="2590800" y="5638800"/>
            <a:ext cx="41148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0849" name="AutoShape 19"/>
          <p:cNvSpPr>
            <a:spLocks noChangeArrowheads="1"/>
          </p:cNvSpPr>
          <p:nvPr/>
        </p:nvSpPr>
        <p:spPr bwMode="auto">
          <a:xfrm>
            <a:off x="3505200" y="5486400"/>
            <a:ext cx="1905000" cy="4572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400">
                <a:latin typeface="Courier New" pitchFamily="49" charset="0"/>
              </a:rPr>
              <a:t>&lt;</a:t>
            </a:r>
            <a:r>
              <a:rPr lang="en-US" altLang="zh-CN" sz="1400" b="1">
                <a:latin typeface="微软雅黑"/>
              </a:rPr>
              <a:t>ROW_DATA</a:t>
            </a:r>
            <a:r>
              <a:rPr lang="en-US" altLang="zh-CN" sz="1400">
                <a:latin typeface="Courier New" pitchFamily="49" charset="0"/>
              </a:rPr>
              <a:t>&gt;</a:t>
            </a:r>
            <a:br>
              <a:rPr lang="en-US" altLang="zh-CN" sz="1400">
                <a:latin typeface="Courier New" pitchFamily="49" charset="0"/>
              </a:rPr>
            </a:br>
            <a:r>
              <a:rPr lang="en-US" altLang="zh-CN" sz="1400">
                <a:latin typeface="Courier New" pitchFamily="49" charset="0"/>
              </a:rPr>
              <a:t>{column_val}+</a:t>
            </a:r>
          </a:p>
        </p:txBody>
      </p:sp>
      <p:sp>
        <p:nvSpPr>
          <p:cNvPr id="120850" name="Line 20"/>
          <p:cNvSpPr>
            <a:spLocks noChangeShapeType="1"/>
          </p:cNvSpPr>
          <p:nvPr/>
        </p:nvSpPr>
        <p:spPr bwMode="auto">
          <a:xfrm flipH="1">
            <a:off x="2590800" y="6096000"/>
            <a:ext cx="41148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0851" name="AutoShape 21"/>
          <p:cNvSpPr>
            <a:spLocks noChangeArrowheads="1"/>
          </p:cNvSpPr>
          <p:nvPr/>
        </p:nvSpPr>
        <p:spPr bwMode="auto">
          <a:xfrm>
            <a:off x="3505200" y="6019800"/>
            <a:ext cx="1905000" cy="3048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400">
                <a:latin typeface="Courier New" pitchFamily="49" charset="0"/>
              </a:rPr>
              <a:t>&lt;</a:t>
            </a:r>
            <a:r>
              <a:rPr lang="en-US" altLang="zh-CN" sz="1400" b="1">
                <a:latin typeface="微软雅黑"/>
              </a:rPr>
              <a:t>EOF</a:t>
            </a:r>
            <a:r>
              <a:rPr lang="en-US" altLang="zh-CN" sz="1400">
                <a:latin typeface="Courier New" pitchFamily="49" charset="0"/>
              </a:rPr>
              <a:t>&gt;</a:t>
            </a:r>
          </a:p>
        </p:txBody>
      </p:sp>
      <p:sp>
        <p:nvSpPr>
          <p:cNvPr id="120852" name="AutoShape 22"/>
          <p:cNvSpPr>
            <a:spLocks noChangeArrowheads="1"/>
          </p:cNvSpPr>
          <p:nvPr/>
        </p:nvSpPr>
        <p:spPr bwMode="auto">
          <a:xfrm>
            <a:off x="8534400" y="3124200"/>
            <a:ext cx="1676400" cy="3200400"/>
          </a:xfrm>
          <a:prstGeom prst="can">
            <a:avLst>
              <a:gd name="adj" fmla="val 26895"/>
            </a:avLst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CN"/>
              <a:t>MySQL</a:t>
            </a:r>
            <a:br>
              <a:rPr lang="en-US" altLang="zh-CN"/>
            </a:br>
            <a:r>
              <a:rPr lang="en-US" altLang="zh-CN"/>
              <a:t>Server</a:t>
            </a:r>
          </a:p>
        </p:txBody>
      </p:sp>
      <p:cxnSp>
        <p:nvCxnSpPr>
          <p:cNvPr id="120853" name="AutoShape 23"/>
          <p:cNvCxnSpPr>
            <a:cxnSpLocks noChangeShapeType="1"/>
            <a:stCxn id="120854" idx="4"/>
            <a:endCxn id="120852" idx="2"/>
          </p:cNvCxnSpPr>
          <p:nvPr/>
        </p:nvCxnSpPr>
        <p:spPr bwMode="auto">
          <a:xfrm>
            <a:off x="8153400" y="4724400"/>
            <a:ext cx="381000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</p:spPr>
      </p:cxnSp>
      <p:sp>
        <p:nvSpPr>
          <p:cNvPr id="120854" name="AutoShape 4"/>
          <p:cNvSpPr>
            <a:spLocks noChangeArrowheads="1"/>
          </p:cNvSpPr>
          <p:nvPr/>
        </p:nvSpPr>
        <p:spPr bwMode="auto">
          <a:xfrm>
            <a:off x="6477000" y="3124200"/>
            <a:ext cx="1676400" cy="3200400"/>
          </a:xfrm>
          <a:prstGeom prst="can">
            <a:avLst>
              <a:gd name="adj" fmla="val 26895"/>
            </a:avLst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3600" b="1">
                <a:latin typeface="微软雅黑"/>
              </a:rPr>
              <a:t>Cobar</a:t>
            </a:r>
            <a:r>
              <a:rPr lang="en-US" altLang="zh-CN"/>
              <a:t/>
            </a:r>
            <a:br>
              <a:rPr lang="en-US" altLang="zh-CN"/>
            </a:br>
            <a:r>
              <a:rPr lang="en-US" altLang="zh-CN"/>
              <a:t>Server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7" name="Rectangle 25"/>
          <p:cNvSpPr>
            <a:spLocks noChangeArrowheads="1"/>
          </p:cNvSpPr>
          <p:nvPr/>
        </p:nvSpPr>
        <p:spPr bwMode="auto">
          <a:xfrm>
            <a:off x="2971800" y="1752600"/>
            <a:ext cx="2590800" cy="2667000"/>
          </a:xfrm>
          <a:prstGeom prst="rect">
            <a:avLst/>
          </a:prstGeom>
          <a:solidFill>
            <a:schemeClr val="bg1">
              <a:alpha val="83136"/>
            </a:schemeClr>
          </a:solidFill>
          <a:ln w="3175">
            <a:solidFill>
              <a:schemeClr val="bg2"/>
            </a:solidFill>
            <a:prstDash val="dash"/>
            <a:miter lim="800000"/>
            <a:headEnd/>
            <a:tailEnd/>
          </a:ln>
        </p:spPr>
        <p:txBody>
          <a:bodyPr wrap="none"/>
          <a:lstStyle/>
          <a:p>
            <a:pPr algn="ctr"/>
            <a:r>
              <a:rPr lang="en-US" altLang="zh-CN" b="1" i="1">
                <a:solidFill>
                  <a:srgbClr val="C0C0C0"/>
                </a:solidFill>
                <a:latin typeface="Times New Roman" pitchFamily="18" charset="0"/>
                <a:ea typeface="宋体" charset="-122"/>
              </a:rPr>
              <a:t>Processor(1)</a:t>
            </a:r>
          </a:p>
        </p:txBody>
      </p:sp>
      <p:sp>
        <p:nvSpPr>
          <p:cNvPr id="121858" name="Rectangle 26"/>
          <p:cNvSpPr>
            <a:spLocks noChangeArrowheads="1"/>
          </p:cNvSpPr>
          <p:nvPr/>
        </p:nvSpPr>
        <p:spPr bwMode="auto">
          <a:xfrm>
            <a:off x="6019800" y="1752600"/>
            <a:ext cx="2590800" cy="2667000"/>
          </a:xfrm>
          <a:prstGeom prst="rect">
            <a:avLst/>
          </a:prstGeom>
          <a:solidFill>
            <a:schemeClr val="bg1">
              <a:alpha val="83136"/>
            </a:schemeClr>
          </a:solidFill>
          <a:ln w="3175">
            <a:solidFill>
              <a:schemeClr val="bg2"/>
            </a:solidFill>
            <a:prstDash val="dash"/>
            <a:miter lim="800000"/>
            <a:headEnd/>
            <a:tailEnd/>
          </a:ln>
        </p:spPr>
        <p:txBody>
          <a:bodyPr wrap="none"/>
          <a:lstStyle/>
          <a:p>
            <a:pPr algn="ctr"/>
            <a:r>
              <a:rPr lang="en-US" altLang="zh-CN" b="1" i="1">
                <a:solidFill>
                  <a:srgbClr val="C0C0C0"/>
                </a:solidFill>
                <a:latin typeface="Times New Roman" pitchFamily="18" charset="0"/>
                <a:ea typeface="宋体" charset="-122"/>
              </a:rPr>
              <a:t>Processor(n)</a:t>
            </a:r>
          </a:p>
        </p:txBody>
      </p:sp>
      <p:sp>
        <p:nvSpPr>
          <p:cNvPr id="121859" name="AutoShape 2"/>
          <p:cNvSpPr>
            <a:spLocks noChangeArrowheads="1"/>
          </p:cNvSpPr>
          <p:nvPr/>
        </p:nvSpPr>
        <p:spPr bwMode="auto">
          <a:xfrm>
            <a:off x="4267200" y="5943600"/>
            <a:ext cx="1447800" cy="533400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solidFill>
                  <a:srgbClr val="C0C0C0"/>
                </a:solidFill>
                <a:ea typeface="宋体" charset="-122"/>
              </a:rPr>
              <a:t>MySQL</a:t>
            </a:r>
          </a:p>
        </p:txBody>
      </p:sp>
      <p:sp>
        <p:nvSpPr>
          <p:cNvPr id="121860" name="AutoShape 3"/>
          <p:cNvSpPr>
            <a:spLocks noChangeArrowheads="1"/>
          </p:cNvSpPr>
          <p:nvPr/>
        </p:nvSpPr>
        <p:spPr bwMode="auto">
          <a:xfrm>
            <a:off x="5943600" y="5943600"/>
            <a:ext cx="1447800" cy="533400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solidFill>
                  <a:srgbClr val="C0C0C0"/>
                </a:solidFill>
                <a:ea typeface="宋体" charset="-122"/>
              </a:rPr>
              <a:t>MySQL</a:t>
            </a:r>
          </a:p>
        </p:txBody>
      </p:sp>
      <p:sp>
        <p:nvSpPr>
          <p:cNvPr id="121861" name="AutoShape 4"/>
          <p:cNvSpPr>
            <a:spLocks noChangeArrowheads="1"/>
          </p:cNvSpPr>
          <p:nvPr/>
        </p:nvSpPr>
        <p:spPr bwMode="auto">
          <a:xfrm>
            <a:off x="7620000" y="5943600"/>
            <a:ext cx="1447800" cy="533400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solidFill>
                  <a:srgbClr val="C0C0C0"/>
                </a:solidFill>
                <a:ea typeface="宋体" charset="-122"/>
              </a:rPr>
              <a:t>MySQL</a:t>
            </a:r>
          </a:p>
        </p:txBody>
      </p:sp>
      <p:sp>
        <p:nvSpPr>
          <p:cNvPr id="121862" name="Rectangle 5"/>
          <p:cNvSpPr>
            <a:spLocks noChangeArrowheads="1"/>
          </p:cNvSpPr>
          <p:nvPr/>
        </p:nvSpPr>
        <p:spPr bwMode="auto">
          <a:xfrm>
            <a:off x="2362200" y="1676400"/>
            <a:ext cx="6477000" cy="3657600"/>
          </a:xfrm>
          <a:prstGeom prst="rect">
            <a:avLst/>
          </a:prstGeom>
          <a:solidFill>
            <a:schemeClr val="bg1">
              <a:alpha val="58823"/>
            </a:schemeClr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21863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CN" smtClean="0"/>
              <a:t>Cobar</a:t>
            </a:r>
            <a:r>
              <a:rPr lang="zh-CN" altLang="en-US" smtClean="0">
                <a:ea typeface="微软雅黑"/>
                <a:cs typeface="微软雅黑"/>
              </a:rPr>
              <a:t>结构</a:t>
            </a:r>
          </a:p>
        </p:txBody>
      </p:sp>
      <p:sp>
        <p:nvSpPr>
          <p:cNvPr id="121864" name="Rectangle 7"/>
          <p:cNvSpPr>
            <a:spLocks noChangeArrowheads="1"/>
          </p:cNvSpPr>
          <p:nvPr/>
        </p:nvSpPr>
        <p:spPr bwMode="auto">
          <a:xfrm>
            <a:off x="2514600" y="1371600"/>
            <a:ext cx="62484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Front-end</a:t>
            </a:r>
            <a:r>
              <a:rPr lang="en-US" altLang="zh-CN">
                <a:solidFill>
                  <a:srgbClr val="C0C0C0"/>
                </a:solidFill>
                <a:ea typeface="宋体" charset="-122"/>
              </a:rPr>
              <a:t> </a:t>
            </a:r>
            <a:r>
              <a:rPr lang="en-US" altLang="zh-CN">
                <a:ea typeface="宋体" charset="-122"/>
              </a:rPr>
              <a:t>Communication</a:t>
            </a:r>
          </a:p>
        </p:txBody>
      </p:sp>
      <p:sp>
        <p:nvSpPr>
          <p:cNvPr id="121865" name="Rectangle 8"/>
          <p:cNvSpPr>
            <a:spLocks noChangeArrowheads="1"/>
          </p:cNvSpPr>
          <p:nvPr/>
        </p:nvSpPr>
        <p:spPr bwMode="auto">
          <a:xfrm>
            <a:off x="3048000" y="5105400"/>
            <a:ext cx="54864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solidFill>
                  <a:srgbClr val="C0C0C0"/>
                </a:solidFill>
                <a:ea typeface="宋体" charset="-122"/>
              </a:rPr>
              <a:t>MySQL Protcol Adaptor (BIO)</a:t>
            </a:r>
          </a:p>
        </p:txBody>
      </p:sp>
      <p:sp>
        <p:nvSpPr>
          <p:cNvPr id="121866" name="Rectangle 9"/>
          <p:cNvSpPr>
            <a:spLocks noChangeArrowheads="1"/>
          </p:cNvSpPr>
          <p:nvPr/>
        </p:nvSpPr>
        <p:spPr bwMode="auto">
          <a:xfrm>
            <a:off x="3657600" y="304800"/>
            <a:ext cx="4800600" cy="457200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solidFill>
                  <a:srgbClr val="C0C0C0"/>
                </a:solidFill>
                <a:ea typeface="宋体" charset="-122"/>
              </a:rPr>
              <a:t>Application1</a:t>
            </a:r>
          </a:p>
        </p:txBody>
      </p:sp>
      <p:sp>
        <p:nvSpPr>
          <p:cNvPr id="121867" name="AutoShape 10"/>
          <p:cNvSpPr>
            <a:spLocks noChangeArrowheads="1"/>
          </p:cNvSpPr>
          <p:nvPr/>
        </p:nvSpPr>
        <p:spPr bwMode="auto">
          <a:xfrm>
            <a:off x="4191000" y="6019800"/>
            <a:ext cx="1447800" cy="533400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solidFill>
                  <a:srgbClr val="C0C0C0"/>
                </a:solidFill>
                <a:ea typeface="宋体" charset="-122"/>
              </a:rPr>
              <a:t>MySQL</a:t>
            </a:r>
          </a:p>
        </p:txBody>
      </p:sp>
      <p:sp>
        <p:nvSpPr>
          <p:cNvPr id="121868" name="AutoShape 11"/>
          <p:cNvSpPr>
            <a:spLocks noChangeArrowheads="1"/>
          </p:cNvSpPr>
          <p:nvPr/>
        </p:nvSpPr>
        <p:spPr bwMode="auto">
          <a:xfrm>
            <a:off x="4800600" y="5486400"/>
            <a:ext cx="304800" cy="609600"/>
          </a:xfrm>
          <a:prstGeom prst="upDownArrow">
            <a:avLst>
              <a:gd name="adj1" fmla="val 42704"/>
              <a:gd name="adj2" fmla="val 56250"/>
            </a:avLst>
          </a:prstGeom>
          <a:solidFill>
            <a:schemeClr val="bg1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/>
            <a:endParaRPr lang="zh-CN" altLang="en-US"/>
          </a:p>
        </p:txBody>
      </p:sp>
      <p:grpSp>
        <p:nvGrpSpPr>
          <p:cNvPr id="121869" name="Group 12"/>
          <p:cNvGrpSpPr>
            <a:grpSpLocks/>
          </p:cNvGrpSpPr>
          <p:nvPr/>
        </p:nvGrpSpPr>
        <p:grpSpPr bwMode="auto">
          <a:xfrm>
            <a:off x="5105400" y="685800"/>
            <a:ext cx="2209800" cy="762000"/>
            <a:chOff x="3120" y="576"/>
            <a:chExt cx="1392" cy="480"/>
          </a:xfrm>
        </p:grpSpPr>
        <p:sp>
          <p:nvSpPr>
            <p:cNvPr id="121908" name="AutoShape 13"/>
            <p:cNvSpPr>
              <a:spLocks noChangeArrowheads="1"/>
            </p:cNvSpPr>
            <p:nvPr/>
          </p:nvSpPr>
          <p:spPr bwMode="auto">
            <a:xfrm>
              <a:off x="3504" y="576"/>
              <a:ext cx="576" cy="480"/>
            </a:xfrm>
            <a:prstGeom prst="upDownArrow">
              <a:avLst>
                <a:gd name="adj1" fmla="val 50694"/>
                <a:gd name="adj2" fmla="val 31667"/>
              </a:avLst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anchor="ctr"/>
            <a:lstStyle/>
            <a:p>
              <a:pPr algn="ctr"/>
              <a:endParaRPr lang="zh-CN" altLang="zh-CN">
                <a:ea typeface="宋体" charset="-122"/>
              </a:endParaRPr>
            </a:p>
          </p:txBody>
        </p:sp>
        <p:sp>
          <p:nvSpPr>
            <p:cNvPr id="121909" name="Text Box 14"/>
            <p:cNvSpPr txBox="1">
              <a:spLocks noChangeArrowheads="1"/>
            </p:cNvSpPr>
            <p:nvPr/>
          </p:nvSpPr>
          <p:spPr bwMode="auto">
            <a:xfrm>
              <a:off x="3120" y="681"/>
              <a:ext cx="139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i="1">
                  <a:latin typeface="Times New Roman" pitchFamily="18" charset="0"/>
                  <a:ea typeface="宋体" charset="-122"/>
                </a:rPr>
                <a:t>MySQL Protocol</a:t>
              </a:r>
            </a:p>
          </p:txBody>
        </p:sp>
      </p:grpSp>
      <p:sp>
        <p:nvSpPr>
          <p:cNvPr id="121870" name="AutoShape 15"/>
          <p:cNvSpPr>
            <a:spLocks noChangeArrowheads="1"/>
          </p:cNvSpPr>
          <p:nvPr/>
        </p:nvSpPr>
        <p:spPr bwMode="auto">
          <a:xfrm>
            <a:off x="5867400" y="6019800"/>
            <a:ext cx="1447800" cy="533400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solidFill>
                  <a:srgbClr val="C0C0C0"/>
                </a:solidFill>
                <a:ea typeface="宋体" charset="-122"/>
              </a:rPr>
              <a:t>MySQL</a:t>
            </a:r>
          </a:p>
        </p:txBody>
      </p:sp>
      <p:sp>
        <p:nvSpPr>
          <p:cNvPr id="121871" name="AutoShape 16"/>
          <p:cNvSpPr>
            <a:spLocks noChangeArrowheads="1"/>
          </p:cNvSpPr>
          <p:nvPr/>
        </p:nvSpPr>
        <p:spPr bwMode="auto">
          <a:xfrm>
            <a:off x="6477000" y="5486400"/>
            <a:ext cx="304800" cy="609600"/>
          </a:xfrm>
          <a:prstGeom prst="upDownArrow">
            <a:avLst>
              <a:gd name="adj1" fmla="val 42704"/>
              <a:gd name="adj2" fmla="val 56250"/>
            </a:avLst>
          </a:prstGeom>
          <a:solidFill>
            <a:schemeClr val="bg1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/>
            <a:endParaRPr lang="zh-CN" altLang="en-US"/>
          </a:p>
        </p:txBody>
      </p:sp>
      <p:sp>
        <p:nvSpPr>
          <p:cNvPr id="121872" name="AutoShape 17"/>
          <p:cNvSpPr>
            <a:spLocks noChangeArrowheads="1"/>
          </p:cNvSpPr>
          <p:nvPr/>
        </p:nvSpPr>
        <p:spPr bwMode="auto">
          <a:xfrm>
            <a:off x="7543800" y="6019800"/>
            <a:ext cx="1447800" cy="533400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solidFill>
                  <a:srgbClr val="C0C0C0"/>
                </a:solidFill>
                <a:ea typeface="宋体" charset="-122"/>
              </a:rPr>
              <a:t>MySQL</a:t>
            </a:r>
          </a:p>
        </p:txBody>
      </p:sp>
      <p:sp>
        <p:nvSpPr>
          <p:cNvPr id="121873" name="AutoShape 18"/>
          <p:cNvSpPr>
            <a:spLocks noChangeArrowheads="1"/>
          </p:cNvSpPr>
          <p:nvPr/>
        </p:nvSpPr>
        <p:spPr bwMode="auto">
          <a:xfrm>
            <a:off x="8153400" y="5486400"/>
            <a:ext cx="304800" cy="609600"/>
          </a:xfrm>
          <a:prstGeom prst="upDownArrow">
            <a:avLst>
              <a:gd name="adj1" fmla="val 42704"/>
              <a:gd name="adj2" fmla="val 56250"/>
            </a:avLst>
          </a:prstGeom>
          <a:solidFill>
            <a:schemeClr val="bg1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/>
            <a:endParaRPr lang="zh-CN" altLang="en-US"/>
          </a:p>
        </p:txBody>
      </p:sp>
      <p:sp>
        <p:nvSpPr>
          <p:cNvPr id="121874" name="Rectangle 19"/>
          <p:cNvSpPr>
            <a:spLocks noChangeArrowheads="1"/>
          </p:cNvSpPr>
          <p:nvPr/>
        </p:nvSpPr>
        <p:spPr bwMode="auto">
          <a:xfrm>
            <a:off x="3048000" y="4343400"/>
            <a:ext cx="54864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solidFill>
                  <a:srgbClr val="C0C0C0"/>
                </a:solidFill>
                <a:ea typeface="宋体" charset="-122"/>
              </a:rPr>
              <a:t>Data Nodes</a:t>
            </a:r>
          </a:p>
        </p:txBody>
      </p:sp>
      <p:sp>
        <p:nvSpPr>
          <p:cNvPr id="121875" name="Rectangle 20"/>
          <p:cNvSpPr>
            <a:spLocks noChangeArrowheads="1"/>
          </p:cNvSpPr>
          <p:nvPr/>
        </p:nvSpPr>
        <p:spPr bwMode="auto">
          <a:xfrm rot="10800000" flipV="1">
            <a:off x="1828800" y="2057400"/>
            <a:ext cx="990600" cy="31242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400">
                <a:solidFill>
                  <a:srgbClr val="C0C0C0"/>
                </a:solidFill>
                <a:ea typeface="宋体" charset="-122"/>
              </a:rPr>
              <a:t>Monitor</a:t>
            </a:r>
            <a:br>
              <a:rPr lang="en-US" altLang="zh-CN" sz="1400">
                <a:solidFill>
                  <a:srgbClr val="C0C0C0"/>
                </a:solidFill>
                <a:ea typeface="宋体" charset="-122"/>
              </a:rPr>
            </a:br>
            <a:endParaRPr lang="en-US" altLang="zh-CN" sz="1400">
              <a:solidFill>
                <a:srgbClr val="C0C0C0"/>
              </a:solidFill>
              <a:ea typeface="宋体" charset="-122"/>
            </a:endParaRPr>
          </a:p>
          <a:p>
            <a:pPr algn="ctr"/>
            <a:r>
              <a:rPr lang="en-US" altLang="zh-CN" sz="1400">
                <a:solidFill>
                  <a:srgbClr val="C0C0C0"/>
                </a:solidFill>
                <a:ea typeface="宋体" charset="-122"/>
              </a:rPr>
              <a:t>Configure</a:t>
            </a:r>
          </a:p>
        </p:txBody>
      </p:sp>
      <p:sp>
        <p:nvSpPr>
          <p:cNvPr id="121876" name="Rectangle 21"/>
          <p:cNvSpPr>
            <a:spLocks noChangeArrowheads="1"/>
          </p:cNvSpPr>
          <p:nvPr/>
        </p:nvSpPr>
        <p:spPr bwMode="auto">
          <a:xfrm>
            <a:off x="3048000" y="4724400"/>
            <a:ext cx="54864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solidFill>
                  <a:srgbClr val="C0C0C0"/>
                </a:solidFill>
                <a:ea typeface="宋体" charset="-122"/>
              </a:rPr>
              <a:t>HA Pool</a:t>
            </a:r>
          </a:p>
        </p:txBody>
      </p:sp>
      <p:sp>
        <p:nvSpPr>
          <p:cNvPr id="121877" name="AutoShape 22"/>
          <p:cNvSpPr>
            <a:spLocks noChangeArrowheads="1"/>
          </p:cNvSpPr>
          <p:nvPr/>
        </p:nvSpPr>
        <p:spPr bwMode="auto">
          <a:xfrm>
            <a:off x="2590800" y="5943600"/>
            <a:ext cx="1447800" cy="533400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solidFill>
                  <a:srgbClr val="C0C0C0"/>
                </a:solidFill>
                <a:ea typeface="宋体" charset="-122"/>
              </a:rPr>
              <a:t>MySQL</a:t>
            </a:r>
          </a:p>
        </p:txBody>
      </p:sp>
      <p:sp>
        <p:nvSpPr>
          <p:cNvPr id="121878" name="AutoShape 23"/>
          <p:cNvSpPr>
            <a:spLocks noChangeArrowheads="1"/>
          </p:cNvSpPr>
          <p:nvPr/>
        </p:nvSpPr>
        <p:spPr bwMode="auto">
          <a:xfrm>
            <a:off x="2514600" y="6019800"/>
            <a:ext cx="1447800" cy="533400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solidFill>
                  <a:srgbClr val="C0C0C0"/>
                </a:solidFill>
                <a:ea typeface="宋体" charset="-122"/>
              </a:rPr>
              <a:t>MySQL</a:t>
            </a:r>
          </a:p>
        </p:txBody>
      </p:sp>
      <p:sp>
        <p:nvSpPr>
          <p:cNvPr id="121879" name="AutoShape 24"/>
          <p:cNvSpPr>
            <a:spLocks noChangeArrowheads="1"/>
          </p:cNvSpPr>
          <p:nvPr/>
        </p:nvSpPr>
        <p:spPr bwMode="auto">
          <a:xfrm>
            <a:off x="3124200" y="5486400"/>
            <a:ext cx="304800" cy="609600"/>
          </a:xfrm>
          <a:prstGeom prst="upDownArrow">
            <a:avLst>
              <a:gd name="adj1" fmla="val 42704"/>
              <a:gd name="adj2" fmla="val 56250"/>
            </a:avLst>
          </a:prstGeom>
          <a:solidFill>
            <a:schemeClr val="bg1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/>
            <a:endParaRPr lang="zh-CN" altLang="en-US"/>
          </a:p>
        </p:txBody>
      </p:sp>
      <p:sp>
        <p:nvSpPr>
          <p:cNvPr id="121880" name="Rectangle 27"/>
          <p:cNvSpPr>
            <a:spLocks noChangeArrowheads="1"/>
          </p:cNvSpPr>
          <p:nvPr/>
        </p:nvSpPr>
        <p:spPr bwMode="auto">
          <a:xfrm>
            <a:off x="3048000" y="3733800"/>
            <a:ext cx="24384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solidFill>
                  <a:srgbClr val="C0C0C0"/>
                </a:solidFill>
                <a:ea typeface="宋体" charset="-122"/>
              </a:rPr>
              <a:t>SQL Executor</a:t>
            </a:r>
          </a:p>
        </p:txBody>
      </p:sp>
      <p:sp>
        <p:nvSpPr>
          <p:cNvPr id="121881" name="Rectangle 28"/>
          <p:cNvSpPr>
            <a:spLocks noChangeArrowheads="1"/>
          </p:cNvSpPr>
          <p:nvPr/>
        </p:nvSpPr>
        <p:spPr bwMode="auto">
          <a:xfrm>
            <a:off x="3048000" y="3048000"/>
            <a:ext cx="13716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solidFill>
                  <a:srgbClr val="C0C0C0"/>
                </a:solidFill>
                <a:ea typeface="宋体" charset="-122"/>
              </a:rPr>
              <a:t>SQL Router</a:t>
            </a:r>
          </a:p>
        </p:txBody>
      </p:sp>
      <p:sp>
        <p:nvSpPr>
          <p:cNvPr id="121882" name="Rectangle 29"/>
          <p:cNvSpPr>
            <a:spLocks noChangeArrowheads="1"/>
          </p:cNvSpPr>
          <p:nvPr/>
        </p:nvSpPr>
        <p:spPr bwMode="auto">
          <a:xfrm>
            <a:off x="3048000" y="2362200"/>
            <a:ext cx="13716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solidFill>
                  <a:srgbClr val="C0C0C0"/>
                </a:solidFill>
                <a:ea typeface="宋体" charset="-122"/>
              </a:rPr>
              <a:t>SQL Parser</a:t>
            </a:r>
          </a:p>
        </p:txBody>
      </p:sp>
      <p:sp>
        <p:nvSpPr>
          <p:cNvPr id="121883" name="Rectangle 30"/>
          <p:cNvSpPr>
            <a:spLocks noChangeArrowheads="1"/>
          </p:cNvSpPr>
          <p:nvPr/>
        </p:nvSpPr>
        <p:spPr bwMode="auto">
          <a:xfrm>
            <a:off x="4572000" y="2362200"/>
            <a:ext cx="914400" cy="11430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solidFill>
                  <a:srgbClr val="C0C0C0"/>
                </a:solidFill>
                <a:ea typeface="宋体" charset="-122"/>
              </a:rPr>
              <a:t>Result</a:t>
            </a:r>
            <a:br>
              <a:rPr lang="en-US" altLang="zh-CN">
                <a:solidFill>
                  <a:srgbClr val="C0C0C0"/>
                </a:solidFill>
                <a:ea typeface="宋体" charset="-122"/>
              </a:rPr>
            </a:br>
            <a:r>
              <a:rPr lang="en-US" altLang="zh-CN">
                <a:solidFill>
                  <a:srgbClr val="C0C0C0"/>
                </a:solidFill>
                <a:ea typeface="宋体" charset="-122"/>
              </a:rPr>
              <a:t>Merger</a:t>
            </a:r>
          </a:p>
        </p:txBody>
      </p:sp>
      <p:sp>
        <p:nvSpPr>
          <p:cNvPr id="121884" name="AutoShape 31"/>
          <p:cNvSpPr>
            <a:spLocks noChangeArrowheads="1"/>
          </p:cNvSpPr>
          <p:nvPr/>
        </p:nvSpPr>
        <p:spPr bwMode="auto">
          <a:xfrm>
            <a:off x="3373438" y="1828800"/>
            <a:ext cx="228600" cy="609600"/>
          </a:xfrm>
          <a:prstGeom prst="downArrow">
            <a:avLst>
              <a:gd name="adj1" fmla="val 50000"/>
              <a:gd name="adj2" fmla="val 66667"/>
            </a:avLst>
          </a:prstGeom>
          <a:solidFill>
            <a:srgbClr val="FFCC99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/>
            <a:endParaRPr lang="zh-CN" altLang="en-US"/>
          </a:p>
        </p:txBody>
      </p:sp>
      <p:sp>
        <p:nvSpPr>
          <p:cNvPr id="121885" name="AutoShape 32"/>
          <p:cNvSpPr>
            <a:spLocks noChangeArrowheads="1"/>
          </p:cNvSpPr>
          <p:nvPr/>
        </p:nvSpPr>
        <p:spPr bwMode="auto">
          <a:xfrm>
            <a:off x="3352800" y="2667000"/>
            <a:ext cx="249238" cy="457200"/>
          </a:xfrm>
          <a:prstGeom prst="downArrow">
            <a:avLst>
              <a:gd name="adj1" fmla="val 50000"/>
              <a:gd name="adj2" fmla="val 45860"/>
            </a:avLst>
          </a:prstGeom>
          <a:solidFill>
            <a:schemeClr val="bg1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/>
            <a:endParaRPr lang="zh-CN" altLang="en-US"/>
          </a:p>
        </p:txBody>
      </p:sp>
      <p:sp>
        <p:nvSpPr>
          <p:cNvPr id="121886" name="AutoShape 33"/>
          <p:cNvSpPr>
            <a:spLocks noChangeArrowheads="1"/>
          </p:cNvSpPr>
          <p:nvPr/>
        </p:nvSpPr>
        <p:spPr bwMode="auto">
          <a:xfrm>
            <a:off x="3352800" y="3429000"/>
            <a:ext cx="249238" cy="381000"/>
          </a:xfrm>
          <a:prstGeom prst="downArrow">
            <a:avLst>
              <a:gd name="adj1" fmla="val 50000"/>
              <a:gd name="adj2" fmla="val 38216"/>
            </a:avLst>
          </a:prstGeom>
          <a:solidFill>
            <a:schemeClr val="bg1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/>
            <a:endParaRPr lang="zh-CN" altLang="en-US"/>
          </a:p>
        </p:txBody>
      </p:sp>
      <p:sp>
        <p:nvSpPr>
          <p:cNvPr id="121887" name="AutoShape 34"/>
          <p:cNvSpPr>
            <a:spLocks noChangeArrowheads="1"/>
          </p:cNvSpPr>
          <p:nvPr/>
        </p:nvSpPr>
        <p:spPr bwMode="auto">
          <a:xfrm rot="10800000">
            <a:off x="4932363" y="3429000"/>
            <a:ext cx="249237" cy="381000"/>
          </a:xfrm>
          <a:prstGeom prst="downArrow">
            <a:avLst>
              <a:gd name="adj1" fmla="val 50000"/>
              <a:gd name="adj2" fmla="val 38217"/>
            </a:avLst>
          </a:prstGeom>
          <a:solidFill>
            <a:schemeClr val="bg1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/>
            <a:endParaRPr lang="zh-CN" altLang="en-US"/>
          </a:p>
        </p:txBody>
      </p:sp>
      <p:sp>
        <p:nvSpPr>
          <p:cNvPr id="121888" name="AutoShape 35"/>
          <p:cNvSpPr>
            <a:spLocks noChangeArrowheads="1"/>
          </p:cNvSpPr>
          <p:nvPr/>
        </p:nvSpPr>
        <p:spPr bwMode="auto">
          <a:xfrm rot="10800000">
            <a:off x="4953000" y="1828800"/>
            <a:ext cx="228600" cy="609600"/>
          </a:xfrm>
          <a:prstGeom prst="downArrow">
            <a:avLst>
              <a:gd name="adj1" fmla="val 50000"/>
              <a:gd name="adj2" fmla="val 66667"/>
            </a:avLst>
          </a:prstGeom>
          <a:solidFill>
            <a:srgbClr val="FFCC99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/>
            <a:endParaRPr lang="zh-CN" altLang="en-US"/>
          </a:p>
        </p:txBody>
      </p:sp>
      <p:sp>
        <p:nvSpPr>
          <p:cNvPr id="121889" name="Rectangle 36"/>
          <p:cNvSpPr>
            <a:spLocks noChangeArrowheads="1"/>
          </p:cNvSpPr>
          <p:nvPr/>
        </p:nvSpPr>
        <p:spPr bwMode="auto">
          <a:xfrm>
            <a:off x="6096000" y="3733800"/>
            <a:ext cx="24384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solidFill>
                  <a:srgbClr val="C0C0C0"/>
                </a:solidFill>
                <a:ea typeface="宋体" charset="-122"/>
              </a:rPr>
              <a:t>SQL Executor</a:t>
            </a:r>
          </a:p>
        </p:txBody>
      </p:sp>
      <p:sp>
        <p:nvSpPr>
          <p:cNvPr id="121890" name="Rectangle 37"/>
          <p:cNvSpPr>
            <a:spLocks noChangeArrowheads="1"/>
          </p:cNvSpPr>
          <p:nvPr/>
        </p:nvSpPr>
        <p:spPr bwMode="auto">
          <a:xfrm>
            <a:off x="6096000" y="3048000"/>
            <a:ext cx="13716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solidFill>
                  <a:srgbClr val="C0C0C0"/>
                </a:solidFill>
                <a:ea typeface="宋体" charset="-122"/>
              </a:rPr>
              <a:t>SQL Router</a:t>
            </a:r>
          </a:p>
        </p:txBody>
      </p:sp>
      <p:sp>
        <p:nvSpPr>
          <p:cNvPr id="121891" name="Rectangle 38"/>
          <p:cNvSpPr>
            <a:spLocks noChangeArrowheads="1"/>
          </p:cNvSpPr>
          <p:nvPr/>
        </p:nvSpPr>
        <p:spPr bwMode="auto">
          <a:xfrm>
            <a:off x="6096000" y="2362200"/>
            <a:ext cx="13716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solidFill>
                  <a:srgbClr val="C0C0C0"/>
                </a:solidFill>
                <a:ea typeface="宋体" charset="-122"/>
              </a:rPr>
              <a:t>SQL Parser</a:t>
            </a:r>
          </a:p>
        </p:txBody>
      </p:sp>
      <p:sp>
        <p:nvSpPr>
          <p:cNvPr id="121892" name="Rectangle 39"/>
          <p:cNvSpPr>
            <a:spLocks noChangeArrowheads="1"/>
          </p:cNvSpPr>
          <p:nvPr/>
        </p:nvSpPr>
        <p:spPr bwMode="auto">
          <a:xfrm>
            <a:off x="7620000" y="2362200"/>
            <a:ext cx="914400" cy="11430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solidFill>
                  <a:srgbClr val="C0C0C0"/>
                </a:solidFill>
                <a:ea typeface="宋体" charset="-122"/>
              </a:rPr>
              <a:t>Result</a:t>
            </a:r>
            <a:br>
              <a:rPr lang="en-US" altLang="zh-CN">
                <a:solidFill>
                  <a:srgbClr val="C0C0C0"/>
                </a:solidFill>
                <a:ea typeface="宋体" charset="-122"/>
              </a:rPr>
            </a:br>
            <a:r>
              <a:rPr lang="en-US" altLang="zh-CN">
                <a:solidFill>
                  <a:srgbClr val="C0C0C0"/>
                </a:solidFill>
                <a:ea typeface="宋体" charset="-122"/>
              </a:rPr>
              <a:t>Merger</a:t>
            </a:r>
          </a:p>
        </p:txBody>
      </p:sp>
      <p:sp>
        <p:nvSpPr>
          <p:cNvPr id="121893" name="AutoShape 40"/>
          <p:cNvSpPr>
            <a:spLocks noChangeArrowheads="1"/>
          </p:cNvSpPr>
          <p:nvPr/>
        </p:nvSpPr>
        <p:spPr bwMode="auto">
          <a:xfrm>
            <a:off x="6421438" y="1828800"/>
            <a:ext cx="228600" cy="609600"/>
          </a:xfrm>
          <a:prstGeom prst="downArrow">
            <a:avLst>
              <a:gd name="adj1" fmla="val 50000"/>
              <a:gd name="adj2" fmla="val 66667"/>
            </a:avLst>
          </a:prstGeom>
          <a:solidFill>
            <a:schemeClr val="bg1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/>
            <a:endParaRPr lang="zh-CN" altLang="en-US"/>
          </a:p>
        </p:txBody>
      </p:sp>
      <p:sp>
        <p:nvSpPr>
          <p:cNvPr id="121894" name="AutoShape 41"/>
          <p:cNvSpPr>
            <a:spLocks noChangeArrowheads="1"/>
          </p:cNvSpPr>
          <p:nvPr/>
        </p:nvSpPr>
        <p:spPr bwMode="auto">
          <a:xfrm>
            <a:off x="6400800" y="2667000"/>
            <a:ext cx="249238" cy="457200"/>
          </a:xfrm>
          <a:prstGeom prst="downArrow">
            <a:avLst>
              <a:gd name="adj1" fmla="val 50000"/>
              <a:gd name="adj2" fmla="val 45860"/>
            </a:avLst>
          </a:prstGeom>
          <a:solidFill>
            <a:schemeClr val="bg1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/>
            <a:endParaRPr lang="zh-CN" altLang="en-US"/>
          </a:p>
        </p:txBody>
      </p:sp>
      <p:sp>
        <p:nvSpPr>
          <p:cNvPr id="121895" name="AutoShape 42"/>
          <p:cNvSpPr>
            <a:spLocks noChangeArrowheads="1"/>
          </p:cNvSpPr>
          <p:nvPr/>
        </p:nvSpPr>
        <p:spPr bwMode="auto">
          <a:xfrm>
            <a:off x="6400800" y="3429000"/>
            <a:ext cx="249238" cy="381000"/>
          </a:xfrm>
          <a:prstGeom prst="downArrow">
            <a:avLst>
              <a:gd name="adj1" fmla="val 50000"/>
              <a:gd name="adj2" fmla="val 38216"/>
            </a:avLst>
          </a:prstGeom>
          <a:solidFill>
            <a:schemeClr val="bg1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/>
            <a:endParaRPr lang="zh-CN" altLang="en-US"/>
          </a:p>
        </p:txBody>
      </p:sp>
      <p:sp>
        <p:nvSpPr>
          <p:cNvPr id="121896" name="AutoShape 43"/>
          <p:cNvSpPr>
            <a:spLocks noChangeArrowheads="1"/>
          </p:cNvSpPr>
          <p:nvPr/>
        </p:nvSpPr>
        <p:spPr bwMode="auto">
          <a:xfrm rot="10800000">
            <a:off x="7980363" y="3429000"/>
            <a:ext cx="249237" cy="381000"/>
          </a:xfrm>
          <a:prstGeom prst="downArrow">
            <a:avLst>
              <a:gd name="adj1" fmla="val 50000"/>
              <a:gd name="adj2" fmla="val 38217"/>
            </a:avLst>
          </a:prstGeom>
          <a:solidFill>
            <a:schemeClr val="bg1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/>
            <a:endParaRPr lang="zh-CN" altLang="en-US"/>
          </a:p>
        </p:txBody>
      </p:sp>
      <p:sp>
        <p:nvSpPr>
          <p:cNvPr id="121897" name="AutoShape 44"/>
          <p:cNvSpPr>
            <a:spLocks noChangeArrowheads="1"/>
          </p:cNvSpPr>
          <p:nvPr/>
        </p:nvSpPr>
        <p:spPr bwMode="auto">
          <a:xfrm rot="10800000">
            <a:off x="8001000" y="1828800"/>
            <a:ext cx="228600" cy="609600"/>
          </a:xfrm>
          <a:prstGeom prst="downArrow">
            <a:avLst>
              <a:gd name="adj1" fmla="val 50000"/>
              <a:gd name="adj2" fmla="val 66667"/>
            </a:avLst>
          </a:prstGeom>
          <a:solidFill>
            <a:schemeClr val="bg1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/>
            <a:endParaRPr lang="zh-CN" altLang="en-US"/>
          </a:p>
        </p:txBody>
      </p:sp>
      <p:sp>
        <p:nvSpPr>
          <p:cNvPr id="121898" name="Text Box 45"/>
          <p:cNvSpPr txBox="1">
            <a:spLocks noChangeArrowheads="1"/>
          </p:cNvSpPr>
          <p:nvPr/>
        </p:nvSpPr>
        <p:spPr bwMode="auto">
          <a:xfrm>
            <a:off x="5257800" y="2590800"/>
            <a:ext cx="1143000" cy="827088"/>
          </a:xfrm>
          <a:prstGeom prst="rect">
            <a:avLst/>
          </a:prstGeom>
          <a:noFill/>
          <a:ln w="3175">
            <a:solidFill>
              <a:schemeClr val="bg1"/>
            </a:solidFill>
            <a:prstDash val="dashDot"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4800">
                <a:solidFill>
                  <a:srgbClr val="C0C0C0"/>
                </a:solidFill>
                <a:ea typeface="宋体" charset="-122"/>
              </a:rPr>
              <a:t>... </a:t>
            </a:r>
          </a:p>
        </p:txBody>
      </p:sp>
      <p:sp>
        <p:nvSpPr>
          <p:cNvPr id="121899" name="Rectangle 46"/>
          <p:cNvSpPr>
            <a:spLocks noChangeArrowheads="1"/>
          </p:cNvSpPr>
          <p:nvPr/>
        </p:nvSpPr>
        <p:spPr bwMode="auto">
          <a:xfrm rot="10800000" flipV="1">
            <a:off x="304800" y="2057400"/>
            <a:ext cx="914400" cy="31242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solidFill>
                  <a:srgbClr val="C0C0C0"/>
                </a:solidFill>
                <a:ea typeface="宋体" charset="-122"/>
              </a:rPr>
              <a:t>Manager</a:t>
            </a:r>
          </a:p>
        </p:txBody>
      </p:sp>
      <p:sp>
        <p:nvSpPr>
          <p:cNvPr id="121900" name="AutoShape 47"/>
          <p:cNvSpPr>
            <a:spLocks noChangeArrowheads="1"/>
          </p:cNvSpPr>
          <p:nvPr/>
        </p:nvSpPr>
        <p:spPr bwMode="auto">
          <a:xfrm rot="-5400000">
            <a:off x="1257300" y="3238500"/>
            <a:ext cx="533400" cy="762000"/>
          </a:xfrm>
          <a:prstGeom prst="upDownArrow">
            <a:avLst>
              <a:gd name="adj1" fmla="val 42704"/>
              <a:gd name="adj2" fmla="val 40179"/>
            </a:avLst>
          </a:prstGeom>
          <a:solidFill>
            <a:schemeClr val="bg1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/>
            <a:endParaRPr lang="zh-CN" altLang="en-US"/>
          </a:p>
        </p:txBody>
      </p:sp>
      <p:sp>
        <p:nvSpPr>
          <p:cNvPr id="121901" name="Rectangle 48"/>
          <p:cNvSpPr>
            <a:spLocks noChangeArrowheads="1"/>
          </p:cNvSpPr>
          <p:nvPr/>
        </p:nvSpPr>
        <p:spPr bwMode="auto">
          <a:xfrm>
            <a:off x="2293938" y="5562600"/>
            <a:ext cx="1749425" cy="37623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2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i="1">
                <a:solidFill>
                  <a:srgbClr val="C0C0C0"/>
                </a:solidFill>
                <a:latin typeface="Times New Roman" pitchFamily="18" charset="0"/>
              </a:rPr>
              <a:t>MySQL Protocol</a:t>
            </a:r>
          </a:p>
        </p:txBody>
      </p:sp>
      <p:sp>
        <p:nvSpPr>
          <p:cNvPr id="121902" name="Rectangle 49"/>
          <p:cNvSpPr>
            <a:spLocks noChangeArrowheads="1"/>
          </p:cNvSpPr>
          <p:nvPr/>
        </p:nvSpPr>
        <p:spPr bwMode="auto">
          <a:xfrm>
            <a:off x="4046538" y="5562600"/>
            <a:ext cx="1749425" cy="37623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2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i="1">
                <a:solidFill>
                  <a:srgbClr val="C0C0C0"/>
                </a:solidFill>
                <a:latin typeface="Times New Roman" pitchFamily="18" charset="0"/>
              </a:rPr>
              <a:t>MySQL Protocol</a:t>
            </a:r>
          </a:p>
        </p:txBody>
      </p:sp>
      <p:sp>
        <p:nvSpPr>
          <p:cNvPr id="121903" name="Rectangle 50"/>
          <p:cNvSpPr>
            <a:spLocks noChangeArrowheads="1"/>
          </p:cNvSpPr>
          <p:nvPr/>
        </p:nvSpPr>
        <p:spPr bwMode="auto">
          <a:xfrm>
            <a:off x="5722938" y="5562600"/>
            <a:ext cx="1749425" cy="37623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2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i="1">
                <a:solidFill>
                  <a:srgbClr val="C0C0C0"/>
                </a:solidFill>
                <a:latin typeface="Times New Roman" pitchFamily="18" charset="0"/>
              </a:rPr>
              <a:t>MySQL Protocol</a:t>
            </a:r>
          </a:p>
        </p:txBody>
      </p:sp>
      <p:sp>
        <p:nvSpPr>
          <p:cNvPr id="121904" name="Rectangle 51"/>
          <p:cNvSpPr>
            <a:spLocks noChangeArrowheads="1"/>
          </p:cNvSpPr>
          <p:nvPr/>
        </p:nvSpPr>
        <p:spPr bwMode="auto">
          <a:xfrm>
            <a:off x="7399338" y="5562600"/>
            <a:ext cx="1749425" cy="37623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2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i="1">
                <a:solidFill>
                  <a:srgbClr val="C0C0C0"/>
                </a:solidFill>
                <a:latin typeface="Times New Roman" pitchFamily="18" charset="0"/>
              </a:rPr>
              <a:t>MySQL Protocol</a:t>
            </a:r>
          </a:p>
        </p:txBody>
      </p:sp>
      <p:sp>
        <p:nvSpPr>
          <p:cNvPr id="121905" name="Rectangle 52"/>
          <p:cNvSpPr>
            <a:spLocks noChangeArrowheads="1"/>
          </p:cNvSpPr>
          <p:nvPr/>
        </p:nvSpPr>
        <p:spPr bwMode="auto">
          <a:xfrm rot="-5400000">
            <a:off x="817563" y="3252788"/>
            <a:ext cx="1387475" cy="65087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2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i="1">
                <a:solidFill>
                  <a:srgbClr val="C0C0C0"/>
                </a:solidFill>
                <a:latin typeface="Times New Roman" pitchFamily="18" charset="0"/>
              </a:rPr>
              <a:t>Management</a:t>
            </a:r>
            <a:br>
              <a:rPr lang="en-US" altLang="zh-CN" i="1">
                <a:solidFill>
                  <a:srgbClr val="C0C0C0"/>
                </a:solidFill>
                <a:latin typeface="Times New Roman" pitchFamily="18" charset="0"/>
              </a:rPr>
            </a:br>
            <a:r>
              <a:rPr lang="en-US" altLang="zh-CN" i="1">
                <a:solidFill>
                  <a:srgbClr val="C0C0C0"/>
                </a:solidFill>
                <a:latin typeface="Times New Roman" pitchFamily="18" charset="0"/>
              </a:rPr>
              <a:t>Protocol</a:t>
            </a:r>
          </a:p>
        </p:txBody>
      </p:sp>
      <p:sp>
        <p:nvSpPr>
          <p:cNvPr id="121906" name="AutoShape 53"/>
          <p:cNvSpPr>
            <a:spLocks noChangeArrowheads="1"/>
          </p:cNvSpPr>
          <p:nvPr/>
        </p:nvSpPr>
        <p:spPr bwMode="auto">
          <a:xfrm>
            <a:off x="2362200" y="2514600"/>
            <a:ext cx="2057400" cy="4572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 b="1">
                <a:latin typeface="Courier New" pitchFamily="49" charset="0"/>
              </a:rPr>
              <a:t>SQL +Parameters</a:t>
            </a:r>
          </a:p>
        </p:txBody>
      </p:sp>
      <p:sp>
        <p:nvSpPr>
          <p:cNvPr id="121907" name="AutoShape 54"/>
          <p:cNvSpPr>
            <a:spLocks noChangeArrowheads="1"/>
          </p:cNvSpPr>
          <p:nvPr/>
        </p:nvSpPr>
        <p:spPr bwMode="auto">
          <a:xfrm>
            <a:off x="4648200" y="2514600"/>
            <a:ext cx="2286000" cy="4572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 b="1">
                <a:latin typeface="Courier New" pitchFamily="49" charset="0"/>
              </a:rPr>
              <a:t>ResultSetMetaData</a:t>
            </a:r>
            <a:br>
              <a:rPr lang="en-US" altLang="zh-CN" sz="1600" b="1">
                <a:latin typeface="Courier New" pitchFamily="49" charset="0"/>
              </a:rPr>
            </a:br>
            <a:r>
              <a:rPr lang="en-US" altLang="zh-CN" sz="1600" b="1">
                <a:latin typeface="Courier New" pitchFamily="49" charset="0"/>
              </a:rPr>
              <a:t>ResultSet(Rows)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latin typeface="微软雅黑"/>
                <a:ea typeface="微软雅黑"/>
                <a:cs typeface="微软雅黑"/>
              </a:rPr>
              <a:t>Cobar </a:t>
            </a:r>
            <a:r>
              <a:rPr lang="zh-CN" altLang="en-US" smtClean="0">
                <a:latin typeface="微软雅黑"/>
                <a:ea typeface="微软雅黑"/>
                <a:cs typeface="微软雅黑"/>
              </a:rPr>
              <a:t>通信层</a:t>
            </a:r>
          </a:p>
        </p:txBody>
      </p:sp>
      <p:sp>
        <p:nvSpPr>
          <p:cNvPr id="12288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latin typeface="微软雅黑"/>
                <a:ea typeface="微软雅黑"/>
                <a:cs typeface="微软雅黑"/>
              </a:rPr>
              <a:t>统一管理</a:t>
            </a:r>
            <a:r>
              <a:rPr lang="en-US" altLang="zh-CN" smtClean="0">
                <a:latin typeface="微软雅黑"/>
                <a:ea typeface="微软雅黑"/>
                <a:cs typeface="微软雅黑"/>
              </a:rPr>
              <a:t>NIO</a:t>
            </a:r>
            <a:r>
              <a:rPr lang="zh-CN" altLang="en-US" smtClean="0">
                <a:latin typeface="微软雅黑"/>
                <a:ea typeface="微软雅黑"/>
                <a:cs typeface="微软雅黑"/>
              </a:rPr>
              <a:t>的</a:t>
            </a:r>
            <a:r>
              <a:rPr lang="en-US" altLang="zh-CN" smtClean="0">
                <a:latin typeface="微软雅黑"/>
                <a:ea typeface="微软雅黑"/>
                <a:cs typeface="微软雅黑"/>
              </a:rPr>
              <a:t>Buffer</a:t>
            </a:r>
          </a:p>
        </p:txBody>
      </p:sp>
      <p:sp>
        <p:nvSpPr>
          <p:cNvPr id="122883" name="Rectangle 4"/>
          <p:cNvSpPr>
            <a:spLocks noChangeArrowheads="1"/>
          </p:cNvSpPr>
          <p:nvPr/>
        </p:nvSpPr>
        <p:spPr bwMode="auto">
          <a:xfrm>
            <a:off x="5257800" y="2438400"/>
            <a:ext cx="838200" cy="838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800">
                <a:latin typeface="Times New Roman" pitchFamily="18" charset="0"/>
              </a:rPr>
              <a:t>4KB</a:t>
            </a:r>
            <a:r>
              <a:rPr lang="en-US" altLang="zh-CN" sz="1200">
                <a:latin typeface="Times New Roman" pitchFamily="18" charset="0"/>
              </a:rPr>
              <a:t/>
            </a:r>
            <a:br>
              <a:rPr lang="en-US" altLang="zh-CN" sz="1200">
                <a:latin typeface="Times New Roman" pitchFamily="18" charset="0"/>
              </a:rPr>
            </a:br>
            <a:r>
              <a:rPr lang="en-US" altLang="zh-CN" sz="1200">
                <a:latin typeface="Times New Roman" pitchFamily="18" charset="0"/>
              </a:rPr>
              <a:t>ByteBuffer</a:t>
            </a:r>
          </a:p>
        </p:txBody>
      </p:sp>
      <p:sp>
        <p:nvSpPr>
          <p:cNvPr id="122884" name="Rectangle 5"/>
          <p:cNvSpPr>
            <a:spLocks noChangeArrowheads="1"/>
          </p:cNvSpPr>
          <p:nvPr/>
        </p:nvSpPr>
        <p:spPr bwMode="auto">
          <a:xfrm>
            <a:off x="6096000" y="2438400"/>
            <a:ext cx="838200" cy="838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800">
                <a:latin typeface="Times New Roman" pitchFamily="18" charset="0"/>
              </a:rPr>
              <a:t>4KB</a:t>
            </a:r>
            <a:r>
              <a:rPr lang="en-US" altLang="zh-CN" sz="1200">
                <a:latin typeface="Times New Roman" pitchFamily="18" charset="0"/>
              </a:rPr>
              <a:t/>
            </a:r>
            <a:br>
              <a:rPr lang="en-US" altLang="zh-CN" sz="1200">
                <a:latin typeface="Times New Roman" pitchFamily="18" charset="0"/>
              </a:rPr>
            </a:br>
            <a:r>
              <a:rPr lang="en-US" altLang="zh-CN" sz="1200">
                <a:latin typeface="Times New Roman" pitchFamily="18" charset="0"/>
              </a:rPr>
              <a:t>ByteBuffer</a:t>
            </a:r>
          </a:p>
        </p:txBody>
      </p:sp>
      <p:sp>
        <p:nvSpPr>
          <p:cNvPr id="122885" name="Rectangle 6"/>
          <p:cNvSpPr>
            <a:spLocks noChangeArrowheads="1"/>
          </p:cNvSpPr>
          <p:nvPr/>
        </p:nvSpPr>
        <p:spPr bwMode="auto">
          <a:xfrm>
            <a:off x="6934200" y="2438400"/>
            <a:ext cx="838200" cy="838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800">
                <a:latin typeface="Times New Roman" pitchFamily="18" charset="0"/>
              </a:rPr>
              <a:t>4KB</a:t>
            </a:r>
            <a:r>
              <a:rPr lang="en-US" altLang="zh-CN" sz="1200">
                <a:latin typeface="Times New Roman" pitchFamily="18" charset="0"/>
              </a:rPr>
              <a:t/>
            </a:r>
            <a:br>
              <a:rPr lang="en-US" altLang="zh-CN" sz="1200">
                <a:latin typeface="Times New Roman" pitchFamily="18" charset="0"/>
              </a:rPr>
            </a:br>
            <a:r>
              <a:rPr lang="en-US" altLang="zh-CN" sz="1200">
                <a:latin typeface="Times New Roman" pitchFamily="18" charset="0"/>
              </a:rPr>
              <a:t>ByteBuffer</a:t>
            </a:r>
          </a:p>
        </p:txBody>
      </p:sp>
      <p:sp>
        <p:nvSpPr>
          <p:cNvPr id="122886" name="Rectangle 7"/>
          <p:cNvSpPr>
            <a:spLocks noChangeArrowheads="1"/>
          </p:cNvSpPr>
          <p:nvPr/>
        </p:nvSpPr>
        <p:spPr bwMode="auto">
          <a:xfrm>
            <a:off x="7772400" y="2438400"/>
            <a:ext cx="838200" cy="838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800">
                <a:latin typeface="Times New Roman" pitchFamily="18" charset="0"/>
              </a:rPr>
              <a:t>4KB</a:t>
            </a:r>
            <a:r>
              <a:rPr lang="en-US" altLang="zh-CN" sz="1200">
                <a:latin typeface="Times New Roman" pitchFamily="18" charset="0"/>
              </a:rPr>
              <a:t/>
            </a:r>
            <a:br>
              <a:rPr lang="en-US" altLang="zh-CN" sz="1200">
                <a:latin typeface="Times New Roman" pitchFamily="18" charset="0"/>
              </a:rPr>
            </a:br>
            <a:r>
              <a:rPr lang="en-US" altLang="zh-CN" sz="1200">
                <a:latin typeface="Times New Roman" pitchFamily="18" charset="0"/>
              </a:rPr>
              <a:t>ByteBuffer</a:t>
            </a:r>
          </a:p>
        </p:txBody>
      </p:sp>
      <p:sp>
        <p:nvSpPr>
          <p:cNvPr id="122887" name="Rectangle 8"/>
          <p:cNvSpPr>
            <a:spLocks noChangeArrowheads="1"/>
          </p:cNvSpPr>
          <p:nvPr/>
        </p:nvSpPr>
        <p:spPr bwMode="auto">
          <a:xfrm>
            <a:off x="5257800" y="3276600"/>
            <a:ext cx="838200" cy="838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800">
                <a:latin typeface="Times New Roman" pitchFamily="18" charset="0"/>
              </a:rPr>
              <a:t>4KB</a:t>
            </a:r>
            <a:r>
              <a:rPr lang="en-US" altLang="zh-CN" sz="1200">
                <a:latin typeface="Times New Roman" pitchFamily="18" charset="0"/>
              </a:rPr>
              <a:t/>
            </a:r>
            <a:br>
              <a:rPr lang="en-US" altLang="zh-CN" sz="1200">
                <a:latin typeface="Times New Roman" pitchFamily="18" charset="0"/>
              </a:rPr>
            </a:br>
            <a:r>
              <a:rPr lang="en-US" altLang="zh-CN" sz="1200">
                <a:latin typeface="Times New Roman" pitchFamily="18" charset="0"/>
              </a:rPr>
              <a:t>ByteBuffer</a:t>
            </a:r>
          </a:p>
        </p:txBody>
      </p:sp>
      <p:sp>
        <p:nvSpPr>
          <p:cNvPr id="122888" name="Rectangle 9"/>
          <p:cNvSpPr>
            <a:spLocks noChangeArrowheads="1"/>
          </p:cNvSpPr>
          <p:nvPr/>
        </p:nvSpPr>
        <p:spPr bwMode="auto">
          <a:xfrm>
            <a:off x="6096000" y="3276600"/>
            <a:ext cx="838200" cy="838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800">
                <a:latin typeface="Times New Roman" pitchFamily="18" charset="0"/>
              </a:rPr>
              <a:t>4KB</a:t>
            </a:r>
            <a:r>
              <a:rPr lang="en-US" altLang="zh-CN" sz="1200">
                <a:latin typeface="Times New Roman" pitchFamily="18" charset="0"/>
              </a:rPr>
              <a:t/>
            </a:r>
            <a:br>
              <a:rPr lang="en-US" altLang="zh-CN" sz="1200">
                <a:latin typeface="Times New Roman" pitchFamily="18" charset="0"/>
              </a:rPr>
            </a:br>
            <a:r>
              <a:rPr lang="en-US" altLang="zh-CN" sz="1200">
                <a:latin typeface="Times New Roman" pitchFamily="18" charset="0"/>
              </a:rPr>
              <a:t>ByteBuffer</a:t>
            </a:r>
          </a:p>
        </p:txBody>
      </p:sp>
      <p:sp>
        <p:nvSpPr>
          <p:cNvPr id="122889" name="Rectangle 10"/>
          <p:cNvSpPr>
            <a:spLocks noChangeArrowheads="1"/>
          </p:cNvSpPr>
          <p:nvPr/>
        </p:nvSpPr>
        <p:spPr bwMode="auto">
          <a:xfrm>
            <a:off x="6934200" y="3276600"/>
            <a:ext cx="838200" cy="838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800">
                <a:latin typeface="Times New Roman" pitchFamily="18" charset="0"/>
              </a:rPr>
              <a:t>4KB</a:t>
            </a:r>
            <a:r>
              <a:rPr lang="en-US" altLang="zh-CN" sz="1200">
                <a:latin typeface="Times New Roman" pitchFamily="18" charset="0"/>
              </a:rPr>
              <a:t/>
            </a:r>
            <a:br>
              <a:rPr lang="en-US" altLang="zh-CN" sz="1200">
                <a:latin typeface="Times New Roman" pitchFamily="18" charset="0"/>
              </a:rPr>
            </a:br>
            <a:r>
              <a:rPr lang="en-US" altLang="zh-CN" sz="1200">
                <a:latin typeface="Times New Roman" pitchFamily="18" charset="0"/>
              </a:rPr>
              <a:t>ByteBuffer</a:t>
            </a:r>
          </a:p>
        </p:txBody>
      </p:sp>
      <p:sp>
        <p:nvSpPr>
          <p:cNvPr id="122890" name="Rectangle 11"/>
          <p:cNvSpPr>
            <a:spLocks noChangeArrowheads="1"/>
          </p:cNvSpPr>
          <p:nvPr/>
        </p:nvSpPr>
        <p:spPr bwMode="auto">
          <a:xfrm>
            <a:off x="7772400" y="3276600"/>
            <a:ext cx="838200" cy="838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800">
                <a:latin typeface="Times New Roman" pitchFamily="18" charset="0"/>
              </a:rPr>
              <a:t>4KB</a:t>
            </a:r>
            <a:r>
              <a:rPr lang="en-US" altLang="zh-CN" sz="1200">
                <a:latin typeface="Times New Roman" pitchFamily="18" charset="0"/>
              </a:rPr>
              <a:t/>
            </a:r>
            <a:br>
              <a:rPr lang="en-US" altLang="zh-CN" sz="1200">
                <a:latin typeface="Times New Roman" pitchFamily="18" charset="0"/>
              </a:rPr>
            </a:br>
            <a:r>
              <a:rPr lang="en-US" altLang="zh-CN" sz="1200">
                <a:latin typeface="Times New Roman" pitchFamily="18" charset="0"/>
              </a:rPr>
              <a:t>ByteBuffer</a:t>
            </a:r>
          </a:p>
        </p:txBody>
      </p:sp>
      <p:sp>
        <p:nvSpPr>
          <p:cNvPr id="122891" name="Rectangle 12"/>
          <p:cNvSpPr>
            <a:spLocks noChangeArrowheads="1"/>
          </p:cNvSpPr>
          <p:nvPr/>
        </p:nvSpPr>
        <p:spPr bwMode="auto">
          <a:xfrm>
            <a:off x="5257800" y="4114800"/>
            <a:ext cx="838200" cy="838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800">
                <a:latin typeface="Times New Roman" pitchFamily="18" charset="0"/>
              </a:rPr>
              <a:t>4KB</a:t>
            </a:r>
            <a:r>
              <a:rPr lang="en-US" altLang="zh-CN" sz="1200">
                <a:latin typeface="Times New Roman" pitchFamily="18" charset="0"/>
              </a:rPr>
              <a:t/>
            </a:r>
            <a:br>
              <a:rPr lang="en-US" altLang="zh-CN" sz="1200">
                <a:latin typeface="Times New Roman" pitchFamily="18" charset="0"/>
              </a:rPr>
            </a:br>
            <a:r>
              <a:rPr lang="en-US" altLang="zh-CN" sz="1200">
                <a:latin typeface="Times New Roman" pitchFamily="18" charset="0"/>
              </a:rPr>
              <a:t>ByteBuffer</a:t>
            </a:r>
          </a:p>
        </p:txBody>
      </p:sp>
      <p:sp>
        <p:nvSpPr>
          <p:cNvPr id="122892" name="Rectangle 13"/>
          <p:cNvSpPr>
            <a:spLocks noChangeArrowheads="1"/>
          </p:cNvSpPr>
          <p:nvPr/>
        </p:nvSpPr>
        <p:spPr bwMode="auto">
          <a:xfrm>
            <a:off x="6096000" y="4953000"/>
            <a:ext cx="838200" cy="838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800">
                <a:latin typeface="Times New Roman" pitchFamily="18" charset="0"/>
              </a:rPr>
              <a:t>4KB</a:t>
            </a:r>
            <a:r>
              <a:rPr lang="en-US" altLang="zh-CN" sz="1200">
                <a:latin typeface="Times New Roman" pitchFamily="18" charset="0"/>
              </a:rPr>
              <a:t/>
            </a:r>
            <a:br>
              <a:rPr lang="en-US" altLang="zh-CN" sz="1200">
                <a:latin typeface="Times New Roman" pitchFamily="18" charset="0"/>
              </a:rPr>
            </a:br>
            <a:r>
              <a:rPr lang="en-US" altLang="zh-CN" sz="1200">
                <a:latin typeface="Times New Roman" pitchFamily="18" charset="0"/>
              </a:rPr>
              <a:t>ByteBuffer</a:t>
            </a:r>
          </a:p>
        </p:txBody>
      </p:sp>
      <p:sp>
        <p:nvSpPr>
          <p:cNvPr id="122893" name="Rectangle 14"/>
          <p:cNvSpPr>
            <a:spLocks noChangeArrowheads="1"/>
          </p:cNvSpPr>
          <p:nvPr/>
        </p:nvSpPr>
        <p:spPr bwMode="auto">
          <a:xfrm>
            <a:off x="6096000" y="4114800"/>
            <a:ext cx="838200" cy="838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800">
                <a:latin typeface="Times New Roman" pitchFamily="18" charset="0"/>
              </a:rPr>
              <a:t>4KB</a:t>
            </a:r>
            <a:r>
              <a:rPr lang="en-US" altLang="zh-CN" sz="1200">
                <a:latin typeface="Times New Roman" pitchFamily="18" charset="0"/>
              </a:rPr>
              <a:t/>
            </a:r>
            <a:br>
              <a:rPr lang="en-US" altLang="zh-CN" sz="1200">
                <a:latin typeface="Times New Roman" pitchFamily="18" charset="0"/>
              </a:rPr>
            </a:br>
            <a:r>
              <a:rPr lang="en-US" altLang="zh-CN" sz="1200">
                <a:latin typeface="Times New Roman" pitchFamily="18" charset="0"/>
              </a:rPr>
              <a:t>ByteBuffer</a:t>
            </a:r>
          </a:p>
        </p:txBody>
      </p:sp>
      <p:sp>
        <p:nvSpPr>
          <p:cNvPr id="122894" name="Rectangle 15"/>
          <p:cNvSpPr>
            <a:spLocks noChangeArrowheads="1"/>
          </p:cNvSpPr>
          <p:nvPr/>
        </p:nvSpPr>
        <p:spPr bwMode="auto">
          <a:xfrm>
            <a:off x="7772400" y="4114800"/>
            <a:ext cx="838200" cy="838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800">
                <a:latin typeface="Times New Roman" pitchFamily="18" charset="0"/>
              </a:rPr>
              <a:t>4KB</a:t>
            </a:r>
            <a:r>
              <a:rPr lang="en-US" altLang="zh-CN" sz="1200">
                <a:latin typeface="Times New Roman" pitchFamily="18" charset="0"/>
              </a:rPr>
              <a:t/>
            </a:r>
            <a:br>
              <a:rPr lang="en-US" altLang="zh-CN" sz="1200">
                <a:latin typeface="Times New Roman" pitchFamily="18" charset="0"/>
              </a:rPr>
            </a:br>
            <a:r>
              <a:rPr lang="en-US" altLang="zh-CN" sz="1200">
                <a:latin typeface="Times New Roman" pitchFamily="18" charset="0"/>
              </a:rPr>
              <a:t>ByteBuffer</a:t>
            </a:r>
          </a:p>
        </p:txBody>
      </p:sp>
      <p:sp>
        <p:nvSpPr>
          <p:cNvPr id="122895" name="Rectangle 16"/>
          <p:cNvSpPr>
            <a:spLocks noChangeArrowheads="1"/>
          </p:cNvSpPr>
          <p:nvPr/>
        </p:nvSpPr>
        <p:spPr bwMode="auto">
          <a:xfrm>
            <a:off x="5257800" y="4953000"/>
            <a:ext cx="838200" cy="838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800">
                <a:latin typeface="Times New Roman" pitchFamily="18" charset="0"/>
              </a:rPr>
              <a:t>4KB</a:t>
            </a:r>
            <a:r>
              <a:rPr lang="en-US" altLang="zh-CN" sz="1200">
                <a:latin typeface="Times New Roman" pitchFamily="18" charset="0"/>
              </a:rPr>
              <a:t/>
            </a:r>
            <a:br>
              <a:rPr lang="en-US" altLang="zh-CN" sz="1200">
                <a:latin typeface="Times New Roman" pitchFamily="18" charset="0"/>
              </a:rPr>
            </a:br>
            <a:r>
              <a:rPr lang="en-US" altLang="zh-CN" sz="1200">
                <a:latin typeface="Times New Roman" pitchFamily="18" charset="0"/>
              </a:rPr>
              <a:t>ByteBuffer</a:t>
            </a:r>
          </a:p>
        </p:txBody>
      </p:sp>
      <p:sp>
        <p:nvSpPr>
          <p:cNvPr id="122896" name="Rectangle 17"/>
          <p:cNvSpPr>
            <a:spLocks noChangeArrowheads="1"/>
          </p:cNvSpPr>
          <p:nvPr/>
        </p:nvSpPr>
        <p:spPr bwMode="auto">
          <a:xfrm>
            <a:off x="6934200" y="4114800"/>
            <a:ext cx="838200" cy="838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800">
                <a:latin typeface="Times New Roman" pitchFamily="18" charset="0"/>
              </a:rPr>
              <a:t>4KB</a:t>
            </a:r>
            <a:r>
              <a:rPr lang="en-US" altLang="zh-CN" sz="1200">
                <a:latin typeface="Times New Roman" pitchFamily="18" charset="0"/>
              </a:rPr>
              <a:t/>
            </a:r>
            <a:br>
              <a:rPr lang="en-US" altLang="zh-CN" sz="1200">
                <a:latin typeface="Times New Roman" pitchFamily="18" charset="0"/>
              </a:rPr>
            </a:br>
            <a:r>
              <a:rPr lang="en-US" altLang="zh-CN" sz="1200">
                <a:latin typeface="Times New Roman" pitchFamily="18" charset="0"/>
              </a:rPr>
              <a:t>ByteBuffer</a:t>
            </a:r>
          </a:p>
        </p:txBody>
      </p:sp>
      <p:sp>
        <p:nvSpPr>
          <p:cNvPr id="122897" name="Rectangle 18"/>
          <p:cNvSpPr>
            <a:spLocks noChangeArrowheads="1"/>
          </p:cNvSpPr>
          <p:nvPr/>
        </p:nvSpPr>
        <p:spPr bwMode="auto">
          <a:xfrm>
            <a:off x="6934200" y="4953000"/>
            <a:ext cx="838200" cy="838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800">
                <a:latin typeface="Times New Roman" pitchFamily="18" charset="0"/>
              </a:rPr>
              <a:t>4KB</a:t>
            </a:r>
            <a:r>
              <a:rPr lang="en-US" altLang="zh-CN" sz="1200">
                <a:latin typeface="Times New Roman" pitchFamily="18" charset="0"/>
              </a:rPr>
              <a:t/>
            </a:r>
            <a:br>
              <a:rPr lang="en-US" altLang="zh-CN" sz="1200">
                <a:latin typeface="Times New Roman" pitchFamily="18" charset="0"/>
              </a:rPr>
            </a:br>
            <a:r>
              <a:rPr lang="en-US" altLang="zh-CN" sz="1200">
                <a:latin typeface="Times New Roman" pitchFamily="18" charset="0"/>
              </a:rPr>
              <a:t>ByteBuffer</a:t>
            </a:r>
          </a:p>
        </p:txBody>
      </p:sp>
      <p:sp>
        <p:nvSpPr>
          <p:cNvPr id="122898" name="Rectangle 19"/>
          <p:cNvSpPr>
            <a:spLocks noChangeArrowheads="1"/>
          </p:cNvSpPr>
          <p:nvPr/>
        </p:nvSpPr>
        <p:spPr bwMode="auto">
          <a:xfrm>
            <a:off x="7772400" y="4953000"/>
            <a:ext cx="838200" cy="838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800">
                <a:latin typeface="Times New Roman" pitchFamily="18" charset="0"/>
              </a:rPr>
              <a:t>4KB</a:t>
            </a:r>
            <a:r>
              <a:rPr lang="en-US" altLang="zh-CN" sz="1200">
                <a:latin typeface="Times New Roman" pitchFamily="18" charset="0"/>
              </a:rPr>
              <a:t/>
            </a:r>
            <a:br>
              <a:rPr lang="en-US" altLang="zh-CN" sz="1200">
                <a:latin typeface="Times New Roman" pitchFamily="18" charset="0"/>
              </a:rPr>
            </a:br>
            <a:r>
              <a:rPr lang="en-US" altLang="zh-CN" sz="1200">
                <a:latin typeface="Times New Roman" pitchFamily="18" charset="0"/>
              </a:rPr>
              <a:t>ByteBuffer</a:t>
            </a:r>
          </a:p>
        </p:txBody>
      </p:sp>
      <p:sp>
        <p:nvSpPr>
          <p:cNvPr id="122899" name="Rectangle 20"/>
          <p:cNvSpPr>
            <a:spLocks noChangeArrowheads="1"/>
          </p:cNvSpPr>
          <p:nvPr/>
        </p:nvSpPr>
        <p:spPr bwMode="auto">
          <a:xfrm>
            <a:off x="8610600" y="2438400"/>
            <a:ext cx="838200" cy="838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800">
                <a:latin typeface="Times New Roman" pitchFamily="18" charset="0"/>
              </a:rPr>
              <a:t>4KB</a:t>
            </a:r>
            <a:r>
              <a:rPr lang="en-US" altLang="zh-CN" sz="1200">
                <a:latin typeface="Times New Roman" pitchFamily="18" charset="0"/>
              </a:rPr>
              <a:t/>
            </a:r>
            <a:br>
              <a:rPr lang="en-US" altLang="zh-CN" sz="1200">
                <a:latin typeface="Times New Roman" pitchFamily="18" charset="0"/>
              </a:rPr>
            </a:br>
            <a:r>
              <a:rPr lang="en-US" altLang="zh-CN" sz="1200">
                <a:latin typeface="Times New Roman" pitchFamily="18" charset="0"/>
              </a:rPr>
              <a:t>ByteBuffer</a:t>
            </a:r>
          </a:p>
        </p:txBody>
      </p:sp>
      <p:sp>
        <p:nvSpPr>
          <p:cNvPr id="122900" name="Rectangle 21"/>
          <p:cNvSpPr>
            <a:spLocks noChangeArrowheads="1"/>
          </p:cNvSpPr>
          <p:nvPr/>
        </p:nvSpPr>
        <p:spPr bwMode="auto">
          <a:xfrm>
            <a:off x="8610600" y="3276600"/>
            <a:ext cx="838200" cy="838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800">
                <a:latin typeface="Times New Roman" pitchFamily="18" charset="0"/>
              </a:rPr>
              <a:t>4KB</a:t>
            </a:r>
            <a:r>
              <a:rPr lang="en-US" altLang="zh-CN" sz="1200">
                <a:latin typeface="Times New Roman" pitchFamily="18" charset="0"/>
              </a:rPr>
              <a:t/>
            </a:r>
            <a:br>
              <a:rPr lang="en-US" altLang="zh-CN" sz="1200">
                <a:latin typeface="Times New Roman" pitchFamily="18" charset="0"/>
              </a:rPr>
            </a:br>
            <a:r>
              <a:rPr lang="en-US" altLang="zh-CN" sz="1200">
                <a:latin typeface="Times New Roman" pitchFamily="18" charset="0"/>
              </a:rPr>
              <a:t>ByteBuffer</a:t>
            </a:r>
          </a:p>
        </p:txBody>
      </p:sp>
      <p:sp>
        <p:nvSpPr>
          <p:cNvPr id="122901" name="Rectangle 22"/>
          <p:cNvSpPr>
            <a:spLocks noChangeArrowheads="1"/>
          </p:cNvSpPr>
          <p:nvPr/>
        </p:nvSpPr>
        <p:spPr bwMode="auto">
          <a:xfrm>
            <a:off x="8610600" y="4114800"/>
            <a:ext cx="838200" cy="838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800">
                <a:latin typeface="Times New Roman" pitchFamily="18" charset="0"/>
              </a:rPr>
              <a:t>4KB</a:t>
            </a:r>
            <a:r>
              <a:rPr lang="en-US" altLang="zh-CN" sz="1200">
                <a:latin typeface="Times New Roman" pitchFamily="18" charset="0"/>
              </a:rPr>
              <a:t/>
            </a:r>
            <a:br>
              <a:rPr lang="en-US" altLang="zh-CN" sz="1200">
                <a:latin typeface="Times New Roman" pitchFamily="18" charset="0"/>
              </a:rPr>
            </a:br>
            <a:r>
              <a:rPr lang="en-US" altLang="zh-CN" sz="1200">
                <a:latin typeface="Times New Roman" pitchFamily="18" charset="0"/>
              </a:rPr>
              <a:t>ByteBuffer</a:t>
            </a:r>
          </a:p>
        </p:txBody>
      </p:sp>
      <p:sp>
        <p:nvSpPr>
          <p:cNvPr id="122902" name="Rectangle 23"/>
          <p:cNvSpPr>
            <a:spLocks noChangeArrowheads="1"/>
          </p:cNvSpPr>
          <p:nvPr/>
        </p:nvSpPr>
        <p:spPr bwMode="auto">
          <a:xfrm>
            <a:off x="8610600" y="4953000"/>
            <a:ext cx="838200" cy="838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800">
                <a:latin typeface="Times New Roman" pitchFamily="18" charset="0"/>
              </a:rPr>
              <a:t>4KB</a:t>
            </a:r>
            <a:r>
              <a:rPr lang="en-US" altLang="zh-CN" sz="1200">
                <a:latin typeface="Times New Roman" pitchFamily="18" charset="0"/>
              </a:rPr>
              <a:t/>
            </a:r>
            <a:br>
              <a:rPr lang="en-US" altLang="zh-CN" sz="1200">
                <a:latin typeface="Times New Roman" pitchFamily="18" charset="0"/>
              </a:rPr>
            </a:br>
            <a:r>
              <a:rPr lang="en-US" altLang="zh-CN" sz="1200">
                <a:latin typeface="Times New Roman" pitchFamily="18" charset="0"/>
              </a:rPr>
              <a:t>ByteBuffer</a:t>
            </a:r>
          </a:p>
        </p:txBody>
      </p:sp>
      <p:sp>
        <p:nvSpPr>
          <p:cNvPr id="122903" name="AutoShape 24"/>
          <p:cNvSpPr>
            <a:spLocks/>
          </p:cNvSpPr>
          <p:nvPr/>
        </p:nvSpPr>
        <p:spPr bwMode="auto">
          <a:xfrm rot="-5400000">
            <a:off x="7200900" y="38100"/>
            <a:ext cx="381000" cy="4267200"/>
          </a:xfrm>
          <a:prstGeom prst="rightBrace">
            <a:avLst>
              <a:gd name="adj1" fmla="val 93333"/>
              <a:gd name="adj2" fmla="val 58329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22904" name="Rectangle 25"/>
          <p:cNvSpPr>
            <a:spLocks noChangeArrowheads="1"/>
          </p:cNvSpPr>
          <p:nvPr/>
        </p:nvSpPr>
        <p:spPr bwMode="auto">
          <a:xfrm>
            <a:off x="6400800" y="1600200"/>
            <a:ext cx="2514600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2400">
                <a:latin typeface="Times New Roman" pitchFamily="18" charset="0"/>
                <a:ea typeface="宋体" charset="-122"/>
              </a:rPr>
              <a:t>共</a:t>
            </a:r>
            <a:r>
              <a:rPr lang="en-US" altLang="zh-CN" sz="2400">
                <a:latin typeface="Times New Roman" pitchFamily="18" charset="0"/>
                <a:ea typeface="宋体" charset="-122"/>
              </a:rPr>
              <a:t>16MB</a:t>
            </a:r>
          </a:p>
        </p:txBody>
      </p:sp>
      <p:sp>
        <p:nvSpPr>
          <p:cNvPr id="122905" name="Rectangle 26"/>
          <p:cNvSpPr>
            <a:spLocks noChangeArrowheads="1"/>
          </p:cNvSpPr>
          <p:nvPr/>
        </p:nvSpPr>
        <p:spPr bwMode="auto">
          <a:xfrm>
            <a:off x="6705600" y="5791200"/>
            <a:ext cx="1382713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/>
              <a:t>Buffer Pool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latin typeface="微软雅黑"/>
                <a:ea typeface="微软雅黑"/>
                <a:cs typeface="微软雅黑"/>
              </a:rPr>
              <a:t>Cobar </a:t>
            </a:r>
            <a:r>
              <a:rPr lang="zh-CN" altLang="en-US" smtClean="0">
                <a:latin typeface="微软雅黑"/>
                <a:ea typeface="微软雅黑"/>
                <a:cs typeface="微软雅黑"/>
              </a:rPr>
              <a:t>通信层</a:t>
            </a:r>
          </a:p>
        </p:txBody>
      </p:sp>
      <p:sp>
        <p:nvSpPr>
          <p:cNvPr id="12390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latin typeface="微软雅黑"/>
                <a:ea typeface="微软雅黑"/>
                <a:cs typeface="微软雅黑"/>
              </a:rPr>
              <a:t>统一管理</a:t>
            </a:r>
            <a:r>
              <a:rPr lang="en-US" altLang="zh-CN" smtClean="0">
                <a:latin typeface="微软雅黑"/>
                <a:ea typeface="微软雅黑"/>
                <a:cs typeface="微软雅黑"/>
              </a:rPr>
              <a:t>NIO</a:t>
            </a:r>
            <a:r>
              <a:rPr lang="zh-CN" altLang="en-US" smtClean="0">
                <a:latin typeface="微软雅黑"/>
                <a:ea typeface="微软雅黑"/>
                <a:cs typeface="微软雅黑"/>
              </a:rPr>
              <a:t>的</a:t>
            </a:r>
            <a:r>
              <a:rPr lang="en-US" altLang="zh-CN" smtClean="0">
                <a:latin typeface="微软雅黑"/>
                <a:ea typeface="微软雅黑"/>
                <a:cs typeface="微软雅黑"/>
              </a:rPr>
              <a:t>Buffer</a:t>
            </a:r>
          </a:p>
        </p:txBody>
      </p:sp>
      <p:sp>
        <p:nvSpPr>
          <p:cNvPr id="123907" name="Rectangle 4"/>
          <p:cNvSpPr>
            <a:spLocks noChangeArrowheads="1"/>
          </p:cNvSpPr>
          <p:nvPr/>
        </p:nvSpPr>
        <p:spPr bwMode="auto">
          <a:xfrm>
            <a:off x="5257800" y="2438400"/>
            <a:ext cx="838200" cy="838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800">
                <a:latin typeface="Times New Roman" pitchFamily="18" charset="0"/>
              </a:rPr>
              <a:t>4KB</a:t>
            </a:r>
            <a:r>
              <a:rPr lang="en-US" altLang="zh-CN" sz="1200">
                <a:latin typeface="Times New Roman" pitchFamily="18" charset="0"/>
              </a:rPr>
              <a:t/>
            </a:r>
            <a:br>
              <a:rPr lang="en-US" altLang="zh-CN" sz="1200">
                <a:latin typeface="Times New Roman" pitchFamily="18" charset="0"/>
              </a:rPr>
            </a:br>
            <a:r>
              <a:rPr lang="en-US" altLang="zh-CN" sz="1200">
                <a:latin typeface="Times New Roman" pitchFamily="18" charset="0"/>
              </a:rPr>
              <a:t>ByteBuffer</a:t>
            </a:r>
          </a:p>
        </p:txBody>
      </p:sp>
      <p:sp>
        <p:nvSpPr>
          <p:cNvPr id="123908" name="Rectangle 5"/>
          <p:cNvSpPr>
            <a:spLocks noChangeArrowheads="1"/>
          </p:cNvSpPr>
          <p:nvPr/>
        </p:nvSpPr>
        <p:spPr bwMode="auto">
          <a:xfrm>
            <a:off x="6096000" y="2438400"/>
            <a:ext cx="838200" cy="838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800">
                <a:latin typeface="Times New Roman" pitchFamily="18" charset="0"/>
              </a:rPr>
              <a:t>4KB</a:t>
            </a:r>
            <a:r>
              <a:rPr lang="en-US" altLang="zh-CN" sz="1200">
                <a:latin typeface="Times New Roman" pitchFamily="18" charset="0"/>
              </a:rPr>
              <a:t/>
            </a:r>
            <a:br>
              <a:rPr lang="en-US" altLang="zh-CN" sz="1200">
                <a:latin typeface="Times New Roman" pitchFamily="18" charset="0"/>
              </a:rPr>
            </a:br>
            <a:r>
              <a:rPr lang="en-US" altLang="zh-CN" sz="1200">
                <a:latin typeface="Times New Roman" pitchFamily="18" charset="0"/>
              </a:rPr>
              <a:t>ByteBuffer</a:t>
            </a:r>
          </a:p>
        </p:txBody>
      </p:sp>
      <p:sp>
        <p:nvSpPr>
          <p:cNvPr id="123909" name="Rectangle 6"/>
          <p:cNvSpPr>
            <a:spLocks noChangeArrowheads="1"/>
          </p:cNvSpPr>
          <p:nvPr/>
        </p:nvSpPr>
        <p:spPr bwMode="auto">
          <a:xfrm>
            <a:off x="6934200" y="2438400"/>
            <a:ext cx="838200" cy="838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800">
                <a:latin typeface="Times New Roman" pitchFamily="18" charset="0"/>
              </a:rPr>
              <a:t>4KB</a:t>
            </a:r>
            <a:r>
              <a:rPr lang="en-US" altLang="zh-CN" sz="1200">
                <a:latin typeface="Times New Roman" pitchFamily="18" charset="0"/>
              </a:rPr>
              <a:t/>
            </a:r>
            <a:br>
              <a:rPr lang="en-US" altLang="zh-CN" sz="1200">
                <a:latin typeface="Times New Roman" pitchFamily="18" charset="0"/>
              </a:rPr>
            </a:br>
            <a:r>
              <a:rPr lang="en-US" altLang="zh-CN" sz="1200">
                <a:latin typeface="Times New Roman" pitchFamily="18" charset="0"/>
              </a:rPr>
              <a:t>ByteBuffer</a:t>
            </a:r>
          </a:p>
        </p:txBody>
      </p:sp>
      <p:sp>
        <p:nvSpPr>
          <p:cNvPr id="123910" name="Rectangle 7"/>
          <p:cNvSpPr>
            <a:spLocks noChangeArrowheads="1"/>
          </p:cNvSpPr>
          <p:nvPr/>
        </p:nvSpPr>
        <p:spPr bwMode="auto">
          <a:xfrm>
            <a:off x="7772400" y="2438400"/>
            <a:ext cx="838200" cy="838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800">
                <a:latin typeface="Times New Roman" pitchFamily="18" charset="0"/>
              </a:rPr>
              <a:t>4KB</a:t>
            </a:r>
            <a:r>
              <a:rPr lang="en-US" altLang="zh-CN" sz="1200">
                <a:latin typeface="Times New Roman" pitchFamily="18" charset="0"/>
              </a:rPr>
              <a:t/>
            </a:r>
            <a:br>
              <a:rPr lang="en-US" altLang="zh-CN" sz="1200">
                <a:latin typeface="Times New Roman" pitchFamily="18" charset="0"/>
              </a:rPr>
            </a:br>
            <a:r>
              <a:rPr lang="en-US" altLang="zh-CN" sz="1200">
                <a:latin typeface="Times New Roman" pitchFamily="18" charset="0"/>
              </a:rPr>
              <a:t>ByteBuffer</a:t>
            </a:r>
          </a:p>
        </p:txBody>
      </p:sp>
      <p:sp>
        <p:nvSpPr>
          <p:cNvPr id="123911" name="Rectangle 8"/>
          <p:cNvSpPr>
            <a:spLocks noChangeArrowheads="1"/>
          </p:cNvSpPr>
          <p:nvPr/>
        </p:nvSpPr>
        <p:spPr bwMode="auto">
          <a:xfrm>
            <a:off x="1828800" y="3276600"/>
            <a:ext cx="838200" cy="838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800">
                <a:latin typeface="Times New Roman" pitchFamily="18" charset="0"/>
              </a:rPr>
              <a:t>4KB</a:t>
            </a:r>
            <a:r>
              <a:rPr lang="en-US" altLang="zh-CN" sz="1200">
                <a:latin typeface="Times New Roman" pitchFamily="18" charset="0"/>
              </a:rPr>
              <a:t/>
            </a:r>
            <a:br>
              <a:rPr lang="en-US" altLang="zh-CN" sz="1200">
                <a:latin typeface="Times New Roman" pitchFamily="18" charset="0"/>
              </a:rPr>
            </a:br>
            <a:r>
              <a:rPr lang="en-US" altLang="zh-CN" sz="1200">
                <a:latin typeface="Times New Roman" pitchFamily="18" charset="0"/>
              </a:rPr>
              <a:t>ByteBuffer</a:t>
            </a:r>
          </a:p>
        </p:txBody>
      </p:sp>
      <p:sp>
        <p:nvSpPr>
          <p:cNvPr id="123912" name="Rectangle 9"/>
          <p:cNvSpPr>
            <a:spLocks noChangeArrowheads="1"/>
          </p:cNvSpPr>
          <p:nvPr/>
        </p:nvSpPr>
        <p:spPr bwMode="auto">
          <a:xfrm>
            <a:off x="6096000" y="3276600"/>
            <a:ext cx="838200" cy="838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800">
                <a:latin typeface="Times New Roman" pitchFamily="18" charset="0"/>
              </a:rPr>
              <a:t>4KB</a:t>
            </a:r>
            <a:r>
              <a:rPr lang="en-US" altLang="zh-CN" sz="1200">
                <a:latin typeface="Times New Roman" pitchFamily="18" charset="0"/>
              </a:rPr>
              <a:t/>
            </a:r>
            <a:br>
              <a:rPr lang="en-US" altLang="zh-CN" sz="1200">
                <a:latin typeface="Times New Roman" pitchFamily="18" charset="0"/>
              </a:rPr>
            </a:br>
            <a:r>
              <a:rPr lang="en-US" altLang="zh-CN" sz="1200">
                <a:latin typeface="Times New Roman" pitchFamily="18" charset="0"/>
              </a:rPr>
              <a:t>ByteBuffer</a:t>
            </a:r>
          </a:p>
        </p:txBody>
      </p:sp>
      <p:sp>
        <p:nvSpPr>
          <p:cNvPr id="123913" name="Rectangle 10"/>
          <p:cNvSpPr>
            <a:spLocks noChangeArrowheads="1"/>
          </p:cNvSpPr>
          <p:nvPr/>
        </p:nvSpPr>
        <p:spPr bwMode="auto">
          <a:xfrm>
            <a:off x="6934200" y="3276600"/>
            <a:ext cx="838200" cy="838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800">
                <a:latin typeface="Times New Roman" pitchFamily="18" charset="0"/>
              </a:rPr>
              <a:t>4KB</a:t>
            </a:r>
            <a:r>
              <a:rPr lang="en-US" altLang="zh-CN" sz="1200">
                <a:latin typeface="Times New Roman" pitchFamily="18" charset="0"/>
              </a:rPr>
              <a:t/>
            </a:r>
            <a:br>
              <a:rPr lang="en-US" altLang="zh-CN" sz="1200">
                <a:latin typeface="Times New Roman" pitchFamily="18" charset="0"/>
              </a:rPr>
            </a:br>
            <a:r>
              <a:rPr lang="en-US" altLang="zh-CN" sz="1200">
                <a:latin typeface="Times New Roman" pitchFamily="18" charset="0"/>
              </a:rPr>
              <a:t>ByteBuffer</a:t>
            </a:r>
          </a:p>
        </p:txBody>
      </p:sp>
      <p:sp>
        <p:nvSpPr>
          <p:cNvPr id="123914" name="Rectangle 11"/>
          <p:cNvSpPr>
            <a:spLocks noChangeArrowheads="1"/>
          </p:cNvSpPr>
          <p:nvPr/>
        </p:nvSpPr>
        <p:spPr bwMode="auto">
          <a:xfrm>
            <a:off x="7772400" y="3276600"/>
            <a:ext cx="838200" cy="838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800">
                <a:latin typeface="Times New Roman" pitchFamily="18" charset="0"/>
              </a:rPr>
              <a:t>4KB</a:t>
            </a:r>
            <a:r>
              <a:rPr lang="en-US" altLang="zh-CN" sz="1200">
                <a:latin typeface="Times New Roman" pitchFamily="18" charset="0"/>
              </a:rPr>
              <a:t/>
            </a:r>
            <a:br>
              <a:rPr lang="en-US" altLang="zh-CN" sz="1200">
                <a:latin typeface="Times New Roman" pitchFamily="18" charset="0"/>
              </a:rPr>
            </a:br>
            <a:r>
              <a:rPr lang="en-US" altLang="zh-CN" sz="1200">
                <a:latin typeface="Times New Roman" pitchFamily="18" charset="0"/>
              </a:rPr>
              <a:t>ByteBuffer</a:t>
            </a:r>
          </a:p>
        </p:txBody>
      </p:sp>
      <p:sp>
        <p:nvSpPr>
          <p:cNvPr id="123915" name="Rectangle 12"/>
          <p:cNvSpPr>
            <a:spLocks noChangeArrowheads="1"/>
          </p:cNvSpPr>
          <p:nvPr/>
        </p:nvSpPr>
        <p:spPr bwMode="auto">
          <a:xfrm>
            <a:off x="5257800" y="4114800"/>
            <a:ext cx="838200" cy="838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800">
                <a:latin typeface="Times New Roman" pitchFamily="18" charset="0"/>
              </a:rPr>
              <a:t>4KB</a:t>
            </a:r>
            <a:r>
              <a:rPr lang="en-US" altLang="zh-CN" sz="1200">
                <a:latin typeface="Times New Roman" pitchFamily="18" charset="0"/>
              </a:rPr>
              <a:t/>
            </a:r>
            <a:br>
              <a:rPr lang="en-US" altLang="zh-CN" sz="1200">
                <a:latin typeface="Times New Roman" pitchFamily="18" charset="0"/>
              </a:rPr>
            </a:br>
            <a:r>
              <a:rPr lang="en-US" altLang="zh-CN" sz="1200">
                <a:latin typeface="Times New Roman" pitchFamily="18" charset="0"/>
              </a:rPr>
              <a:t>ByteBuffer</a:t>
            </a:r>
          </a:p>
        </p:txBody>
      </p:sp>
      <p:sp>
        <p:nvSpPr>
          <p:cNvPr id="123916" name="Rectangle 13"/>
          <p:cNvSpPr>
            <a:spLocks noChangeArrowheads="1"/>
          </p:cNvSpPr>
          <p:nvPr/>
        </p:nvSpPr>
        <p:spPr bwMode="auto">
          <a:xfrm>
            <a:off x="990600" y="3276600"/>
            <a:ext cx="838200" cy="838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800">
                <a:latin typeface="Times New Roman" pitchFamily="18" charset="0"/>
              </a:rPr>
              <a:t>4KB</a:t>
            </a:r>
            <a:r>
              <a:rPr lang="en-US" altLang="zh-CN" sz="1200">
                <a:latin typeface="Times New Roman" pitchFamily="18" charset="0"/>
              </a:rPr>
              <a:t/>
            </a:r>
            <a:br>
              <a:rPr lang="en-US" altLang="zh-CN" sz="1200">
                <a:latin typeface="Times New Roman" pitchFamily="18" charset="0"/>
              </a:rPr>
            </a:br>
            <a:r>
              <a:rPr lang="en-US" altLang="zh-CN" sz="1200">
                <a:latin typeface="Times New Roman" pitchFamily="18" charset="0"/>
              </a:rPr>
              <a:t>ByteBuffer</a:t>
            </a:r>
          </a:p>
        </p:txBody>
      </p:sp>
      <p:sp>
        <p:nvSpPr>
          <p:cNvPr id="123917" name="Rectangle 14"/>
          <p:cNvSpPr>
            <a:spLocks noChangeArrowheads="1"/>
          </p:cNvSpPr>
          <p:nvPr/>
        </p:nvSpPr>
        <p:spPr bwMode="auto">
          <a:xfrm>
            <a:off x="3505200" y="3276600"/>
            <a:ext cx="838200" cy="838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800">
                <a:latin typeface="Times New Roman" pitchFamily="18" charset="0"/>
              </a:rPr>
              <a:t>4KB</a:t>
            </a:r>
            <a:r>
              <a:rPr lang="en-US" altLang="zh-CN" sz="1200">
                <a:latin typeface="Times New Roman" pitchFamily="18" charset="0"/>
              </a:rPr>
              <a:t/>
            </a:r>
            <a:br>
              <a:rPr lang="en-US" altLang="zh-CN" sz="1200">
                <a:latin typeface="Times New Roman" pitchFamily="18" charset="0"/>
              </a:rPr>
            </a:br>
            <a:r>
              <a:rPr lang="en-US" altLang="zh-CN" sz="1200">
                <a:latin typeface="Times New Roman" pitchFamily="18" charset="0"/>
              </a:rPr>
              <a:t>ByteBuffer</a:t>
            </a:r>
          </a:p>
        </p:txBody>
      </p:sp>
      <p:sp>
        <p:nvSpPr>
          <p:cNvPr id="123918" name="Rectangle 15"/>
          <p:cNvSpPr>
            <a:spLocks noChangeArrowheads="1"/>
          </p:cNvSpPr>
          <p:nvPr/>
        </p:nvSpPr>
        <p:spPr bwMode="auto">
          <a:xfrm>
            <a:off x="7772400" y="4114800"/>
            <a:ext cx="838200" cy="838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800">
                <a:latin typeface="Times New Roman" pitchFamily="18" charset="0"/>
              </a:rPr>
              <a:t>4KB</a:t>
            </a:r>
            <a:r>
              <a:rPr lang="en-US" altLang="zh-CN" sz="1200">
                <a:latin typeface="Times New Roman" pitchFamily="18" charset="0"/>
              </a:rPr>
              <a:t/>
            </a:r>
            <a:br>
              <a:rPr lang="en-US" altLang="zh-CN" sz="1200">
                <a:latin typeface="Times New Roman" pitchFamily="18" charset="0"/>
              </a:rPr>
            </a:br>
            <a:r>
              <a:rPr lang="en-US" altLang="zh-CN" sz="1200">
                <a:latin typeface="Times New Roman" pitchFamily="18" charset="0"/>
              </a:rPr>
              <a:t>ByteBuffer</a:t>
            </a:r>
          </a:p>
        </p:txBody>
      </p:sp>
      <p:sp>
        <p:nvSpPr>
          <p:cNvPr id="123919" name="Rectangle 16"/>
          <p:cNvSpPr>
            <a:spLocks noChangeArrowheads="1"/>
          </p:cNvSpPr>
          <p:nvPr/>
        </p:nvSpPr>
        <p:spPr bwMode="auto">
          <a:xfrm>
            <a:off x="5257800" y="4953000"/>
            <a:ext cx="838200" cy="838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800">
                <a:latin typeface="Times New Roman" pitchFamily="18" charset="0"/>
              </a:rPr>
              <a:t>4KB</a:t>
            </a:r>
            <a:r>
              <a:rPr lang="en-US" altLang="zh-CN" sz="1200">
                <a:latin typeface="Times New Roman" pitchFamily="18" charset="0"/>
              </a:rPr>
              <a:t/>
            </a:r>
            <a:br>
              <a:rPr lang="en-US" altLang="zh-CN" sz="1200">
                <a:latin typeface="Times New Roman" pitchFamily="18" charset="0"/>
              </a:rPr>
            </a:br>
            <a:r>
              <a:rPr lang="en-US" altLang="zh-CN" sz="1200">
                <a:latin typeface="Times New Roman" pitchFamily="18" charset="0"/>
              </a:rPr>
              <a:t>ByteBuffer</a:t>
            </a:r>
          </a:p>
        </p:txBody>
      </p:sp>
      <p:sp>
        <p:nvSpPr>
          <p:cNvPr id="123920" name="Rectangle 17"/>
          <p:cNvSpPr>
            <a:spLocks noChangeArrowheads="1"/>
          </p:cNvSpPr>
          <p:nvPr/>
        </p:nvSpPr>
        <p:spPr bwMode="auto">
          <a:xfrm>
            <a:off x="2667000" y="3276600"/>
            <a:ext cx="838200" cy="838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800">
                <a:latin typeface="Times New Roman" pitchFamily="18" charset="0"/>
              </a:rPr>
              <a:t>4KB</a:t>
            </a:r>
            <a:r>
              <a:rPr lang="en-US" altLang="zh-CN" sz="1200">
                <a:latin typeface="Times New Roman" pitchFamily="18" charset="0"/>
              </a:rPr>
              <a:t/>
            </a:r>
            <a:br>
              <a:rPr lang="en-US" altLang="zh-CN" sz="1200">
                <a:latin typeface="Times New Roman" pitchFamily="18" charset="0"/>
              </a:rPr>
            </a:br>
            <a:r>
              <a:rPr lang="en-US" altLang="zh-CN" sz="1200">
                <a:latin typeface="Times New Roman" pitchFamily="18" charset="0"/>
              </a:rPr>
              <a:t>ByteBuffer</a:t>
            </a:r>
          </a:p>
        </p:txBody>
      </p:sp>
      <p:sp>
        <p:nvSpPr>
          <p:cNvPr id="123921" name="Rectangle 18"/>
          <p:cNvSpPr>
            <a:spLocks noChangeArrowheads="1"/>
          </p:cNvSpPr>
          <p:nvPr/>
        </p:nvSpPr>
        <p:spPr bwMode="auto">
          <a:xfrm>
            <a:off x="6934200" y="4953000"/>
            <a:ext cx="838200" cy="838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800">
                <a:latin typeface="Times New Roman" pitchFamily="18" charset="0"/>
              </a:rPr>
              <a:t>4KB</a:t>
            </a:r>
            <a:r>
              <a:rPr lang="en-US" altLang="zh-CN" sz="1200">
                <a:latin typeface="Times New Roman" pitchFamily="18" charset="0"/>
              </a:rPr>
              <a:t/>
            </a:r>
            <a:br>
              <a:rPr lang="en-US" altLang="zh-CN" sz="1200">
                <a:latin typeface="Times New Roman" pitchFamily="18" charset="0"/>
              </a:rPr>
            </a:br>
            <a:r>
              <a:rPr lang="en-US" altLang="zh-CN" sz="1200">
                <a:latin typeface="Times New Roman" pitchFamily="18" charset="0"/>
              </a:rPr>
              <a:t>ByteBuffer</a:t>
            </a:r>
          </a:p>
        </p:txBody>
      </p:sp>
      <p:sp>
        <p:nvSpPr>
          <p:cNvPr id="123922" name="Rectangle 19"/>
          <p:cNvSpPr>
            <a:spLocks noChangeArrowheads="1"/>
          </p:cNvSpPr>
          <p:nvPr/>
        </p:nvSpPr>
        <p:spPr bwMode="auto">
          <a:xfrm>
            <a:off x="7772400" y="4953000"/>
            <a:ext cx="838200" cy="838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800">
                <a:latin typeface="Times New Roman" pitchFamily="18" charset="0"/>
              </a:rPr>
              <a:t>4KB</a:t>
            </a:r>
            <a:r>
              <a:rPr lang="en-US" altLang="zh-CN" sz="1200">
                <a:latin typeface="Times New Roman" pitchFamily="18" charset="0"/>
              </a:rPr>
              <a:t/>
            </a:r>
            <a:br>
              <a:rPr lang="en-US" altLang="zh-CN" sz="1200">
                <a:latin typeface="Times New Roman" pitchFamily="18" charset="0"/>
              </a:rPr>
            </a:br>
            <a:r>
              <a:rPr lang="en-US" altLang="zh-CN" sz="1200">
                <a:latin typeface="Times New Roman" pitchFamily="18" charset="0"/>
              </a:rPr>
              <a:t>ByteBuffer</a:t>
            </a:r>
          </a:p>
        </p:txBody>
      </p:sp>
      <p:sp>
        <p:nvSpPr>
          <p:cNvPr id="123923" name="Rectangle 20"/>
          <p:cNvSpPr>
            <a:spLocks noChangeArrowheads="1"/>
          </p:cNvSpPr>
          <p:nvPr/>
        </p:nvSpPr>
        <p:spPr bwMode="auto">
          <a:xfrm>
            <a:off x="8610600" y="2438400"/>
            <a:ext cx="838200" cy="838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800">
                <a:latin typeface="Times New Roman" pitchFamily="18" charset="0"/>
              </a:rPr>
              <a:t>4KB</a:t>
            </a:r>
            <a:r>
              <a:rPr lang="en-US" altLang="zh-CN" sz="1200">
                <a:latin typeface="Times New Roman" pitchFamily="18" charset="0"/>
              </a:rPr>
              <a:t/>
            </a:r>
            <a:br>
              <a:rPr lang="en-US" altLang="zh-CN" sz="1200">
                <a:latin typeface="Times New Roman" pitchFamily="18" charset="0"/>
              </a:rPr>
            </a:br>
            <a:r>
              <a:rPr lang="en-US" altLang="zh-CN" sz="1200">
                <a:latin typeface="Times New Roman" pitchFamily="18" charset="0"/>
              </a:rPr>
              <a:t>ByteBuffer</a:t>
            </a:r>
          </a:p>
        </p:txBody>
      </p:sp>
      <p:sp>
        <p:nvSpPr>
          <p:cNvPr id="123924" name="Rectangle 21"/>
          <p:cNvSpPr>
            <a:spLocks noChangeArrowheads="1"/>
          </p:cNvSpPr>
          <p:nvPr/>
        </p:nvSpPr>
        <p:spPr bwMode="auto">
          <a:xfrm>
            <a:off x="8610600" y="3276600"/>
            <a:ext cx="838200" cy="838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800">
                <a:latin typeface="Times New Roman" pitchFamily="18" charset="0"/>
              </a:rPr>
              <a:t>4KB</a:t>
            </a:r>
            <a:r>
              <a:rPr lang="en-US" altLang="zh-CN" sz="1200">
                <a:latin typeface="Times New Roman" pitchFamily="18" charset="0"/>
              </a:rPr>
              <a:t/>
            </a:r>
            <a:br>
              <a:rPr lang="en-US" altLang="zh-CN" sz="1200">
                <a:latin typeface="Times New Roman" pitchFamily="18" charset="0"/>
              </a:rPr>
            </a:br>
            <a:r>
              <a:rPr lang="en-US" altLang="zh-CN" sz="1200">
                <a:latin typeface="Times New Roman" pitchFamily="18" charset="0"/>
              </a:rPr>
              <a:t>ByteBuffer</a:t>
            </a:r>
          </a:p>
        </p:txBody>
      </p:sp>
      <p:sp>
        <p:nvSpPr>
          <p:cNvPr id="123925" name="Rectangle 22"/>
          <p:cNvSpPr>
            <a:spLocks noChangeArrowheads="1"/>
          </p:cNvSpPr>
          <p:nvPr/>
        </p:nvSpPr>
        <p:spPr bwMode="auto">
          <a:xfrm>
            <a:off x="8610600" y="4114800"/>
            <a:ext cx="838200" cy="838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800">
                <a:latin typeface="Times New Roman" pitchFamily="18" charset="0"/>
              </a:rPr>
              <a:t>4KB</a:t>
            </a:r>
            <a:r>
              <a:rPr lang="en-US" altLang="zh-CN" sz="1200">
                <a:latin typeface="Times New Roman" pitchFamily="18" charset="0"/>
              </a:rPr>
              <a:t/>
            </a:r>
            <a:br>
              <a:rPr lang="en-US" altLang="zh-CN" sz="1200">
                <a:latin typeface="Times New Roman" pitchFamily="18" charset="0"/>
              </a:rPr>
            </a:br>
            <a:r>
              <a:rPr lang="en-US" altLang="zh-CN" sz="1200">
                <a:latin typeface="Times New Roman" pitchFamily="18" charset="0"/>
              </a:rPr>
              <a:t>ByteBuffer</a:t>
            </a:r>
          </a:p>
        </p:txBody>
      </p:sp>
      <p:sp>
        <p:nvSpPr>
          <p:cNvPr id="123926" name="Rectangle 23"/>
          <p:cNvSpPr>
            <a:spLocks noChangeArrowheads="1"/>
          </p:cNvSpPr>
          <p:nvPr/>
        </p:nvSpPr>
        <p:spPr bwMode="auto">
          <a:xfrm>
            <a:off x="8610600" y="4953000"/>
            <a:ext cx="838200" cy="838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800">
                <a:latin typeface="Times New Roman" pitchFamily="18" charset="0"/>
              </a:rPr>
              <a:t>4KB</a:t>
            </a:r>
            <a:r>
              <a:rPr lang="en-US" altLang="zh-CN" sz="1200">
                <a:latin typeface="Times New Roman" pitchFamily="18" charset="0"/>
              </a:rPr>
              <a:t/>
            </a:r>
            <a:br>
              <a:rPr lang="en-US" altLang="zh-CN" sz="1200">
                <a:latin typeface="Times New Roman" pitchFamily="18" charset="0"/>
              </a:rPr>
            </a:br>
            <a:r>
              <a:rPr lang="en-US" altLang="zh-CN" sz="1200">
                <a:latin typeface="Times New Roman" pitchFamily="18" charset="0"/>
              </a:rPr>
              <a:t>ByteBuffer</a:t>
            </a:r>
          </a:p>
        </p:txBody>
      </p:sp>
      <p:sp>
        <p:nvSpPr>
          <p:cNvPr id="123927" name="AutoShape 24"/>
          <p:cNvSpPr>
            <a:spLocks/>
          </p:cNvSpPr>
          <p:nvPr/>
        </p:nvSpPr>
        <p:spPr bwMode="auto">
          <a:xfrm rot="-5400000">
            <a:off x="7200900" y="38100"/>
            <a:ext cx="381000" cy="4267200"/>
          </a:xfrm>
          <a:prstGeom prst="rightBrace">
            <a:avLst>
              <a:gd name="adj1" fmla="val 93333"/>
              <a:gd name="adj2" fmla="val 58329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23928" name="Rectangle 25"/>
          <p:cNvSpPr>
            <a:spLocks noChangeArrowheads="1"/>
          </p:cNvSpPr>
          <p:nvPr/>
        </p:nvSpPr>
        <p:spPr bwMode="auto">
          <a:xfrm>
            <a:off x="6400800" y="1600200"/>
            <a:ext cx="2514600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2400">
                <a:latin typeface="Times New Roman" pitchFamily="18" charset="0"/>
                <a:ea typeface="宋体" charset="-122"/>
              </a:rPr>
              <a:t>共</a:t>
            </a:r>
            <a:r>
              <a:rPr lang="en-US" altLang="zh-CN" sz="2400">
                <a:latin typeface="Times New Roman" pitchFamily="18" charset="0"/>
                <a:ea typeface="宋体" charset="-122"/>
              </a:rPr>
              <a:t>16MB</a:t>
            </a:r>
          </a:p>
        </p:txBody>
      </p:sp>
      <p:sp>
        <p:nvSpPr>
          <p:cNvPr id="123929" name="Rectangle 26"/>
          <p:cNvSpPr>
            <a:spLocks noChangeArrowheads="1"/>
          </p:cNvSpPr>
          <p:nvPr/>
        </p:nvSpPr>
        <p:spPr bwMode="auto">
          <a:xfrm>
            <a:off x="6705600" y="5791200"/>
            <a:ext cx="1382713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/>
              <a:t>Buffer Pool</a:t>
            </a:r>
          </a:p>
        </p:txBody>
      </p:sp>
      <p:sp>
        <p:nvSpPr>
          <p:cNvPr id="123930" name="AutoShape 27"/>
          <p:cNvSpPr>
            <a:spLocks noChangeArrowheads="1"/>
          </p:cNvSpPr>
          <p:nvPr/>
        </p:nvSpPr>
        <p:spPr bwMode="auto">
          <a:xfrm>
            <a:off x="990600" y="3505200"/>
            <a:ext cx="3276600" cy="6096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400">
                <a:latin typeface="Courier New" pitchFamily="49" charset="0"/>
              </a:rPr>
              <a:t>&lt;</a:t>
            </a:r>
            <a:r>
              <a:rPr lang="en-US" altLang="zh-CN" sz="1400" b="1">
                <a:latin typeface="微软雅黑"/>
              </a:rPr>
              <a:t>QUERY</a:t>
            </a:r>
            <a:r>
              <a:rPr lang="en-US" altLang="zh-CN" sz="1400">
                <a:latin typeface="Courier New" pitchFamily="49" charset="0"/>
              </a:rPr>
              <a:t>&gt;</a:t>
            </a:r>
            <a:br>
              <a:rPr lang="en-US" altLang="zh-CN" sz="1400">
                <a:latin typeface="Courier New" pitchFamily="49" charset="0"/>
              </a:rPr>
            </a:br>
            <a:r>
              <a:rPr lang="en-US" altLang="zh-CN" sz="1400">
                <a:latin typeface="Courier New" pitchFamily="49" charset="0"/>
              </a:rPr>
              <a:t>select * from tb1 where id=?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latin typeface="微软雅黑"/>
                <a:ea typeface="微软雅黑"/>
                <a:cs typeface="微软雅黑"/>
              </a:rPr>
              <a:t>Cobar </a:t>
            </a:r>
            <a:r>
              <a:rPr lang="zh-CN" altLang="en-US" smtClean="0">
                <a:latin typeface="微软雅黑"/>
                <a:ea typeface="微软雅黑"/>
                <a:cs typeface="微软雅黑"/>
              </a:rPr>
              <a:t>通信层</a:t>
            </a:r>
          </a:p>
        </p:txBody>
      </p:sp>
      <p:sp>
        <p:nvSpPr>
          <p:cNvPr id="12493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latin typeface="微软雅黑"/>
                <a:ea typeface="微软雅黑"/>
                <a:cs typeface="微软雅黑"/>
              </a:rPr>
              <a:t>统一管理</a:t>
            </a:r>
            <a:r>
              <a:rPr lang="en-US" altLang="zh-CN" smtClean="0">
                <a:latin typeface="微软雅黑"/>
                <a:ea typeface="微软雅黑"/>
                <a:cs typeface="微软雅黑"/>
              </a:rPr>
              <a:t>NIO</a:t>
            </a:r>
            <a:r>
              <a:rPr lang="zh-CN" altLang="en-US" smtClean="0">
                <a:latin typeface="微软雅黑"/>
                <a:ea typeface="微软雅黑"/>
                <a:cs typeface="微软雅黑"/>
              </a:rPr>
              <a:t>的</a:t>
            </a:r>
            <a:r>
              <a:rPr lang="en-US" altLang="zh-CN" smtClean="0">
                <a:latin typeface="微软雅黑"/>
                <a:ea typeface="微软雅黑"/>
                <a:cs typeface="微软雅黑"/>
              </a:rPr>
              <a:t>Buffer</a:t>
            </a:r>
          </a:p>
        </p:txBody>
      </p:sp>
      <p:sp>
        <p:nvSpPr>
          <p:cNvPr id="124931" name="Rectangle 4"/>
          <p:cNvSpPr>
            <a:spLocks noChangeArrowheads="1"/>
          </p:cNvSpPr>
          <p:nvPr/>
        </p:nvSpPr>
        <p:spPr bwMode="auto">
          <a:xfrm>
            <a:off x="5257800" y="2438400"/>
            <a:ext cx="838200" cy="838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800">
                <a:latin typeface="Times New Roman" pitchFamily="18" charset="0"/>
              </a:rPr>
              <a:t>4KB</a:t>
            </a:r>
            <a:r>
              <a:rPr lang="en-US" altLang="zh-CN" sz="1200">
                <a:latin typeface="Times New Roman" pitchFamily="18" charset="0"/>
              </a:rPr>
              <a:t/>
            </a:r>
            <a:br>
              <a:rPr lang="en-US" altLang="zh-CN" sz="1200">
                <a:latin typeface="Times New Roman" pitchFamily="18" charset="0"/>
              </a:rPr>
            </a:br>
            <a:r>
              <a:rPr lang="en-US" altLang="zh-CN" sz="1200">
                <a:latin typeface="Times New Roman" pitchFamily="18" charset="0"/>
              </a:rPr>
              <a:t>ByteBuffer</a:t>
            </a:r>
          </a:p>
        </p:txBody>
      </p:sp>
      <p:sp>
        <p:nvSpPr>
          <p:cNvPr id="124932" name="Rectangle 5"/>
          <p:cNvSpPr>
            <a:spLocks noChangeArrowheads="1"/>
          </p:cNvSpPr>
          <p:nvPr/>
        </p:nvSpPr>
        <p:spPr bwMode="auto">
          <a:xfrm>
            <a:off x="6096000" y="2438400"/>
            <a:ext cx="838200" cy="838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800">
                <a:latin typeface="Times New Roman" pitchFamily="18" charset="0"/>
              </a:rPr>
              <a:t>4KB</a:t>
            </a:r>
            <a:r>
              <a:rPr lang="en-US" altLang="zh-CN" sz="1200">
                <a:latin typeface="Times New Roman" pitchFamily="18" charset="0"/>
              </a:rPr>
              <a:t/>
            </a:r>
            <a:br>
              <a:rPr lang="en-US" altLang="zh-CN" sz="1200">
                <a:latin typeface="Times New Roman" pitchFamily="18" charset="0"/>
              </a:rPr>
            </a:br>
            <a:r>
              <a:rPr lang="en-US" altLang="zh-CN" sz="1200">
                <a:latin typeface="Times New Roman" pitchFamily="18" charset="0"/>
              </a:rPr>
              <a:t>ByteBuffer</a:t>
            </a:r>
          </a:p>
        </p:txBody>
      </p:sp>
      <p:sp>
        <p:nvSpPr>
          <p:cNvPr id="124933" name="Rectangle 6"/>
          <p:cNvSpPr>
            <a:spLocks noChangeArrowheads="1"/>
          </p:cNvSpPr>
          <p:nvPr/>
        </p:nvSpPr>
        <p:spPr bwMode="auto">
          <a:xfrm>
            <a:off x="6934200" y="2438400"/>
            <a:ext cx="838200" cy="838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800">
                <a:latin typeface="Times New Roman" pitchFamily="18" charset="0"/>
              </a:rPr>
              <a:t>4KB</a:t>
            </a:r>
            <a:r>
              <a:rPr lang="en-US" altLang="zh-CN" sz="1200">
                <a:latin typeface="Times New Roman" pitchFamily="18" charset="0"/>
              </a:rPr>
              <a:t/>
            </a:r>
            <a:br>
              <a:rPr lang="en-US" altLang="zh-CN" sz="1200">
                <a:latin typeface="Times New Roman" pitchFamily="18" charset="0"/>
              </a:rPr>
            </a:br>
            <a:r>
              <a:rPr lang="en-US" altLang="zh-CN" sz="1200">
                <a:latin typeface="Times New Roman" pitchFamily="18" charset="0"/>
              </a:rPr>
              <a:t>ByteBuffer</a:t>
            </a:r>
          </a:p>
        </p:txBody>
      </p:sp>
      <p:sp>
        <p:nvSpPr>
          <p:cNvPr id="124934" name="Rectangle 7"/>
          <p:cNvSpPr>
            <a:spLocks noChangeArrowheads="1"/>
          </p:cNvSpPr>
          <p:nvPr/>
        </p:nvSpPr>
        <p:spPr bwMode="auto">
          <a:xfrm>
            <a:off x="7772400" y="2438400"/>
            <a:ext cx="838200" cy="838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800">
                <a:latin typeface="Times New Roman" pitchFamily="18" charset="0"/>
              </a:rPr>
              <a:t>4KB</a:t>
            </a:r>
            <a:r>
              <a:rPr lang="en-US" altLang="zh-CN" sz="1200">
                <a:latin typeface="Times New Roman" pitchFamily="18" charset="0"/>
              </a:rPr>
              <a:t/>
            </a:r>
            <a:br>
              <a:rPr lang="en-US" altLang="zh-CN" sz="1200">
                <a:latin typeface="Times New Roman" pitchFamily="18" charset="0"/>
              </a:rPr>
            </a:br>
            <a:r>
              <a:rPr lang="en-US" altLang="zh-CN" sz="1200">
                <a:latin typeface="Times New Roman" pitchFamily="18" charset="0"/>
              </a:rPr>
              <a:t>ByteBuffer</a:t>
            </a:r>
          </a:p>
        </p:txBody>
      </p:sp>
      <p:sp>
        <p:nvSpPr>
          <p:cNvPr id="124935" name="Rectangle 8"/>
          <p:cNvSpPr>
            <a:spLocks noChangeArrowheads="1"/>
          </p:cNvSpPr>
          <p:nvPr/>
        </p:nvSpPr>
        <p:spPr bwMode="auto">
          <a:xfrm>
            <a:off x="6096000" y="4114800"/>
            <a:ext cx="838200" cy="838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800">
                <a:latin typeface="Times New Roman" pitchFamily="18" charset="0"/>
              </a:rPr>
              <a:t>4KB</a:t>
            </a:r>
            <a:r>
              <a:rPr lang="en-US" altLang="zh-CN" sz="1200">
                <a:latin typeface="Times New Roman" pitchFamily="18" charset="0"/>
              </a:rPr>
              <a:t/>
            </a:r>
            <a:br>
              <a:rPr lang="en-US" altLang="zh-CN" sz="1200">
                <a:latin typeface="Times New Roman" pitchFamily="18" charset="0"/>
              </a:rPr>
            </a:br>
            <a:r>
              <a:rPr lang="en-US" altLang="zh-CN" sz="1200">
                <a:latin typeface="Times New Roman" pitchFamily="18" charset="0"/>
              </a:rPr>
              <a:t>ByteBuffer</a:t>
            </a:r>
          </a:p>
        </p:txBody>
      </p:sp>
      <p:sp>
        <p:nvSpPr>
          <p:cNvPr id="124936" name="Rectangle 9"/>
          <p:cNvSpPr>
            <a:spLocks noChangeArrowheads="1"/>
          </p:cNvSpPr>
          <p:nvPr/>
        </p:nvSpPr>
        <p:spPr bwMode="auto">
          <a:xfrm>
            <a:off x="6096000" y="3276600"/>
            <a:ext cx="838200" cy="838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800">
                <a:latin typeface="Times New Roman" pitchFamily="18" charset="0"/>
              </a:rPr>
              <a:t>4KB</a:t>
            </a:r>
            <a:r>
              <a:rPr lang="en-US" altLang="zh-CN" sz="1200">
                <a:latin typeface="Times New Roman" pitchFamily="18" charset="0"/>
              </a:rPr>
              <a:t/>
            </a:r>
            <a:br>
              <a:rPr lang="en-US" altLang="zh-CN" sz="1200">
                <a:latin typeface="Times New Roman" pitchFamily="18" charset="0"/>
              </a:rPr>
            </a:br>
            <a:r>
              <a:rPr lang="en-US" altLang="zh-CN" sz="1200">
                <a:latin typeface="Times New Roman" pitchFamily="18" charset="0"/>
              </a:rPr>
              <a:t>ByteBuffer</a:t>
            </a:r>
          </a:p>
        </p:txBody>
      </p:sp>
      <p:sp>
        <p:nvSpPr>
          <p:cNvPr id="124937" name="Rectangle 10"/>
          <p:cNvSpPr>
            <a:spLocks noChangeArrowheads="1"/>
          </p:cNvSpPr>
          <p:nvPr/>
        </p:nvSpPr>
        <p:spPr bwMode="auto">
          <a:xfrm>
            <a:off x="6934200" y="3276600"/>
            <a:ext cx="838200" cy="838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800">
                <a:latin typeface="Times New Roman" pitchFamily="18" charset="0"/>
              </a:rPr>
              <a:t>4KB</a:t>
            </a:r>
            <a:r>
              <a:rPr lang="en-US" altLang="zh-CN" sz="1200">
                <a:latin typeface="Times New Roman" pitchFamily="18" charset="0"/>
              </a:rPr>
              <a:t/>
            </a:r>
            <a:br>
              <a:rPr lang="en-US" altLang="zh-CN" sz="1200">
                <a:latin typeface="Times New Roman" pitchFamily="18" charset="0"/>
              </a:rPr>
            </a:br>
            <a:r>
              <a:rPr lang="en-US" altLang="zh-CN" sz="1200">
                <a:latin typeface="Times New Roman" pitchFamily="18" charset="0"/>
              </a:rPr>
              <a:t>ByteBuffer</a:t>
            </a:r>
          </a:p>
        </p:txBody>
      </p:sp>
      <p:sp>
        <p:nvSpPr>
          <p:cNvPr id="124938" name="Rectangle 11"/>
          <p:cNvSpPr>
            <a:spLocks noChangeArrowheads="1"/>
          </p:cNvSpPr>
          <p:nvPr/>
        </p:nvSpPr>
        <p:spPr bwMode="auto">
          <a:xfrm>
            <a:off x="7772400" y="3276600"/>
            <a:ext cx="838200" cy="838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800">
                <a:latin typeface="Times New Roman" pitchFamily="18" charset="0"/>
              </a:rPr>
              <a:t>4KB</a:t>
            </a:r>
            <a:r>
              <a:rPr lang="en-US" altLang="zh-CN" sz="1200">
                <a:latin typeface="Times New Roman" pitchFamily="18" charset="0"/>
              </a:rPr>
              <a:t/>
            </a:r>
            <a:br>
              <a:rPr lang="en-US" altLang="zh-CN" sz="1200">
                <a:latin typeface="Times New Roman" pitchFamily="18" charset="0"/>
              </a:rPr>
            </a:br>
            <a:r>
              <a:rPr lang="en-US" altLang="zh-CN" sz="1200">
                <a:latin typeface="Times New Roman" pitchFamily="18" charset="0"/>
              </a:rPr>
              <a:t>ByteBuffer</a:t>
            </a:r>
          </a:p>
        </p:txBody>
      </p:sp>
      <p:sp>
        <p:nvSpPr>
          <p:cNvPr id="124939" name="Rectangle 12"/>
          <p:cNvSpPr>
            <a:spLocks noChangeArrowheads="1"/>
          </p:cNvSpPr>
          <p:nvPr/>
        </p:nvSpPr>
        <p:spPr bwMode="auto">
          <a:xfrm>
            <a:off x="5257800" y="4114800"/>
            <a:ext cx="838200" cy="838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800">
                <a:latin typeface="Times New Roman" pitchFamily="18" charset="0"/>
              </a:rPr>
              <a:t>4KB</a:t>
            </a:r>
            <a:r>
              <a:rPr lang="en-US" altLang="zh-CN" sz="1200">
                <a:latin typeface="Times New Roman" pitchFamily="18" charset="0"/>
              </a:rPr>
              <a:t/>
            </a:r>
            <a:br>
              <a:rPr lang="en-US" altLang="zh-CN" sz="1200">
                <a:latin typeface="Times New Roman" pitchFamily="18" charset="0"/>
              </a:rPr>
            </a:br>
            <a:r>
              <a:rPr lang="en-US" altLang="zh-CN" sz="1200">
                <a:latin typeface="Times New Roman" pitchFamily="18" charset="0"/>
              </a:rPr>
              <a:t>ByteBuffer</a:t>
            </a:r>
          </a:p>
        </p:txBody>
      </p:sp>
      <p:sp>
        <p:nvSpPr>
          <p:cNvPr id="124940" name="Rectangle 13"/>
          <p:cNvSpPr>
            <a:spLocks noChangeArrowheads="1"/>
          </p:cNvSpPr>
          <p:nvPr/>
        </p:nvSpPr>
        <p:spPr bwMode="auto">
          <a:xfrm>
            <a:off x="6096000" y="4953000"/>
            <a:ext cx="838200" cy="838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800">
                <a:latin typeface="Times New Roman" pitchFamily="18" charset="0"/>
              </a:rPr>
              <a:t>4KB</a:t>
            </a:r>
            <a:r>
              <a:rPr lang="en-US" altLang="zh-CN" sz="1200">
                <a:latin typeface="Times New Roman" pitchFamily="18" charset="0"/>
              </a:rPr>
              <a:t/>
            </a:r>
            <a:br>
              <a:rPr lang="en-US" altLang="zh-CN" sz="1200">
                <a:latin typeface="Times New Roman" pitchFamily="18" charset="0"/>
              </a:rPr>
            </a:br>
            <a:r>
              <a:rPr lang="en-US" altLang="zh-CN" sz="1200">
                <a:latin typeface="Times New Roman" pitchFamily="18" charset="0"/>
              </a:rPr>
              <a:t>ByteBuffer</a:t>
            </a:r>
          </a:p>
        </p:txBody>
      </p:sp>
      <p:sp>
        <p:nvSpPr>
          <p:cNvPr id="124941" name="Rectangle 14"/>
          <p:cNvSpPr>
            <a:spLocks noChangeArrowheads="1"/>
          </p:cNvSpPr>
          <p:nvPr/>
        </p:nvSpPr>
        <p:spPr bwMode="auto">
          <a:xfrm>
            <a:off x="5257800" y="3276600"/>
            <a:ext cx="838200" cy="838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800">
                <a:latin typeface="Times New Roman" pitchFamily="18" charset="0"/>
              </a:rPr>
              <a:t>4KB</a:t>
            </a:r>
            <a:r>
              <a:rPr lang="en-US" altLang="zh-CN" sz="1200">
                <a:latin typeface="Times New Roman" pitchFamily="18" charset="0"/>
              </a:rPr>
              <a:t/>
            </a:r>
            <a:br>
              <a:rPr lang="en-US" altLang="zh-CN" sz="1200">
                <a:latin typeface="Times New Roman" pitchFamily="18" charset="0"/>
              </a:rPr>
            </a:br>
            <a:r>
              <a:rPr lang="en-US" altLang="zh-CN" sz="1200">
                <a:latin typeface="Times New Roman" pitchFamily="18" charset="0"/>
              </a:rPr>
              <a:t>ByteBuffer</a:t>
            </a:r>
          </a:p>
        </p:txBody>
      </p:sp>
      <p:sp>
        <p:nvSpPr>
          <p:cNvPr id="124942" name="Rectangle 15"/>
          <p:cNvSpPr>
            <a:spLocks noChangeArrowheads="1"/>
          </p:cNvSpPr>
          <p:nvPr/>
        </p:nvSpPr>
        <p:spPr bwMode="auto">
          <a:xfrm>
            <a:off x="7772400" y="4114800"/>
            <a:ext cx="838200" cy="838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800">
                <a:latin typeface="Times New Roman" pitchFamily="18" charset="0"/>
              </a:rPr>
              <a:t>4KB</a:t>
            </a:r>
            <a:r>
              <a:rPr lang="en-US" altLang="zh-CN" sz="1200">
                <a:latin typeface="Times New Roman" pitchFamily="18" charset="0"/>
              </a:rPr>
              <a:t/>
            </a:r>
            <a:br>
              <a:rPr lang="en-US" altLang="zh-CN" sz="1200">
                <a:latin typeface="Times New Roman" pitchFamily="18" charset="0"/>
              </a:rPr>
            </a:br>
            <a:r>
              <a:rPr lang="en-US" altLang="zh-CN" sz="1200">
                <a:latin typeface="Times New Roman" pitchFamily="18" charset="0"/>
              </a:rPr>
              <a:t>ByteBuffer</a:t>
            </a:r>
          </a:p>
        </p:txBody>
      </p:sp>
      <p:sp>
        <p:nvSpPr>
          <p:cNvPr id="124943" name="Rectangle 16"/>
          <p:cNvSpPr>
            <a:spLocks noChangeArrowheads="1"/>
          </p:cNvSpPr>
          <p:nvPr/>
        </p:nvSpPr>
        <p:spPr bwMode="auto">
          <a:xfrm>
            <a:off x="5257800" y="4953000"/>
            <a:ext cx="838200" cy="838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800">
                <a:latin typeface="Times New Roman" pitchFamily="18" charset="0"/>
              </a:rPr>
              <a:t>4KB</a:t>
            </a:r>
            <a:r>
              <a:rPr lang="en-US" altLang="zh-CN" sz="1200">
                <a:latin typeface="Times New Roman" pitchFamily="18" charset="0"/>
              </a:rPr>
              <a:t/>
            </a:r>
            <a:br>
              <a:rPr lang="en-US" altLang="zh-CN" sz="1200">
                <a:latin typeface="Times New Roman" pitchFamily="18" charset="0"/>
              </a:rPr>
            </a:br>
            <a:r>
              <a:rPr lang="en-US" altLang="zh-CN" sz="1200">
                <a:latin typeface="Times New Roman" pitchFamily="18" charset="0"/>
              </a:rPr>
              <a:t>ByteBuffer</a:t>
            </a:r>
          </a:p>
        </p:txBody>
      </p:sp>
      <p:sp>
        <p:nvSpPr>
          <p:cNvPr id="124944" name="Rectangle 17"/>
          <p:cNvSpPr>
            <a:spLocks noChangeArrowheads="1"/>
          </p:cNvSpPr>
          <p:nvPr/>
        </p:nvSpPr>
        <p:spPr bwMode="auto">
          <a:xfrm>
            <a:off x="6934200" y="4114800"/>
            <a:ext cx="838200" cy="838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800">
                <a:latin typeface="Times New Roman" pitchFamily="18" charset="0"/>
              </a:rPr>
              <a:t>4KB</a:t>
            </a:r>
            <a:r>
              <a:rPr lang="en-US" altLang="zh-CN" sz="1200">
                <a:latin typeface="Times New Roman" pitchFamily="18" charset="0"/>
              </a:rPr>
              <a:t/>
            </a:r>
            <a:br>
              <a:rPr lang="en-US" altLang="zh-CN" sz="1200">
                <a:latin typeface="Times New Roman" pitchFamily="18" charset="0"/>
              </a:rPr>
            </a:br>
            <a:r>
              <a:rPr lang="en-US" altLang="zh-CN" sz="1200">
                <a:latin typeface="Times New Roman" pitchFamily="18" charset="0"/>
              </a:rPr>
              <a:t>ByteBuffer</a:t>
            </a:r>
          </a:p>
        </p:txBody>
      </p:sp>
      <p:sp>
        <p:nvSpPr>
          <p:cNvPr id="124945" name="Rectangle 18"/>
          <p:cNvSpPr>
            <a:spLocks noChangeArrowheads="1"/>
          </p:cNvSpPr>
          <p:nvPr/>
        </p:nvSpPr>
        <p:spPr bwMode="auto">
          <a:xfrm>
            <a:off x="6934200" y="4953000"/>
            <a:ext cx="838200" cy="838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800">
                <a:latin typeface="Times New Roman" pitchFamily="18" charset="0"/>
              </a:rPr>
              <a:t>4KB</a:t>
            </a:r>
            <a:r>
              <a:rPr lang="en-US" altLang="zh-CN" sz="1200">
                <a:latin typeface="Times New Roman" pitchFamily="18" charset="0"/>
              </a:rPr>
              <a:t/>
            </a:r>
            <a:br>
              <a:rPr lang="en-US" altLang="zh-CN" sz="1200">
                <a:latin typeface="Times New Roman" pitchFamily="18" charset="0"/>
              </a:rPr>
            </a:br>
            <a:r>
              <a:rPr lang="en-US" altLang="zh-CN" sz="1200">
                <a:latin typeface="Times New Roman" pitchFamily="18" charset="0"/>
              </a:rPr>
              <a:t>ByteBuffer</a:t>
            </a:r>
          </a:p>
        </p:txBody>
      </p:sp>
      <p:sp>
        <p:nvSpPr>
          <p:cNvPr id="124946" name="Rectangle 19"/>
          <p:cNvSpPr>
            <a:spLocks noChangeArrowheads="1"/>
          </p:cNvSpPr>
          <p:nvPr/>
        </p:nvSpPr>
        <p:spPr bwMode="auto">
          <a:xfrm>
            <a:off x="7772400" y="4953000"/>
            <a:ext cx="838200" cy="838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800">
                <a:latin typeface="Times New Roman" pitchFamily="18" charset="0"/>
              </a:rPr>
              <a:t>4KB</a:t>
            </a:r>
            <a:r>
              <a:rPr lang="en-US" altLang="zh-CN" sz="1200">
                <a:latin typeface="Times New Roman" pitchFamily="18" charset="0"/>
              </a:rPr>
              <a:t/>
            </a:r>
            <a:br>
              <a:rPr lang="en-US" altLang="zh-CN" sz="1200">
                <a:latin typeface="Times New Roman" pitchFamily="18" charset="0"/>
              </a:rPr>
            </a:br>
            <a:r>
              <a:rPr lang="en-US" altLang="zh-CN" sz="1200">
                <a:latin typeface="Times New Roman" pitchFamily="18" charset="0"/>
              </a:rPr>
              <a:t>ByteBuffer</a:t>
            </a:r>
          </a:p>
        </p:txBody>
      </p:sp>
      <p:sp>
        <p:nvSpPr>
          <p:cNvPr id="124947" name="Rectangle 20"/>
          <p:cNvSpPr>
            <a:spLocks noChangeArrowheads="1"/>
          </p:cNvSpPr>
          <p:nvPr/>
        </p:nvSpPr>
        <p:spPr bwMode="auto">
          <a:xfrm>
            <a:off x="8610600" y="2438400"/>
            <a:ext cx="838200" cy="838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800">
                <a:latin typeface="Times New Roman" pitchFamily="18" charset="0"/>
              </a:rPr>
              <a:t>4KB</a:t>
            </a:r>
            <a:r>
              <a:rPr lang="en-US" altLang="zh-CN" sz="1200">
                <a:latin typeface="Times New Roman" pitchFamily="18" charset="0"/>
              </a:rPr>
              <a:t/>
            </a:r>
            <a:br>
              <a:rPr lang="en-US" altLang="zh-CN" sz="1200">
                <a:latin typeface="Times New Roman" pitchFamily="18" charset="0"/>
              </a:rPr>
            </a:br>
            <a:r>
              <a:rPr lang="en-US" altLang="zh-CN" sz="1200">
                <a:latin typeface="Times New Roman" pitchFamily="18" charset="0"/>
              </a:rPr>
              <a:t>ByteBuffer</a:t>
            </a:r>
          </a:p>
        </p:txBody>
      </p:sp>
      <p:sp>
        <p:nvSpPr>
          <p:cNvPr id="124948" name="Rectangle 21"/>
          <p:cNvSpPr>
            <a:spLocks noChangeArrowheads="1"/>
          </p:cNvSpPr>
          <p:nvPr/>
        </p:nvSpPr>
        <p:spPr bwMode="auto">
          <a:xfrm>
            <a:off x="8610600" y="3276600"/>
            <a:ext cx="838200" cy="838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800">
                <a:latin typeface="Times New Roman" pitchFamily="18" charset="0"/>
              </a:rPr>
              <a:t>4KB</a:t>
            </a:r>
            <a:r>
              <a:rPr lang="en-US" altLang="zh-CN" sz="1200">
                <a:latin typeface="Times New Roman" pitchFamily="18" charset="0"/>
              </a:rPr>
              <a:t/>
            </a:r>
            <a:br>
              <a:rPr lang="en-US" altLang="zh-CN" sz="1200">
                <a:latin typeface="Times New Roman" pitchFamily="18" charset="0"/>
              </a:rPr>
            </a:br>
            <a:r>
              <a:rPr lang="en-US" altLang="zh-CN" sz="1200">
                <a:latin typeface="Times New Roman" pitchFamily="18" charset="0"/>
              </a:rPr>
              <a:t>ByteBuffer</a:t>
            </a:r>
          </a:p>
        </p:txBody>
      </p:sp>
      <p:sp>
        <p:nvSpPr>
          <p:cNvPr id="124949" name="Rectangle 22"/>
          <p:cNvSpPr>
            <a:spLocks noChangeArrowheads="1"/>
          </p:cNvSpPr>
          <p:nvPr/>
        </p:nvSpPr>
        <p:spPr bwMode="auto">
          <a:xfrm>
            <a:off x="8610600" y="4114800"/>
            <a:ext cx="838200" cy="838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800">
                <a:latin typeface="Times New Roman" pitchFamily="18" charset="0"/>
              </a:rPr>
              <a:t>4KB</a:t>
            </a:r>
            <a:r>
              <a:rPr lang="en-US" altLang="zh-CN" sz="1200">
                <a:latin typeface="Times New Roman" pitchFamily="18" charset="0"/>
              </a:rPr>
              <a:t/>
            </a:r>
            <a:br>
              <a:rPr lang="en-US" altLang="zh-CN" sz="1200">
                <a:latin typeface="Times New Roman" pitchFamily="18" charset="0"/>
              </a:rPr>
            </a:br>
            <a:r>
              <a:rPr lang="en-US" altLang="zh-CN" sz="1200">
                <a:latin typeface="Times New Roman" pitchFamily="18" charset="0"/>
              </a:rPr>
              <a:t>ByteBuffer</a:t>
            </a:r>
          </a:p>
        </p:txBody>
      </p:sp>
      <p:sp>
        <p:nvSpPr>
          <p:cNvPr id="124950" name="Rectangle 23"/>
          <p:cNvSpPr>
            <a:spLocks noChangeArrowheads="1"/>
          </p:cNvSpPr>
          <p:nvPr/>
        </p:nvSpPr>
        <p:spPr bwMode="auto">
          <a:xfrm>
            <a:off x="8610600" y="4953000"/>
            <a:ext cx="838200" cy="838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800">
                <a:latin typeface="Times New Roman" pitchFamily="18" charset="0"/>
              </a:rPr>
              <a:t>4KB</a:t>
            </a:r>
            <a:r>
              <a:rPr lang="en-US" altLang="zh-CN" sz="1200">
                <a:latin typeface="Times New Roman" pitchFamily="18" charset="0"/>
              </a:rPr>
              <a:t/>
            </a:r>
            <a:br>
              <a:rPr lang="en-US" altLang="zh-CN" sz="1200">
                <a:latin typeface="Times New Roman" pitchFamily="18" charset="0"/>
              </a:rPr>
            </a:br>
            <a:r>
              <a:rPr lang="en-US" altLang="zh-CN" sz="1200">
                <a:latin typeface="Times New Roman" pitchFamily="18" charset="0"/>
              </a:rPr>
              <a:t>ByteBuffer</a:t>
            </a:r>
          </a:p>
        </p:txBody>
      </p:sp>
      <p:sp>
        <p:nvSpPr>
          <p:cNvPr id="124951" name="AutoShape 24"/>
          <p:cNvSpPr>
            <a:spLocks/>
          </p:cNvSpPr>
          <p:nvPr/>
        </p:nvSpPr>
        <p:spPr bwMode="auto">
          <a:xfrm rot="-5400000">
            <a:off x="7200900" y="38100"/>
            <a:ext cx="381000" cy="4267200"/>
          </a:xfrm>
          <a:prstGeom prst="rightBrace">
            <a:avLst>
              <a:gd name="adj1" fmla="val 93333"/>
              <a:gd name="adj2" fmla="val 58329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24952" name="Rectangle 25"/>
          <p:cNvSpPr>
            <a:spLocks noChangeArrowheads="1"/>
          </p:cNvSpPr>
          <p:nvPr/>
        </p:nvSpPr>
        <p:spPr bwMode="auto">
          <a:xfrm>
            <a:off x="6400800" y="1600200"/>
            <a:ext cx="2514600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2400">
                <a:latin typeface="Times New Roman" pitchFamily="18" charset="0"/>
                <a:ea typeface="宋体" charset="-122"/>
              </a:rPr>
              <a:t>共</a:t>
            </a:r>
            <a:r>
              <a:rPr lang="en-US" altLang="zh-CN" sz="2400">
                <a:latin typeface="Times New Roman" pitchFamily="18" charset="0"/>
                <a:ea typeface="宋体" charset="-122"/>
              </a:rPr>
              <a:t>16MB</a:t>
            </a:r>
          </a:p>
        </p:txBody>
      </p:sp>
      <p:sp>
        <p:nvSpPr>
          <p:cNvPr id="124953" name="Rectangle 26"/>
          <p:cNvSpPr>
            <a:spLocks noChangeArrowheads="1"/>
          </p:cNvSpPr>
          <p:nvPr/>
        </p:nvSpPr>
        <p:spPr bwMode="auto">
          <a:xfrm>
            <a:off x="6705600" y="5791200"/>
            <a:ext cx="1382713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/>
              <a:t>Buffer Pool</a:t>
            </a:r>
          </a:p>
        </p:txBody>
      </p:sp>
      <p:sp>
        <p:nvSpPr>
          <p:cNvPr id="519195" name="AutoShape 27"/>
          <p:cNvSpPr>
            <a:spLocks noChangeArrowheads="1"/>
          </p:cNvSpPr>
          <p:nvPr/>
        </p:nvSpPr>
        <p:spPr bwMode="auto">
          <a:xfrm>
            <a:off x="990600" y="3505200"/>
            <a:ext cx="3276600" cy="6096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400">
                <a:latin typeface="Courier New" pitchFamily="49" charset="0"/>
              </a:rPr>
              <a:t>&lt;</a:t>
            </a:r>
            <a:r>
              <a:rPr lang="en-US" altLang="zh-CN" sz="1400" b="1">
                <a:latin typeface="微软雅黑"/>
              </a:rPr>
              <a:t>QUERY</a:t>
            </a:r>
            <a:r>
              <a:rPr lang="en-US" altLang="zh-CN" sz="1400">
                <a:latin typeface="Courier New" pitchFamily="49" charset="0"/>
              </a:rPr>
              <a:t>&gt;</a:t>
            </a:r>
            <a:br>
              <a:rPr lang="en-US" altLang="zh-CN" sz="1400">
                <a:latin typeface="Courier New" pitchFamily="49" charset="0"/>
              </a:rPr>
            </a:br>
            <a:r>
              <a:rPr lang="en-US" altLang="zh-CN" sz="1400">
                <a:latin typeface="Courier New" pitchFamily="49" charset="0"/>
              </a:rPr>
              <a:t>select * from tb1 where id=?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200"/>
                                        <p:tgtEl>
                                          <p:spTgt spid="519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200"/>
                                        <p:tgtEl>
                                          <p:spTgt spid="519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519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9195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latin typeface="微软雅黑"/>
                <a:ea typeface="微软雅黑"/>
                <a:cs typeface="微软雅黑"/>
              </a:rPr>
              <a:t>Cobar </a:t>
            </a:r>
            <a:r>
              <a:rPr lang="zh-CN" altLang="en-US" smtClean="0">
                <a:latin typeface="微软雅黑"/>
                <a:ea typeface="微软雅黑"/>
                <a:cs typeface="微软雅黑"/>
              </a:rPr>
              <a:t>通信层</a:t>
            </a:r>
          </a:p>
        </p:txBody>
      </p:sp>
      <p:sp>
        <p:nvSpPr>
          <p:cNvPr id="12595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solidFill>
                  <a:srgbClr val="C0C0C0"/>
                </a:solidFill>
                <a:latin typeface="Times New Roman" pitchFamily="18" charset="0"/>
              </a:rPr>
              <a:t>统一管理</a:t>
            </a:r>
            <a:r>
              <a:rPr lang="en-US" altLang="zh-CN" smtClean="0">
                <a:solidFill>
                  <a:srgbClr val="C0C0C0"/>
                </a:solidFill>
                <a:latin typeface="Times New Roman" pitchFamily="18" charset="0"/>
              </a:rPr>
              <a:t>NIO</a:t>
            </a:r>
            <a:r>
              <a:rPr lang="zh-CN" altLang="en-US" smtClean="0">
                <a:solidFill>
                  <a:srgbClr val="C0C0C0"/>
                </a:solidFill>
                <a:latin typeface="Times New Roman" pitchFamily="18" charset="0"/>
              </a:rPr>
              <a:t>的</a:t>
            </a:r>
            <a:r>
              <a:rPr lang="en-US" altLang="zh-CN" smtClean="0">
                <a:solidFill>
                  <a:srgbClr val="C0C0C0"/>
                </a:solidFill>
                <a:latin typeface="Times New Roman" pitchFamily="18" charset="0"/>
              </a:rPr>
              <a:t>Buffer</a:t>
            </a:r>
          </a:p>
        </p:txBody>
      </p:sp>
      <p:sp>
        <p:nvSpPr>
          <p:cNvPr id="125955" name="Rectangle 4"/>
          <p:cNvSpPr>
            <a:spLocks noChangeArrowheads="1"/>
          </p:cNvSpPr>
          <p:nvPr/>
        </p:nvSpPr>
        <p:spPr bwMode="auto">
          <a:xfrm>
            <a:off x="5257800" y="2438400"/>
            <a:ext cx="838200" cy="838200"/>
          </a:xfrm>
          <a:prstGeom prst="rect">
            <a:avLst/>
          </a:prstGeom>
          <a:solidFill>
            <a:srgbClr val="C0C0C0"/>
          </a:solidFill>
          <a:ln w="952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800">
                <a:solidFill>
                  <a:schemeClr val="bg1"/>
                </a:solidFill>
                <a:latin typeface="Times New Roman" pitchFamily="18" charset="0"/>
              </a:rPr>
              <a:t>4KB</a:t>
            </a:r>
            <a:r>
              <a:rPr lang="en-US" altLang="zh-CN" sz="1200">
                <a:solidFill>
                  <a:schemeClr val="bg1"/>
                </a:solidFill>
                <a:latin typeface="Times New Roman" pitchFamily="18" charset="0"/>
              </a:rPr>
              <a:t/>
            </a:r>
            <a:br>
              <a:rPr lang="en-US" altLang="zh-CN" sz="1200">
                <a:solidFill>
                  <a:schemeClr val="bg1"/>
                </a:solidFill>
                <a:latin typeface="Times New Roman" pitchFamily="18" charset="0"/>
              </a:rPr>
            </a:br>
            <a:r>
              <a:rPr lang="en-US" altLang="zh-CN" sz="1200">
                <a:solidFill>
                  <a:schemeClr val="bg1"/>
                </a:solidFill>
                <a:latin typeface="Times New Roman" pitchFamily="18" charset="0"/>
              </a:rPr>
              <a:t>ByteBuffer</a:t>
            </a:r>
          </a:p>
        </p:txBody>
      </p:sp>
      <p:sp>
        <p:nvSpPr>
          <p:cNvPr id="125956" name="Rectangle 5"/>
          <p:cNvSpPr>
            <a:spLocks noChangeArrowheads="1"/>
          </p:cNvSpPr>
          <p:nvPr/>
        </p:nvSpPr>
        <p:spPr bwMode="auto">
          <a:xfrm>
            <a:off x="6096000" y="2438400"/>
            <a:ext cx="838200" cy="838200"/>
          </a:xfrm>
          <a:prstGeom prst="rect">
            <a:avLst/>
          </a:prstGeom>
          <a:solidFill>
            <a:srgbClr val="C0C0C0"/>
          </a:solidFill>
          <a:ln w="952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800">
                <a:solidFill>
                  <a:schemeClr val="bg1"/>
                </a:solidFill>
                <a:latin typeface="Times New Roman" pitchFamily="18" charset="0"/>
              </a:rPr>
              <a:t>4KB</a:t>
            </a:r>
            <a:r>
              <a:rPr lang="en-US" altLang="zh-CN" sz="1200">
                <a:solidFill>
                  <a:schemeClr val="bg1"/>
                </a:solidFill>
                <a:latin typeface="Times New Roman" pitchFamily="18" charset="0"/>
              </a:rPr>
              <a:t/>
            </a:r>
            <a:br>
              <a:rPr lang="en-US" altLang="zh-CN" sz="1200">
                <a:solidFill>
                  <a:schemeClr val="bg1"/>
                </a:solidFill>
                <a:latin typeface="Times New Roman" pitchFamily="18" charset="0"/>
              </a:rPr>
            </a:br>
            <a:r>
              <a:rPr lang="en-US" altLang="zh-CN" sz="1200">
                <a:solidFill>
                  <a:schemeClr val="bg1"/>
                </a:solidFill>
                <a:latin typeface="Times New Roman" pitchFamily="18" charset="0"/>
              </a:rPr>
              <a:t>ByteBuffer</a:t>
            </a:r>
          </a:p>
        </p:txBody>
      </p:sp>
      <p:sp>
        <p:nvSpPr>
          <p:cNvPr id="125957" name="Rectangle 6"/>
          <p:cNvSpPr>
            <a:spLocks noChangeArrowheads="1"/>
          </p:cNvSpPr>
          <p:nvPr/>
        </p:nvSpPr>
        <p:spPr bwMode="auto">
          <a:xfrm>
            <a:off x="6934200" y="2438400"/>
            <a:ext cx="838200" cy="838200"/>
          </a:xfrm>
          <a:prstGeom prst="rect">
            <a:avLst/>
          </a:prstGeom>
          <a:solidFill>
            <a:srgbClr val="C0C0C0"/>
          </a:solidFill>
          <a:ln w="952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800">
                <a:solidFill>
                  <a:schemeClr val="bg1"/>
                </a:solidFill>
                <a:latin typeface="Times New Roman" pitchFamily="18" charset="0"/>
              </a:rPr>
              <a:t>4KB</a:t>
            </a:r>
            <a:r>
              <a:rPr lang="en-US" altLang="zh-CN" sz="1200">
                <a:solidFill>
                  <a:schemeClr val="bg1"/>
                </a:solidFill>
                <a:latin typeface="Times New Roman" pitchFamily="18" charset="0"/>
              </a:rPr>
              <a:t/>
            </a:r>
            <a:br>
              <a:rPr lang="en-US" altLang="zh-CN" sz="1200">
                <a:solidFill>
                  <a:schemeClr val="bg1"/>
                </a:solidFill>
                <a:latin typeface="Times New Roman" pitchFamily="18" charset="0"/>
              </a:rPr>
            </a:br>
            <a:r>
              <a:rPr lang="en-US" altLang="zh-CN" sz="1200">
                <a:solidFill>
                  <a:schemeClr val="bg1"/>
                </a:solidFill>
                <a:latin typeface="Times New Roman" pitchFamily="18" charset="0"/>
              </a:rPr>
              <a:t>ByteBuffer</a:t>
            </a:r>
          </a:p>
        </p:txBody>
      </p:sp>
      <p:sp>
        <p:nvSpPr>
          <p:cNvPr id="125958" name="Rectangle 7"/>
          <p:cNvSpPr>
            <a:spLocks noChangeArrowheads="1"/>
          </p:cNvSpPr>
          <p:nvPr/>
        </p:nvSpPr>
        <p:spPr bwMode="auto">
          <a:xfrm>
            <a:off x="7772400" y="2438400"/>
            <a:ext cx="838200" cy="838200"/>
          </a:xfrm>
          <a:prstGeom prst="rect">
            <a:avLst/>
          </a:prstGeom>
          <a:solidFill>
            <a:srgbClr val="C0C0C0"/>
          </a:solidFill>
          <a:ln w="952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800">
                <a:solidFill>
                  <a:schemeClr val="bg1"/>
                </a:solidFill>
                <a:latin typeface="Times New Roman" pitchFamily="18" charset="0"/>
              </a:rPr>
              <a:t>4KB</a:t>
            </a:r>
            <a:r>
              <a:rPr lang="en-US" altLang="zh-CN" sz="1200">
                <a:solidFill>
                  <a:schemeClr val="bg1"/>
                </a:solidFill>
                <a:latin typeface="Times New Roman" pitchFamily="18" charset="0"/>
              </a:rPr>
              <a:t/>
            </a:r>
            <a:br>
              <a:rPr lang="en-US" altLang="zh-CN" sz="1200">
                <a:solidFill>
                  <a:schemeClr val="bg1"/>
                </a:solidFill>
                <a:latin typeface="Times New Roman" pitchFamily="18" charset="0"/>
              </a:rPr>
            </a:br>
            <a:r>
              <a:rPr lang="en-US" altLang="zh-CN" sz="1200">
                <a:solidFill>
                  <a:schemeClr val="bg1"/>
                </a:solidFill>
                <a:latin typeface="Times New Roman" pitchFamily="18" charset="0"/>
              </a:rPr>
              <a:t>ByteBuffer</a:t>
            </a:r>
          </a:p>
        </p:txBody>
      </p:sp>
      <p:sp>
        <p:nvSpPr>
          <p:cNvPr id="125959" name="Rectangle 8"/>
          <p:cNvSpPr>
            <a:spLocks noChangeArrowheads="1"/>
          </p:cNvSpPr>
          <p:nvPr/>
        </p:nvSpPr>
        <p:spPr bwMode="auto">
          <a:xfrm>
            <a:off x="6096000" y="4114800"/>
            <a:ext cx="838200" cy="838200"/>
          </a:xfrm>
          <a:prstGeom prst="rect">
            <a:avLst/>
          </a:prstGeom>
          <a:solidFill>
            <a:srgbClr val="C0C0C0"/>
          </a:solidFill>
          <a:ln w="952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800">
                <a:solidFill>
                  <a:schemeClr val="bg1"/>
                </a:solidFill>
                <a:latin typeface="Times New Roman" pitchFamily="18" charset="0"/>
              </a:rPr>
              <a:t>4KB</a:t>
            </a:r>
            <a:r>
              <a:rPr lang="en-US" altLang="zh-CN" sz="1200">
                <a:solidFill>
                  <a:schemeClr val="bg1"/>
                </a:solidFill>
                <a:latin typeface="Times New Roman" pitchFamily="18" charset="0"/>
              </a:rPr>
              <a:t/>
            </a:r>
            <a:br>
              <a:rPr lang="en-US" altLang="zh-CN" sz="1200">
                <a:solidFill>
                  <a:schemeClr val="bg1"/>
                </a:solidFill>
                <a:latin typeface="Times New Roman" pitchFamily="18" charset="0"/>
              </a:rPr>
            </a:br>
            <a:r>
              <a:rPr lang="en-US" altLang="zh-CN" sz="1200">
                <a:solidFill>
                  <a:schemeClr val="bg1"/>
                </a:solidFill>
                <a:latin typeface="Times New Roman" pitchFamily="18" charset="0"/>
              </a:rPr>
              <a:t>ByteBuffer</a:t>
            </a:r>
          </a:p>
        </p:txBody>
      </p:sp>
      <p:sp>
        <p:nvSpPr>
          <p:cNvPr id="125960" name="Rectangle 9"/>
          <p:cNvSpPr>
            <a:spLocks noChangeArrowheads="1"/>
          </p:cNvSpPr>
          <p:nvPr/>
        </p:nvSpPr>
        <p:spPr bwMode="auto">
          <a:xfrm>
            <a:off x="6096000" y="3276600"/>
            <a:ext cx="838200" cy="838200"/>
          </a:xfrm>
          <a:prstGeom prst="rect">
            <a:avLst/>
          </a:prstGeom>
          <a:solidFill>
            <a:srgbClr val="C0C0C0"/>
          </a:solidFill>
          <a:ln w="952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800">
                <a:solidFill>
                  <a:schemeClr val="bg1"/>
                </a:solidFill>
                <a:latin typeface="Times New Roman" pitchFamily="18" charset="0"/>
              </a:rPr>
              <a:t>4KB</a:t>
            </a:r>
            <a:r>
              <a:rPr lang="en-US" altLang="zh-CN" sz="1200">
                <a:solidFill>
                  <a:schemeClr val="bg1"/>
                </a:solidFill>
                <a:latin typeface="Times New Roman" pitchFamily="18" charset="0"/>
              </a:rPr>
              <a:t/>
            </a:r>
            <a:br>
              <a:rPr lang="en-US" altLang="zh-CN" sz="1200">
                <a:solidFill>
                  <a:schemeClr val="bg1"/>
                </a:solidFill>
                <a:latin typeface="Times New Roman" pitchFamily="18" charset="0"/>
              </a:rPr>
            </a:br>
            <a:r>
              <a:rPr lang="en-US" altLang="zh-CN" sz="1200">
                <a:solidFill>
                  <a:schemeClr val="bg1"/>
                </a:solidFill>
                <a:latin typeface="Times New Roman" pitchFamily="18" charset="0"/>
              </a:rPr>
              <a:t>ByteBuffer</a:t>
            </a:r>
          </a:p>
        </p:txBody>
      </p:sp>
      <p:sp>
        <p:nvSpPr>
          <p:cNvPr id="125961" name="Rectangle 10"/>
          <p:cNvSpPr>
            <a:spLocks noChangeArrowheads="1"/>
          </p:cNvSpPr>
          <p:nvPr/>
        </p:nvSpPr>
        <p:spPr bwMode="auto">
          <a:xfrm>
            <a:off x="6934200" y="3276600"/>
            <a:ext cx="838200" cy="838200"/>
          </a:xfrm>
          <a:prstGeom prst="rect">
            <a:avLst/>
          </a:prstGeom>
          <a:solidFill>
            <a:srgbClr val="C0C0C0"/>
          </a:solidFill>
          <a:ln w="952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800">
                <a:solidFill>
                  <a:schemeClr val="bg1"/>
                </a:solidFill>
                <a:latin typeface="Times New Roman" pitchFamily="18" charset="0"/>
              </a:rPr>
              <a:t>4KB</a:t>
            </a:r>
            <a:r>
              <a:rPr lang="en-US" altLang="zh-CN" sz="1200">
                <a:solidFill>
                  <a:schemeClr val="bg1"/>
                </a:solidFill>
                <a:latin typeface="Times New Roman" pitchFamily="18" charset="0"/>
              </a:rPr>
              <a:t/>
            </a:r>
            <a:br>
              <a:rPr lang="en-US" altLang="zh-CN" sz="1200">
                <a:solidFill>
                  <a:schemeClr val="bg1"/>
                </a:solidFill>
                <a:latin typeface="Times New Roman" pitchFamily="18" charset="0"/>
              </a:rPr>
            </a:br>
            <a:r>
              <a:rPr lang="en-US" altLang="zh-CN" sz="1200">
                <a:solidFill>
                  <a:schemeClr val="bg1"/>
                </a:solidFill>
                <a:latin typeface="Times New Roman" pitchFamily="18" charset="0"/>
              </a:rPr>
              <a:t>ByteBuffer</a:t>
            </a:r>
          </a:p>
        </p:txBody>
      </p:sp>
      <p:sp>
        <p:nvSpPr>
          <p:cNvPr id="125962" name="Rectangle 11"/>
          <p:cNvSpPr>
            <a:spLocks noChangeArrowheads="1"/>
          </p:cNvSpPr>
          <p:nvPr/>
        </p:nvSpPr>
        <p:spPr bwMode="auto">
          <a:xfrm>
            <a:off x="7772400" y="3276600"/>
            <a:ext cx="838200" cy="838200"/>
          </a:xfrm>
          <a:prstGeom prst="rect">
            <a:avLst/>
          </a:prstGeom>
          <a:solidFill>
            <a:srgbClr val="C0C0C0"/>
          </a:solidFill>
          <a:ln w="952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800">
                <a:solidFill>
                  <a:schemeClr val="bg1"/>
                </a:solidFill>
                <a:latin typeface="Times New Roman" pitchFamily="18" charset="0"/>
              </a:rPr>
              <a:t>4KB</a:t>
            </a:r>
            <a:r>
              <a:rPr lang="en-US" altLang="zh-CN" sz="1200">
                <a:solidFill>
                  <a:schemeClr val="bg1"/>
                </a:solidFill>
                <a:latin typeface="Times New Roman" pitchFamily="18" charset="0"/>
              </a:rPr>
              <a:t/>
            </a:r>
            <a:br>
              <a:rPr lang="en-US" altLang="zh-CN" sz="1200">
                <a:solidFill>
                  <a:schemeClr val="bg1"/>
                </a:solidFill>
                <a:latin typeface="Times New Roman" pitchFamily="18" charset="0"/>
              </a:rPr>
            </a:br>
            <a:r>
              <a:rPr lang="en-US" altLang="zh-CN" sz="1200">
                <a:solidFill>
                  <a:schemeClr val="bg1"/>
                </a:solidFill>
                <a:latin typeface="Times New Roman" pitchFamily="18" charset="0"/>
              </a:rPr>
              <a:t>ByteBuffer</a:t>
            </a:r>
          </a:p>
        </p:txBody>
      </p:sp>
      <p:sp>
        <p:nvSpPr>
          <p:cNvPr id="125963" name="Rectangle 12"/>
          <p:cNvSpPr>
            <a:spLocks noChangeArrowheads="1"/>
          </p:cNvSpPr>
          <p:nvPr/>
        </p:nvSpPr>
        <p:spPr bwMode="auto">
          <a:xfrm>
            <a:off x="5257800" y="4114800"/>
            <a:ext cx="838200" cy="838200"/>
          </a:xfrm>
          <a:prstGeom prst="rect">
            <a:avLst/>
          </a:prstGeom>
          <a:solidFill>
            <a:srgbClr val="C0C0C0"/>
          </a:solidFill>
          <a:ln w="952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800">
                <a:solidFill>
                  <a:schemeClr val="bg1"/>
                </a:solidFill>
                <a:latin typeface="Times New Roman" pitchFamily="18" charset="0"/>
              </a:rPr>
              <a:t>4KB</a:t>
            </a:r>
            <a:r>
              <a:rPr lang="en-US" altLang="zh-CN" sz="1200">
                <a:solidFill>
                  <a:schemeClr val="bg1"/>
                </a:solidFill>
                <a:latin typeface="Times New Roman" pitchFamily="18" charset="0"/>
              </a:rPr>
              <a:t/>
            </a:r>
            <a:br>
              <a:rPr lang="en-US" altLang="zh-CN" sz="1200">
                <a:solidFill>
                  <a:schemeClr val="bg1"/>
                </a:solidFill>
                <a:latin typeface="Times New Roman" pitchFamily="18" charset="0"/>
              </a:rPr>
            </a:br>
            <a:r>
              <a:rPr lang="en-US" altLang="zh-CN" sz="1200">
                <a:solidFill>
                  <a:schemeClr val="bg1"/>
                </a:solidFill>
                <a:latin typeface="Times New Roman" pitchFamily="18" charset="0"/>
              </a:rPr>
              <a:t>ByteBuffer</a:t>
            </a:r>
          </a:p>
        </p:txBody>
      </p:sp>
      <p:sp>
        <p:nvSpPr>
          <p:cNvPr id="125964" name="Rectangle 13"/>
          <p:cNvSpPr>
            <a:spLocks noChangeArrowheads="1"/>
          </p:cNvSpPr>
          <p:nvPr/>
        </p:nvSpPr>
        <p:spPr bwMode="auto">
          <a:xfrm>
            <a:off x="6096000" y="4953000"/>
            <a:ext cx="838200" cy="838200"/>
          </a:xfrm>
          <a:prstGeom prst="rect">
            <a:avLst/>
          </a:prstGeom>
          <a:solidFill>
            <a:srgbClr val="C0C0C0"/>
          </a:solidFill>
          <a:ln w="952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800">
                <a:solidFill>
                  <a:schemeClr val="bg1"/>
                </a:solidFill>
                <a:latin typeface="Times New Roman" pitchFamily="18" charset="0"/>
              </a:rPr>
              <a:t>4KB</a:t>
            </a:r>
            <a:r>
              <a:rPr lang="en-US" altLang="zh-CN" sz="1200">
                <a:solidFill>
                  <a:schemeClr val="bg1"/>
                </a:solidFill>
                <a:latin typeface="Times New Roman" pitchFamily="18" charset="0"/>
              </a:rPr>
              <a:t/>
            </a:r>
            <a:br>
              <a:rPr lang="en-US" altLang="zh-CN" sz="1200">
                <a:solidFill>
                  <a:schemeClr val="bg1"/>
                </a:solidFill>
                <a:latin typeface="Times New Roman" pitchFamily="18" charset="0"/>
              </a:rPr>
            </a:br>
            <a:r>
              <a:rPr lang="en-US" altLang="zh-CN" sz="1200">
                <a:solidFill>
                  <a:schemeClr val="bg1"/>
                </a:solidFill>
                <a:latin typeface="Times New Roman" pitchFamily="18" charset="0"/>
              </a:rPr>
              <a:t>ByteBuffer</a:t>
            </a:r>
          </a:p>
        </p:txBody>
      </p:sp>
      <p:sp>
        <p:nvSpPr>
          <p:cNvPr id="125965" name="Rectangle 14"/>
          <p:cNvSpPr>
            <a:spLocks noChangeArrowheads="1"/>
          </p:cNvSpPr>
          <p:nvPr/>
        </p:nvSpPr>
        <p:spPr bwMode="auto">
          <a:xfrm>
            <a:off x="5257800" y="3276600"/>
            <a:ext cx="838200" cy="838200"/>
          </a:xfrm>
          <a:prstGeom prst="rect">
            <a:avLst/>
          </a:prstGeom>
          <a:solidFill>
            <a:srgbClr val="C0C0C0"/>
          </a:solidFill>
          <a:ln w="952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800">
                <a:solidFill>
                  <a:schemeClr val="bg1"/>
                </a:solidFill>
                <a:latin typeface="Times New Roman" pitchFamily="18" charset="0"/>
              </a:rPr>
              <a:t>4KB</a:t>
            </a:r>
            <a:r>
              <a:rPr lang="en-US" altLang="zh-CN" sz="1200">
                <a:solidFill>
                  <a:schemeClr val="bg1"/>
                </a:solidFill>
                <a:latin typeface="Times New Roman" pitchFamily="18" charset="0"/>
              </a:rPr>
              <a:t/>
            </a:r>
            <a:br>
              <a:rPr lang="en-US" altLang="zh-CN" sz="1200">
                <a:solidFill>
                  <a:schemeClr val="bg1"/>
                </a:solidFill>
                <a:latin typeface="Times New Roman" pitchFamily="18" charset="0"/>
              </a:rPr>
            </a:br>
            <a:r>
              <a:rPr lang="en-US" altLang="zh-CN" sz="1200">
                <a:solidFill>
                  <a:schemeClr val="bg1"/>
                </a:solidFill>
                <a:latin typeface="Times New Roman" pitchFamily="18" charset="0"/>
              </a:rPr>
              <a:t>ByteBuffer</a:t>
            </a:r>
          </a:p>
        </p:txBody>
      </p:sp>
      <p:sp>
        <p:nvSpPr>
          <p:cNvPr id="125966" name="Rectangle 15"/>
          <p:cNvSpPr>
            <a:spLocks noChangeArrowheads="1"/>
          </p:cNvSpPr>
          <p:nvPr/>
        </p:nvSpPr>
        <p:spPr bwMode="auto">
          <a:xfrm>
            <a:off x="7772400" y="4114800"/>
            <a:ext cx="838200" cy="838200"/>
          </a:xfrm>
          <a:prstGeom prst="rect">
            <a:avLst/>
          </a:prstGeom>
          <a:solidFill>
            <a:srgbClr val="C0C0C0"/>
          </a:solidFill>
          <a:ln w="952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800">
                <a:solidFill>
                  <a:schemeClr val="bg1"/>
                </a:solidFill>
                <a:latin typeface="Times New Roman" pitchFamily="18" charset="0"/>
              </a:rPr>
              <a:t>4KB</a:t>
            </a:r>
            <a:r>
              <a:rPr lang="en-US" altLang="zh-CN" sz="1200">
                <a:solidFill>
                  <a:schemeClr val="bg1"/>
                </a:solidFill>
                <a:latin typeface="Times New Roman" pitchFamily="18" charset="0"/>
              </a:rPr>
              <a:t/>
            </a:r>
            <a:br>
              <a:rPr lang="en-US" altLang="zh-CN" sz="1200">
                <a:solidFill>
                  <a:schemeClr val="bg1"/>
                </a:solidFill>
                <a:latin typeface="Times New Roman" pitchFamily="18" charset="0"/>
              </a:rPr>
            </a:br>
            <a:r>
              <a:rPr lang="en-US" altLang="zh-CN" sz="1200">
                <a:solidFill>
                  <a:schemeClr val="bg1"/>
                </a:solidFill>
                <a:latin typeface="Times New Roman" pitchFamily="18" charset="0"/>
              </a:rPr>
              <a:t>ByteBuffer</a:t>
            </a:r>
          </a:p>
        </p:txBody>
      </p:sp>
      <p:sp>
        <p:nvSpPr>
          <p:cNvPr id="125967" name="Rectangle 16"/>
          <p:cNvSpPr>
            <a:spLocks noChangeArrowheads="1"/>
          </p:cNvSpPr>
          <p:nvPr/>
        </p:nvSpPr>
        <p:spPr bwMode="auto">
          <a:xfrm>
            <a:off x="5257800" y="4953000"/>
            <a:ext cx="838200" cy="838200"/>
          </a:xfrm>
          <a:prstGeom prst="rect">
            <a:avLst/>
          </a:prstGeom>
          <a:solidFill>
            <a:srgbClr val="C0C0C0"/>
          </a:solidFill>
          <a:ln w="952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800">
                <a:solidFill>
                  <a:schemeClr val="bg1"/>
                </a:solidFill>
                <a:latin typeface="Times New Roman" pitchFamily="18" charset="0"/>
              </a:rPr>
              <a:t>4KB</a:t>
            </a:r>
            <a:r>
              <a:rPr lang="en-US" altLang="zh-CN" sz="1200">
                <a:solidFill>
                  <a:schemeClr val="bg1"/>
                </a:solidFill>
                <a:latin typeface="Times New Roman" pitchFamily="18" charset="0"/>
              </a:rPr>
              <a:t/>
            </a:r>
            <a:br>
              <a:rPr lang="en-US" altLang="zh-CN" sz="1200">
                <a:solidFill>
                  <a:schemeClr val="bg1"/>
                </a:solidFill>
                <a:latin typeface="Times New Roman" pitchFamily="18" charset="0"/>
              </a:rPr>
            </a:br>
            <a:r>
              <a:rPr lang="en-US" altLang="zh-CN" sz="1200">
                <a:solidFill>
                  <a:schemeClr val="bg1"/>
                </a:solidFill>
                <a:latin typeface="Times New Roman" pitchFamily="18" charset="0"/>
              </a:rPr>
              <a:t>ByteBuffer</a:t>
            </a:r>
          </a:p>
        </p:txBody>
      </p:sp>
      <p:sp>
        <p:nvSpPr>
          <p:cNvPr id="125968" name="Rectangle 17"/>
          <p:cNvSpPr>
            <a:spLocks noChangeArrowheads="1"/>
          </p:cNvSpPr>
          <p:nvPr/>
        </p:nvSpPr>
        <p:spPr bwMode="auto">
          <a:xfrm>
            <a:off x="6934200" y="4114800"/>
            <a:ext cx="838200" cy="838200"/>
          </a:xfrm>
          <a:prstGeom prst="rect">
            <a:avLst/>
          </a:prstGeom>
          <a:solidFill>
            <a:srgbClr val="C0C0C0"/>
          </a:solidFill>
          <a:ln w="952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800">
                <a:solidFill>
                  <a:schemeClr val="bg1"/>
                </a:solidFill>
                <a:latin typeface="Times New Roman" pitchFamily="18" charset="0"/>
              </a:rPr>
              <a:t>4KB</a:t>
            </a:r>
            <a:r>
              <a:rPr lang="en-US" altLang="zh-CN" sz="1200">
                <a:solidFill>
                  <a:schemeClr val="bg1"/>
                </a:solidFill>
                <a:latin typeface="Times New Roman" pitchFamily="18" charset="0"/>
              </a:rPr>
              <a:t/>
            </a:r>
            <a:br>
              <a:rPr lang="en-US" altLang="zh-CN" sz="1200">
                <a:solidFill>
                  <a:schemeClr val="bg1"/>
                </a:solidFill>
                <a:latin typeface="Times New Roman" pitchFamily="18" charset="0"/>
              </a:rPr>
            </a:br>
            <a:r>
              <a:rPr lang="en-US" altLang="zh-CN" sz="1200">
                <a:solidFill>
                  <a:schemeClr val="bg1"/>
                </a:solidFill>
                <a:latin typeface="Times New Roman" pitchFamily="18" charset="0"/>
              </a:rPr>
              <a:t>ByteBuffer</a:t>
            </a:r>
          </a:p>
        </p:txBody>
      </p:sp>
      <p:sp>
        <p:nvSpPr>
          <p:cNvPr id="125969" name="Rectangle 18"/>
          <p:cNvSpPr>
            <a:spLocks noChangeArrowheads="1"/>
          </p:cNvSpPr>
          <p:nvPr/>
        </p:nvSpPr>
        <p:spPr bwMode="auto">
          <a:xfrm>
            <a:off x="6934200" y="4953000"/>
            <a:ext cx="838200" cy="838200"/>
          </a:xfrm>
          <a:prstGeom prst="rect">
            <a:avLst/>
          </a:prstGeom>
          <a:solidFill>
            <a:srgbClr val="C0C0C0"/>
          </a:solidFill>
          <a:ln w="952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800">
                <a:solidFill>
                  <a:schemeClr val="bg1"/>
                </a:solidFill>
                <a:latin typeface="Times New Roman" pitchFamily="18" charset="0"/>
              </a:rPr>
              <a:t>4KB</a:t>
            </a:r>
            <a:r>
              <a:rPr lang="en-US" altLang="zh-CN" sz="1200">
                <a:solidFill>
                  <a:schemeClr val="bg1"/>
                </a:solidFill>
                <a:latin typeface="Times New Roman" pitchFamily="18" charset="0"/>
              </a:rPr>
              <a:t/>
            </a:r>
            <a:br>
              <a:rPr lang="en-US" altLang="zh-CN" sz="1200">
                <a:solidFill>
                  <a:schemeClr val="bg1"/>
                </a:solidFill>
                <a:latin typeface="Times New Roman" pitchFamily="18" charset="0"/>
              </a:rPr>
            </a:br>
            <a:r>
              <a:rPr lang="en-US" altLang="zh-CN" sz="1200">
                <a:solidFill>
                  <a:schemeClr val="bg1"/>
                </a:solidFill>
                <a:latin typeface="Times New Roman" pitchFamily="18" charset="0"/>
              </a:rPr>
              <a:t>ByteBuffer</a:t>
            </a:r>
          </a:p>
        </p:txBody>
      </p:sp>
      <p:sp>
        <p:nvSpPr>
          <p:cNvPr id="125970" name="Rectangle 19"/>
          <p:cNvSpPr>
            <a:spLocks noChangeArrowheads="1"/>
          </p:cNvSpPr>
          <p:nvPr/>
        </p:nvSpPr>
        <p:spPr bwMode="auto">
          <a:xfrm>
            <a:off x="7772400" y="4953000"/>
            <a:ext cx="838200" cy="838200"/>
          </a:xfrm>
          <a:prstGeom prst="rect">
            <a:avLst/>
          </a:prstGeom>
          <a:solidFill>
            <a:srgbClr val="C0C0C0"/>
          </a:solidFill>
          <a:ln w="952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800">
                <a:solidFill>
                  <a:schemeClr val="bg1"/>
                </a:solidFill>
                <a:latin typeface="Times New Roman" pitchFamily="18" charset="0"/>
              </a:rPr>
              <a:t>4KB</a:t>
            </a:r>
            <a:r>
              <a:rPr lang="en-US" altLang="zh-CN" sz="1200">
                <a:solidFill>
                  <a:schemeClr val="bg1"/>
                </a:solidFill>
                <a:latin typeface="Times New Roman" pitchFamily="18" charset="0"/>
              </a:rPr>
              <a:t/>
            </a:r>
            <a:br>
              <a:rPr lang="en-US" altLang="zh-CN" sz="1200">
                <a:solidFill>
                  <a:schemeClr val="bg1"/>
                </a:solidFill>
                <a:latin typeface="Times New Roman" pitchFamily="18" charset="0"/>
              </a:rPr>
            </a:br>
            <a:r>
              <a:rPr lang="en-US" altLang="zh-CN" sz="1200">
                <a:solidFill>
                  <a:schemeClr val="bg1"/>
                </a:solidFill>
                <a:latin typeface="Times New Roman" pitchFamily="18" charset="0"/>
              </a:rPr>
              <a:t>ByteBuffer</a:t>
            </a:r>
          </a:p>
        </p:txBody>
      </p:sp>
      <p:sp>
        <p:nvSpPr>
          <p:cNvPr id="125971" name="Rectangle 20"/>
          <p:cNvSpPr>
            <a:spLocks noChangeArrowheads="1"/>
          </p:cNvSpPr>
          <p:nvPr/>
        </p:nvSpPr>
        <p:spPr bwMode="auto">
          <a:xfrm>
            <a:off x="8610600" y="2438400"/>
            <a:ext cx="838200" cy="838200"/>
          </a:xfrm>
          <a:prstGeom prst="rect">
            <a:avLst/>
          </a:prstGeom>
          <a:solidFill>
            <a:srgbClr val="C0C0C0"/>
          </a:solidFill>
          <a:ln w="952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800">
                <a:solidFill>
                  <a:schemeClr val="bg1"/>
                </a:solidFill>
                <a:latin typeface="Times New Roman" pitchFamily="18" charset="0"/>
              </a:rPr>
              <a:t>4KB</a:t>
            </a:r>
            <a:r>
              <a:rPr lang="en-US" altLang="zh-CN" sz="1200">
                <a:solidFill>
                  <a:schemeClr val="bg1"/>
                </a:solidFill>
                <a:latin typeface="Times New Roman" pitchFamily="18" charset="0"/>
              </a:rPr>
              <a:t/>
            </a:r>
            <a:br>
              <a:rPr lang="en-US" altLang="zh-CN" sz="1200">
                <a:solidFill>
                  <a:schemeClr val="bg1"/>
                </a:solidFill>
                <a:latin typeface="Times New Roman" pitchFamily="18" charset="0"/>
              </a:rPr>
            </a:br>
            <a:r>
              <a:rPr lang="en-US" altLang="zh-CN" sz="1200">
                <a:solidFill>
                  <a:schemeClr val="bg1"/>
                </a:solidFill>
                <a:latin typeface="Times New Roman" pitchFamily="18" charset="0"/>
              </a:rPr>
              <a:t>ByteBuffer</a:t>
            </a:r>
          </a:p>
        </p:txBody>
      </p:sp>
      <p:sp>
        <p:nvSpPr>
          <p:cNvPr id="125972" name="Rectangle 21"/>
          <p:cNvSpPr>
            <a:spLocks noChangeArrowheads="1"/>
          </p:cNvSpPr>
          <p:nvPr/>
        </p:nvSpPr>
        <p:spPr bwMode="auto">
          <a:xfrm>
            <a:off x="8610600" y="3276600"/>
            <a:ext cx="838200" cy="838200"/>
          </a:xfrm>
          <a:prstGeom prst="rect">
            <a:avLst/>
          </a:prstGeom>
          <a:solidFill>
            <a:srgbClr val="C0C0C0"/>
          </a:solidFill>
          <a:ln w="952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800">
                <a:solidFill>
                  <a:schemeClr val="bg1"/>
                </a:solidFill>
                <a:latin typeface="Times New Roman" pitchFamily="18" charset="0"/>
              </a:rPr>
              <a:t>4KB</a:t>
            </a:r>
            <a:r>
              <a:rPr lang="en-US" altLang="zh-CN" sz="1200">
                <a:solidFill>
                  <a:schemeClr val="bg1"/>
                </a:solidFill>
                <a:latin typeface="Times New Roman" pitchFamily="18" charset="0"/>
              </a:rPr>
              <a:t/>
            </a:r>
            <a:br>
              <a:rPr lang="en-US" altLang="zh-CN" sz="1200">
                <a:solidFill>
                  <a:schemeClr val="bg1"/>
                </a:solidFill>
                <a:latin typeface="Times New Roman" pitchFamily="18" charset="0"/>
              </a:rPr>
            </a:br>
            <a:r>
              <a:rPr lang="en-US" altLang="zh-CN" sz="1200">
                <a:solidFill>
                  <a:schemeClr val="bg1"/>
                </a:solidFill>
                <a:latin typeface="Times New Roman" pitchFamily="18" charset="0"/>
              </a:rPr>
              <a:t>ByteBuffer</a:t>
            </a:r>
          </a:p>
        </p:txBody>
      </p:sp>
      <p:sp>
        <p:nvSpPr>
          <p:cNvPr id="125973" name="Rectangle 22"/>
          <p:cNvSpPr>
            <a:spLocks noChangeArrowheads="1"/>
          </p:cNvSpPr>
          <p:nvPr/>
        </p:nvSpPr>
        <p:spPr bwMode="auto">
          <a:xfrm>
            <a:off x="8610600" y="4114800"/>
            <a:ext cx="838200" cy="838200"/>
          </a:xfrm>
          <a:prstGeom prst="rect">
            <a:avLst/>
          </a:prstGeom>
          <a:solidFill>
            <a:srgbClr val="C0C0C0"/>
          </a:solidFill>
          <a:ln w="952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800">
                <a:solidFill>
                  <a:schemeClr val="bg1"/>
                </a:solidFill>
                <a:latin typeface="Times New Roman" pitchFamily="18" charset="0"/>
              </a:rPr>
              <a:t>4KB</a:t>
            </a:r>
            <a:r>
              <a:rPr lang="en-US" altLang="zh-CN" sz="1200">
                <a:solidFill>
                  <a:schemeClr val="bg1"/>
                </a:solidFill>
                <a:latin typeface="Times New Roman" pitchFamily="18" charset="0"/>
              </a:rPr>
              <a:t/>
            </a:r>
            <a:br>
              <a:rPr lang="en-US" altLang="zh-CN" sz="1200">
                <a:solidFill>
                  <a:schemeClr val="bg1"/>
                </a:solidFill>
                <a:latin typeface="Times New Roman" pitchFamily="18" charset="0"/>
              </a:rPr>
            </a:br>
            <a:r>
              <a:rPr lang="en-US" altLang="zh-CN" sz="1200">
                <a:solidFill>
                  <a:schemeClr val="bg1"/>
                </a:solidFill>
                <a:latin typeface="Times New Roman" pitchFamily="18" charset="0"/>
              </a:rPr>
              <a:t>ByteBuffer</a:t>
            </a:r>
          </a:p>
        </p:txBody>
      </p:sp>
      <p:sp>
        <p:nvSpPr>
          <p:cNvPr id="125974" name="Rectangle 23"/>
          <p:cNvSpPr>
            <a:spLocks noChangeArrowheads="1"/>
          </p:cNvSpPr>
          <p:nvPr/>
        </p:nvSpPr>
        <p:spPr bwMode="auto">
          <a:xfrm>
            <a:off x="8610600" y="4953000"/>
            <a:ext cx="838200" cy="838200"/>
          </a:xfrm>
          <a:prstGeom prst="rect">
            <a:avLst/>
          </a:prstGeom>
          <a:solidFill>
            <a:srgbClr val="C0C0C0"/>
          </a:solidFill>
          <a:ln w="9525" algn="ctr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800">
                <a:solidFill>
                  <a:schemeClr val="bg1"/>
                </a:solidFill>
                <a:latin typeface="Times New Roman" pitchFamily="18" charset="0"/>
              </a:rPr>
              <a:t>4KB</a:t>
            </a:r>
            <a:r>
              <a:rPr lang="en-US" altLang="zh-CN" sz="1200">
                <a:solidFill>
                  <a:schemeClr val="bg1"/>
                </a:solidFill>
                <a:latin typeface="Times New Roman" pitchFamily="18" charset="0"/>
              </a:rPr>
              <a:t/>
            </a:r>
            <a:br>
              <a:rPr lang="en-US" altLang="zh-CN" sz="1200">
                <a:solidFill>
                  <a:schemeClr val="bg1"/>
                </a:solidFill>
                <a:latin typeface="Times New Roman" pitchFamily="18" charset="0"/>
              </a:rPr>
            </a:br>
            <a:r>
              <a:rPr lang="en-US" altLang="zh-CN" sz="1200">
                <a:solidFill>
                  <a:schemeClr val="bg1"/>
                </a:solidFill>
                <a:latin typeface="Times New Roman" pitchFamily="18" charset="0"/>
              </a:rPr>
              <a:t>ByteBuffer</a:t>
            </a:r>
          </a:p>
        </p:txBody>
      </p:sp>
      <p:sp>
        <p:nvSpPr>
          <p:cNvPr id="125975" name="AutoShape 24"/>
          <p:cNvSpPr>
            <a:spLocks/>
          </p:cNvSpPr>
          <p:nvPr/>
        </p:nvSpPr>
        <p:spPr bwMode="auto">
          <a:xfrm rot="-5400000">
            <a:off x="7200900" y="38100"/>
            <a:ext cx="381000" cy="4267200"/>
          </a:xfrm>
          <a:prstGeom prst="rightBrace">
            <a:avLst>
              <a:gd name="adj1" fmla="val 93333"/>
              <a:gd name="adj2" fmla="val 58329"/>
            </a:avLst>
          </a:prstGeom>
          <a:noFill/>
          <a:ln w="9525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25976" name="Rectangle 25"/>
          <p:cNvSpPr>
            <a:spLocks noChangeArrowheads="1"/>
          </p:cNvSpPr>
          <p:nvPr/>
        </p:nvSpPr>
        <p:spPr bwMode="auto">
          <a:xfrm>
            <a:off x="6400800" y="1600200"/>
            <a:ext cx="2514600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2400">
                <a:solidFill>
                  <a:srgbClr val="C0C0C0"/>
                </a:solidFill>
                <a:latin typeface="Times New Roman" pitchFamily="18" charset="0"/>
                <a:ea typeface="宋体" charset="-122"/>
              </a:rPr>
              <a:t>共</a:t>
            </a:r>
            <a:r>
              <a:rPr lang="en-US" altLang="zh-CN" sz="2400">
                <a:solidFill>
                  <a:srgbClr val="C0C0C0"/>
                </a:solidFill>
                <a:latin typeface="Times New Roman" pitchFamily="18" charset="0"/>
                <a:ea typeface="宋体" charset="-122"/>
              </a:rPr>
              <a:t>16MB</a:t>
            </a:r>
          </a:p>
        </p:txBody>
      </p:sp>
      <p:sp>
        <p:nvSpPr>
          <p:cNvPr id="125977" name="Rectangle 26"/>
          <p:cNvSpPr>
            <a:spLocks noChangeArrowheads="1"/>
          </p:cNvSpPr>
          <p:nvPr/>
        </p:nvSpPr>
        <p:spPr bwMode="auto">
          <a:xfrm>
            <a:off x="6705600" y="5791200"/>
            <a:ext cx="1382713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>
                <a:solidFill>
                  <a:srgbClr val="C0C0C0"/>
                </a:solidFill>
                <a:latin typeface="Times New Roman" pitchFamily="18" charset="0"/>
              </a:rPr>
              <a:t>Buffer Pool</a:t>
            </a:r>
          </a:p>
        </p:txBody>
      </p:sp>
      <p:sp>
        <p:nvSpPr>
          <p:cNvPr id="125978" name="Rectangle 27"/>
          <p:cNvSpPr>
            <a:spLocks noChangeArrowheads="1"/>
          </p:cNvSpPr>
          <p:nvPr/>
        </p:nvSpPr>
        <p:spPr bwMode="auto">
          <a:xfrm>
            <a:off x="2286000" y="1919288"/>
            <a:ext cx="3048000" cy="14335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8800">
                <a:solidFill>
                  <a:srgbClr val="FF0000"/>
                </a:solidFill>
                <a:latin typeface="微软雅黑"/>
              </a:rPr>
              <a:t>15</a:t>
            </a:r>
            <a:r>
              <a:rPr lang="zh-CN" altLang="en-US" sz="3600">
                <a:latin typeface="微软雅黑"/>
              </a:rPr>
              <a:t>万</a:t>
            </a:r>
          </a:p>
        </p:txBody>
      </p:sp>
      <p:sp>
        <p:nvSpPr>
          <p:cNvPr id="125979" name="Rectangle 28"/>
          <p:cNvSpPr>
            <a:spLocks noChangeArrowheads="1"/>
          </p:cNvSpPr>
          <p:nvPr/>
        </p:nvSpPr>
        <p:spPr bwMode="auto">
          <a:xfrm>
            <a:off x="1371600" y="2362200"/>
            <a:ext cx="327660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3600">
                <a:latin typeface="微软雅黑"/>
              </a:rPr>
              <a:t>TPS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7" name="Text Box 45"/>
          <p:cNvSpPr txBox="1">
            <a:spLocks noChangeArrowheads="1"/>
          </p:cNvSpPr>
          <p:nvPr/>
        </p:nvSpPr>
        <p:spPr bwMode="auto">
          <a:xfrm>
            <a:off x="5257800" y="2590800"/>
            <a:ext cx="1143000" cy="823913"/>
          </a:xfrm>
          <a:prstGeom prst="rect">
            <a:avLst/>
          </a:prstGeom>
          <a:solidFill>
            <a:schemeClr val="bg1"/>
          </a:solidFill>
          <a:ln w="3175">
            <a:noFill/>
            <a:prstDash val="dashDot"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4800">
                <a:ea typeface="宋体" charset="-122"/>
              </a:rPr>
              <a:t>... </a:t>
            </a:r>
          </a:p>
        </p:txBody>
      </p:sp>
      <p:sp>
        <p:nvSpPr>
          <p:cNvPr id="126978" name="AutoShape 2"/>
          <p:cNvSpPr>
            <a:spLocks noChangeArrowheads="1"/>
          </p:cNvSpPr>
          <p:nvPr/>
        </p:nvSpPr>
        <p:spPr bwMode="auto">
          <a:xfrm>
            <a:off x="4267200" y="5943600"/>
            <a:ext cx="1447800" cy="533400"/>
          </a:xfrm>
          <a:prstGeom prst="can">
            <a:avLst>
              <a:gd name="adj" fmla="val 25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ea typeface="宋体" charset="-122"/>
              </a:rPr>
              <a:t>MySQL</a:t>
            </a:r>
          </a:p>
        </p:txBody>
      </p:sp>
      <p:sp>
        <p:nvSpPr>
          <p:cNvPr id="126979" name="AutoShape 3"/>
          <p:cNvSpPr>
            <a:spLocks noChangeArrowheads="1"/>
          </p:cNvSpPr>
          <p:nvPr/>
        </p:nvSpPr>
        <p:spPr bwMode="auto">
          <a:xfrm>
            <a:off x="5943600" y="5943600"/>
            <a:ext cx="1447800" cy="533400"/>
          </a:xfrm>
          <a:prstGeom prst="can">
            <a:avLst>
              <a:gd name="adj" fmla="val 25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ea typeface="宋体" charset="-122"/>
              </a:rPr>
              <a:t>MySQL</a:t>
            </a:r>
          </a:p>
        </p:txBody>
      </p:sp>
      <p:sp>
        <p:nvSpPr>
          <p:cNvPr id="126980" name="AutoShape 4"/>
          <p:cNvSpPr>
            <a:spLocks noChangeArrowheads="1"/>
          </p:cNvSpPr>
          <p:nvPr/>
        </p:nvSpPr>
        <p:spPr bwMode="auto">
          <a:xfrm>
            <a:off x="7620000" y="5943600"/>
            <a:ext cx="1447800" cy="533400"/>
          </a:xfrm>
          <a:prstGeom prst="can">
            <a:avLst>
              <a:gd name="adj" fmla="val 25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ea typeface="宋体" charset="-122"/>
              </a:rPr>
              <a:t>MySQL</a:t>
            </a:r>
          </a:p>
        </p:txBody>
      </p:sp>
      <p:sp>
        <p:nvSpPr>
          <p:cNvPr id="126981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CN" smtClean="0"/>
              <a:t>Cobar</a:t>
            </a:r>
            <a:r>
              <a:rPr lang="zh-CN" altLang="en-US" smtClean="0">
                <a:ea typeface="微软雅黑"/>
                <a:cs typeface="微软雅黑"/>
              </a:rPr>
              <a:t>结构</a:t>
            </a:r>
          </a:p>
        </p:txBody>
      </p:sp>
      <p:sp>
        <p:nvSpPr>
          <p:cNvPr id="126982" name="Rectangle 7"/>
          <p:cNvSpPr>
            <a:spLocks noChangeArrowheads="1"/>
          </p:cNvSpPr>
          <p:nvPr/>
        </p:nvSpPr>
        <p:spPr bwMode="auto">
          <a:xfrm>
            <a:off x="2514600" y="1371600"/>
            <a:ext cx="62484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Front-end Communication</a:t>
            </a:r>
          </a:p>
        </p:txBody>
      </p:sp>
      <p:sp>
        <p:nvSpPr>
          <p:cNvPr id="126983" name="Rectangle 8"/>
          <p:cNvSpPr>
            <a:spLocks noChangeArrowheads="1"/>
          </p:cNvSpPr>
          <p:nvPr/>
        </p:nvSpPr>
        <p:spPr bwMode="auto">
          <a:xfrm>
            <a:off x="3048000" y="5105400"/>
            <a:ext cx="54864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MySQL Protcol Adaptor (BIO)</a:t>
            </a:r>
          </a:p>
        </p:txBody>
      </p:sp>
      <p:sp>
        <p:nvSpPr>
          <p:cNvPr id="126984" name="Rectangle 9"/>
          <p:cNvSpPr>
            <a:spLocks noChangeArrowheads="1"/>
          </p:cNvSpPr>
          <p:nvPr/>
        </p:nvSpPr>
        <p:spPr bwMode="auto">
          <a:xfrm>
            <a:off x="3657600" y="304800"/>
            <a:ext cx="48006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Application1</a:t>
            </a:r>
          </a:p>
        </p:txBody>
      </p:sp>
      <p:sp>
        <p:nvSpPr>
          <p:cNvPr id="126985" name="AutoShape 10"/>
          <p:cNvSpPr>
            <a:spLocks noChangeArrowheads="1"/>
          </p:cNvSpPr>
          <p:nvPr/>
        </p:nvSpPr>
        <p:spPr bwMode="auto">
          <a:xfrm>
            <a:off x="4191000" y="6019800"/>
            <a:ext cx="1447800" cy="533400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ea typeface="宋体" charset="-122"/>
              </a:rPr>
              <a:t>MySQL</a:t>
            </a:r>
          </a:p>
        </p:txBody>
      </p:sp>
      <p:sp>
        <p:nvSpPr>
          <p:cNvPr id="126986" name="AutoShape 11"/>
          <p:cNvSpPr>
            <a:spLocks noChangeArrowheads="1"/>
          </p:cNvSpPr>
          <p:nvPr/>
        </p:nvSpPr>
        <p:spPr bwMode="auto">
          <a:xfrm>
            <a:off x="4800600" y="5486400"/>
            <a:ext cx="304800" cy="609600"/>
          </a:xfrm>
          <a:prstGeom prst="upDownArrow">
            <a:avLst>
              <a:gd name="adj1" fmla="val 42704"/>
              <a:gd name="adj2" fmla="val 5625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/>
            <a:endParaRPr lang="zh-CN" altLang="en-US"/>
          </a:p>
        </p:txBody>
      </p:sp>
      <p:sp>
        <p:nvSpPr>
          <p:cNvPr id="126987" name="AutoShape 13"/>
          <p:cNvSpPr>
            <a:spLocks noChangeArrowheads="1"/>
          </p:cNvSpPr>
          <p:nvPr/>
        </p:nvSpPr>
        <p:spPr bwMode="auto">
          <a:xfrm>
            <a:off x="5715000" y="685800"/>
            <a:ext cx="914400" cy="762000"/>
          </a:xfrm>
          <a:prstGeom prst="upDownArrow">
            <a:avLst>
              <a:gd name="adj1" fmla="val 50694"/>
              <a:gd name="adj2" fmla="val 31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/>
            <a:endParaRPr lang="zh-CN" altLang="zh-CN">
              <a:ea typeface="宋体" charset="-122"/>
            </a:endParaRPr>
          </a:p>
        </p:txBody>
      </p:sp>
      <p:sp>
        <p:nvSpPr>
          <p:cNvPr id="126988" name="Text Box 14"/>
          <p:cNvSpPr txBox="1">
            <a:spLocks noChangeArrowheads="1"/>
          </p:cNvSpPr>
          <p:nvPr/>
        </p:nvSpPr>
        <p:spPr bwMode="auto">
          <a:xfrm>
            <a:off x="5105400" y="852488"/>
            <a:ext cx="2209800" cy="36671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i="1">
                <a:latin typeface="Times New Roman" pitchFamily="18" charset="0"/>
                <a:ea typeface="宋体" charset="-122"/>
              </a:rPr>
              <a:t>MySQL Protocol</a:t>
            </a:r>
          </a:p>
        </p:txBody>
      </p:sp>
      <p:sp>
        <p:nvSpPr>
          <p:cNvPr id="126989" name="AutoShape 15"/>
          <p:cNvSpPr>
            <a:spLocks noChangeArrowheads="1"/>
          </p:cNvSpPr>
          <p:nvPr/>
        </p:nvSpPr>
        <p:spPr bwMode="auto">
          <a:xfrm>
            <a:off x="5867400" y="6019800"/>
            <a:ext cx="1447800" cy="533400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ea typeface="宋体" charset="-122"/>
              </a:rPr>
              <a:t>MySQL</a:t>
            </a:r>
          </a:p>
        </p:txBody>
      </p:sp>
      <p:sp>
        <p:nvSpPr>
          <p:cNvPr id="126990" name="AutoShape 16"/>
          <p:cNvSpPr>
            <a:spLocks noChangeArrowheads="1"/>
          </p:cNvSpPr>
          <p:nvPr/>
        </p:nvSpPr>
        <p:spPr bwMode="auto">
          <a:xfrm>
            <a:off x="6477000" y="5486400"/>
            <a:ext cx="304800" cy="609600"/>
          </a:xfrm>
          <a:prstGeom prst="upDownArrow">
            <a:avLst>
              <a:gd name="adj1" fmla="val 42704"/>
              <a:gd name="adj2" fmla="val 5625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/>
            <a:endParaRPr lang="zh-CN" altLang="en-US"/>
          </a:p>
        </p:txBody>
      </p:sp>
      <p:sp>
        <p:nvSpPr>
          <p:cNvPr id="126991" name="AutoShape 17"/>
          <p:cNvSpPr>
            <a:spLocks noChangeArrowheads="1"/>
          </p:cNvSpPr>
          <p:nvPr/>
        </p:nvSpPr>
        <p:spPr bwMode="auto">
          <a:xfrm>
            <a:off x="7543800" y="6019800"/>
            <a:ext cx="1447800" cy="533400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ea typeface="宋体" charset="-122"/>
              </a:rPr>
              <a:t>MySQL</a:t>
            </a:r>
          </a:p>
        </p:txBody>
      </p:sp>
      <p:sp>
        <p:nvSpPr>
          <p:cNvPr id="126992" name="AutoShape 18"/>
          <p:cNvSpPr>
            <a:spLocks noChangeArrowheads="1"/>
          </p:cNvSpPr>
          <p:nvPr/>
        </p:nvSpPr>
        <p:spPr bwMode="auto">
          <a:xfrm>
            <a:off x="8153400" y="5486400"/>
            <a:ext cx="304800" cy="609600"/>
          </a:xfrm>
          <a:prstGeom prst="upDownArrow">
            <a:avLst>
              <a:gd name="adj1" fmla="val 42704"/>
              <a:gd name="adj2" fmla="val 5625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/>
            <a:endParaRPr lang="zh-CN" altLang="en-US"/>
          </a:p>
        </p:txBody>
      </p:sp>
      <p:sp>
        <p:nvSpPr>
          <p:cNvPr id="126993" name="Rectangle 19"/>
          <p:cNvSpPr>
            <a:spLocks noChangeArrowheads="1"/>
          </p:cNvSpPr>
          <p:nvPr/>
        </p:nvSpPr>
        <p:spPr bwMode="auto">
          <a:xfrm>
            <a:off x="3048000" y="4343400"/>
            <a:ext cx="54864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Data Nodes</a:t>
            </a:r>
          </a:p>
        </p:txBody>
      </p:sp>
      <p:sp>
        <p:nvSpPr>
          <p:cNvPr id="126994" name="Rectangle 20"/>
          <p:cNvSpPr>
            <a:spLocks noChangeArrowheads="1"/>
          </p:cNvSpPr>
          <p:nvPr/>
        </p:nvSpPr>
        <p:spPr bwMode="auto">
          <a:xfrm rot="10800000" flipV="1">
            <a:off x="1828800" y="2057400"/>
            <a:ext cx="990600" cy="3124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400">
                <a:ea typeface="宋体" charset="-122"/>
              </a:rPr>
              <a:t>Monitor</a:t>
            </a:r>
            <a:br>
              <a:rPr lang="en-US" altLang="zh-CN" sz="1400">
                <a:ea typeface="宋体" charset="-122"/>
              </a:rPr>
            </a:br>
            <a:endParaRPr lang="en-US" altLang="zh-CN" sz="1400">
              <a:ea typeface="宋体" charset="-122"/>
            </a:endParaRPr>
          </a:p>
          <a:p>
            <a:pPr algn="ctr"/>
            <a:r>
              <a:rPr lang="en-US" altLang="zh-CN" sz="1400">
                <a:ea typeface="宋体" charset="-122"/>
              </a:rPr>
              <a:t>Configure</a:t>
            </a:r>
          </a:p>
        </p:txBody>
      </p:sp>
      <p:sp>
        <p:nvSpPr>
          <p:cNvPr id="126995" name="Rectangle 21"/>
          <p:cNvSpPr>
            <a:spLocks noChangeArrowheads="1"/>
          </p:cNvSpPr>
          <p:nvPr/>
        </p:nvSpPr>
        <p:spPr bwMode="auto">
          <a:xfrm>
            <a:off x="3048000" y="4724400"/>
            <a:ext cx="54864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HA Pool</a:t>
            </a:r>
          </a:p>
        </p:txBody>
      </p:sp>
      <p:sp>
        <p:nvSpPr>
          <p:cNvPr id="126996" name="AutoShape 22"/>
          <p:cNvSpPr>
            <a:spLocks noChangeArrowheads="1"/>
          </p:cNvSpPr>
          <p:nvPr/>
        </p:nvSpPr>
        <p:spPr bwMode="auto">
          <a:xfrm>
            <a:off x="2590800" y="5943600"/>
            <a:ext cx="1447800" cy="533400"/>
          </a:xfrm>
          <a:prstGeom prst="can">
            <a:avLst>
              <a:gd name="adj" fmla="val 25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ea typeface="宋体" charset="-122"/>
              </a:rPr>
              <a:t>MySQL</a:t>
            </a:r>
          </a:p>
        </p:txBody>
      </p:sp>
      <p:sp>
        <p:nvSpPr>
          <p:cNvPr id="126997" name="AutoShape 23"/>
          <p:cNvSpPr>
            <a:spLocks noChangeArrowheads="1"/>
          </p:cNvSpPr>
          <p:nvPr/>
        </p:nvSpPr>
        <p:spPr bwMode="auto">
          <a:xfrm>
            <a:off x="2514600" y="6019800"/>
            <a:ext cx="1447800" cy="533400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ea typeface="宋体" charset="-122"/>
              </a:rPr>
              <a:t>MySQL</a:t>
            </a:r>
          </a:p>
        </p:txBody>
      </p:sp>
      <p:sp>
        <p:nvSpPr>
          <p:cNvPr id="126998" name="AutoShape 24"/>
          <p:cNvSpPr>
            <a:spLocks noChangeArrowheads="1"/>
          </p:cNvSpPr>
          <p:nvPr/>
        </p:nvSpPr>
        <p:spPr bwMode="auto">
          <a:xfrm>
            <a:off x="3124200" y="5486400"/>
            <a:ext cx="304800" cy="609600"/>
          </a:xfrm>
          <a:prstGeom prst="upDownArrow">
            <a:avLst>
              <a:gd name="adj1" fmla="val 42704"/>
              <a:gd name="adj2" fmla="val 5625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/>
            <a:endParaRPr lang="zh-CN" altLang="en-US"/>
          </a:p>
        </p:txBody>
      </p:sp>
      <p:sp>
        <p:nvSpPr>
          <p:cNvPr id="126999" name="Rectangle 25"/>
          <p:cNvSpPr>
            <a:spLocks noChangeArrowheads="1"/>
          </p:cNvSpPr>
          <p:nvPr/>
        </p:nvSpPr>
        <p:spPr bwMode="auto">
          <a:xfrm>
            <a:off x="2971800" y="1752600"/>
            <a:ext cx="2590800" cy="2667000"/>
          </a:xfrm>
          <a:prstGeom prst="rect">
            <a:avLst/>
          </a:prstGeom>
          <a:solidFill>
            <a:schemeClr val="bg1">
              <a:alpha val="83136"/>
            </a:schemeClr>
          </a:solidFill>
          <a:ln w="317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/>
          <a:lstStyle/>
          <a:p>
            <a:pPr algn="ctr"/>
            <a:r>
              <a:rPr lang="en-US" altLang="zh-CN" b="1" i="1">
                <a:solidFill>
                  <a:schemeClr val="bg1"/>
                </a:solidFill>
                <a:latin typeface="Times New Roman" pitchFamily="18" charset="0"/>
                <a:ea typeface="宋体" charset="-122"/>
              </a:rPr>
              <a:t>Processor(1)</a:t>
            </a:r>
          </a:p>
        </p:txBody>
      </p:sp>
      <p:sp>
        <p:nvSpPr>
          <p:cNvPr id="127000" name="Rectangle 26"/>
          <p:cNvSpPr>
            <a:spLocks noChangeArrowheads="1"/>
          </p:cNvSpPr>
          <p:nvPr/>
        </p:nvSpPr>
        <p:spPr bwMode="auto">
          <a:xfrm>
            <a:off x="6019800" y="1752600"/>
            <a:ext cx="2590800" cy="2667000"/>
          </a:xfrm>
          <a:prstGeom prst="rect">
            <a:avLst/>
          </a:prstGeom>
          <a:solidFill>
            <a:schemeClr val="bg1">
              <a:alpha val="83136"/>
            </a:schemeClr>
          </a:solidFill>
          <a:ln w="317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/>
          <a:lstStyle/>
          <a:p>
            <a:pPr algn="ctr"/>
            <a:r>
              <a:rPr lang="en-US" altLang="zh-CN" b="1" i="1">
                <a:solidFill>
                  <a:schemeClr val="bg1"/>
                </a:solidFill>
                <a:latin typeface="Times New Roman" pitchFamily="18" charset="0"/>
                <a:ea typeface="宋体" charset="-122"/>
              </a:rPr>
              <a:t>Processor(n)</a:t>
            </a:r>
          </a:p>
        </p:txBody>
      </p:sp>
      <p:sp>
        <p:nvSpPr>
          <p:cNvPr id="127001" name="Rectangle 27"/>
          <p:cNvSpPr>
            <a:spLocks noChangeArrowheads="1"/>
          </p:cNvSpPr>
          <p:nvPr/>
        </p:nvSpPr>
        <p:spPr bwMode="auto">
          <a:xfrm>
            <a:off x="3048000" y="3733800"/>
            <a:ext cx="24384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SQL Executor</a:t>
            </a:r>
          </a:p>
        </p:txBody>
      </p:sp>
      <p:sp>
        <p:nvSpPr>
          <p:cNvPr id="127002" name="Rectangle 28"/>
          <p:cNvSpPr>
            <a:spLocks noChangeArrowheads="1"/>
          </p:cNvSpPr>
          <p:nvPr/>
        </p:nvSpPr>
        <p:spPr bwMode="auto">
          <a:xfrm>
            <a:off x="3048000" y="3048000"/>
            <a:ext cx="13716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SQL Router</a:t>
            </a:r>
          </a:p>
        </p:txBody>
      </p:sp>
      <p:sp>
        <p:nvSpPr>
          <p:cNvPr id="127003" name="Rectangle 30"/>
          <p:cNvSpPr>
            <a:spLocks noChangeArrowheads="1"/>
          </p:cNvSpPr>
          <p:nvPr/>
        </p:nvSpPr>
        <p:spPr bwMode="auto">
          <a:xfrm>
            <a:off x="4572000" y="2362200"/>
            <a:ext cx="914400" cy="1143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Result</a:t>
            </a:r>
            <a:br>
              <a:rPr lang="en-US" altLang="zh-CN">
                <a:ea typeface="宋体" charset="-122"/>
              </a:rPr>
            </a:br>
            <a:r>
              <a:rPr lang="en-US" altLang="zh-CN">
                <a:ea typeface="宋体" charset="-122"/>
              </a:rPr>
              <a:t>Merger</a:t>
            </a:r>
          </a:p>
        </p:txBody>
      </p:sp>
      <p:sp>
        <p:nvSpPr>
          <p:cNvPr id="127004" name="AutoShape 31"/>
          <p:cNvSpPr>
            <a:spLocks noChangeArrowheads="1"/>
          </p:cNvSpPr>
          <p:nvPr/>
        </p:nvSpPr>
        <p:spPr bwMode="auto">
          <a:xfrm>
            <a:off x="3373438" y="1828800"/>
            <a:ext cx="228600" cy="609600"/>
          </a:xfrm>
          <a:prstGeom prst="downArrow">
            <a:avLst>
              <a:gd name="adj1" fmla="val 50000"/>
              <a:gd name="adj2" fmla="val 6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/>
            <a:endParaRPr lang="zh-CN" altLang="en-US"/>
          </a:p>
        </p:txBody>
      </p:sp>
      <p:sp>
        <p:nvSpPr>
          <p:cNvPr id="127005" name="AutoShape 32"/>
          <p:cNvSpPr>
            <a:spLocks noChangeArrowheads="1"/>
          </p:cNvSpPr>
          <p:nvPr/>
        </p:nvSpPr>
        <p:spPr bwMode="auto">
          <a:xfrm>
            <a:off x="3352800" y="2667000"/>
            <a:ext cx="249238" cy="457200"/>
          </a:xfrm>
          <a:prstGeom prst="downArrow">
            <a:avLst>
              <a:gd name="adj1" fmla="val 50000"/>
              <a:gd name="adj2" fmla="val 4586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/>
            <a:endParaRPr lang="zh-CN" altLang="en-US"/>
          </a:p>
        </p:txBody>
      </p:sp>
      <p:sp>
        <p:nvSpPr>
          <p:cNvPr id="127006" name="AutoShape 33"/>
          <p:cNvSpPr>
            <a:spLocks noChangeArrowheads="1"/>
          </p:cNvSpPr>
          <p:nvPr/>
        </p:nvSpPr>
        <p:spPr bwMode="auto">
          <a:xfrm>
            <a:off x="3352800" y="3429000"/>
            <a:ext cx="249238" cy="381000"/>
          </a:xfrm>
          <a:prstGeom prst="downArrow">
            <a:avLst>
              <a:gd name="adj1" fmla="val 50000"/>
              <a:gd name="adj2" fmla="val 38216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/>
            <a:endParaRPr lang="zh-CN" altLang="en-US"/>
          </a:p>
        </p:txBody>
      </p:sp>
      <p:sp>
        <p:nvSpPr>
          <p:cNvPr id="127007" name="AutoShape 34"/>
          <p:cNvSpPr>
            <a:spLocks noChangeArrowheads="1"/>
          </p:cNvSpPr>
          <p:nvPr/>
        </p:nvSpPr>
        <p:spPr bwMode="auto">
          <a:xfrm rot="10800000">
            <a:off x="4932363" y="3429000"/>
            <a:ext cx="249237" cy="381000"/>
          </a:xfrm>
          <a:prstGeom prst="downArrow">
            <a:avLst>
              <a:gd name="adj1" fmla="val 50000"/>
              <a:gd name="adj2" fmla="val 3821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/>
            <a:endParaRPr lang="zh-CN" altLang="en-US"/>
          </a:p>
        </p:txBody>
      </p:sp>
      <p:sp>
        <p:nvSpPr>
          <p:cNvPr id="127008" name="AutoShape 35"/>
          <p:cNvSpPr>
            <a:spLocks noChangeArrowheads="1"/>
          </p:cNvSpPr>
          <p:nvPr/>
        </p:nvSpPr>
        <p:spPr bwMode="auto">
          <a:xfrm rot="10800000">
            <a:off x="4953000" y="1828800"/>
            <a:ext cx="228600" cy="609600"/>
          </a:xfrm>
          <a:prstGeom prst="downArrow">
            <a:avLst>
              <a:gd name="adj1" fmla="val 50000"/>
              <a:gd name="adj2" fmla="val 6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/>
            <a:endParaRPr lang="zh-CN" altLang="en-US"/>
          </a:p>
        </p:txBody>
      </p:sp>
      <p:sp>
        <p:nvSpPr>
          <p:cNvPr id="127009" name="Rectangle 36"/>
          <p:cNvSpPr>
            <a:spLocks noChangeArrowheads="1"/>
          </p:cNvSpPr>
          <p:nvPr/>
        </p:nvSpPr>
        <p:spPr bwMode="auto">
          <a:xfrm>
            <a:off x="6096000" y="3733800"/>
            <a:ext cx="24384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SQL Executor</a:t>
            </a:r>
          </a:p>
        </p:txBody>
      </p:sp>
      <p:sp>
        <p:nvSpPr>
          <p:cNvPr id="127010" name="Rectangle 37"/>
          <p:cNvSpPr>
            <a:spLocks noChangeArrowheads="1"/>
          </p:cNvSpPr>
          <p:nvPr/>
        </p:nvSpPr>
        <p:spPr bwMode="auto">
          <a:xfrm>
            <a:off x="6096000" y="3048000"/>
            <a:ext cx="13716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SQL Router</a:t>
            </a:r>
          </a:p>
        </p:txBody>
      </p:sp>
      <p:sp>
        <p:nvSpPr>
          <p:cNvPr id="127011" name="Rectangle 39"/>
          <p:cNvSpPr>
            <a:spLocks noChangeArrowheads="1"/>
          </p:cNvSpPr>
          <p:nvPr/>
        </p:nvSpPr>
        <p:spPr bwMode="auto">
          <a:xfrm>
            <a:off x="7620000" y="2362200"/>
            <a:ext cx="914400" cy="1143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Result</a:t>
            </a:r>
            <a:br>
              <a:rPr lang="en-US" altLang="zh-CN">
                <a:ea typeface="宋体" charset="-122"/>
              </a:rPr>
            </a:br>
            <a:r>
              <a:rPr lang="en-US" altLang="zh-CN">
                <a:ea typeface="宋体" charset="-122"/>
              </a:rPr>
              <a:t>Merger</a:t>
            </a:r>
          </a:p>
        </p:txBody>
      </p:sp>
      <p:sp>
        <p:nvSpPr>
          <p:cNvPr id="127012" name="AutoShape 40"/>
          <p:cNvSpPr>
            <a:spLocks noChangeArrowheads="1"/>
          </p:cNvSpPr>
          <p:nvPr/>
        </p:nvSpPr>
        <p:spPr bwMode="auto">
          <a:xfrm>
            <a:off x="6421438" y="1828800"/>
            <a:ext cx="228600" cy="609600"/>
          </a:xfrm>
          <a:prstGeom prst="downArrow">
            <a:avLst>
              <a:gd name="adj1" fmla="val 50000"/>
              <a:gd name="adj2" fmla="val 6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/>
            <a:endParaRPr lang="zh-CN" altLang="en-US"/>
          </a:p>
        </p:txBody>
      </p:sp>
      <p:sp>
        <p:nvSpPr>
          <p:cNvPr id="127013" name="AutoShape 41"/>
          <p:cNvSpPr>
            <a:spLocks noChangeArrowheads="1"/>
          </p:cNvSpPr>
          <p:nvPr/>
        </p:nvSpPr>
        <p:spPr bwMode="auto">
          <a:xfrm>
            <a:off x="6400800" y="2667000"/>
            <a:ext cx="249238" cy="457200"/>
          </a:xfrm>
          <a:prstGeom prst="downArrow">
            <a:avLst>
              <a:gd name="adj1" fmla="val 50000"/>
              <a:gd name="adj2" fmla="val 4586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/>
            <a:endParaRPr lang="zh-CN" altLang="en-US"/>
          </a:p>
        </p:txBody>
      </p:sp>
      <p:sp>
        <p:nvSpPr>
          <p:cNvPr id="127014" name="AutoShape 42"/>
          <p:cNvSpPr>
            <a:spLocks noChangeArrowheads="1"/>
          </p:cNvSpPr>
          <p:nvPr/>
        </p:nvSpPr>
        <p:spPr bwMode="auto">
          <a:xfrm>
            <a:off x="6400800" y="3429000"/>
            <a:ext cx="249238" cy="381000"/>
          </a:xfrm>
          <a:prstGeom prst="downArrow">
            <a:avLst>
              <a:gd name="adj1" fmla="val 50000"/>
              <a:gd name="adj2" fmla="val 38216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/>
            <a:endParaRPr lang="zh-CN" altLang="en-US"/>
          </a:p>
        </p:txBody>
      </p:sp>
      <p:sp>
        <p:nvSpPr>
          <p:cNvPr id="127015" name="AutoShape 43"/>
          <p:cNvSpPr>
            <a:spLocks noChangeArrowheads="1"/>
          </p:cNvSpPr>
          <p:nvPr/>
        </p:nvSpPr>
        <p:spPr bwMode="auto">
          <a:xfrm rot="10800000">
            <a:off x="7980363" y="3429000"/>
            <a:ext cx="249237" cy="381000"/>
          </a:xfrm>
          <a:prstGeom prst="downArrow">
            <a:avLst>
              <a:gd name="adj1" fmla="val 50000"/>
              <a:gd name="adj2" fmla="val 3821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/>
            <a:endParaRPr lang="zh-CN" altLang="en-US"/>
          </a:p>
        </p:txBody>
      </p:sp>
      <p:sp>
        <p:nvSpPr>
          <p:cNvPr id="127016" name="AutoShape 44"/>
          <p:cNvSpPr>
            <a:spLocks noChangeArrowheads="1"/>
          </p:cNvSpPr>
          <p:nvPr/>
        </p:nvSpPr>
        <p:spPr bwMode="auto">
          <a:xfrm rot="10800000">
            <a:off x="8001000" y="1828800"/>
            <a:ext cx="228600" cy="609600"/>
          </a:xfrm>
          <a:prstGeom prst="downArrow">
            <a:avLst>
              <a:gd name="adj1" fmla="val 50000"/>
              <a:gd name="adj2" fmla="val 6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/>
            <a:endParaRPr lang="zh-CN" altLang="en-US"/>
          </a:p>
        </p:txBody>
      </p:sp>
      <p:sp>
        <p:nvSpPr>
          <p:cNvPr id="127017" name="Rectangle 46"/>
          <p:cNvSpPr>
            <a:spLocks noChangeArrowheads="1"/>
          </p:cNvSpPr>
          <p:nvPr/>
        </p:nvSpPr>
        <p:spPr bwMode="auto">
          <a:xfrm rot="10800000" flipV="1">
            <a:off x="304800" y="2057400"/>
            <a:ext cx="914400" cy="3124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ea typeface="宋体" charset="-122"/>
              </a:rPr>
              <a:t>Manager</a:t>
            </a:r>
          </a:p>
        </p:txBody>
      </p:sp>
      <p:sp>
        <p:nvSpPr>
          <p:cNvPr id="127018" name="AutoShape 47"/>
          <p:cNvSpPr>
            <a:spLocks noChangeArrowheads="1"/>
          </p:cNvSpPr>
          <p:nvPr/>
        </p:nvSpPr>
        <p:spPr bwMode="auto">
          <a:xfrm rot="-5400000">
            <a:off x="1257300" y="3238500"/>
            <a:ext cx="533400" cy="762000"/>
          </a:xfrm>
          <a:prstGeom prst="upDownArrow">
            <a:avLst>
              <a:gd name="adj1" fmla="val 42704"/>
              <a:gd name="adj2" fmla="val 40179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/>
            <a:endParaRPr lang="zh-CN" altLang="en-US"/>
          </a:p>
        </p:txBody>
      </p:sp>
      <p:sp>
        <p:nvSpPr>
          <p:cNvPr id="127019" name="Rectangle 48"/>
          <p:cNvSpPr>
            <a:spLocks noChangeArrowheads="1"/>
          </p:cNvSpPr>
          <p:nvPr/>
        </p:nvSpPr>
        <p:spPr bwMode="auto">
          <a:xfrm>
            <a:off x="2298700" y="5562600"/>
            <a:ext cx="1739900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i="1">
                <a:latin typeface="Times New Roman" pitchFamily="18" charset="0"/>
              </a:rPr>
              <a:t>MySQL Protocol</a:t>
            </a:r>
          </a:p>
        </p:txBody>
      </p:sp>
      <p:sp>
        <p:nvSpPr>
          <p:cNvPr id="127020" name="Rectangle 49"/>
          <p:cNvSpPr>
            <a:spLocks noChangeArrowheads="1"/>
          </p:cNvSpPr>
          <p:nvPr/>
        </p:nvSpPr>
        <p:spPr bwMode="auto">
          <a:xfrm>
            <a:off x="4051300" y="5562600"/>
            <a:ext cx="1739900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i="1">
                <a:latin typeface="Times New Roman" pitchFamily="18" charset="0"/>
              </a:rPr>
              <a:t>MySQL Protocol</a:t>
            </a:r>
          </a:p>
        </p:txBody>
      </p:sp>
      <p:sp>
        <p:nvSpPr>
          <p:cNvPr id="127021" name="Rectangle 50"/>
          <p:cNvSpPr>
            <a:spLocks noChangeArrowheads="1"/>
          </p:cNvSpPr>
          <p:nvPr/>
        </p:nvSpPr>
        <p:spPr bwMode="auto">
          <a:xfrm>
            <a:off x="5727700" y="5562600"/>
            <a:ext cx="1739900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i="1">
                <a:latin typeface="Times New Roman" pitchFamily="18" charset="0"/>
              </a:rPr>
              <a:t>MySQL Protocol</a:t>
            </a:r>
          </a:p>
        </p:txBody>
      </p:sp>
      <p:sp>
        <p:nvSpPr>
          <p:cNvPr id="127022" name="Rectangle 51"/>
          <p:cNvSpPr>
            <a:spLocks noChangeArrowheads="1"/>
          </p:cNvSpPr>
          <p:nvPr/>
        </p:nvSpPr>
        <p:spPr bwMode="auto">
          <a:xfrm>
            <a:off x="7404100" y="5562600"/>
            <a:ext cx="1739900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i="1">
                <a:latin typeface="Times New Roman" pitchFamily="18" charset="0"/>
              </a:rPr>
              <a:t>MySQL Protocol</a:t>
            </a:r>
          </a:p>
        </p:txBody>
      </p:sp>
      <p:sp>
        <p:nvSpPr>
          <p:cNvPr id="127023" name="Rectangle 52"/>
          <p:cNvSpPr>
            <a:spLocks noChangeArrowheads="1"/>
          </p:cNvSpPr>
          <p:nvPr/>
        </p:nvSpPr>
        <p:spPr bwMode="auto">
          <a:xfrm rot="-5400000">
            <a:off x="819150" y="3257550"/>
            <a:ext cx="137795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i="1">
                <a:latin typeface="Times New Roman" pitchFamily="18" charset="0"/>
              </a:rPr>
              <a:t>Management</a:t>
            </a:r>
            <a:br>
              <a:rPr lang="en-US" altLang="zh-CN" i="1">
                <a:latin typeface="Times New Roman" pitchFamily="18" charset="0"/>
              </a:rPr>
            </a:br>
            <a:r>
              <a:rPr lang="en-US" altLang="zh-CN" i="1">
                <a:latin typeface="Times New Roman" pitchFamily="18" charset="0"/>
              </a:rPr>
              <a:t>Protocol</a:t>
            </a:r>
          </a:p>
        </p:txBody>
      </p:sp>
      <p:sp>
        <p:nvSpPr>
          <p:cNvPr id="127024" name="Rectangle 29"/>
          <p:cNvSpPr>
            <a:spLocks noChangeArrowheads="1"/>
          </p:cNvSpPr>
          <p:nvPr/>
        </p:nvSpPr>
        <p:spPr bwMode="auto">
          <a:xfrm>
            <a:off x="3048000" y="2362200"/>
            <a:ext cx="1371600" cy="4572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SQL Parser</a:t>
            </a:r>
          </a:p>
        </p:txBody>
      </p:sp>
      <p:sp>
        <p:nvSpPr>
          <p:cNvPr id="127025" name="Rectangle 38"/>
          <p:cNvSpPr>
            <a:spLocks noChangeArrowheads="1"/>
          </p:cNvSpPr>
          <p:nvPr/>
        </p:nvSpPr>
        <p:spPr bwMode="auto">
          <a:xfrm>
            <a:off x="6096000" y="2362200"/>
            <a:ext cx="1371600" cy="4572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SQL Parser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1" name="Text Box 4"/>
          <p:cNvSpPr txBox="1">
            <a:spLocks noChangeArrowheads="1"/>
          </p:cNvSpPr>
          <p:nvPr/>
        </p:nvSpPr>
        <p:spPr bwMode="auto">
          <a:xfrm>
            <a:off x="381000" y="685800"/>
            <a:ext cx="8534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</a:rPr>
              <a:t>SELECT id, member_id FROM wp_image WHERE member_id = ‘123’</a:t>
            </a:r>
          </a:p>
        </p:txBody>
      </p:sp>
      <p:sp>
        <p:nvSpPr>
          <p:cNvPr id="128002" name="Rectangle 5"/>
          <p:cNvSpPr>
            <a:spLocks noChangeArrowheads="1"/>
          </p:cNvSpPr>
          <p:nvPr/>
        </p:nvSpPr>
        <p:spPr bwMode="auto">
          <a:xfrm>
            <a:off x="2438400" y="1905000"/>
            <a:ext cx="38862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SQL Parser</a:t>
            </a:r>
          </a:p>
        </p:txBody>
      </p:sp>
      <p:sp>
        <p:nvSpPr>
          <p:cNvPr id="128003" name="Oval 6"/>
          <p:cNvSpPr>
            <a:spLocks noChangeArrowheads="1"/>
          </p:cNvSpPr>
          <p:nvPr/>
        </p:nvSpPr>
        <p:spPr bwMode="auto">
          <a:xfrm>
            <a:off x="4038600" y="3505200"/>
            <a:ext cx="8382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select</a:t>
            </a:r>
          </a:p>
        </p:txBody>
      </p:sp>
      <p:sp>
        <p:nvSpPr>
          <p:cNvPr id="128004" name="Oval 7"/>
          <p:cNvSpPr>
            <a:spLocks noChangeArrowheads="1"/>
          </p:cNvSpPr>
          <p:nvPr/>
        </p:nvSpPr>
        <p:spPr bwMode="auto">
          <a:xfrm>
            <a:off x="1066800" y="5410200"/>
            <a:ext cx="914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id</a:t>
            </a:r>
          </a:p>
        </p:txBody>
      </p:sp>
      <p:sp>
        <p:nvSpPr>
          <p:cNvPr id="128005" name="Oval 8"/>
          <p:cNvSpPr>
            <a:spLocks noChangeArrowheads="1"/>
          </p:cNvSpPr>
          <p:nvPr/>
        </p:nvSpPr>
        <p:spPr bwMode="auto">
          <a:xfrm>
            <a:off x="2133600" y="5410200"/>
            <a:ext cx="13716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member_id</a:t>
            </a:r>
          </a:p>
        </p:txBody>
      </p:sp>
      <p:sp>
        <p:nvSpPr>
          <p:cNvPr id="128006" name="Oval 9"/>
          <p:cNvSpPr>
            <a:spLocks noChangeArrowheads="1"/>
          </p:cNvSpPr>
          <p:nvPr/>
        </p:nvSpPr>
        <p:spPr bwMode="auto">
          <a:xfrm>
            <a:off x="3733800" y="5410200"/>
            <a:ext cx="13716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wp_image</a:t>
            </a:r>
          </a:p>
        </p:txBody>
      </p:sp>
      <p:sp>
        <p:nvSpPr>
          <p:cNvPr id="128007" name="Oval 10"/>
          <p:cNvSpPr>
            <a:spLocks noChangeArrowheads="1"/>
          </p:cNvSpPr>
          <p:nvPr/>
        </p:nvSpPr>
        <p:spPr bwMode="auto">
          <a:xfrm>
            <a:off x="6477000" y="4724400"/>
            <a:ext cx="6858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=</a:t>
            </a:r>
          </a:p>
        </p:txBody>
      </p:sp>
      <p:sp>
        <p:nvSpPr>
          <p:cNvPr id="128008" name="Oval 11"/>
          <p:cNvSpPr>
            <a:spLocks noChangeArrowheads="1"/>
          </p:cNvSpPr>
          <p:nvPr/>
        </p:nvSpPr>
        <p:spPr bwMode="auto">
          <a:xfrm>
            <a:off x="5334000" y="5410200"/>
            <a:ext cx="13716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member_id</a:t>
            </a:r>
          </a:p>
        </p:txBody>
      </p:sp>
      <p:sp>
        <p:nvSpPr>
          <p:cNvPr id="128009" name="Oval 12"/>
          <p:cNvSpPr>
            <a:spLocks noChangeArrowheads="1"/>
          </p:cNvSpPr>
          <p:nvPr/>
        </p:nvSpPr>
        <p:spPr bwMode="auto">
          <a:xfrm>
            <a:off x="7162800" y="5410200"/>
            <a:ext cx="8382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‘123’</a:t>
            </a:r>
          </a:p>
        </p:txBody>
      </p:sp>
      <p:sp>
        <p:nvSpPr>
          <p:cNvPr id="128010" name="Oval 13"/>
          <p:cNvSpPr>
            <a:spLocks noChangeArrowheads="1"/>
          </p:cNvSpPr>
          <p:nvPr/>
        </p:nvSpPr>
        <p:spPr bwMode="auto">
          <a:xfrm>
            <a:off x="1752600" y="4648200"/>
            <a:ext cx="12954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exprList</a:t>
            </a:r>
          </a:p>
        </p:txBody>
      </p:sp>
      <p:sp>
        <p:nvSpPr>
          <p:cNvPr id="128011" name="Oval 14"/>
          <p:cNvSpPr>
            <a:spLocks noChangeArrowheads="1"/>
          </p:cNvSpPr>
          <p:nvPr/>
        </p:nvSpPr>
        <p:spPr bwMode="auto">
          <a:xfrm>
            <a:off x="3733800" y="4648200"/>
            <a:ext cx="12954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from</a:t>
            </a:r>
          </a:p>
        </p:txBody>
      </p:sp>
      <p:cxnSp>
        <p:nvCxnSpPr>
          <p:cNvPr id="128012" name="AutoShape 15"/>
          <p:cNvCxnSpPr>
            <a:cxnSpLocks noChangeShapeType="1"/>
            <a:stCxn id="128003" idx="4"/>
            <a:endCxn id="128010" idx="7"/>
          </p:cNvCxnSpPr>
          <p:nvPr/>
        </p:nvCxnSpPr>
        <p:spPr bwMode="auto">
          <a:xfrm flipH="1">
            <a:off x="2859088" y="4038600"/>
            <a:ext cx="1598612" cy="6762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28013" name="AutoShape 16"/>
          <p:cNvCxnSpPr>
            <a:cxnSpLocks noChangeShapeType="1"/>
            <a:stCxn id="128003" idx="4"/>
            <a:endCxn id="128011" idx="0"/>
          </p:cNvCxnSpPr>
          <p:nvPr/>
        </p:nvCxnSpPr>
        <p:spPr bwMode="auto">
          <a:xfrm flipH="1">
            <a:off x="4381500" y="4038600"/>
            <a:ext cx="76200" cy="609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28014" name="AutoShape 17"/>
          <p:cNvCxnSpPr>
            <a:cxnSpLocks noChangeShapeType="1"/>
            <a:stCxn id="128003" idx="4"/>
            <a:endCxn id="128007" idx="1"/>
          </p:cNvCxnSpPr>
          <p:nvPr/>
        </p:nvCxnSpPr>
        <p:spPr bwMode="auto">
          <a:xfrm>
            <a:off x="4457700" y="4038600"/>
            <a:ext cx="2119313" cy="7524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28015" name="AutoShape 18"/>
          <p:cNvCxnSpPr>
            <a:cxnSpLocks noChangeShapeType="1"/>
            <a:stCxn id="128007" idx="4"/>
            <a:endCxn id="128008" idx="0"/>
          </p:cNvCxnSpPr>
          <p:nvPr/>
        </p:nvCxnSpPr>
        <p:spPr bwMode="auto">
          <a:xfrm flipH="1">
            <a:off x="6019800" y="5181600"/>
            <a:ext cx="800100" cy="228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28016" name="AutoShape 19"/>
          <p:cNvCxnSpPr>
            <a:cxnSpLocks noChangeShapeType="1"/>
            <a:stCxn id="128007" idx="4"/>
            <a:endCxn id="128009" idx="0"/>
          </p:cNvCxnSpPr>
          <p:nvPr/>
        </p:nvCxnSpPr>
        <p:spPr bwMode="auto">
          <a:xfrm>
            <a:off x="6819900" y="5181600"/>
            <a:ext cx="762000" cy="228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28017" name="AutoShape 20"/>
          <p:cNvCxnSpPr>
            <a:cxnSpLocks noChangeShapeType="1"/>
            <a:stCxn id="128010" idx="4"/>
            <a:endCxn id="128004" idx="0"/>
          </p:cNvCxnSpPr>
          <p:nvPr/>
        </p:nvCxnSpPr>
        <p:spPr bwMode="auto">
          <a:xfrm flipH="1">
            <a:off x="1524000" y="5105400"/>
            <a:ext cx="87630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28018" name="AutoShape 21"/>
          <p:cNvCxnSpPr>
            <a:cxnSpLocks noChangeShapeType="1"/>
            <a:stCxn id="128010" idx="4"/>
            <a:endCxn id="128005" idx="0"/>
          </p:cNvCxnSpPr>
          <p:nvPr/>
        </p:nvCxnSpPr>
        <p:spPr bwMode="auto">
          <a:xfrm>
            <a:off x="2400300" y="5105400"/>
            <a:ext cx="41910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28019" name="AutoShape 22"/>
          <p:cNvCxnSpPr>
            <a:cxnSpLocks noChangeShapeType="1"/>
            <a:stCxn id="128011" idx="4"/>
            <a:endCxn id="128006" idx="0"/>
          </p:cNvCxnSpPr>
          <p:nvPr/>
        </p:nvCxnSpPr>
        <p:spPr bwMode="auto">
          <a:xfrm>
            <a:off x="4381500" y="5105400"/>
            <a:ext cx="3810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28020" name="AutoShape 23"/>
          <p:cNvSpPr>
            <a:spLocks noChangeArrowheads="1"/>
          </p:cNvSpPr>
          <p:nvPr/>
        </p:nvSpPr>
        <p:spPr bwMode="auto">
          <a:xfrm>
            <a:off x="4191000" y="1143000"/>
            <a:ext cx="685800" cy="685800"/>
          </a:xfrm>
          <a:prstGeom prst="downArrow">
            <a:avLst>
              <a:gd name="adj1" fmla="val 50000"/>
              <a:gd name="adj2" fmla="val 25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zh-CN">
              <a:ea typeface="宋体" charset="-122"/>
            </a:endParaRPr>
          </a:p>
        </p:txBody>
      </p:sp>
      <p:sp>
        <p:nvSpPr>
          <p:cNvPr id="128021" name="AutoShape 24"/>
          <p:cNvSpPr>
            <a:spLocks noChangeArrowheads="1"/>
          </p:cNvSpPr>
          <p:nvPr/>
        </p:nvSpPr>
        <p:spPr bwMode="auto">
          <a:xfrm>
            <a:off x="4191000" y="2743200"/>
            <a:ext cx="685800" cy="685800"/>
          </a:xfrm>
          <a:prstGeom prst="downArrow">
            <a:avLst>
              <a:gd name="adj1" fmla="val 50000"/>
              <a:gd name="adj2" fmla="val 25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ea typeface="微软雅黑"/>
                <a:cs typeface="微软雅黑"/>
              </a:rPr>
              <a:t>架构演变</a:t>
            </a:r>
          </a:p>
        </p:txBody>
      </p:sp>
      <p:sp>
        <p:nvSpPr>
          <p:cNvPr id="12902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latin typeface="微软雅黑"/>
                <a:ea typeface="微软雅黑"/>
                <a:cs typeface="微软雅黑"/>
              </a:rPr>
              <a:t>基于</a:t>
            </a:r>
            <a:r>
              <a:rPr lang="en-US" altLang="zh-CN" smtClean="0">
                <a:latin typeface="微软雅黑"/>
                <a:ea typeface="微软雅黑"/>
                <a:cs typeface="微软雅黑"/>
              </a:rPr>
              <a:t>JavaCC</a:t>
            </a:r>
            <a:r>
              <a:rPr lang="zh-CN" altLang="en-US" smtClean="0">
                <a:latin typeface="微软雅黑"/>
                <a:ea typeface="微软雅黑"/>
                <a:cs typeface="微软雅黑"/>
              </a:rPr>
              <a:t>生成</a:t>
            </a:r>
            <a:r>
              <a:rPr lang="en-US" altLang="zh-CN" smtClean="0">
                <a:latin typeface="微软雅黑"/>
                <a:ea typeface="微软雅黑"/>
                <a:cs typeface="微软雅黑"/>
              </a:rPr>
              <a:t>SQL Parser</a:t>
            </a:r>
          </a:p>
          <a:p>
            <a:pPr lvl="1" eaLnBrk="1" hangingPunct="1"/>
            <a:r>
              <a:rPr lang="zh-CN" altLang="en-US" smtClean="0">
                <a:latin typeface="宋体" charset="-122"/>
              </a:rPr>
              <a:t>性能较差，优化不方便</a:t>
            </a:r>
          </a:p>
          <a:p>
            <a:pPr eaLnBrk="1" hangingPunct="1"/>
            <a:endParaRPr lang="zh-CN" altLang="en-US" smtClean="0">
              <a:latin typeface="微软雅黑"/>
              <a:ea typeface="微软雅黑"/>
              <a:cs typeface="微软雅黑"/>
            </a:endParaRPr>
          </a:p>
          <a:p>
            <a:pPr eaLnBrk="1" hangingPunct="1"/>
            <a:r>
              <a:rPr lang="zh-CN" altLang="en-US" smtClean="0">
                <a:latin typeface="微软雅黑"/>
                <a:ea typeface="微软雅黑"/>
                <a:cs typeface="微软雅黑"/>
              </a:rPr>
              <a:t>仿照</a:t>
            </a:r>
            <a:r>
              <a:rPr lang="en-US" altLang="zh-CN" smtClean="0">
                <a:latin typeface="微软雅黑"/>
                <a:ea typeface="微软雅黑"/>
                <a:cs typeface="微软雅黑"/>
              </a:rPr>
              <a:t>ANTLR</a:t>
            </a:r>
            <a:r>
              <a:rPr lang="zh-CN" altLang="en-US" smtClean="0">
                <a:latin typeface="微软雅黑"/>
                <a:ea typeface="微软雅黑"/>
                <a:cs typeface="微软雅黑"/>
              </a:rPr>
              <a:t>生成的</a:t>
            </a:r>
            <a:r>
              <a:rPr lang="en-US" altLang="zh-CN" smtClean="0">
                <a:latin typeface="微软雅黑"/>
                <a:ea typeface="微软雅黑"/>
                <a:cs typeface="微软雅黑"/>
              </a:rPr>
              <a:t>Parser</a:t>
            </a:r>
            <a:r>
              <a:rPr lang="zh-CN" altLang="en-US" smtClean="0">
                <a:latin typeface="微软雅黑"/>
                <a:ea typeface="微软雅黑"/>
                <a:cs typeface="微软雅黑"/>
              </a:rPr>
              <a:t>结构手写</a:t>
            </a:r>
          </a:p>
          <a:p>
            <a:pPr lvl="1" eaLnBrk="1" hangingPunct="1"/>
            <a:r>
              <a:rPr lang="zh-CN" altLang="en-US" smtClean="0">
                <a:latin typeface="宋体" charset="-122"/>
              </a:rPr>
              <a:t>基于</a:t>
            </a:r>
            <a:r>
              <a:rPr lang="en-US" altLang="zh-CN" smtClean="0">
                <a:latin typeface="宋体" charset="-122"/>
              </a:rPr>
              <a:t>LL(*)</a:t>
            </a:r>
            <a:r>
              <a:rPr lang="zh-CN" altLang="en-US" smtClean="0">
                <a:latin typeface="宋体" charset="-122"/>
              </a:rPr>
              <a:t>的识别器，中间对象过多</a:t>
            </a:r>
          </a:p>
          <a:p>
            <a:pPr eaLnBrk="1" hangingPunct="1"/>
            <a:endParaRPr lang="zh-CN" altLang="en-US" smtClean="0">
              <a:latin typeface="微软雅黑"/>
              <a:ea typeface="微软雅黑"/>
              <a:cs typeface="微软雅黑"/>
            </a:endParaRPr>
          </a:p>
          <a:p>
            <a:pPr eaLnBrk="1" hangingPunct="1"/>
            <a:r>
              <a:rPr lang="zh-CN" altLang="en-US" smtClean="0">
                <a:latin typeface="微软雅黑"/>
                <a:ea typeface="微软雅黑"/>
                <a:cs typeface="微软雅黑"/>
              </a:rPr>
              <a:t>基于</a:t>
            </a:r>
            <a:r>
              <a:rPr lang="en-US" altLang="zh-CN" smtClean="0">
                <a:latin typeface="微软雅黑"/>
                <a:ea typeface="微软雅黑"/>
                <a:cs typeface="微软雅黑"/>
              </a:rPr>
              <a:t>LL(2)</a:t>
            </a:r>
            <a:r>
              <a:rPr lang="zh-CN" altLang="en-US" smtClean="0">
                <a:latin typeface="微软雅黑"/>
                <a:ea typeface="微软雅黑"/>
                <a:cs typeface="微软雅黑"/>
              </a:rPr>
              <a:t>识别器的手写</a:t>
            </a:r>
          </a:p>
          <a:p>
            <a:pPr lvl="1" eaLnBrk="1" hangingPunct="1">
              <a:buFontTx/>
              <a:buNone/>
            </a:pPr>
            <a:endParaRPr lang="zh-CN" altLang="en-US" smtClean="0">
              <a:latin typeface="微软雅黑"/>
              <a:ea typeface="微软雅黑"/>
              <a:cs typeface="微软雅黑"/>
            </a:endParaRPr>
          </a:p>
          <a:p>
            <a:pPr eaLnBrk="1" hangingPunct="1"/>
            <a:endParaRPr lang="en-US" altLang="zh-CN" smtClean="0">
              <a:latin typeface="微软雅黑"/>
              <a:ea typeface="微软雅黑"/>
              <a:cs typeface="微软雅黑"/>
            </a:endParaRPr>
          </a:p>
        </p:txBody>
      </p:sp>
      <p:sp>
        <p:nvSpPr>
          <p:cNvPr id="129027" name="AutoShape 4"/>
          <p:cNvSpPr>
            <a:spLocks/>
          </p:cNvSpPr>
          <p:nvPr/>
        </p:nvSpPr>
        <p:spPr bwMode="auto">
          <a:xfrm>
            <a:off x="3581400" y="2743200"/>
            <a:ext cx="1219200" cy="533400"/>
          </a:xfrm>
          <a:prstGeom prst="downArrow">
            <a:avLst>
              <a:gd name="adj1" fmla="val 46093"/>
              <a:gd name="adj2" fmla="val 44347"/>
            </a:avLst>
          </a:prstGeom>
          <a:solidFill>
            <a:schemeClr val="accent1"/>
          </a:solidFill>
          <a:ln w="158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29028" name="AutoShape 5"/>
          <p:cNvSpPr>
            <a:spLocks/>
          </p:cNvSpPr>
          <p:nvPr/>
        </p:nvSpPr>
        <p:spPr bwMode="auto">
          <a:xfrm>
            <a:off x="3581400" y="4419600"/>
            <a:ext cx="1219200" cy="533400"/>
          </a:xfrm>
          <a:prstGeom prst="downArrow">
            <a:avLst>
              <a:gd name="adj1" fmla="val 46093"/>
              <a:gd name="adj2" fmla="val 44347"/>
            </a:avLst>
          </a:prstGeom>
          <a:solidFill>
            <a:schemeClr val="accent1"/>
          </a:solidFill>
          <a:ln w="158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29029" name="Text Box 4"/>
          <p:cNvSpPr txBox="1">
            <a:spLocks noChangeArrowheads="1"/>
          </p:cNvSpPr>
          <p:nvPr/>
        </p:nvSpPr>
        <p:spPr bwMode="auto">
          <a:xfrm>
            <a:off x="6934200" y="1600200"/>
            <a:ext cx="17526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zh-CN" altLang="en-US" sz="3200">
                <a:latin typeface="Courier New" pitchFamily="49" charset="0"/>
                <a:ea typeface="宋体" charset="-122"/>
              </a:rPr>
              <a:t>第一版</a:t>
            </a:r>
          </a:p>
        </p:txBody>
      </p:sp>
      <p:sp>
        <p:nvSpPr>
          <p:cNvPr id="129030" name="Text Box 4"/>
          <p:cNvSpPr txBox="1">
            <a:spLocks noChangeArrowheads="1"/>
          </p:cNvSpPr>
          <p:nvPr/>
        </p:nvSpPr>
        <p:spPr bwMode="auto">
          <a:xfrm>
            <a:off x="6934200" y="3230563"/>
            <a:ext cx="17526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zh-CN" altLang="en-US" sz="3200">
                <a:latin typeface="Courier New" pitchFamily="49" charset="0"/>
                <a:ea typeface="宋体" charset="-122"/>
              </a:rPr>
              <a:t>第二版</a:t>
            </a:r>
          </a:p>
        </p:txBody>
      </p:sp>
      <p:sp>
        <p:nvSpPr>
          <p:cNvPr id="129031" name="Text Box 4"/>
          <p:cNvSpPr txBox="1">
            <a:spLocks noChangeArrowheads="1"/>
          </p:cNvSpPr>
          <p:nvPr/>
        </p:nvSpPr>
        <p:spPr bwMode="auto">
          <a:xfrm>
            <a:off x="6934200" y="4876800"/>
            <a:ext cx="17526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zh-CN" altLang="en-US" sz="3200">
                <a:latin typeface="Courier New" pitchFamily="49" charset="0"/>
                <a:ea typeface="宋体" charset="-122"/>
              </a:rPr>
              <a:t>第三版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49" name="Freeform 17"/>
          <p:cNvSpPr>
            <a:spLocks/>
          </p:cNvSpPr>
          <p:nvPr/>
        </p:nvSpPr>
        <p:spPr bwMode="auto">
          <a:xfrm>
            <a:off x="457200" y="1919288"/>
            <a:ext cx="3276600" cy="1066800"/>
          </a:xfrm>
          <a:custGeom>
            <a:avLst/>
            <a:gdLst>
              <a:gd name="T0" fmla="*/ 2147483647 w 2064"/>
              <a:gd name="T1" fmla="*/ 2147483647 h 672"/>
              <a:gd name="T2" fmla="*/ 2147483647 w 2064"/>
              <a:gd name="T3" fmla="*/ 2147483647 h 672"/>
              <a:gd name="T4" fmla="*/ 0 w 2064"/>
              <a:gd name="T5" fmla="*/ 2147483647 h 672"/>
              <a:gd name="T6" fmla="*/ 0 w 2064"/>
              <a:gd name="T7" fmla="*/ 0 h 672"/>
              <a:gd name="T8" fmla="*/ 2147483647 w 2064"/>
              <a:gd name="T9" fmla="*/ 0 h 672"/>
              <a:gd name="T10" fmla="*/ 2147483647 w 2064"/>
              <a:gd name="T11" fmla="*/ 2147483647 h 672"/>
              <a:gd name="T12" fmla="*/ 2147483647 w 2064"/>
              <a:gd name="T13" fmla="*/ 2147483647 h 6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064"/>
              <a:gd name="T22" fmla="*/ 0 h 672"/>
              <a:gd name="T23" fmla="*/ 2064 w 2064"/>
              <a:gd name="T24" fmla="*/ 672 h 67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064" h="672">
                <a:moveTo>
                  <a:pt x="1392" y="672"/>
                </a:moveTo>
                <a:lnTo>
                  <a:pt x="1392" y="336"/>
                </a:lnTo>
                <a:lnTo>
                  <a:pt x="0" y="336"/>
                </a:lnTo>
                <a:lnTo>
                  <a:pt x="0" y="0"/>
                </a:lnTo>
                <a:lnTo>
                  <a:pt x="2064" y="0"/>
                </a:lnTo>
                <a:lnTo>
                  <a:pt x="2064" y="672"/>
                </a:lnTo>
                <a:lnTo>
                  <a:pt x="1392" y="672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005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latin typeface="微软雅黑"/>
                <a:ea typeface="微软雅黑"/>
                <a:cs typeface="微软雅黑"/>
              </a:rPr>
              <a:t>架构调整</a:t>
            </a:r>
          </a:p>
        </p:txBody>
      </p:sp>
      <p:sp>
        <p:nvSpPr>
          <p:cNvPr id="130051" name="Rectangle 5"/>
          <p:cNvSpPr>
            <a:spLocks noChangeArrowheads="1"/>
          </p:cNvSpPr>
          <p:nvPr/>
        </p:nvSpPr>
        <p:spPr bwMode="auto">
          <a:xfrm>
            <a:off x="457200" y="3671888"/>
            <a:ext cx="32766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微软雅黑"/>
              </a:rPr>
              <a:t>Lexer</a:t>
            </a:r>
          </a:p>
        </p:txBody>
      </p:sp>
      <p:sp>
        <p:nvSpPr>
          <p:cNvPr id="130052" name="Rectangle 6"/>
          <p:cNvSpPr>
            <a:spLocks noChangeArrowheads="1"/>
          </p:cNvSpPr>
          <p:nvPr/>
        </p:nvSpPr>
        <p:spPr bwMode="auto">
          <a:xfrm>
            <a:off x="457200" y="3138488"/>
            <a:ext cx="762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微软雅黑"/>
              </a:rPr>
              <a:t>token</a:t>
            </a:r>
          </a:p>
        </p:txBody>
      </p:sp>
      <p:sp>
        <p:nvSpPr>
          <p:cNvPr id="130053" name="Rectangle 7"/>
          <p:cNvSpPr>
            <a:spLocks noChangeArrowheads="1"/>
          </p:cNvSpPr>
          <p:nvPr/>
        </p:nvSpPr>
        <p:spPr bwMode="auto">
          <a:xfrm>
            <a:off x="1295400" y="3138488"/>
            <a:ext cx="762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微软雅黑"/>
              </a:rPr>
              <a:t>token</a:t>
            </a:r>
          </a:p>
        </p:txBody>
      </p:sp>
      <p:sp>
        <p:nvSpPr>
          <p:cNvPr id="130054" name="Rectangle 8"/>
          <p:cNvSpPr>
            <a:spLocks noChangeArrowheads="1"/>
          </p:cNvSpPr>
          <p:nvPr/>
        </p:nvSpPr>
        <p:spPr bwMode="auto">
          <a:xfrm>
            <a:off x="2133600" y="3138488"/>
            <a:ext cx="762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微软雅黑"/>
              </a:rPr>
              <a:t>token</a:t>
            </a:r>
          </a:p>
        </p:txBody>
      </p:sp>
      <p:sp>
        <p:nvSpPr>
          <p:cNvPr id="130055" name="Rectangle 9"/>
          <p:cNvSpPr>
            <a:spLocks noChangeArrowheads="1"/>
          </p:cNvSpPr>
          <p:nvPr/>
        </p:nvSpPr>
        <p:spPr bwMode="auto">
          <a:xfrm>
            <a:off x="2971800" y="3138488"/>
            <a:ext cx="762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微软雅黑"/>
              </a:rPr>
              <a:t>token</a:t>
            </a:r>
          </a:p>
        </p:txBody>
      </p:sp>
      <p:sp>
        <p:nvSpPr>
          <p:cNvPr id="130056" name="Rectangle 12"/>
          <p:cNvSpPr>
            <a:spLocks noChangeArrowheads="1"/>
          </p:cNvSpPr>
          <p:nvPr/>
        </p:nvSpPr>
        <p:spPr bwMode="auto">
          <a:xfrm>
            <a:off x="457200" y="4281488"/>
            <a:ext cx="32766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微软雅黑"/>
              </a:rPr>
              <a:t>Char Reader</a:t>
            </a:r>
          </a:p>
        </p:txBody>
      </p:sp>
      <p:sp>
        <p:nvSpPr>
          <p:cNvPr id="130057" name="Rectangle 13"/>
          <p:cNvSpPr>
            <a:spLocks noChangeArrowheads="1"/>
          </p:cNvSpPr>
          <p:nvPr/>
        </p:nvSpPr>
        <p:spPr bwMode="auto">
          <a:xfrm>
            <a:off x="457200" y="2528888"/>
            <a:ext cx="21336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微软雅黑"/>
              </a:rPr>
              <a:t>Expression Parser</a:t>
            </a:r>
          </a:p>
        </p:txBody>
      </p:sp>
      <p:sp>
        <p:nvSpPr>
          <p:cNvPr id="130058" name="Rectangle 14"/>
          <p:cNvSpPr>
            <a:spLocks noChangeArrowheads="1"/>
          </p:cNvSpPr>
          <p:nvPr/>
        </p:nvSpPr>
        <p:spPr bwMode="auto">
          <a:xfrm>
            <a:off x="1219200" y="199548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微软雅黑"/>
              </a:rPr>
              <a:t>DML Parser</a:t>
            </a:r>
          </a:p>
        </p:txBody>
      </p:sp>
      <p:sp>
        <p:nvSpPr>
          <p:cNvPr id="130059" name="Rectangle 15"/>
          <p:cNvSpPr>
            <a:spLocks noChangeArrowheads="1"/>
          </p:cNvSpPr>
          <p:nvPr/>
        </p:nvSpPr>
        <p:spPr bwMode="auto">
          <a:xfrm>
            <a:off x="457200" y="4891088"/>
            <a:ext cx="32766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微软雅黑"/>
              </a:rPr>
              <a:t>SQL String</a:t>
            </a:r>
          </a:p>
        </p:txBody>
      </p:sp>
      <p:sp>
        <p:nvSpPr>
          <p:cNvPr id="130060" name="Freeform 18"/>
          <p:cNvSpPr>
            <a:spLocks/>
          </p:cNvSpPr>
          <p:nvPr/>
        </p:nvSpPr>
        <p:spPr bwMode="auto">
          <a:xfrm>
            <a:off x="5334000" y="2681288"/>
            <a:ext cx="3276600" cy="1066800"/>
          </a:xfrm>
          <a:custGeom>
            <a:avLst/>
            <a:gdLst>
              <a:gd name="T0" fmla="*/ 2147483647 w 2064"/>
              <a:gd name="T1" fmla="*/ 2147483647 h 672"/>
              <a:gd name="T2" fmla="*/ 2147483647 w 2064"/>
              <a:gd name="T3" fmla="*/ 2147483647 h 672"/>
              <a:gd name="T4" fmla="*/ 0 w 2064"/>
              <a:gd name="T5" fmla="*/ 2147483647 h 672"/>
              <a:gd name="T6" fmla="*/ 0 w 2064"/>
              <a:gd name="T7" fmla="*/ 0 h 672"/>
              <a:gd name="T8" fmla="*/ 2147483647 w 2064"/>
              <a:gd name="T9" fmla="*/ 0 h 672"/>
              <a:gd name="T10" fmla="*/ 2147483647 w 2064"/>
              <a:gd name="T11" fmla="*/ 2147483647 h 672"/>
              <a:gd name="T12" fmla="*/ 2147483647 w 2064"/>
              <a:gd name="T13" fmla="*/ 2147483647 h 6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064"/>
              <a:gd name="T22" fmla="*/ 0 h 672"/>
              <a:gd name="T23" fmla="*/ 2064 w 2064"/>
              <a:gd name="T24" fmla="*/ 672 h 67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064" h="672">
                <a:moveTo>
                  <a:pt x="1392" y="672"/>
                </a:moveTo>
                <a:lnTo>
                  <a:pt x="1392" y="336"/>
                </a:lnTo>
                <a:lnTo>
                  <a:pt x="0" y="336"/>
                </a:lnTo>
                <a:lnTo>
                  <a:pt x="0" y="0"/>
                </a:lnTo>
                <a:lnTo>
                  <a:pt x="2064" y="0"/>
                </a:lnTo>
                <a:lnTo>
                  <a:pt x="2064" y="672"/>
                </a:lnTo>
                <a:lnTo>
                  <a:pt x="1392" y="672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0061" name="Rectangle 19"/>
          <p:cNvSpPr>
            <a:spLocks noChangeArrowheads="1"/>
          </p:cNvSpPr>
          <p:nvPr/>
        </p:nvSpPr>
        <p:spPr bwMode="auto">
          <a:xfrm>
            <a:off x="5334000" y="3824288"/>
            <a:ext cx="3276600" cy="82391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b" anchorCtr="1"/>
          <a:lstStyle/>
          <a:p>
            <a:pPr algn="ctr"/>
            <a:r>
              <a:rPr lang="en-US" altLang="zh-CN">
                <a:latin typeface="微软雅黑"/>
              </a:rPr>
              <a:t>Lexer</a:t>
            </a:r>
          </a:p>
        </p:txBody>
      </p:sp>
      <p:sp>
        <p:nvSpPr>
          <p:cNvPr id="130062" name="Rectangle 20"/>
          <p:cNvSpPr>
            <a:spLocks noChangeArrowheads="1"/>
          </p:cNvSpPr>
          <p:nvPr/>
        </p:nvSpPr>
        <p:spPr bwMode="auto">
          <a:xfrm>
            <a:off x="5334000" y="3810000"/>
            <a:ext cx="7620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微软雅黑"/>
              </a:rPr>
              <a:t>token</a:t>
            </a:r>
          </a:p>
        </p:txBody>
      </p:sp>
      <p:sp>
        <p:nvSpPr>
          <p:cNvPr id="130063" name="Rectangle 25"/>
          <p:cNvSpPr>
            <a:spLocks noChangeArrowheads="1"/>
          </p:cNvSpPr>
          <p:nvPr/>
        </p:nvSpPr>
        <p:spPr bwMode="auto">
          <a:xfrm>
            <a:off x="5334000" y="3290888"/>
            <a:ext cx="21336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微软雅黑"/>
              </a:rPr>
              <a:t>Expression Parser</a:t>
            </a:r>
          </a:p>
        </p:txBody>
      </p:sp>
      <p:sp>
        <p:nvSpPr>
          <p:cNvPr id="130064" name="Rectangle 26"/>
          <p:cNvSpPr>
            <a:spLocks noChangeArrowheads="1"/>
          </p:cNvSpPr>
          <p:nvPr/>
        </p:nvSpPr>
        <p:spPr bwMode="auto">
          <a:xfrm>
            <a:off x="6096000" y="275748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微软雅黑"/>
              </a:rPr>
              <a:t>DML Parser</a:t>
            </a:r>
          </a:p>
        </p:txBody>
      </p:sp>
      <p:sp>
        <p:nvSpPr>
          <p:cNvPr id="130065" name="Rectangle 27"/>
          <p:cNvSpPr>
            <a:spLocks noChangeArrowheads="1"/>
          </p:cNvSpPr>
          <p:nvPr/>
        </p:nvSpPr>
        <p:spPr bwMode="auto">
          <a:xfrm>
            <a:off x="7543800" y="4267200"/>
            <a:ext cx="10668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latin typeface="微软雅黑"/>
              </a:rPr>
              <a:t>SQL char[]</a:t>
            </a:r>
          </a:p>
        </p:txBody>
      </p:sp>
      <p:sp>
        <p:nvSpPr>
          <p:cNvPr id="130066" name="AutoShape 28"/>
          <p:cNvSpPr>
            <a:spLocks noChangeArrowheads="1"/>
          </p:cNvSpPr>
          <p:nvPr/>
        </p:nvSpPr>
        <p:spPr bwMode="auto">
          <a:xfrm>
            <a:off x="4038600" y="3138488"/>
            <a:ext cx="1066800" cy="762000"/>
          </a:xfrm>
          <a:prstGeom prst="rightArrow">
            <a:avLst>
              <a:gd name="adj1" fmla="val 50000"/>
              <a:gd name="adj2" fmla="val 35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zh-CN">
              <a:latin typeface="微软雅黑"/>
            </a:endParaRPr>
          </a:p>
        </p:txBody>
      </p:sp>
      <p:sp>
        <p:nvSpPr>
          <p:cNvPr id="130067" name="Rectangle 29"/>
          <p:cNvSpPr>
            <a:spLocks noChangeArrowheads="1"/>
          </p:cNvSpPr>
          <p:nvPr/>
        </p:nvSpPr>
        <p:spPr bwMode="auto">
          <a:xfrm>
            <a:off x="6172200" y="4876800"/>
            <a:ext cx="1828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000">
                <a:latin typeface="微软雅黑"/>
              </a:rPr>
              <a:t>第三版</a:t>
            </a:r>
            <a:r>
              <a:rPr lang="en-US" altLang="zh-CN" sz="2000">
                <a:latin typeface="微软雅黑"/>
              </a:rPr>
              <a:t>LL(2)</a:t>
            </a:r>
          </a:p>
        </p:txBody>
      </p:sp>
      <p:sp>
        <p:nvSpPr>
          <p:cNvPr id="130068" name="Rectangle 30"/>
          <p:cNvSpPr>
            <a:spLocks noChangeArrowheads="1"/>
          </p:cNvSpPr>
          <p:nvPr/>
        </p:nvSpPr>
        <p:spPr bwMode="auto">
          <a:xfrm>
            <a:off x="1219200" y="5438775"/>
            <a:ext cx="1828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2000">
                <a:latin typeface="微软雅黑"/>
              </a:rPr>
              <a:t>第二版</a:t>
            </a:r>
            <a:r>
              <a:rPr lang="en-US" altLang="zh-CN" sz="2000">
                <a:latin typeface="微软雅黑"/>
              </a:rPr>
              <a:t>LL(*)</a:t>
            </a:r>
          </a:p>
        </p:txBody>
      </p:sp>
      <p:sp>
        <p:nvSpPr>
          <p:cNvPr id="130069" name="Rectangle 20"/>
          <p:cNvSpPr>
            <a:spLocks noChangeArrowheads="1"/>
          </p:cNvSpPr>
          <p:nvPr/>
        </p:nvSpPr>
        <p:spPr bwMode="auto">
          <a:xfrm>
            <a:off x="6096000" y="3810000"/>
            <a:ext cx="7620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微软雅黑"/>
              </a:rPr>
              <a:t>cache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ea typeface="微软雅黑"/>
                <a:cs typeface="微软雅黑"/>
              </a:rPr>
              <a:t>功能对比</a:t>
            </a:r>
          </a:p>
        </p:txBody>
      </p:sp>
      <p:graphicFrame>
        <p:nvGraphicFramePr>
          <p:cNvPr id="464991" name="Group 95"/>
          <p:cNvGraphicFramePr>
            <a:graphicFrameLocks noGrp="1"/>
          </p:cNvGraphicFramePr>
          <p:nvPr>
            <p:ph idx="4294967295"/>
          </p:nvPr>
        </p:nvGraphicFramePr>
        <p:xfrm>
          <a:off x="914400" y="1447800"/>
          <a:ext cx="7362825" cy="4889500"/>
        </p:xfrm>
        <a:graphic>
          <a:graphicData uri="http://schemas.openxmlformats.org/drawingml/2006/table">
            <a:tbl>
              <a:tblPr/>
              <a:tblGrid>
                <a:gridCol w="4495800"/>
                <a:gridCol w="960438"/>
                <a:gridCol w="960437"/>
                <a:gridCol w="946150"/>
              </a:tblGrid>
              <a:tr h="444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微软雅黑"/>
                        <a:cs typeface="微软雅黑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F5F5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第一版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F5F5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第二版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F5F5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第三版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F5F5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微软雅黑"/>
                          <a:cs typeface="微软雅黑"/>
                        </a:rPr>
                        <a:t>‘don\’t’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NO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YES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YES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微软雅黑"/>
                          <a:cs typeface="微软雅黑"/>
                        </a:rPr>
                        <a:t>.123e-2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YES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YES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YES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微软雅黑"/>
                          <a:cs typeface="微软雅黑"/>
                        </a:rPr>
                        <a:t>7Eleven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NO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YES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YES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微软雅黑"/>
                          <a:cs typeface="微软雅黑"/>
                        </a:rPr>
                        <a:t>_latin 0x123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NO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YES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YES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微软雅黑"/>
                          <a:cs typeface="微软雅黑"/>
                        </a:rPr>
                        <a:t>‘abc’ ‘def’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NO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YES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YES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微软雅黑"/>
                          <a:cs typeface="微软雅黑"/>
                        </a:rPr>
                        <a:t>INSERT('Quadratic', 3, 4, 'What')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NO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YES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YES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微软雅黑"/>
                          <a:cs typeface="微软雅黑"/>
                        </a:rPr>
                        <a:t>TRIM(LEADING 'x' FROM 'xxxbarxxx')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NO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YES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YES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微软雅黑"/>
                          <a:cs typeface="微软雅黑"/>
                        </a:rPr>
                        <a:t>Union select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YES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YES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YES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微软雅黑"/>
                          <a:cs typeface="微软雅黑"/>
                        </a:rPr>
                        <a:t>table join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PART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PART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YES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……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微软雅黑"/>
                          <a:cs typeface="微软雅黑"/>
                        </a:rPr>
                        <a:t>……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1" name="Rectangle 19"/>
          <p:cNvSpPr>
            <a:spLocks noChangeArrowheads="1"/>
          </p:cNvSpPr>
          <p:nvPr/>
        </p:nvSpPr>
        <p:spPr bwMode="auto">
          <a:xfrm>
            <a:off x="1295400" y="4572000"/>
            <a:ext cx="6858000" cy="9906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b"/>
          <a:lstStyle/>
          <a:p>
            <a:pPr algn="ctr"/>
            <a:r>
              <a:rPr lang="zh-CN" altLang="en-US">
                <a:latin typeface="微软雅黑"/>
              </a:rPr>
              <a:t>基本元素</a:t>
            </a:r>
          </a:p>
        </p:txBody>
      </p:sp>
      <p:sp>
        <p:nvSpPr>
          <p:cNvPr id="133122" name="Rectangle 25"/>
          <p:cNvSpPr>
            <a:spLocks noChangeArrowheads="1"/>
          </p:cNvSpPr>
          <p:nvPr/>
        </p:nvSpPr>
        <p:spPr bwMode="auto">
          <a:xfrm>
            <a:off x="1295400" y="3429000"/>
            <a:ext cx="5867400" cy="9906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b"/>
          <a:lstStyle/>
          <a:p>
            <a:pPr algn="ctr"/>
            <a:r>
              <a:rPr lang="zh-CN" altLang="en-US">
                <a:latin typeface="微软雅黑"/>
              </a:rPr>
              <a:t>语法元素</a:t>
            </a:r>
          </a:p>
        </p:txBody>
      </p:sp>
      <p:sp>
        <p:nvSpPr>
          <p:cNvPr id="133123" name="Freeform 35"/>
          <p:cNvSpPr>
            <a:spLocks/>
          </p:cNvSpPr>
          <p:nvPr/>
        </p:nvSpPr>
        <p:spPr bwMode="auto">
          <a:xfrm>
            <a:off x="1295400" y="2133600"/>
            <a:ext cx="6858000" cy="2286000"/>
          </a:xfrm>
          <a:custGeom>
            <a:avLst/>
            <a:gdLst>
              <a:gd name="T0" fmla="*/ 2147483647 w 4320"/>
              <a:gd name="T1" fmla="*/ 2147483647 h 1440"/>
              <a:gd name="T2" fmla="*/ 2147483647 w 4320"/>
              <a:gd name="T3" fmla="*/ 2147483647 h 1440"/>
              <a:gd name="T4" fmla="*/ 0 w 4320"/>
              <a:gd name="T5" fmla="*/ 2147483647 h 1440"/>
              <a:gd name="T6" fmla="*/ 0 w 4320"/>
              <a:gd name="T7" fmla="*/ 0 h 1440"/>
              <a:gd name="T8" fmla="*/ 2147483647 w 4320"/>
              <a:gd name="T9" fmla="*/ 0 h 1440"/>
              <a:gd name="T10" fmla="*/ 2147483647 w 4320"/>
              <a:gd name="T11" fmla="*/ 2147483647 h 1440"/>
              <a:gd name="T12" fmla="*/ 2147483647 w 4320"/>
              <a:gd name="T13" fmla="*/ 2147483647 h 144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320"/>
              <a:gd name="T22" fmla="*/ 0 h 1440"/>
              <a:gd name="T23" fmla="*/ 4320 w 4320"/>
              <a:gd name="T24" fmla="*/ 1440 h 144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320" h="1440">
                <a:moveTo>
                  <a:pt x="3744" y="1440"/>
                </a:moveTo>
                <a:lnTo>
                  <a:pt x="3744" y="720"/>
                </a:lnTo>
                <a:lnTo>
                  <a:pt x="0" y="720"/>
                </a:lnTo>
                <a:lnTo>
                  <a:pt x="0" y="0"/>
                </a:lnTo>
                <a:lnTo>
                  <a:pt x="4320" y="0"/>
                </a:lnTo>
                <a:lnTo>
                  <a:pt x="4320" y="1440"/>
                </a:lnTo>
                <a:lnTo>
                  <a:pt x="3744" y="1440"/>
                </a:lnTo>
                <a:close/>
              </a:path>
            </a:pathLst>
          </a:custGeom>
          <a:solidFill>
            <a:srgbClr val="DDDDD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3124" name="Rectangle 1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latin typeface="微软雅黑"/>
                <a:ea typeface="微软雅黑"/>
                <a:cs typeface="微软雅黑"/>
              </a:rPr>
              <a:t>MySQL 5.5 </a:t>
            </a:r>
            <a:r>
              <a:rPr lang="zh-CN" altLang="en-US" smtClean="0">
                <a:latin typeface="微软雅黑"/>
                <a:ea typeface="微软雅黑"/>
                <a:cs typeface="微软雅黑"/>
              </a:rPr>
              <a:t>语法结构</a:t>
            </a:r>
          </a:p>
        </p:txBody>
      </p:sp>
      <p:sp>
        <p:nvSpPr>
          <p:cNvPr id="133125" name="Rectangle 15"/>
          <p:cNvSpPr>
            <a:spLocks noChangeArrowheads="1"/>
          </p:cNvSpPr>
          <p:nvPr/>
        </p:nvSpPr>
        <p:spPr bwMode="auto">
          <a:xfrm>
            <a:off x="1524000" y="4724400"/>
            <a:ext cx="9906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微软雅黑"/>
              </a:rPr>
              <a:t>Identifier</a:t>
            </a:r>
          </a:p>
        </p:txBody>
      </p:sp>
      <p:sp>
        <p:nvSpPr>
          <p:cNvPr id="133126" name="Rectangle 16"/>
          <p:cNvSpPr>
            <a:spLocks noChangeArrowheads="1"/>
          </p:cNvSpPr>
          <p:nvPr/>
        </p:nvSpPr>
        <p:spPr bwMode="auto">
          <a:xfrm>
            <a:off x="2743200" y="4724400"/>
            <a:ext cx="10668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微软雅黑"/>
              </a:rPr>
              <a:t>Keyword</a:t>
            </a:r>
          </a:p>
        </p:txBody>
      </p:sp>
      <p:sp>
        <p:nvSpPr>
          <p:cNvPr id="133127" name="Rectangle 17"/>
          <p:cNvSpPr>
            <a:spLocks noChangeArrowheads="1"/>
          </p:cNvSpPr>
          <p:nvPr/>
        </p:nvSpPr>
        <p:spPr bwMode="auto">
          <a:xfrm>
            <a:off x="5410200" y="4724400"/>
            <a:ext cx="838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微软雅黑"/>
              </a:rPr>
              <a:t>Literal</a:t>
            </a:r>
          </a:p>
        </p:txBody>
      </p:sp>
      <p:sp>
        <p:nvSpPr>
          <p:cNvPr id="133128" name="Rectangle 18"/>
          <p:cNvSpPr>
            <a:spLocks noChangeArrowheads="1"/>
          </p:cNvSpPr>
          <p:nvPr/>
        </p:nvSpPr>
        <p:spPr bwMode="auto">
          <a:xfrm>
            <a:off x="6477000" y="4724400"/>
            <a:ext cx="15240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微软雅黑"/>
              </a:rPr>
              <a:t>Punctuation</a:t>
            </a:r>
          </a:p>
        </p:txBody>
      </p:sp>
      <p:sp>
        <p:nvSpPr>
          <p:cNvPr id="133129" name="Rectangle 20"/>
          <p:cNvSpPr>
            <a:spLocks noChangeArrowheads="1"/>
          </p:cNvSpPr>
          <p:nvPr/>
        </p:nvSpPr>
        <p:spPr bwMode="auto">
          <a:xfrm>
            <a:off x="5867400" y="3581400"/>
            <a:ext cx="11430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latin typeface="微软雅黑"/>
              </a:rPr>
              <a:t>表达式</a:t>
            </a:r>
          </a:p>
        </p:txBody>
      </p:sp>
      <p:sp>
        <p:nvSpPr>
          <p:cNvPr id="133130" name="Rectangle 21"/>
          <p:cNvSpPr>
            <a:spLocks noChangeArrowheads="1"/>
          </p:cNvSpPr>
          <p:nvPr/>
        </p:nvSpPr>
        <p:spPr bwMode="auto">
          <a:xfrm>
            <a:off x="3810000" y="3581400"/>
            <a:ext cx="1981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微软雅黑"/>
              </a:rPr>
              <a:t>Table References</a:t>
            </a:r>
          </a:p>
        </p:txBody>
      </p:sp>
      <p:sp>
        <p:nvSpPr>
          <p:cNvPr id="133131" name="Rectangle 22"/>
          <p:cNvSpPr>
            <a:spLocks noChangeArrowheads="1"/>
          </p:cNvSpPr>
          <p:nvPr/>
        </p:nvSpPr>
        <p:spPr bwMode="auto">
          <a:xfrm>
            <a:off x="2819400" y="3581400"/>
            <a:ext cx="9144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微软雅黑"/>
              </a:rPr>
              <a:t>Limit</a:t>
            </a:r>
          </a:p>
        </p:txBody>
      </p:sp>
      <p:sp>
        <p:nvSpPr>
          <p:cNvPr id="133132" name="Rectangle 23"/>
          <p:cNvSpPr>
            <a:spLocks noChangeArrowheads="1"/>
          </p:cNvSpPr>
          <p:nvPr/>
        </p:nvSpPr>
        <p:spPr bwMode="auto">
          <a:xfrm>
            <a:off x="1752600" y="3581400"/>
            <a:ext cx="9906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微软雅黑"/>
              </a:rPr>
              <a:t>OrderBy</a:t>
            </a:r>
          </a:p>
        </p:txBody>
      </p:sp>
      <p:sp>
        <p:nvSpPr>
          <p:cNvPr id="133133" name="Rectangle 24"/>
          <p:cNvSpPr>
            <a:spLocks noChangeArrowheads="1"/>
          </p:cNvSpPr>
          <p:nvPr/>
        </p:nvSpPr>
        <p:spPr bwMode="auto">
          <a:xfrm>
            <a:off x="1295400" y="3595688"/>
            <a:ext cx="35083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>
                <a:latin typeface="微软雅黑"/>
              </a:rPr>
              <a:t>...</a:t>
            </a:r>
          </a:p>
        </p:txBody>
      </p:sp>
      <p:sp>
        <p:nvSpPr>
          <p:cNvPr id="133134" name="Rectangle 27"/>
          <p:cNvSpPr>
            <a:spLocks noChangeArrowheads="1"/>
          </p:cNvSpPr>
          <p:nvPr/>
        </p:nvSpPr>
        <p:spPr bwMode="auto">
          <a:xfrm>
            <a:off x="2667000" y="2667000"/>
            <a:ext cx="9906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微软雅黑"/>
              </a:rPr>
              <a:t>Delete</a:t>
            </a:r>
          </a:p>
        </p:txBody>
      </p:sp>
      <p:sp>
        <p:nvSpPr>
          <p:cNvPr id="133135" name="Rectangle 28"/>
          <p:cNvSpPr>
            <a:spLocks noChangeArrowheads="1"/>
          </p:cNvSpPr>
          <p:nvPr/>
        </p:nvSpPr>
        <p:spPr bwMode="auto">
          <a:xfrm>
            <a:off x="3733800" y="2667000"/>
            <a:ext cx="9906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微软雅黑"/>
              </a:rPr>
              <a:t>Update</a:t>
            </a:r>
          </a:p>
        </p:txBody>
      </p:sp>
      <p:sp>
        <p:nvSpPr>
          <p:cNvPr id="133136" name="Rectangle 29"/>
          <p:cNvSpPr>
            <a:spLocks noChangeArrowheads="1"/>
          </p:cNvSpPr>
          <p:nvPr/>
        </p:nvSpPr>
        <p:spPr bwMode="auto">
          <a:xfrm>
            <a:off x="4800600" y="2667000"/>
            <a:ext cx="9906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微软雅黑"/>
              </a:rPr>
              <a:t>Insert</a:t>
            </a:r>
          </a:p>
        </p:txBody>
      </p:sp>
      <p:sp>
        <p:nvSpPr>
          <p:cNvPr id="133137" name="Rectangle 30"/>
          <p:cNvSpPr>
            <a:spLocks noChangeArrowheads="1"/>
          </p:cNvSpPr>
          <p:nvPr/>
        </p:nvSpPr>
        <p:spPr bwMode="auto">
          <a:xfrm>
            <a:off x="5867400" y="2667000"/>
            <a:ext cx="9906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微软雅黑"/>
              </a:rPr>
              <a:t>Replace</a:t>
            </a:r>
          </a:p>
        </p:txBody>
      </p:sp>
      <p:sp>
        <p:nvSpPr>
          <p:cNvPr id="133138" name="Rectangle 31"/>
          <p:cNvSpPr>
            <a:spLocks noChangeArrowheads="1"/>
          </p:cNvSpPr>
          <p:nvPr/>
        </p:nvSpPr>
        <p:spPr bwMode="auto">
          <a:xfrm>
            <a:off x="6934200" y="2667000"/>
            <a:ext cx="9906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微软雅黑"/>
              </a:rPr>
              <a:t>Select</a:t>
            </a:r>
          </a:p>
        </p:txBody>
      </p:sp>
      <p:sp>
        <p:nvSpPr>
          <p:cNvPr id="133139" name="Rectangle 32"/>
          <p:cNvSpPr>
            <a:spLocks noChangeArrowheads="1"/>
          </p:cNvSpPr>
          <p:nvPr/>
        </p:nvSpPr>
        <p:spPr bwMode="auto">
          <a:xfrm>
            <a:off x="7391400" y="3505200"/>
            <a:ext cx="533400" cy="609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微软雅黑"/>
              </a:rPr>
              <a:t>Call</a:t>
            </a:r>
          </a:p>
        </p:txBody>
      </p:sp>
      <p:sp>
        <p:nvSpPr>
          <p:cNvPr id="133140" name="Rectangle 33"/>
          <p:cNvSpPr>
            <a:spLocks noChangeArrowheads="1"/>
          </p:cNvSpPr>
          <p:nvPr/>
        </p:nvSpPr>
        <p:spPr bwMode="auto">
          <a:xfrm>
            <a:off x="1447800" y="2667000"/>
            <a:ext cx="11430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微软雅黑"/>
              </a:rPr>
              <a:t>Set/Show</a:t>
            </a:r>
          </a:p>
        </p:txBody>
      </p:sp>
      <p:sp>
        <p:nvSpPr>
          <p:cNvPr id="133141" name="Rectangle 36"/>
          <p:cNvSpPr>
            <a:spLocks noChangeArrowheads="1"/>
          </p:cNvSpPr>
          <p:nvPr/>
        </p:nvSpPr>
        <p:spPr bwMode="auto">
          <a:xfrm>
            <a:off x="4038600" y="2224088"/>
            <a:ext cx="10763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>
                <a:latin typeface="微软雅黑"/>
              </a:rPr>
              <a:t>SQL</a:t>
            </a:r>
            <a:r>
              <a:rPr lang="zh-CN" altLang="en-US">
                <a:latin typeface="微软雅黑"/>
              </a:rPr>
              <a:t>语句</a:t>
            </a:r>
          </a:p>
        </p:txBody>
      </p:sp>
      <p:sp>
        <p:nvSpPr>
          <p:cNvPr id="133142" name="Rectangle 37"/>
          <p:cNvSpPr>
            <a:spLocks noChangeArrowheads="1"/>
          </p:cNvSpPr>
          <p:nvPr/>
        </p:nvSpPr>
        <p:spPr bwMode="auto">
          <a:xfrm>
            <a:off x="4038600" y="4724400"/>
            <a:ext cx="11430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微软雅黑"/>
              </a:rPr>
              <a:t>Variable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ea typeface="微软雅黑"/>
                <a:cs typeface="微软雅黑"/>
              </a:rPr>
              <a:t>基本元素</a:t>
            </a:r>
          </a:p>
        </p:txBody>
      </p:sp>
      <p:sp>
        <p:nvSpPr>
          <p:cNvPr id="13414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229600" cy="4800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800" smtClean="0">
                <a:latin typeface="微软雅黑"/>
                <a:ea typeface="微软雅黑"/>
                <a:cs typeface="微软雅黑"/>
              </a:rPr>
              <a:t>Keyword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smtClean="0">
                <a:latin typeface="宋体" charset="-122"/>
              </a:rPr>
              <a:t>227</a:t>
            </a:r>
            <a:r>
              <a:rPr lang="zh-CN" altLang="en-US" sz="2400" smtClean="0">
                <a:latin typeface="宋体" charset="-122"/>
              </a:rPr>
              <a:t>个关键字，不区分大小写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smtClean="0">
                <a:latin typeface="微软雅黑"/>
                <a:ea typeface="微软雅黑"/>
                <a:cs typeface="微软雅黑"/>
              </a:rPr>
              <a:t>Identifier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smtClean="0">
                <a:latin typeface="宋体" charset="-122"/>
              </a:rPr>
              <a:t>schema</a:t>
            </a:r>
            <a:r>
              <a:rPr lang="zh-CN" altLang="en-US" sz="2400" smtClean="0">
                <a:latin typeface="宋体" charset="-122"/>
              </a:rPr>
              <a:t>、</a:t>
            </a:r>
            <a:r>
              <a:rPr lang="en-US" altLang="zh-CN" sz="2400" smtClean="0">
                <a:latin typeface="宋体" charset="-122"/>
              </a:rPr>
              <a:t>table</a:t>
            </a:r>
            <a:r>
              <a:rPr lang="zh-CN" altLang="en-US" sz="2400" smtClean="0">
                <a:latin typeface="宋体" charset="-122"/>
              </a:rPr>
              <a:t>、</a:t>
            </a:r>
            <a:r>
              <a:rPr lang="en-US" altLang="zh-CN" sz="2400" smtClean="0">
                <a:latin typeface="宋体" charset="-122"/>
              </a:rPr>
              <a:t>column</a:t>
            </a:r>
            <a:r>
              <a:rPr lang="zh-CN" altLang="en-US" sz="2400" smtClean="0">
                <a:latin typeface="宋体" charset="-122"/>
              </a:rPr>
              <a:t>、</a:t>
            </a:r>
            <a:r>
              <a:rPr lang="en-US" altLang="zh-CN" sz="2400" smtClean="0">
                <a:latin typeface="宋体" charset="-122"/>
              </a:rPr>
              <a:t>index</a:t>
            </a:r>
            <a:r>
              <a:rPr lang="zh-CN" altLang="en-US" sz="2400" smtClean="0">
                <a:latin typeface="宋体" charset="-122"/>
              </a:rPr>
              <a:t>、</a:t>
            </a:r>
            <a:r>
              <a:rPr lang="en-US" altLang="zh-CN" sz="2400" smtClean="0">
                <a:latin typeface="宋体" charset="-122"/>
              </a:rPr>
              <a:t>alias </a:t>
            </a:r>
            <a:r>
              <a:rPr lang="zh-CN" altLang="en-US" sz="2400" smtClean="0">
                <a:latin typeface="宋体" charset="-122"/>
              </a:rPr>
              <a:t>、</a:t>
            </a:r>
            <a:r>
              <a:rPr lang="en-US" altLang="zh-CN" sz="2400" smtClean="0">
                <a:solidFill>
                  <a:srgbClr val="FF0000"/>
                </a:solidFill>
                <a:latin typeface="宋体" charset="-122"/>
              </a:rPr>
              <a:t>keyword</a:t>
            </a:r>
            <a:r>
              <a:rPr lang="en-US" altLang="zh-CN" sz="2400" smtClean="0">
                <a:latin typeface="宋体" charset="-122"/>
              </a:rPr>
              <a:t>…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CN" sz="1600" smtClean="0">
                <a:latin typeface="Courier New" pitchFamily="49" charset="0"/>
              </a:rPr>
              <a:t>SELECT </a:t>
            </a:r>
            <a:r>
              <a:rPr lang="en-US" altLang="zh-CN" sz="1600" smtClean="0">
                <a:solidFill>
                  <a:srgbClr val="FF0000"/>
                </a:solidFill>
                <a:latin typeface="Courier New" pitchFamily="49" charset="0"/>
              </a:rPr>
              <a:t>aNy</a:t>
            </a:r>
            <a:r>
              <a:rPr lang="en-US" altLang="zh-CN" sz="1600" smtClean="0">
                <a:latin typeface="Courier New" pitchFamily="49" charset="0"/>
              </a:rPr>
              <a:t> FROM t1 WHERE id IN </a:t>
            </a:r>
            <a:r>
              <a:rPr lang="en-US" altLang="zh-CN" sz="1600" smtClean="0">
                <a:solidFill>
                  <a:srgbClr val="FF0000"/>
                </a:solidFill>
                <a:latin typeface="Courier New" pitchFamily="49" charset="0"/>
              </a:rPr>
              <a:t>AnY</a:t>
            </a:r>
            <a:r>
              <a:rPr lang="en-US" altLang="zh-CN" sz="1600" smtClean="0">
                <a:latin typeface="Courier New" pitchFamily="49" charset="0"/>
              </a:rPr>
              <a:t> (SELECT id FROM t2)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smtClean="0">
                <a:latin typeface="Courier New" pitchFamily="49" charset="0"/>
              </a:rPr>
              <a:t>`select`</a:t>
            </a:r>
            <a:r>
              <a:rPr lang="zh-CN" altLang="en-US" sz="2400" smtClean="0">
                <a:solidFill>
                  <a:srgbClr val="DDDDDD"/>
                </a:solidFill>
                <a:latin typeface="Courier New" pitchFamily="49" charset="0"/>
              </a:rPr>
              <a:t>、</a:t>
            </a:r>
            <a:r>
              <a:rPr lang="en-US" altLang="zh-CN" sz="2400" smtClean="0">
                <a:latin typeface="Courier New" pitchFamily="49" charset="0"/>
              </a:rPr>
              <a:t>table1 ./*spam*/id</a:t>
            </a:r>
            <a:r>
              <a:rPr lang="zh-CN" altLang="en-US" sz="2400" smtClean="0">
                <a:solidFill>
                  <a:srgbClr val="DDDDDD"/>
                </a:solidFill>
                <a:latin typeface="Courier New" pitchFamily="49" charset="0"/>
              </a:rPr>
              <a:t>、</a:t>
            </a:r>
            <a:r>
              <a:rPr lang="en-US" altLang="zh-CN" sz="2400" smtClean="0">
                <a:latin typeface="Courier New" pitchFamily="49" charset="0"/>
              </a:rPr>
              <a:t>7Up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smtClean="0">
                <a:latin typeface="微软雅黑"/>
                <a:ea typeface="微软雅黑"/>
                <a:cs typeface="微软雅黑"/>
              </a:rPr>
              <a:t>Punctuation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smtClean="0">
                <a:latin typeface="Courier New" pitchFamily="49" charset="0"/>
              </a:rPr>
              <a:t>,</a:t>
            </a:r>
            <a:r>
              <a:rPr lang="zh-CN" altLang="en-US" sz="2400" smtClean="0">
                <a:solidFill>
                  <a:srgbClr val="DDDDDD"/>
                </a:solidFill>
                <a:latin typeface="Courier New" pitchFamily="49" charset="0"/>
              </a:rPr>
              <a:t>、</a:t>
            </a:r>
            <a:r>
              <a:rPr lang="en-US" altLang="zh-CN" sz="2400" smtClean="0">
                <a:latin typeface="Courier New" pitchFamily="49" charset="0"/>
              </a:rPr>
              <a:t>:=</a:t>
            </a:r>
            <a:r>
              <a:rPr lang="zh-CN" altLang="en-US" sz="2400" smtClean="0">
                <a:solidFill>
                  <a:srgbClr val="DDDDDD"/>
                </a:solidFill>
                <a:latin typeface="Courier New" pitchFamily="49" charset="0"/>
              </a:rPr>
              <a:t>、</a:t>
            </a:r>
            <a:r>
              <a:rPr lang="en-US" altLang="zh-CN" sz="2400" smtClean="0">
                <a:latin typeface="Courier New" pitchFamily="49" charset="0"/>
              </a:rPr>
              <a:t>&gt;</a:t>
            </a:r>
            <a:r>
              <a:rPr lang="zh-CN" altLang="en-US" sz="2400" smtClean="0">
                <a:solidFill>
                  <a:srgbClr val="DDDDDD"/>
                </a:solidFill>
                <a:latin typeface="Courier New" pitchFamily="49" charset="0"/>
              </a:rPr>
              <a:t>、</a:t>
            </a:r>
            <a:r>
              <a:rPr lang="en-US" altLang="zh-CN" sz="2400" smtClean="0">
                <a:latin typeface="Courier New" pitchFamily="49" charset="0"/>
              </a:rPr>
              <a:t>!</a:t>
            </a:r>
            <a:r>
              <a:rPr lang="zh-CN" altLang="en-US" sz="2400" smtClean="0">
                <a:solidFill>
                  <a:srgbClr val="DDDDDD"/>
                </a:solidFill>
                <a:latin typeface="Courier New" pitchFamily="49" charset="0"/>
              </a:rPr>
              <a:t>、</a:t>
            </a:r>
            <a:r>
              <a:rPr lang="en-US" altLang="zh-CN" sz="2400" smtClean="0">
                <a:latin typeface="Courier New" pitchFamily="49" charset="0"/>
              </a:rPr>
              <a:t>~</a:t>
            </a:r>
            <a:r>
              <a:rPr lang="en-US" altLang="zh-CN" sz="2400" smtClean="0"/>
              <a:t> …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smtClean="0">
                <a:latin typeface="微软雅黑"/>
                <a:ea typeface="微软雅黑"/>
                <a:cs typeface="微软雅黑"/>
              </a:rPr>
              <a:t>Variable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smtClean="0">
                <a:latin typeface="宋体" charset="-122"/>
              </a:rPr>
              <a:t>User-Def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smtClean="0">
                <a:latin typeface="宋体" charset="-122"/>
              </a:rPr>
              <a:t>SystemVariable</a:t>
            </a:r>
            <a:r>
              <a:rPr lang="zh-CN" altLang="en-US" sz="2400" smtClean="0"/>
              <a:t>：</a:t>
            </a:r>
            <a:r>
              <a:rPr lang="en-US" altLang="zh-CN" sz="2400" smtClean="0">
                <a:latin typeface="Courier New" pitchFamily="49" charset="0"/>
              </a:rPr>
              <a:t>@@version</a:t>
            </a:r>
          </a:p>
        </p:txBody>
      </p:sp>
      <p:pic>
        <p:nvPicPr>
          <p:cNvPr id="134147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95800" y="4335463"/>
            <a:ext cx="4381500" cy="1074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4148" name="Line 5"/>
          <p:cNvSpPr>
            <a:spLocks noChangeShapeType="1"/>
          </p:cNvSpPr>
          <p:nvPr/>
        </p:nvSpPr>
        <p:spPr bwMode="auto">
          <a:xfrm flipV="1">
            <a:off x="2667000" y="4953000"/>
            <a:ext cx="1752600" cy="533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6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latin typeface="微软雅黑"/>
                <a:ea typeface="微软雅黑"/>
                <a:cs typeface="微软雅黑"/>
              </a:rPr>
              <a:t>基本元素 </a:t>
            </a:r>
            <a:r>
              <a:rPr lang="en-US" altLang="zh-CN" smtClean="0">
                <a:latin typeface="微软雅黑"/>
                <a:ea typeface="微软雅黑"/>
                <a:cs typeface="微软雅黑"/>
              </a:rPr>
              <a:t>- Literal</a:t>
            </a:r>
          </a:p>
        </p:txBody>
      </p:sp>
      <p:sp>
        <p:nvSpPr>
          <p:cNvPr id="135170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mtClean="0">
                <a:latin typeface="微软雅黑"/>
                <a:ea typeface="微软雅黑"/>
                <a:cs typeface="微软雅黑"/>
              </a:rPr>
              <a:t>String Literal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mtClean="0">
                <a:latin typeface="Courier New" pitchFamily="49" charset="0"/>
              </a:rPr>
              <a:t>N’abc’</a:t>
            </a:r>
            <a:r>
              <a:rPr lang="zh-CN" altLang="en-US" smtClean="0">
                <a:solidFill>
                  <a:srgbClr val="DDDDDD"/>
                </a:solidFill>
                <a:latin typeface="Courier New" pitchFamily="49" charset="0"/>
              </a:rPr>
              <a:t>、</a:t>
            </a:r>
            <a:r>
              <a:rPr lang="en-US" altLang="zh-CN" smtClean="0">
                <a:latin typeface="Courier New" pitchFamily="49" charset="0"/>
              </a:rPr>
              <a:t>_latin1’abc’</a:t>
            </a:r>
            <a:r>
              <a:rPr lang="zh-CN" altLang="en-US" smtClean="0">
                <a:solidFill>
                  <a:srgbClr val="DDDDDD"/>
                </a:solidFill>
                <a:latin typeface="Courier New" pitchFamily="49" charset="0"/>
              </a:rPr>
              <a:t>、</a:t>
            </a:r>
            <a:r>
              <a:rPr lang="zh-CN" altLang="en-US" smtClean="0">
                <a:latin typeface="Courier New" pitchFamily="49" charset="0"/>
              </a:rPr>
              <a:t>’</a:t>
            </a:r>
            <a:r>
              <a:rPr lang="en-US" altLang="zh-CN" smtClean="0">
                <a:latin typeface="Courier New" pitchFamily="49" charset="0"/>
              </a:rPr>
              <a:t>abc’ ’def’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mtClean="0">
                <a:latin typeface="Courier New" pitchFamily="49" charset="0"/>
              </a:rPr>
              <a:t>”abc””d”</a:t>
            </a:r>
            <a:r>
              <a:rPr lang="zh-CN" altLang="en-US" smtClean="0">
                <a:solidFill>
                  <a:srgbClr val="DDDDDD"/>
                </a:solidFill>
                <a:latin typeface="Courier New" pitchFamily="49" charset="0"/>
              </a:rPr>
              <a:t>、</a:t>
            </a:r>
            <a:r>
              <a:rPr lang="zh-CN" altLang="en-US" smtClean="0">
                <a:latin typeface="Courier New" pitchFamily="49" charset="0"/>
              </a:rPr>
              <a:t>’</a:t>
            </a:r>
            <a:r>
              <a:rPr lang="en-US" altLang="zh-CN" smtClean="0">
                <a:latin typeface="Courier New" pitchFamily="49" charset="0"/>
              </a:rPr>
              <a:t>abc\’d’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mtClean="0">
                <a:latin typeface="微软雅黑"/>
                <a:ea typeface="微软雅黑"/>
                <a:cs typeface="微软雅黑"/>
              </a:rPr>
              <a:t>Number Literal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mtClean="0">
                <a:latin typeface="Courier New" pitchFamily="49" charset="0"/>
              </a:rPr>
              <a:t>123</a:t>
            </a:r>
            <a:r>
              <a:rPr lang="zh-CN" altLang="en-US" smtClean="0">
                <a:solidFill>
                  <a:srgbClr val="DDDDDD"/>
                </a:solidFill>
                <a:latin typeface="Courier New" pitchFamily="49" charset="0"/>
              </a:rPr>
              <a:t>、</a:t>
            </a:r>
            <a:r>
              <a:rPr lang="en-US" altLang="zh-CN" smtClean="0">
                <a:latin typeface="Courier New" pitchFamily="49" charset="0"/>
              </a:rPr>
              <a:t>.123</a:t>
            </a:r>
            <a:r>
              <a:rPr lang="zh-CN" altLang="en-US" smtClean="0">
                <a:solidFill>
                  <a:srgbClr val="DDDDDD"/>
                </a:solidFill>
                <a:latin typeface="Courier New" pitchFamily="49" charset="0"/>
              </a:rPr>
              <a:t>、</a:t>
            </a:r>
            <a:r>
              <a:rPr lang="en-US" altLang="zh-CN" smtClean="0">
                <a:latin typeface="Courier New" pitchFamily="49" charset="0"/>
              </a:rPr>
              <a:t>123.</a:t>
            </a:r>
            <a:r>
              <a:rPr lang="zh-CN" altLang="en-US" smtClean="0">
                <a:solidFill>
                  <a:srgbClr val="DDDDDD"/>
                </a:solidFill>
                <a:latin typeface="Courier New" pitchFamily="49" charset="0"/>
              </a:rPr>
              <a:t>、</a:t>
            </a:r>
            <a:r>
              <a:rPr lang="en-US" altLang="zh-CN" smtClean="0">
                <a:latin typeface="Courier New" pitchFamily="49" charset="0"/>
              </a:rPr>
              <a:t>123.e4</a:t>
            </a:r>
            <a:r>
              <a:rPr lang="zh-CN" altLang="en-US" smtClean="0">
                <a:solidFill>
                  <a:srgbClr val="DDDDDD"/>
                </a:solidFill>
                <a:latin typeface="Courier New" pitchFamily="49" charset="0"/>
              </a:rPr>
              <a:t>、</a:t>
            </a:r>
            <a:r>
              <a:rPr lang="en-US" altLang="zh-CN" smtClean="0">
                <a:latin typeface="Courier New" pitchFamily="49" charset="0"/>
              </a:rPr>
              <a:t>.123E-4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mtClean="0">
                <a:latin typeface="Courier New" pitchFamily="49" charset="0"/>
              </a:rPr>
              <a:t>123e4   </a:t>
            </a:r>
            <a:r>
              <a:rPr lang="en-US" altLang="zh-CN" smtClean="0">
                <a:latin typeface="Times New Roman" pitchFamily="18" charset="0"/>
                <a:cs typeface="Times New Roman" pitchFamily="18" charset="0"/>
              </a:rPr>
              <a:t>vs</a:t>
            </a:r>
            <a:r>
              <a:rPr lang="en-US" altLang="zh-CN" smtClean="0">
                <a:latin typeface="Courier New" pitchFamily="49" charset="0"/>
              </a:rPr>
              <a:t>   123e4f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mtClean="0">
                <a:latin typeface="微软雅黑"/>
                <a:ea typeface="微软雅黑"/>
                <a:cs typeface="微软雅黑"/>
              </a:rPr>
              <a:t>Hex/Bit Literal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mtClean="0">
                <a:latin typeface="Courier New" pitchFamily="49" charset="0"/>
              </a:rPr>
              <a:t>0x89af</a:t>
            </a:r>
            <a:r>
              <a:rPr lang="zh-CN" altLang="en-US" smtClean="0">
                <a:solidFill>
                  <a:srgbClr val="DDDDDD"/>
                </a:solidFill>
                <a:latin typeface="Courier New" pitchFamily="49" charset="0"/>
              </a:rPr>
              <a:t>、</a:t>
            </a:r>
            <a:r>
              <a:rPr lang="en-US" altLang="zh-CN" smtClean="0">
                <a:latin typeface="Courier New" pitchFamily="49" charset="0"/>
              </a:rPr>
              <a:t>x’89af’</a:t>
            </a:r>
            <a:r>
              <a:rPr lang="zh-CN" altLang="en-US" smtClean="0">
                <a:solidFill>
                  <a:srgbClr val="DDDDDD"/>
                </a:solidFill>
                <a:latin typeface="Courier New" pitchFamily="49" charset="0"/>
              </a:rPr>
              <a:t>、</a:t>
            </a:r>
            <a:r>
              <a:rPr lang="en-US" altLang="zh-CN" smtClean="0">
                <a:latin typeface="Courier New" pitchFamily="49" charset="0"/>
              </a:rPr>
              <a:t>0b101011</a:t>
            </a:r>
            <a:r>
              <a:rPr lang="zh-CN" altLang="en-US" smtClean="0">
                <a:solidFill>
                  <a:srgbClr val="DDDDDD"/>
                </a:solidFill>
                <a:latin typeface="Courier New" pitchFamily="49" charset="0"/>
              </a:rPr>
              <a:t>、</a:t>
            </a:r>
            <a:r>
              <a:rPr lang="en-US" altLang="zh-CN" smtClean="0">
                <a:latin typeface="Courier New" pitchFamily="49" charset="0"/>
              </a:rPr>
              <a:t>b’101011’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mtClean="0">
                <a:latin typeface="Courier New" pitchFamily="49" charset="0"/>
              </a:rPr>
              <a:t>_latin1 0x89af</a:t>
            </a:r>
          </a:p>
          <a:p>
            <a:pPr eaLnBrk="1" hangingPunct="1">
              <a:lnSpc>
                <a:spcPct val="90000"/>
              </a:lnSpc>
            </a:pPr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3" name="Rectangle 19"/>
          <p:cNvSpPr>
            <a:spLocks noChangeArrowheads="1"/>
          </p:cNvSpPr>
          <p:nvPr/>
        </p:nvSpPr>
        <p:spPr bwMode="auto">
          <a:xfrm>
            <a:off x="1295400" y="4572000"/>
            <a:ext cx="6858000" cy="9906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b"/>
          <a:lstStyle/>
          <a:p>
            <a:pPr algn="ctr"/>
            <a:r>
              <a:rPr lang="zh-CN" altLang="en-US">
                <a:latin typeface="微软雅黑"/>
              </a:rPr>
              <a:t>基本元素</a:t>
            </a:r>
          </a:p>
        </p:txBody>
      </p:sp>
      <p:sp>
        <p:nvSpPr>
          <p:cNvPr id="136194" name="Rectangle 25"/>
          <p:cNvSpPr>
            <a:spLocks noChangeArrowheads="1"/>
          </p:cNvSpPr>
          <p:nvPr/>
        </p:nvSpPr>
        <p:spPr bwMode="auto">
          <a:xfrm>
            <a:off x="1295400" y="3429000"/>
            <a:ext cx="5867400" cy="9906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b"/>
          <a:lstStyle/>
          <a:p>
            <a:pPr algn="ctr"/>
            <a:r>
              <a:rPr lang="zh-CN" altLang="en-US">
                <a:latin typeface="微软雅黑"/>
              </a:rPr>
              <a:t>语法元素</a:t>
            </a:r>
          </a:p>
        </p:txBody>
      </p:sp>
      <p:sp>
        <p:nvSpPr>
          <p:cNvPr id="136195" name="Freeform 35"/>
          <p:cNvSpPr>
            <a:spLocks/>
          </p:cNvSpPr>
          <p:nvPr/>
        </p:nvSpPr>
        <p:spPr bwMode="auto">
          <a:xfrm>
            <a:off x="1295400" y="2133600"/>
            <a:ext cx="6858000" cy="2286000"/>
          </a:xfrm>
          <a:custGeom>
            <a:avLst/>
            <a:gdLst>
              <a:gd name="T0" fmla="*/ 2147483647 w 4320"/>
              <a:gd name="T1" fmla="*/ 2147483647 h 1440"/>
              <a:gd name="T2" fmla="*/ 2147483647 w 4320"/>
              <a:gd name="T3" fmla="*/ 2147483647 h 1440"/>
              <a:gd name="T4" fmla="*/ 0 w 4320"/>
              <a:gd name="T5" fmla="*/ 2147483647 h 1440"/>
              <a:gd name="T6" fmla="*/ 0 w 4320"/>
              <a:gd name="T7" fmla="*/ 0 h 1440"/>
              <a:gd name="T8" fmla="*/ 2147483647 w 4320"/>
              <a:gd name="T9" fmla="*/ 0 h 1440"/>
              <a:gd name="T10" fmla="*/ 2147483647 w 4320"/>
              <a:gd name="T11" fmla="*/ 2147483647 h 1440"/>
              <a:gd name="T12" fmla="*/ 2147483647 w 4320"/>
              <a:gd name="T13" fmla="*/ 2147483647 h 144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320"/>
              <a:gd name="T22" fmla="*/ 0 h 1440"/>
              <a:gd name="T23" fmla="*/ 4320 w 4320"/>
              <a:gd name="T24" fmla="*/ 1440 h 144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320" h="1440">
                <a:moveTo>
                  <a:pt x="3744" y="1440"/>
                </a:moveTo>
                <a:lnTo>
                  <a:pt x="3744" y="720"/>
                </a:lnTo>
                <a:lnTo>
                  <a:pt x="0" y="720"/>
                </a:lnTo>
                <a:lnTo>
                  <a:pt x="0" y="0"/>
                </a:lnTo>
                <a:lnTo>
                  <a:pt x="4320" y="0"/>
                </a:lnTo>
                <a:lnTo>
                  <a:pt x="4320" y="1440"/>
                </a:lnTo>
                <a:lnTo>
                  <a:pt x="3744" y="1440"/>
                </a:lnTo>
                <a:close/>
              </a:path>
            </a:pathLst>
          </a:custGeom>
          <a:solidFill>
            <a:srgbClr val="DDDDD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6196" name="Rectangle 1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latin typeface="微软雅黑"/>
                <a:ea typeface="微软雅黑"/>
                <a:cs typeface="微软雅黑"/>
              </a:rPr>
              <a:t>MySQL 5.5 </a:t>
            </a:r>
            <a:r>
              <a:rPr lang="zh-CN" altLang="en-US" smtClean="0">
                <a:latin typeface="微软雅黑"/>
                <a:ea typeface="微软雅黑"/>
                <a:cs typeface="微软雅黑"/>
              </a:rPr>
              <a:t>语法结构</a:t>
            </a:r>
          </a:p>
        </p:txBody>
      </p:sp>
      <p:sp>
        <p:nvSpPr>
          <p:cNvPr id="136197" name="Rectangle 15"/>
          <p:cNvSpPr>
            <a:spLocks noChangeArrowheads="1"/>
          </p:cNvSpPr>
          <p:nvPr/>
        </p:nvSpPr>
        <p:spPr bwMode="auto">
          <a:xfrm>
            <a:off x="1524000" y="4724400"/>
            <a:ext cx="9906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微软雅黑"/>
              </a:rPr>
              <a:t>Identifier</a:t>
            </a:r>
          </a:p>
        </p:txBody>
      </p:sp>
      <p:sp>
        <p:nvSpPr>
          <p:cNvPr id="136198" name="Rectangle 16"/>
          <p:cNvSpPr>
            <a:spLocks noChangeArrowheads="1"/>
          </p:cNvSpPr>
          <p:nvPr/>
        </p:nvSpPr>
        <p:spPr bwMode="auto">
          <a:xfrm>
            <a:off x="2743200" y="4724400"/>
            <a:ext cx="10668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微软雅黑"/>
              </a:rPr>
              <a:t>Keyword</a:t>
            </a:r>
          </a:p>
        </p:txBody>
      </p:sp>
      <p:sp>
        <p:nvSpPr>
          <p:cNvPr id="136199" name="Rectangle 17"/>
          <p:cNvSpPr>
            <a:spLocks noChangeArrowheads="1"/>
          </p:cNvSpPr>
          <p:nvPr/>
        </p:nvSpPr>
        <p:spPr bwMode="auto">
          <a:xfrm>
            <a:off x="5410200" y="4724400"/>
            <a:ext cx="838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微软雅黑"/>
              </a:rPr>
              <a:t>Literal</a:t>
            </a:r>
          </a:p>
        </p:txBody>
      </p:sp>
      <p:sp>
        <p:nvSpPr>
          <p:cNvPr id="136200" name="Rectangle 18"/>
          <p:cNvSpPr>
            <a:spLocks noChangeArrowheads="1"/>
          </p:cNvSpPr>
          <p:nvPr/>
        </p:nvSpPr>
        <p:spPr bwMode="auto">
          <a:xfrm>
            <a:off x="6477000" y="4724400"/>
            <a:ext cx="15240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微软雅黑"/>
              </a:rPr>
              <a:t>Punctuation</a:t>
            </a:r>
          </a:p>
        </p:txBody>
      </p:sp>
      <p:sp>
        <p:nvSpPr>
          <p:cNvPr id="136201" name="Rectangle 20"/>
          <p:cNvSpPr>
            <a:spLocks noChangeArrowheads="1"/>
          </p:cNvSpPr>
          <p:nvPr/>
        </p:nvSpPr>
        <p:spPr bwMode="auto">
          <a:xfrm>
            <a:off x="5867400" y="3581400"/>
            <a:ext cx="11430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latin typeface="微软雅黑"/>
              </a:rPr>
              <a:t>表达式</a:t>
            </a:r>
          </a:p>
        </p:txBody>
      </p:sp>
      <p:sp>
        <p:nvSpPr>
          <p:cNvPr id="136202" name="Rectangle 21"/>
          <p:cNvSpPr>
            <a:spLocks noChangeArrowheads="1"/>
          </p:cNvSpPr>
          <p:nvPr/>
        </p:nvSpPr>
        <p:spPr bwMode="auto">
          <a:xfrm>
            <a:off x="3810000" y="3581400"/>
            <a:ext cx="1981200" cy="4572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微软雅黑"/>
              </a:rPr>
              <a:t>Table References</a:t>
            </a:r>
          </a:p>
        </p:txBody>
      </p:sp>
      <p:sp>
        <p:nvSpPr>
          <p:cNvPr id="136203" name="Rectangle 22"/>
          <p:cNvSpPr>
            <a:spLocks noChangeArrowheads="1"/>
          </p:cNvSpPr>
          <p:nvPr/>
        </p:nvSpPr>
        <p:spPr bwMode="auto">
          <a:xfrm>
            <a:off x="2819400" y="3581400"/>
            <a:ext cx="9144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微软雅黑"/>
              </a:rPr>
              <a:t>Limit</a:t>
            </a:r>
          </a:p>
        </p:txBody>
      </p:sp>
      <p:sp>
        <p:nvSpPr>
          <p:cNvPr id="136204" name="Rectangle 23"/>
          <p:cNvSpPr>
            <a:spLocks noChangeArrowheads="1"/>
          </p:cNvSpPr>
          <p:nvPr/>
        </p:nvSpPr>
        <p:spPr bwMode="auto">
          <a:xfrm>
            <a:off x="1752600" y="3581400"/>
            <a:ext cx="9906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微软雅黑"/>
              </a:rPr>
              <a:t>OrderBy</a:t>
            </a:r>
          </a:p>
        </p:txBody>
      </p:sp>
      <p:sp>
        <p:nvSpPr>
          <p:cNvPr id="136205" name="Rectangle 24"/>
          <p:cNvSpPr>
            <a:spLocks noChangeArrowheads="1"/>
          </p:cNvSpPr>
          <p:nvPr/>
        </p:nvSpPr>
        <p:spPr bwMode="auto">
          <a:xfrm>
            <a:off x="1295400" y="3595688"/>
            <a:ext cx="35083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>
                <a:latin typeface="微软雅黑"/>
              </a:rPr>
              <a:t>...</a:t>
            </a:r>
          </a:p>
        </p:txBody>
      </p:sp>
      <p:sp>
        <p:nvSpPr>
          <p:cNvPr id="136206" name="Rectangle 27"/>
          <p:cNvSpPr>
            <a:spLocks noChangeArrowheads="1"/>
          </p:cNvSpPr>
          <p:nvPr/>
        </p:nvSpPr>
        <p:spPr bwMode="auto">
          <a:xfrm>
            <a:off x="2667000" y="2667000"/>
            <a:ext cx="9906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微软雅黑"/>
              </a:rPr>
              <a:t>Delete</a:t>
            </a:r>
          </a:p>
        </p:txBody>
      </p:sp>
      <p:sp>
        <p:nvSpPr>
          <p:cNvPr id="136207" name="Rectangle 28"/>
          <p:cNvSpPr>
            <a:spLocks noChangeArrowheads="1"/>
          </p:cNvSpPr>
          <p:nvPr/>
        </p:nvSpPr>
        <p:spPr bwMode="auto">
          <a:xfrm>
            <a:off x="3733800" y="2667000"/>
            <a:ext cx="9906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微软雅黑"/>
              </a:rPr>
              <a:t>Update</a:t>
            </a:r>
          </a:p>
        </p:txBody>
      </p:sp>
      <p:sp>
        <p:nvSpPr>
          <p:cNvPr id="136208" name="Rectangle 29"/>
          <p:cNvSpPr>
            <a:spLocks noChangeArrowheads="1"/>
          </p:cNvSpPr>
          <p:nvPr/>
        </p:nvSpPr>
        <p:spPr bwMode="auto">
          <a:xfrm>
            <a:off x="4800600" y="2667000"/>
            <a:ext cx="9906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微软雅黑"/>
              </a:rPr>
              <a:t>Insert</a:t>
            </a:r>
          </a:p>
        </p:txBody>
      </p:sp>
      <p:sp>
        <p:nvSpPr>
          <p:cNvPr id="136209" name="Rectangle 30"/>
          <p:cNvSpPr>
            <a:spLocks noChangeArrowheads="1"/>
          </p:cNvSpPr>
          <p:nvPr/>
        </p:nvSpPr>
        <p:spPr bwMode="auto">
          <a:xfrm>
            <a:off x="5867400" y="2667000"/>
            <a:ext cx="9906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微软雅黑"/>
              </a:rPr>
              <a:t>Replace</a:t>
            </a:r>
          </a:p>
        </p:txBody>
      </p:sp>
      <p:sp>
        <p:nvSpPr>
          <p:cNvPr id="136210" name="Rectangle 31"/>
          <p:cNvSpPr>
            <a:spLocks noChangeArrowheads="1"/>
          </p:cNvSpPr>
          <p:nvPr/>
        </p:nvSpPr>
        <p:spPr bwMode="auto">
          <a:xfrm>
            <a:off x="6934200" y="2667000"/>
            <a:ext cx="9906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微软雅黑"/>
              </a:rPr>
              <a:t>Select</a:t>
            </a:r>
          </a:p>
        </p:txBody>
      </p:sp>
      <p:sp>
        <p:nvSpPr>
          <p:cNvPr id="136211" name="Rectangle 32"/>
          <p:cNvSpPr>
            <a:spLocks noChangeArrowheads="1"/>
          </p:cNvSpPr>
          <p:nvPr/>
        </p:nvSpPr>
        <p:spPr bwMode="auto">
          <a:xfrm>
            <a:off x="7391400" y="3505200"/>
            <a:ext cx="533400" cy="609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微软雅黑"/>
              </a:rPr>
              <a:t>Call</a:t>
            </a:r>
          </a:p>
        </p:txBody>
      </p:sp>
      <p:sp>
        <p:nvSpPr>
          <p:cNvPr id="136212" name="Rectangle 33"/>
          <p:cNvSpPr>
            <a:spLocks noChangeArrowheads="1"/>
          </p:cNvSpPr>
          <p:nvPr/>
        </p:nvSpPr>
        <p:spPr bwMode="auto">
          <a:xfrm>
            <a:off x="1447800" y="2667000"/>
            <a:ext cx="11430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微软雅黑"/>
              </a:rPr>
              <a:t>Set/Show</a:t>
            </a:r>
          </a:p>
        </p:txBody>
      </p:sp>
      <p:sp>
        <p:nvSpPr>
          <p:cNvPr id="136213" name="Rectangle 36"/>
          <p:cNvSpPr>
            <a:spLocks noChangeArrowheads="1"/>
          </p:cNvSpPr>
          <p:nvPr/>
        </p:nvSpPr>
        <p:spPr bwMode="auto">
          <a:xfrm>
            <a:off x="4038600" y="2224088"/>
            <a:ext cx="10763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>
                <a:latin typeface="微软雅黑"/>
              </a:rPr>
              <a:t>SQL</a:t>
            </a:r>
            <a:r>
              <a:rPr lang="zh-CN" altLang="en-US">
                <a:latin typeface="微软雅黑"/>
              </a:rPr>
              <a:t>语句</a:t>
            </a:r>
          </a:p>
        </p:txBody>
      </p:sp>
      <p:sp>
        <p:nvSpPr>
          <p:cNvPr id="136214" name="Rectangle 37"/>
          <p:cNvSpPr>
            <a:spLocks noChangeArrowheads="1"/>
          </p:cNvSpPr>
          <p:nvPr/>
        </p:nvSpPr>
        <p:spPr bwMode="auto">
          <a:xfrm>
            <a:off x="4038600" y="4724400"/>
            <a:ext cx="11430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微软雅黑"/>
              </a:rPr>
              <a:t>Variable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latin typeface="微软雅黑"/>
                <a:ea typeface="微软雅黑"/>
                <a:cs typeface="微软雅黑"/>
              </a:rPr>
              <a:t>语法元素 </a:t>
            </a:r>
            <a:r>
              <a:rPr lang="en-US" altLang="zh-CN" smtClean="0">
                <a:latin typeface="微软雅黑"/>
                <a:ea typeface="微软雅黑"/>
                <a:cs typeface="微软雅黑"/>
              </a:rPr>
              <a:t>– Table References</a:t>
            </a:r>
          </a:p>
        </p:txBody>
      </p:sp>
      <p:sp>
        <p:nvSpPr>
          <p:cNvPr id="137218" name="Rectangle 4"/>
          <p:cNvSpPr>
            <a:spLocks noChangeArrowheads="1"/>
          </p:cNvSpPr>
          <p:nvPr/>
        </p:nvSpPr>
        <p:spPr bwMode="auto">
          <a:xfrm>
            <a:off x="152400" y="1652588"/>
            <a:ext cx="8839200" cy="410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120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table_references</a:t>
            </a:r>
            <a:r>
              <a:rPr lang="en-US" altLang="zh-CN" sz="1200">
                <a:latin typeface="Courier New" pitchFamily="49" charset="0"/>
                <a:ea typeface="宋体" charset="-122"/>
              </a:rPr>
              <a:t>: </a:t>
            </a:r>
            <a:r>
              <a:rPr lang="en-US" altLang="zh-CN" sz="1200">
                <a:solidFill>
                  <a:srgbClr val="00FF00"/>
                </a:solidFill>
                <a:latin typeface="Courier New" pitchFamily="49" charset="0"/>
                <a:ea typeface="宋体" charset="-122"/>
              </a:rPr>
              <a:t>table_reference</a:t>
            </a:r>
            <a:r>
              <a:rPr lang="en-US" altLang="zh-CN" sz="1200">
                <a:latin typeface="Courier New" pitchFamily="49" charset="0"/>
                <a:ea typeface="宋体" charset="-122"/>
              </a:rPr>
              <a:t> {</a:t>
            </a:r>
            <a:r>
              <a:rPr lang="en-US" altLang="zh-CN" sz="1200" b="1">
                <a:latin typeface="Courier New" pitchFamily="49" charset="0"/>
                <a:ea typeface="宋体" charset="-122"/>
              </a:rPr>
              <a:t>','</a:t>
            </a:r>
            <a:r>
              <a:rPr lang="en-US" altLang="zh-CN" sz="1200">
                <a:latin typeface="Courier New" pitchFamily="49" charset="0"/>
                <a:ea typeface="宋体" charset="-122"/>
              </a:rPr>
              <a:t> </a:t>
            </a:r>
            <a:r>
              <a:rPr lang="en-US" altLang="zh-CN" sz="1200">
                <a:solidFill>
                  <a:srgbClr val="00FF00"/>
                </a:solidFill>
                <a:latin typeface="Courier New" pitchFamily="49" charset="0"/>
                <a:ea typeface="宋体" charset="-122"/>
              </a:rPr>
              <a:t>table_reference</a:t>
            </a:r>
            <a:r>
              <a:rPr lang="en-US" altLang="zh-CN" sz="1200">
                <a:latin typeface="Courier New" pitchFamily="49" charset="0"/>
                <a:ea typeface="宋体" charset="-122"/>
              </a:rPr>
              <a:t>}</a:t>
            </a:r>
          </a:p>
          <a:p>
            <a:endParaRPr lang="en-US" altLang="zh-CN" sz="1200">
              <a:latin typeface="Courier New" pitchFamily="49" charset="0"/>
              <a:ea typeface="宋体" charset="-122"/>
            </a:endParaRPr>
          </a:p>
          <a:p>
            <a:r>
              <a:rPr lang="en-US" altLang="zh-CN" sz="1200">
                <a:solidFill>
                  <a:srgbClr val="00FF00"/>
                </a:solidFill>
                <a:latin typeface="Courier New" pitchFamily="49" charset="0"/>
                <a:ea typeface="宋体" charset="-122"/>
              </a:rPr>
              <a:t>table_reference</a:t>
            </a:r>
            <a:r>
              <a:rPr lang="en-US" altLang="zh-CN" sz="1200">
                <a:latin typeface="Courier New" pitchFamily="49" charset="0"/>
                <a:ea typeface="宋体" charset="-122"/>
              </a:rPr>
              <a:t>: </a:t>
            </a:r>
            <a:r>
              <a:rPr lang="en-US" altLang="zh-CN" sz="1200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table_factor</a:t>
            </a:r>
            <a:r>
              <a:rPr lang="en-US" altLang="zh-CN" sz="1200">
                <a:latin typeface="Courier New" pitchFamily="49" charset="0"/>
                <a:ea typeface="宋体" charset="-122"/>
              </a:rPr>
              <a:t> {</a:t>
            </a:r>
          </a:p>
          <a:p>
            <a:r>
              <a:rPr lang="en-US" altLang="zh-CN" sz="1200">
                <a:latin typeface="Courier New" pitchFamily="49" charset="0"/>
                <a:ea typeface="宋体" charset="-122"/>
              </a:rPr>
              <a:t>        [</a:t>
            </a:r>
            <a:r>
              <a:rPr lang="en-US" altLang="zh-CN" sz="1200" b="1">
                <a:latin typeface="Courier New" pitchFamily="49" charset="0"/>
                <a:ea typeface="宋体" charset="-122"/>
              </a:rPr>
              <a:t>'INNER'</a:t>
            </a:r>
            <a:r>
              <a:rPr lang="en-US" altLang="zh-CN" sz="1200">
                <a:latin typeface="Courier New" pitchFamily="49" charset="0"/>
                <a:ea typeface="宋体" charset="-122"/>
              </a:rPr>
              <a:t>|</a:t>
            </a:r>
            <a:r>
              <a:rPr lang="en-US" altLang="zh-CN" sz="1200" b="1">
                <a:latin typeface="Courier New" pitchFamily="49" charset="0"/>
                <a:ea typeface="宋体" charset="-122"/>
              </a:rPr>
              <a:t>'CROSS‘</a:t>
            </a:r>
            <a:r>
              <a:rPr lang="en-US" altLang="zh-CN" sz="1200">
                <a:latin typeface="Courier New" pitchFamily="49" charset="0"/>
                <a:ea typeface="宋体" charset="-122"/>
              </a:rPr>
              <a:t>] </a:t>
            </a:r>
            <a:r>
              <a:rPr lang="en-US" altLang="zh-CN" sz="1200" b="1">
                <a:latin typeface="Courier New" pitchFamily="49" charset="0"/>
                <a:ea typeface="宋体" charset="-122"/>
              </a:rPr>
              <a:t>'JOIN'</a:t>
            </a:r>
            <a:r>
              <a:rPr lang="en-US" altLang="zh-CN" sz="1200">
                <a:latin typeface="Courier New" pitchFamily="49" charset="0"/>
                <a:ea typeface="宋体" charset="-122"/>
              </a:rPr>
              <a:t> </a:t>
            </a:r>
            <a:r>
              <a:rPr lang="en-US" altLang="zh-CN" sz="1200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table_factor</a:t>
            </a:r>
            <a:r>
              <a:rPr lang="en-US" altLang="zh-CN" sz="1200">
                <a:latin typeface="Courier New" pitchFamily="49" charset="0"/>
                <a:ea typeface="宋体" charset="-122"/>
              </a:rPr>
              <a:t> [join_condition]</a:t>
            </a:r>
          </a:p>
          <a:p>
            <a:r>
              <a:rPr lang="en-US" altLang="zh-CN" sz="1200">
                <a:latin typeface="Courier New" pitchFamily="49" charset="0"/>
                <a:ea typeface="宋体" charset="-122"/>
              </a:rPr>
              <a:t>      | </a:t>
            </a:r>
            <a:r>
              <a:rPr lang="en-US" altLang="zh-CN" sz="1200" b="1">
                <a:latin typeface="Courier New" pitchFamily="49" charset="0"/>
                <a:ea typeface="宋体" charset="-122"/>
              </a:rPr>
              <a:t>'STRAIGHT_JOIN'</a:t>
            </a:r>
            <a:r>
              <a:rPr lang="en-US" altLang="zh-CN" sz="1200">
                <a:latin typeface="Courier New" pitchFamily="49" charset="0"/>
                <a:ea typeface="宋体" charset="-122"/>
              </a:rPr>
              <a:t> </a:t>
            </a:r>
            <a:r>
              <a:rPr lang="en-US" altLang="zh-CN" sz="1200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table_factor</a:t>
            </a:r>
            <a:r>
              <a:rPr lang="en-US" altLang="zh-CN" sz="1200">
                <a:latin typeface="Courier New" pitchFamily="49" charset="0"/>
                <a:ea typeface="宋体" charset="-122"/>
              </a:rPr>
              <a:t> [</a:t>
            </a:r>
            <a:r>
              <a:rPr lang="en-US" altLang="zh-CN" sz="1200" b="1">
                <a:latin typeface="Courier New" pitchFamily="49" charset="0"/>
                <a:ea typeface="宋体" charset="-122"/>
              </a:rPr>
              <a:t>'ON'</a:t>
            </a:r>
            <a:r>
              <a:rPr lang="en-US" altLang="zh-CN" sz="1200">
                <a:latin typeface="Courier New" pitchFamily="49" charset="0"/>
                <a:ea typeface="宋体" charset="-122"/>
              </a:rPr>
              <a:t> conditional_expr]</a:t>
            </a:r>
          </a:p>
          <a:p>
            <a:r>
              <a:rPr lang="en-US" altLang="zh-CN" sz="1200">
                <a:latin typeface="Courier New" pitchFamily="49" charset="0"/>
                <a:ea typeface="宋体" charset="-122"/>
              </a:rPr>
              <a:t>      | (</a:t>
            </a:r>
            <a:r>
              <a:rPr lang="en-US" altLang="zh-CN" sz="1200" b="1">
                <a:latin typeface="Courier New" pitchFamily="49" charset="0"/>
                <a:ea typeface="宋体" charset="-122"/>
              </a:rPr>
              <a:t>'LEFT'</a:t>
            </a:r>
            <a:r>
              <a:rPr lang="en-US" altLang="zh-CN" sz="1200">
                <a:latin typeface="Courier New" pitchFamily="49" charset="0"/>
                <a:ea typeface="宋体" charset="-122"/>
              </a:rPr>
              <a:t>|</a:t>
            </a:r>
            <a:r>
              <a:rPr lang="en-US" altLang="zh-CN" sz="1200" b="1">
                <a:latin typeface="Courier New" pitchFamily="49" charset="0"/>
                <a:ea typeface="宋体" charset="-122"/>
              </a:rPr>
              <a:t>'RIGHT'</a:t>
            </a:r>
            <a:r>
              <a:rPr lang="en-US" altLang="zh-CN" sz="1200">
                <a:latin typeface="Courier New" pitchFamily="49" charset="0"/>
                <a:ea typeface="宋体" charset="-122"/>
              </a:rPr>
              <a:t>) [</a:t>
            </a:r>
            <a:r>
              <a:rPr lang="en-US" altLang="zh-CN" sz="1200" b="1">
                <a:latin typeface="Courier New" pitchFamily="49" charset="0"/>
                <a:ea typeface="宋体" charset="-122"/>
              </a:rPr>
              <a:t>'OUTER‘</a:t>
            </a:r>
            <a:r>
              <a:rPr lang="en-US" altLang="zh-CN" sz="1200">
                <a:latin typeface="Courier New" pitchFamily="49" charset="0"/>
                <a:ea typeface="宋体" charset="-122"/>
              </a:rPr>
              <a:t>] </a:t>
            </a:r>
            <a:r>
              <a:rPr lang="en-US" altLang="zh-CN" sz="1200" b="1">
                <a:latin typeface="Courier New" pitchFamily="49" charset="0"/>
                <a:ea typeface="宋体" charset="-122"/>
              </a:rPr>
              <a:t>'JOIN'</a:t>
            </a:r>
            <a:r>
              <a:rPr lang="en-US" altLang="zh-CN" sz="1200">
                <a:latin typeface="Courier New" pitchFamily="49" charset="0"/>
                <a:ea typeface="宋体" charset="-122"/>
              </a:rPr>
              <a:t> </a:t>
            </a:r>
            <a:r>
              <a:rPr lang="en-US" altLang="zh-CN" sz="1200">
                <a:solidFill>
                  <a:srgbClr val="00FF00"/>
                </a:solidFill>
                <a:latin typeface="Courier New" pitchFamily="49" charset="0"/>
                <a:ea typeface="宋体" charset="-122"/>
              </a:rPr>
              <a:t>table_reference</a:t>
            </a:r>
            <a:r>
              <a:rPr lang="en-US" altLang="zh-CN" sz="1200">
                <a:latin typeface="Courier New" pitchFamily="49" charset="0"/>
                <a:ea typeface="宋体" charset="-122"/>
              </a:rPr>
              <a:t> join_condition</a:t>
            </a:r>
          </a:p>
          <a:p>
            <a:r>
              <a:rPr lang="en-US" altLang="zh-CN" sz="1200">
                <a:latin typeface="Courier New" pitchFamily="49" charset="0"/>
                <a:ea typeface="宋体" charset="-122"/>
              </a:rPr>
              <a:t>      | </a:t>
            </a:r>
            <a:r>
              <a:rPr lang="en-US" altLang="zh-CN" sz="1200" b="1">
                <a:latin typeface="Courier New" pitchFamily="49" charset="0"/>
                <a:ea typeface="宋体" charset="-122"/>
              </a:rPr>
              <a:t>'NATURAL'</a:t>
            </a:r>
            <a:r>
              <a:rPr lang="en-US" altLang="zh-CN" sz="1200">
                <a:latin typeface="Courier New" pitchFamily="49" charset="0"/>
                <a:ea typeface="宋体" charset="-122"/>
              </a:rPr>
              <a:t> [(</a:t>
            </a:r>
            <a:r>
              <a:rPr lang="en-US" altLang="zh-CN" sz="1200" b="1">
                <a:latin typeface="Courier New" pitchFamily="49" charset="0"/>
                <a:ea typeface="宋体" charset="-122"/>
              </a:rPr>
              <a:t>'LEFT'</a:t>
            </a:r>
            <a:r>
              <a:rPr lang="en-US" altLang="zh-CN" sz="1200">
                <a:latin typeface="Courier New" pitchFamily="49" charset="0"/>
                <a:ea typeface="宋体" charset="-122"/>
              </a:rPr>
              <a:t>|</a:t>
            </a:r>
            <a:r>
              <a:rPr lang="en-US" altLang="zh-CN" sz="1200" b="1">
                <a:latin typeface="Courier New" pitchFamily="49" charset="0"/>
                <a:ea typeface="宋体" charset="-122"/>
              </a:rPr>
              <a:t>'RIGHT'</a:t>
            </a:r>
            <a:r>
              <a:rPr lang="en-US" altLang="zh-CN" sz="1200">
                <a:latin typeface="Courier New" pitchFamily="49" charset="0"/>
                <a:ea typeface="宋体" charset="-122"/>
              </a:rPr>
              <a:t>) [</a:t>
            </a:r>
            <a:r>
              <a:rPr lang="en-US" altLang="zh-CN" sz="1200" b="1">
                <a:latin typeface="Courier New" pitchFamily="49" charset="0"/>
                <a:ea typeface="宋体" charset="-122"/>
              </a:rPr>
              <a:t>'OUTER‘</a:t>
            </a:r>
            <a:r>
              <a:rPr lang="en-US" altLang="zh-CN" sz="1200">
                <a:latin typeface="Courier New" pitchFamily="49" charset="0"/>
                <a:ea typeface="宋体" charset="-122"/>
              </a:rPr>
              <a:t>] ] </a:t>
            </a:r>
            <a:r>
              <a:rPr lang="en-US" altLang="zh-CN" sz="1200" b="1">
                <a:latin typeface="Courier New" pitchFamily="49" charset="0"/>
                <a:ea typeface="宋体" charset="-122"/>
              </a:rPr>
              <a:t>'JOIN'</a:t>
            </a:r>
            <a:r>
              <a:rPr lang="en-US" altLang="zh-CN" sz="1200">
                <a:latin typeface="Courier New" pitchFamily="49" charset="0"/>
                <a:ea typeface="宋体" charset="-122"/>
              </a:rPr>
              <a:t> </a:t>
            </a:r>
            <a:r>
              <a:rPr lang="en-US" altLang="zh-CN" sz="1200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table_factor</a:t>
            </a:r>
          </a:p>
          <a:p>
            <a:r>
              <a:rPr lang="en-US" altLang="zh-CN" sz="1200">
                <a:latin typeface="Courier New" pitchFamily="49" charset="0"/>
                <a:ea typeface="宋体" charset="-122"/>
              </a:rPr>
              <a:t>  }</a:t>
            </a:r>
          </a:p>
          <a:p>
            <a:endParaRPr lang="en-US" altLang="zh-CN" sz="1200">
              <a:latin typeface="Courier New" pitchFamily="49" charset="0"/>
              <a:ea typeface="宋体" charset="-122"/>
            </a:endParaRPr>
          </a:p>
          <a:p>
            <a:r>
              <a:rPr lang="en-US" altLang="zh-CN" sz="1200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table_factor</a:t>
            </a:r>
            <a:r>
              <a:rPr lang="en-US" altLang="zh-CN" sz="1200">
                <a:latin typeface="Courier New" pitchFamily="49" charset="0"/>
                <a:ea typeface="宋体" charset="-122"/>
              </a:rPr>
              <a:t>:</a:t>
            </a:r>
          </a:p>
          <a:p>
            <a:r>
              <a:rPr lang="en-US" altLang="zh-CN" sz="1200">
                <a:latin typeface="Courier New" pitchFamily="49" charset="0"/>
                <a:ea typeface="宋体" charset="-122"/>
              </a:rPr>
              <a:t>      tbl_name [[</a:t>
            </a:r>
            <a:r>
              <a:rPr lang="en-US" altLang="zh-CN" sz="1200" b="1">
                <a:latin typeface="Courier New" pitchFamily="49" charset="0"/>
                <a:ea typeface="宋体" charset="-122"/>
              </a:rPr>
              <a:t>’AS’</a:t>
            </a:r>
            <a:r>
              <a:rPr lang="en-US" altLang="zh-CN" sz="1200">
                <a:latin typeface="Courier New" pitchFamily="49" charset="0"/>
                <a:ea typeface="宋体" charset="-122"/>
              </a:rPr>
              <a:t>] alias] [index_hint_list]</a:t>
            </a:r>
          </a:p>
          <a:p>
            <a:r>
              <a:rPr lang="en-US" altLang="zh-CN" sz="1200">
                <a:latin typeface="Courier New" pitchFamily="49" charset="0"/>
                <a:ea typeface="宋体" charset="-122"/>
              </a:rPr>
              <a:t>    | table_subquery [</a:t>
            </a:r>
            <a:r>
              <a:rPr lang="en-US" altLang="zh-CN" sz="1200" b="1">
                <a:latin typeface="Courier New" pitchFamily="49" charset="0"/>
                <a:ea typeface="宋体" charset="-122"/>
              </a:rPr>
              <a:t>’AS’</a:t>
            </a:r>
            <a:r>
              <a:rPr lang="en-US" altLang="zh-CN" sz="1200">
                <a:latin typeface="Courier New" pitchFamily="49" charset="0"/>
                <a:ea typeface="宋体" charset="-122"/>
              </a:rPr>
              <a:t>] alias</a:t>
            </a:r>
          </a:p>
          <a:p>
            <a:r>
              <a:rPr lang="en-US" altLang="zh-CN" sz="1200">
                <a:latin typeface="Courier New" pitchFamily="49" charset="0"/>
                <a:ea typeface="宋体" charset="-122"/>
              </a:rPr>
              <a:t>    | </a:t>
            </a:r>
            <a:r>
              <a:rPr lang="en-US" altLang="zh-CN" sz="1200" b="1">
                <a:latin typeface="Courier New" pitchFamily="49" charset="0"/>
                <a:ea typeface="宋体" charset="-122"/>
              </a:rPr>
              <a:t>'('</a:t>
            </a:r>
            <a:r>
              <a:rPr lang="en-US" altLang="zh-CN" sz="1200">
                <a:latin typeface="Courier New" pitchFamily="49" charset="0"/>
                <a:ea typeface="宋体" charset="-122"/>
              </a:rPr>
              <a:t> </a:t>
            </a:r>
            <a:r>
              <a:rPr lang="en-US" altLang="zh-CN" sz="120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table_references</a:t>
            </a:r>
            <a:r>
              <a:rPr lang="en-US" altLang="zh-CN" sz="1200">
                <a:latin typeface="Courier New" pitchFamily="49" charset="0"/>
                <a:ea typeface="宋体" charset="-122"/>
              </a:rPr>
              <a:t> </a:t>
            </a:r>
            <a:r>
              <a:rPr lang="en-US" altLang="zh-CN" sz="1200" b="1">
                <a:latin typeface="Courier New" pitchFamily="49" charset="0"/>
                <a:ea typeface="宋体" charset="-122"/>
              </a:rPr>
              <a:t>')'</a:t>
            </a:r>
          </a:p>
          <a:p>
            <a:endParaRPr lang="en-US" altLang="zh-CN" sz="1200">
              <a:latin typeface="Courier New" pitchFamily="49" charset="0"/>
              <a:ea typeface="宋体" charset="-122"/>
            </a:endParaRPr>
          </a:p>
          <a:p>
            <a:r>
              <a:rPr lang="en-US" altLang="zh-CN" sz="1200">
                <a:latin typeface="Courier New" pitchFamily="49" charset="0"/>
                <a:ea typeface="宋体" charset="-122"/>
              </a:rPr>
              <a:t>join_condition: </a:t>
            </a:r>
            <a:r>
              <a:rPr lang="en-US" altLang="zh-CN" sz="1200" b="1">
                <a:latin typeface="Courier New" pitchFamily="49" charset="0"/>
                <a:ea typeface="宋体" charset="-122"/>
              </a:rPr>
              <a:t>'ON'</a:t>
            </a:r>
            <a:r>
              <a:rPr lang="en-US" altLang="zh-CN" sz="1200">
                <a:latin typeface="Courier New" pitchFamily="49" charset="0"/>
                <a:ea typeface="宋体" charset="-122"/>
              </a:rPr>
              <a:t> conditional_expr | </a:t>
            </a:r>
            <a:r>
              <a:rPr lang="en-US" altLang="zh-CN" sz="1200" b="1">
                <a:latin typeface="Courier New" pitchFamily="49" charset="0"/>
                <a:ea typeface="宋体" charset="-122"/>
              </a:rPr>
              <a:t>'USING'</a:t>
            </a:r>
            <a:r>
              <a:rPr lang="en-US" altLang="zh-CN" sz="1200">
                <a:latin typeface="Courier New" pitchFamily="49" charset="0"/>
                <a:ea typeface="宋体" charset="-122"/>
              </a:rPr>
              <a:t> </a:t>
            </a:r>
            <a:r>
              <a:rPr lang="en-US" altLang="zh-CN" sz="1200" b="1">
                <a:latin typeface="Courier New" pitchFamily="49" charset="0"/>
                <a:ea typeface="宋体" charset="-122"/>
              </a:rPr>
              <a:t>'('</a:t>
            </a:r>
            <a:r>
              <a:rPr lang="en-US" altLang="zh-CN" sz="1200">
                <a:latin typeface="Courier New" pitchFamily="49" charset="0"/>
                <a:ea typeface="宋体" charset="-122"/>
              </a:rPr>
              <a:t>column_list</a:t>
            </a:r>
            <a:r>
              <a:rPr lang="en-US" altLang="zh-CN" sz="1200" b="1">
                <a:latin typeface="Courier New" pitchFamily="49" charset="0"/>
                <a:ea typeface="宋体" charset="-122"/>
              </a:rPr>
              <a:t>')'</a:t>
            </a:r>
          </a:p>
          <a:p>
            <a:endParaRPr lang="en-US" altLang="zh-CN" sz="1200">
              <a:latin typeface="Courier New" pitchFamily="49" charset="0"/>
              <a:ea typeface="宋体" charset="-122"/>
            </a:endParaRPr>
          </a:p>
          <a:p>
            <a:r>
              <a:rPr lang="en-US" altLang="zh-CN" sz="1200">
                <a:latin typeface="Courier New" pitchFamily="49" charset="0"/>
                <a:ea typeface="宋体" charset="-122"/>
              </a:rPr>
              <a:t>index_hint_list: index_hint {index_hint}</a:t>
            </a:r>
          </a:p>
          <a:p>
            <a:r>
              <a:rPr lang="en-US" altLang="zh-CN" sz="1200">
                <a:latin typeface="Courier New" pitchFamily="49" charset="0"/>
                <a:ea typeface="宋体" charset="-122"/>
              </a:rPr>
              <a:t>index_hint:</a:t>
            </a:r>
          </a:p>
          <a:p>
            <a:r>
              <a:rPr lang="en-US" altLang="zh-CN" sz="1200">
                <a:latin typeface="Courier New" pitchFamily="49" charset="0"/>
                <a:ea typeface="宋体" charset="-122"/>
              </a:rPr>
              <a:t>    </a:t>
            </a:r>
            <a:r>
              <a:rPr lang="en-US" altLang="zh-CN" sz="1200" b="1">
                <a:latin typeface="Courier New" pitchFamily="49" charset="0"/>
                <a:ea typeface="宋体" charset="-122"/>
              </a:rPr>
              <a:t>'USE'</a:t>
            </a:r>
            <a:r>
              <a:rPr lang="en-US" altLang="zh-CN" sz="1200">
                <a:latin typeface="Courier New" pitchFamily="49" charset="0"/>
                <a:ea typeface="宋体" charset="-122"/>
              </a:rPr>
              <a:t>    (</a:t>
            </a:r>
            <a:r>
              <a:rPr lang="en-US" altLang="zh-CN" sz="1200" b="1">
                <a:latin typeface="Courier New" pitchFamily="49" charset="0"/>
                <a:ea typeface="宋体" charset="-122"/>
              </a:rPr>
              <a:t>'INDEX'</a:t>
            </a:r>
            <a:r>
              <a:rPr lang="en-US" altLang="zh-CN" sz="1200">
                <a:latin typeface="Courier New" pitchFamily="49" charset="0"/>
                <a:ea typeface="宋体" charset="-122"/>
              </a:rPr>
              <a:t>|</a:t>
            </a:r>
            <a:r>
              <a:rPr lang="en-US" altLang="zh-CN" sz="1200" b="1">
                <a:latin typeface="Courier New" pitchFamily="49" charset="0"/>
                <a:ea typeface="宋体" charset="-122"/>
              </a:rPr>
              <a:t>'KEY'</a:t>
            </a:r>
            <a:r>
              <a:rPr lang="en-US" altLang="zh-CN" sz="1200">
                <a:latin typeface="Courier New" pitchFamily="49" charset="0"/>
                <a:ea typeface="宋体" charset="-122"/>
              </a:rPr>
              <a:t>) [ </a:t>
            </a:r>
            <a:r>
              <a:rPr lang="en-US" altLang="zh-CN" sz="1200" b="1">
                <a:latin typeface="Courier New" pitchFamily="49" charset="0"/>
                <a:ea typeface="宋体" charset="-122"/>
              </a:rPr>
              <a:t>'FOR'</a:t>
            </a:r>
            <a:r>
              <a:rPr lang="en-US" altLang="zh-CN" sz="1200">
                <a:latin typeface="Courier New" pitchFamily="49" charset="0"/>
                <a:ea typeface="宋体" charset="-122"/>
              </a:rPr>
              <a:t> (</a:t>
            </a:r>
            <a:r>
              <a:rPr lang="en-US" altLang="zh-CN" sz="1200" b="1">
                <a:latin typeface="Courier New" pitchFamily="49" charset="0"/>
                <a:ea typeface="宋体" charset="-122"/>
              </a:rPr>
              <a:t>'JOIN'</a:t>
            </a:r>
            <a:r>
              <a:rPr lang="en-US" altLang="zh-CN" sz="1200">
                <a:latin typeface="Courier New" pitchFamily="49" charset="0"/>
                <a:ea typeface="宋体" charset="-122"/>
              </a:rPr>
              <a:t>|</a:t>
            </a:r>
            <a:r>
              <a:rPr lang="en-US" altLang="zh-CN" sz="1200" b="1">
                <a:latin typeface="Courier New" pitchFamily="49" charset="0"/>
                <a:ea typeface="宋体" charset="-122"/>
              </a:rPr>
              <a:t>'ORDER' 'BY'</a:t>
            </a:r>
            <a:r>
              <a:rPr lang="en-US" altLang="zh-CN" sz="1200">
                <a:latin typeface="Courier New" pitchFamily="49" charset="0"/>
                <a:ea typeface="宋体" charset="-122"/>
              </a:rPr>
              <a:t>|</a:t>
            </a:r>
            <a:r>
              <a:rPr lang="en-US" altLang="zh-CN" sz="1200" b="1">
                <a:latin typeface="Courier New" pitchFamily="49" charset="0"/>
                <a:ea typeface="宋体" charset="-122"/>
              </a:rPr>
              <a:t>'GROUP' 'BY'</a:t>
            </a:r>
            <a:r>
              <a:rPr lang="en-US" altLang="zh-CN" sz="1200">
                <a:latin typeface="Courier New" pitchFamily="49" charset="0"/>
                <a:ea typeface="宋体" charset="-122"/>
              </a:rPr>
              <a:t>) ] </a:t>
            </a:r>
            <a:r>
              <a:rPr lang="en-US" altLang="zh-CN" sz="1200" b="1">
                <a:latin typeface="Courier New" pitchFamily="49" charset="0"/>
                <a:ea typeface="宋体" charset="-122"/>
              </a:rPr>
              <a:t>'('</a:t>
            </a:r>
            <a:r>
              <a:rPr lang="en-US" altLang="zh-CN" sz="1200">
                <a:latin typeface="Courier New" pitchFamily="49" charset="0"/>
                <a:ea typeface="宋体" charset="-122"/>
              </a:rPr>
              <a:t> [index_list] </a:t>
            </a:r>
            <a:r>
              <a:rPr lang="en-US" altLang="zh-CN" sz="1200" b="1">
                <a:latin typeface="Courier New" pitchFamily="49" charset="0"/>
                <a:ea typeface="宋体" charset="-122"/>
              </a:rPr>
              <a:t>')'</a:t>
            </a:r>
          </a:p>
          <a:p>
            <a:r>
              <a:rPr lang="en-US" altLang="zh-CN" sz="1200">
                <a:latin typeface="Courier New" pitchFamily="49" charset="0"/>
                <a:ea typeface="宋体" charset="-122"/>
              </a:rPr>
              <a:t>  | </a:t>
            </a:r>
            <a:r>
              <a:rPr lang="en-US" altLang="zh-CN" sz="1200" b="1">
                <a:latin typeface="Courier New" pitchFamily="49" charset="0"/>
                <a:ea typeface="宋体" charset="-122"/>
              </a:rPr>
              <a:t>'IGNORE'</a:t>
            </a:r>
            <a:r>
              <a:rPr lang="en-US" altLang="zh-CN" sz="1200">
                <a:latin typeface="Courier New" pitchFamily="49" charset="0"/>
                <a:ea typeface="宋体" charset="-122"/>
              </a:rPr>
              <a:t> (</a:t>
            </a:r>
            <a:r>
              <a:rPr lang="en-US" altLang="zh-CN" sz="1200" b="1">
                <a:latin typeface="Courier New" pitchFamily="49" charset="0"/>
                <a:ea typeface="宋体" charset="-122"/>
              </a:rPr>
              <a:t>'INDEX'</a:t>
            </a:r>
            <a:r>
              <a:rPr lang="en-US" altLang="zh-CN" sz="1200">
                <a:latin typeface="Courier New" pitchFamily="49" charset="0"/>
                <a:ea typeface="宋体" charset="-122"/>
              </a:rPr>
              <a:t>|</a:t>
            </a:r>
            <a:r>
              <a:rPr lang="en-US" altLang="zh-CN" sz="1200" b="1">
                <a:latin typeface="Courier New" pitchFamily="49" charset="0"/>
                <a:ea typeface="宋体" charset="-122"/>
              </a:rPr>
              <a:t>'KEY'</a:t>
            </a:r>
            <a:r>
              <a:rPr lang="en-US" altLang="zh-CN" sz="1200">
                <a:latin typeface="Courier New" pitchFamily="49" charset="0"/>
                <a:ea typeface="宋体" charset="-122"/>
              </a:rPr>
              <a:t>) [ </a:t>
            </a:r>
            <a:r>
              <a:rPr lang="en-US" altLang="zh-CN" sz="1200" b="1">
                <a:latin typeface="Courier New" pitchFamily="49" charset="0"/>
                <a:ea typeface="宋体" charset="-122"/>
              </a:rPr>
              <a:t>'FOR'</a:t>
            </a:r>
            <a:r>
              <a:rPr lang="en-US" altLang="zh-CN" sz="1200">
                <a:latin typeface="Courier New" pitchFamily="49" charset="0"/>
                <a:ea typeface="宋体" charset="-122"/>
              </a:rPr>
              <a:t> (</a:t>
            </a:r>
            <a:r>
              <a:rPr lang="en-US" altLang="zh-CN" sz="1200" b="1">
                <a:latin typeface="Courier New" pitchFamily="49" charset="0"/>
                <a:ea typeface="宋体" charset="-122"/>
              </a:rPr>
              <a:t>'JOIN'</a:t>
            </a:r>
            <a:r>
              <a:rPr lang="en-US" altLang="zh-CN" sz="1200">
                <a:latin typeface="Courier New" pitchFamily="49" charset="0"/>
                <a:ea typeface="宋体" charset="-122"/>
              </a:rPr>
              <a:t>|</a:t>
            </a:r>
            <a:r>
              <a:rPr lang="en-US" altLang="zh-CN" sz="1200" b="1">
                <a:latin typeface="Courier New" pitchFamily="49" charset="0"/>
                <a:ea typeface="宋体" charset="-122"/>
              </a:rPr>
              <a:t>'ORDER' 'BY'</a:t>
            </a:r>
            <a:r>
              <a:rPr lang="en-US" altLang="zh-CN" sz="1200">
                <a:latin typeface="Courier New" pitchFamily="49" charset="0"/>
                <a:ea typeface="宋体" charset="-122"/>
              </a:rPr>
              <a:t>|</a:t>
            </a:r>
            <a:r>
              <a:rPr lang="en-US" altLang="zh-CN" sz="1200" b="1">
                <a:latin typeface="Courier New" pitchFamily="49" charset="0"/>
                <a:ea typeface="宋体" charset="-122"/>
              </a:rPr>
              <a:t>'GROUP' 'BY'</a:t>
            </a:r>
            <a:r>
              <a:rPr lang="en-US" altLang="zh-CN" sz="1200">
                <a:latin typeface="Courier New" pitchFamily="49" charset="0"/>
                <a:ea typeface="宋体" charset="-122"/>
              </a:rPr>
              <a:t>) ] </a:t>
            </a:r>
            <a:r>
              <a:rPr lang="en-US" altLang="zh-CN" sz="1200" b="1">
                <a:latin typeface="Courier New" pitchFamily="49" charset="0"/>
                <a:ea typeface="宋体" charset="-122"/>
              </a:rPr>
              <a:t>'('</a:t>
            </a:r>
            <a:r>
              <a:rPr lang="en-US" altLang="zh-CN" sz="1200">
                <a:latin typeface="Courier New" pitchFamily="49" charset="0"/>
                <a:ea typeface="宋体" charset="-122"/>
              </a:rPr>
              <a:t>  index_list  </a:t>
            </a:r>
            <a:r>
              <a:rPr lang="en-US" altLang="zh-CN" sz="1200" b="1">
                <a:latin typeface="Courier New" pitchFamily="49" charset="0"/>
                <a:ea typeface="宋体" charset="-122"/>
              </a:rPr>
              <a:t>')'</a:t>
            </a:r>
          </a:p>
          <a:p>
            <a:r>
              <a:rPr lang="en-US" altLang="zh-CN" sz="1200">
                <a:latin typeface="Courier New" pitchFamily="49" charset="0"/>
                <a:ea typeface="宋体" charset="-122"/>
              </a:rPr>
              <a:t>  | </a:t>
            </a:r>
            <a:r>
              <a:rPr lang="en-US" altLang="zh-CN" sz="1200" b="1">
                <a:latin typeface="Courier New" pitchFamily="49" charset="0"/>
                <a:ea typeface="宋体" charset="-122"/>
              </a:rPr>
              <a:t>'FORCE'</a:t>
            </a:r>
            <a:r>
              <a:rPr lang="en-US" altLang="zh-CN" sz="1200">
                <a:latin typeface="Courier New" pitchFamily="49" charset="0"/>
                <a:ea typeface="宋体" charset="-122"/>
              </a:rPr>
              <a:t>  (</a:t>
            </a:r>
            <a:r>
              <a:rPr lang="en-US" altLang="zh-CN" sz="1200" b="1">
                <a:latin typeface="Courier New" pitchFamily="49" charset="0"/>
                <a:ea typeface="宋体" charset="-122"/>
              </a:rPr>
              <a:t>'INDEX'</a:t>
            </a:r>
            <a:r>
              <a:rPr lang="en-US" altLang="zh-CN" sz="1200">
                <a:latin typeface="Courier New" pitchFamily="49" charset="0"/>
                <a:ea typeface="宋体" charset="-122"/>
              </a:rPr>
              <a:t>|</a:t>
            </a:r>
            <a:r>
              <a:rPr lang="en-US" altLang="zh-CN" sz="1200" b="1">
                <a:latin typeface="Courier New" pitchFamily="49" charset="0"/>
                <a:ea typeface="宋体" charset="-122"/>
              </a:rPr>
              <a:t>'KEY'</a:t>
            </a:r>
            <a:r>
              <a:rPr lang="en-US" altLang="zh-CN" sz="1200">
                <a:latin typeface="Courier New" pitchFamily="49" charset="0"/>
                <a:ea typeface="宋体" charset="-122"/>
              </a:rPr>
              <a:t>) [ </a:t>
            </a:r>
            <a:r>
              <a:rPr lang="en-US" altLang="zh-CN" sz="1200" b="1">
                <a:latin typeface="Courier New" pitchFamily="49" charset="0"/>
                <a:ea typeface="宋体" charset="-122"/>
              </a:rPr>
              <a:t>'FOR'</a:t>
            </a:r>
            <a:r>
              <a:rPr lang="en-US" altLang="zh-CN" sz="1200">
                <a:latin typeface="Courier New" pitchFamily="49" charset="0"/>
                <a:ea typeface="宋体" charset="-122"/>
              </a:rPr>
              <a:t> (</a:t>
            </a:r>
            <a:r>
              <a:rPr lang="en-US" altLang="zh-CN" sz="1200" b="1">
                <a:latin typeface="Courier New" pitchFamily="49" charset="0"/>
                <a:ea typeface="宋体" charset="-122"/>
              </a:rPr>
              <a:t>'JOIN'</a:t>
            </a:r>
            <a:r>
              <a:rPr lang="en-US" altLang="zh-CN" sz="1200">
                <a:latin typeface="Courier New" pitchFamily="49" charset="0"/>
                <a:ea typeface="宋体" charset="-122"/>
              </a:rPr>
              <a:t>|</a:t>
            </a:r>
            <a:r>
              <a:rPr lang="en-US" altLang="zh-CN" sz="1200" b="1">
                <a:latin typeface="Courier New" pitchFamily="49" charset="0"/>
                <a:ea typeface="宋体" charset="-122"/>
              </a:rPr>
              <a:t>'ORDER' 'BY'</a:t>
            </a:r>
            <a:r>
              <a:rPr lang="en-US" altLang="zh-CN" sz="1200">
                <a:latin typeface="Courier New" pitchFamily="49" charset="0"/>
                <a:ea typeface="宋体" charset="-122"/>
              </a:rPr>
              <a:t>|</a:t>
            </a:r>
            <a:r>
              <a:rPr lang="en-US" altLang="zh-CN" sz="1200" b="1">
                <a:latin typeface="Courier New" pitchFamily="49" charset="0"/>
                <a:ea typeface="宋体" charset="-122"/>
              </a:rPr>
              <a:t>'GROUP' 'BY'</a:t>
            </a:r>
            <a:r>
              <a:rPr lang="en-US" altLang="zh-CN" sz="1200">
                <a:latin typeface="Courier New" pitchFamily="49" charset="0"/>
                <a:ea typeface="宋体" charset="-122"/>
              </a:rPr>
              <a:t>) ] </a:t>
            </a:r>
            <a:r>
              <a:rPr lang="en-US" altLang="zh-CN" sz="1200" b="1">
                <a:latin typeface="Courier New" pitchFamily="49" charset="0"/>
                <a:ea typeface="宋体" charset="-122"/>
              </a:rPr>
              <a:t>'('</a:t>
            </a:r>
            <a:r>
              <a:rPr lang="en-US" altLang="zh-CN" sz="1200">
                <a:latin typeface="Courier New" pitchFamily="49" charset="0"/>
                <a:ea typeface="宋体" charset="-122"/>
              </a:rPr>
              <a:t>  index_list  </a:t>
            </a:r>
            <a:r>
              <a:rPr lang="en-US" altLang="zh-CN" sz="1200" b="1">
                <a:latin typeface="Courier New" pitchFamily="49" charset="0"/>
                <a:ea typeface="宋体" charset="-122"/>
              </a:rPr>
              <a:t>')'</a:t>
            </a:r>
          </a:p>
          <a:p>
            <a:r>
              <a:rPr lang="en-US" altLang="zh-CN" sz="1200">
                <a:latin typeface="Courier New" pitchFamily="49" charset="0"/>
                <a:ea typeface="宋体" charset="-122"/>
              </a:rPr>
              <a:t>index_list: index_name {</a:t>
            </a:r>
            <a:r>
              <a:rPr lang="en-US" altLang="zh-CN" sz="1200" b="1">
                <a:latin typeface="Courier New" pitchFamily="49" charset="0"/>
                <a:ea typeface="宋体" charset="-122"/>
              </a:rPr>
              <a:t>','</a:t>
            </a:r>
            <a:r>
              <a:rPr lang="en-US" altLang="zh-CN" sz="1200">
                <a:latin typeface="Courier New" pitchFamily="49" charset="0"/>
                <a:ea typeface="宋体" charset="-122"/>
              </a:rPr>
              <a:t> index_name}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1" name="AutoShape 52"/>
          <p:cNvSpPr>
            <a:spLocks noChangeArrowheads="1"/>
          </p:cNvSpPr>
          <p:nvPr/>
        </p:nvSpPr>
        <p:spPr bwMode="auto">
          <a:xfrm>
            <a:off x="381000" y="4038600"/>
            <a:ext cx="8382000" cy="533400"/>
          </a:xfrm>
          <a:prstGeom prst="flowChartAlternateProcess">
            <a:avLst/>
          </a:prstGeom>
          <a:solidFill>
            <a:srgbClr val="C0C0C0">
              <a:alpha val="32156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zh-CN">
              <a:ea typeface="宋体" charset="-122"/>
            </a:endParaRPr>
          </a:p>
        </p:txBody>
      </p:sp>
      <p:sp>
        <p:nvSpPr>
          <p:cNvPr id="13824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latin typeface="微软雅黑"/>
                <a:ea typeface="微软雅黑"/>
                <a:cs typeface="微软雅黑"/>
              </a:rPr>
              <a:t>MySQL</a:t>
            </a:r>
            <a:r>
              <a:rPr lang="zh-CN" altLang="en-US" smtClean="0">
                <a:latin typeface="微软雅黑"/>
                <a:ea typeface="微软雅黑"/>
                <a:cs typeface="微软雅黑"/>
              </a:rPr>
              <a:t>不支持的</a:t>
            </a:r>
            <a:r>
              <a:rPr lang="en-US" altLang="zh-CN" smtClean="0">
                <a:latin typeface="微软雅黑"/>
                <a:ea typeface="微软雅黑"/>
                <a:cs typeface="微软雅黑"/>
              </a:rPr>
              <a:t>MySQL</a:t>
            </a:r>
            <a:r>
              <a:rPr lang="zh-CN" altLang="en-US" smtClean="0">
                <a:latin typeface="微软雅黑"/>
                <a:ea typeface="微软雅黑"/>
                <a:cs typeface="微软雅黑"/>
              </a:rPr>
              <a:t>语法</a:t>
            </a:r>
          </a:p>
        </p:txBody>
      </p:sp>
      <p:sp>
        <p:nvSpPr>
          <p:cNvPr id="138243" name="Rectangle 3"/>
          <p:cNvSpPr>
            <a:spLocks noChangeArrowheads="1"/>
          </p:cNvSpPr>
          <p:nvPr/>
        </p:nvSpPr>
        <p:spPr bwMode="auto">
          <a:xfrm>
            <a:off x="914400" y="1600200"/>
            <a:ext cx="8077200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1400">
                <a:solidFill>
                  <a:srgbClr val="990000"/>
                </a:solidFill>
                <a:latin typeface="Courier New" pitchFamily="49" charset="0"/>
                <a:ea typeface="宋体" charset="-122"/>
              </a:rPr>
              <a:t>table_reference</a:t>
            </a:r>
            <a:r>
              <a:rPr lang="en-US" altLang="zh-CN" sz="1400">
                <a:latin typeface="Courier New" pitchFamily="49" charset="0"/>
                <a:ea typeface="宋体" charset="-122"/>
              </a:rPr>
              <a:t>: </a:t>
            </a:r>
            <a:r>
              <a:rPr lang="en-US" altLang="zh-CN" sz="1400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table_factor</a:t>
            </a:r>
            <a:r>
              <a:rPr lang="en-US" altLang="zh-CN" sz="1400">
                <a:latin typeface="Courier New" pitchFamily="49" charset="0"/>
                <a:ea typeface="宋体" charset="-122"/>
              </a:rPr>
              <a:t> </a:t>
            </a:r>
            <a:r>
              <a:rPr lang="en-US" altLang="zh-CN" sz="1400" b="1">
                <a:latin typeface="Courier New" pitchFamily="49" charset="0"/>
                <a:ea typeface="宋体" charset="-122"/>
              </a:rPr>
              <a:t>'JOIN'</a:t>
            </a:r>
            <a:r>
              <a:rPr lang="en-US" altLang="zh-CN" sz="1400">
                <a:latin typeface="Courier New" pitchFamily="49" charset="0"/>
                <a:ea typeface="宋体" charset="-122"/>
              </a:rPr>
              <a:t>        </a:t>
            </a:r>
            <a:r>
              <a:rPr lang="en-US" altLang="zh-CN" sz="1400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table_factor  </a:t>
            </a:r>
            <a:r>
              <a:rPr lang="en-US" altLang="zh-CN" sz="1400">
                <a:latin typeface="Courier New" pitchFamily="49" charset="0"/>
                <a:ea typeface="宋体" charset="-122"/>
              </a:rPr>
              <a:t> [join_condition]</a:t>
            </a:r>
            <a:endParaRPr lang="en-US" altLang="zh-CN" sz="1400">
              <a:solidFill>
                <a:srgbClr val="00FF0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1400">
                <a:solidFill>
                  <a:srgbClr val="990000"/>
                </a:solidFill>
                <a:latin typeface="Courier New" pitchFamily="49" charset="0"/>
                <a:ea typeface="宋体" charset="-122"/>
              </a:rPr>
              <a:t>table_reference</a:t>
            </a:r>
            <a:r>
              <a:rPr lang="en-US" altLang="zh-CN" sz="1400">
                <a:latin typeface="Courier New" pitchFamily="49" charset="0"/>
                <a:ea typeface="宋体" charset="-122"/>
              </a:rPr>
              <a:t>: </a:t>
            </a:r>
            <a:r>
              <a:rPr lang="en-US" altLang="zh-CN" sz="1400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table_factor</a:t>
            </a:r>
            <a:r>
              <a:rPr lang="en-US" altLang="zh-CN" sz="1400">
                <a:latin typeface="Courier New" pitchFamily="49" charset="0"/>
                <a:ea typeface="宋体" charset="-122"/>
              </a:rPr>
              <a:t> </a:t>
            </a:r>
            <a:r>
              <a:rPr lang="en-US" altLang="zh-CN" sz="1400" b="1">
                <a:latin typeface="Courier New" pitchFamily="49" charset="0"/>
                <a:ea typeface="宋体" charset="-122"/>
              </a:rPr>
              <a:t>'LEFT'</a:t>
            </a:r>
            <a:r>
              <a:rPr lang="en-US" altLang="zh-CN" sz="1400">
                <a:latin typeface="Courier New" pitchFamily="49" charset="0"/>
                <a:ea typeface="宋体" charset="-122"/>
              </a:rPr>
              <a:t> </a:t>
            </a:r>
            <a:r>
              <a:rPr lang="en-US" altLang="zh-CN" sz="1400" b="1">
                <a:latin typeface="Courier New" pitchFamily="49" charset="0"/>
                <a:ea typeface="宋体" charset="-122"/>
              </a:rPr>
              <a:t>'JOIN'</a:t>
            </a:r>
            <a:r>
              <a:rPr lang="en-US" altLang="zh-CN" sz="1400">
                <a:latin typeface="Courier New" pitchFamily="49" charset="0"/>
                <a:ea typeface="宋体" charset="-122"/>
              </a:rPr>
              <a:t> </a:t>
            </a:r>
            <a:r>
              <a:rPr lang="en-US" altLang="zh-CN" sz="1400">
                <a:solidFill>
                  <a:srgbClr val="990000"/>
                </a:solidFill>
                <a:latin typeface="Courier New" pitchFamily="49" charset="0"/>
                <a:ea typeface="宋体" charset="-122"/>
              </a:rPr>
              <a:t>table_reference</a:t>
            </a:r>
            <a:r>
              <a:rPr lang="en-US" altLang="zh-CN" sz="1400">
                <a:latin typeface="Courier New" pitchFamily="49" charset="0"/>
                <a:ea typeface="宋体" charset="-122"/>
              </a:rPr>
              <a:t> join_condition</a:t>
            </a:r>
          </a:p>
        </p:txBody>
      </p:sp>
      <p:sp>
        <p:nvSpPr>
          <p:cNvPr id="138244" name="Rectangle 4"/>
          <p:cNvSpPr>
            <a:spLocks noChangeArrowheads="1"/>
          </p:cNvSpPr>
          <p:nvPr/>
        </p:nvSpPr>
        <p:spPr bwMode="auto">
          <a:xfrm>
            <a:off x="1905000" y="4159250"/>
            <a:ext cx="13716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600" b="1">
                <a:latin typeface="Courier New" pitchFamily="49" charset="0"/>
                <a:ea typeface="宋体" charset="-122"/>
              </a:rPr>
              <a:t>LEFT JOIN</a:t>
            </a:r>
          </a:p>
        </p:txBody>
      </p:sp>
      <p:sp>
        <p:nvSpPr>
          <p:cNvPr id="138245" name="Rectangle 5"/>
          <p:cNvSpPr>
            <a:spLocks noChangeArrowheads="1"/>
          </p:cNvSpPr>
          <p:nvPr/>
        </p:nvSpPr>
        <p:spPr bwMode="auto">
          <a:xfrm>
            <a:off x="914400" y="4159250"/>
            <a:ext cx="6096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600" b="1">
                <a:latin typeface="Courier New" pitchFamily="49" charset="0"/>
                <a:ea typeface="宋体" charset="-122"/>
              </a:rPr>
              <a:t>tb1</a:t>
            </a:r>
          </a:p>
        </p:txBody>
      </p:sp>
      <p:sp>
        <p:nvSpPr>
          <p:cNvPr id="138246" name="Rectangle 6"/>
          <p:cNvSpPr>
            <a:spLocks noChangeArrowheads="1"/>
          </p:cNvSpPr>
          <p:nvPr/>
        </p:nvSpPr>
        <p:spPr bwMode="auto">
          <a:xfrm>
            <a:off x="3429000" y="4159250"/>
            <a:ext cx="6096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600" b="1">
                <a:latin typeface="Courier New" pitchFamily="49" charset="0"/>
                <a:ea typeface="宋体" charset="-122"/>
              </a:rPr>
              <a:t>t2</a:t>
            </a:r>
          </a:p>
        </p:txBody>
      </p:sp>
      <p:sp>
        <p:nvSpPr>
          <p:cNvPr id="138247" name="Rectangle 7"/>
          <p:cNvSpPr>
            <a:spLocks noChangeArrowheads="1"/>
          </p:cNvSpPr>
          <p:nvPr/>
        </p:nvSpPr>
        <p:spPr bwMode="auto">
          <a:xfrm>
            <a:off x="4267200" y="4159250"/>
            <a:ext cx="762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600" b="1">
                <a:latin typeface="Courier New" pitchFamily="49" charset="0"/>
                <a:ea typeface="宋体" charset="-122"/>
              </a:rPr>
              <a:t>JOIN</a:t>
            </a:r>
          </a:p>
        </p:txBody>
      </p:sp>
      <p:sp>
        <p:nvSpPr>
          <p:cNvPr id="138248" name="Rectangle 8"/>
          <p:cNvSpPr>
            <a:spLocks noChangeArrowheads="1"/>
          </p:cNvSpPr>
          <p:nvPr/>
        </p:nvSpPr>
        <p:spPr bwMode="auto">
          <a:xfrm>
            <a:off x="5334000" y="4159250"/>
            <a:ext cx="6096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600" b="1">
                <a:latin typeface="Courier New" pitchFamily="49" charset="0"/>
                <a:ea typeface="宋体" charset="-122"/>
              </a:rPr>
              <a:t>t3</a:t>
            </a:r>
          </a:p>
        </p:txBody>
      </p:sp>
      <p:sp>
        <p:nvSpPr>
          <p:cNvPr id="138249" name="Rectangle 9"/>
          <p:cNvSpPr>
            <a:spLocks noChangeArrowheads="1"/>
          </p:cNvSpPr>
          <p:nvPr/>
        </p:nvSpPr>
        <p:spPr bwMode="auto">
          <a:xfrm>
            <a:off x="6400800" y="4159250"/>
            <a:ext cx="1981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600" b="1">
                <a:latin typeface="Courier New" pitchFamily="49" charset="0"/>
                <a:ea typeface="宋体" charset="-122"/>
              </a:rPr>
              <a:t>USING (id)</a:t>
            </a:r>
          </a:p>
        </p:txBody>
      </p:sp>
      <p:sp>
        <p:nvSpPr>
          <p:cNvPr id="138250" name="Rectangle 31"/>
          <p:cNvSpPr>
            <a:spLocks noChangeArrowheads="1"/>
          </p:cNvSpPr>
          <p:nvPr/>
        </p:nvSpPr>
        <p:spPr bwMode="auto">
          <a:xfrm>
            <a:off x="228600" y="1549400"/>
            <a:ext cx="666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1400">
                <a:solidFill>
                  <a:srgbClr val="FF0000"/>
                </a:solidFill>
                <a:ea typeface="宋体" charset="-122"/>
              </a:rPr>
              <a:t>规则</a:t>
            </a:r>
            <a:r>
              <a:rPr lang="en-US" altLang="zh-CN">
                <a:solidFill>
                  <a:srgbClr val="FF0000"/>
                </a:solidFill>
                <a:ea typeface="宋体" charset="-122"/>
              </a:rPr>
              <a:t>1</a:t>
            </a:r>
          </a:p>
        </p:txBody>
      </p:sp>
      <p:sp>
        <p:nvSpPr>
          <p:cNvPr id="138251" name="Rectangle 32"/>
          <p:cNvSpPr>
            <a:spLocks noChangeArrowheads="1"/>
          </p:cNvSpPr>
          <p:nvPr/>
        </p:nvSpPr>
        <p:spPr bwMode="auto">
          <a:xfrm>
            <a:off x="228600" y="1778000"/>
            <a:ext cx="666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1400">
                <a:solidFill>
                  <a:srgbClr val="00FF00"/>
                </a:solidFill>
                <a:ea typeface="宋体" charset="-122"/>
              </a:rPr>
              <a:t>规则</a:t>
            </a:r>
            <a:r>
              <a:rPr lang="en-US" altLang="zh-CN">
                <a:solidFill>
                  <a:srgbClr val="00FF00"/>
                </a:solidFill>
                <a:ea typeface="宋体" charset="-122"/>
              </a:rPr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5" name="AutoShape 27"/>
          <p:cNvSpPr>
            <a:spLocks noChangeArrowheads="1"/>
          </p:cNvSpPr>
          <p:nvPr/>
        </p:nvSpPr>
        <p:spPr bwMode="auto">
          <a:xfrm flipV="1">
            <a:off x="304800" y="2209800"/>
            <a:ext cx="8534400" cy="4267200"/>
          </a:xfrm>
          <a:prstGeom prst="flowChartAlternateProcess">
            <a:avLst/>
          </a:prstGeom>
          <a:solidFill>
            <a:srgbClr val="C0C0C0">
              <a:alpha val="32156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zh-CN">
              <a:ea typeface="宋体" charset="-122"/>
            </a:endParaRPr>
          </a:p>
        </p:txBody>
      </p:sp>
      <p:sp>
        <p:nvSpPr>
          <p:cNvPr id="139266" name="AutoShape 26"/>
          <p:cNvSpPr>
            <a:spLocks noChangeArrowheads="1"/>
          </p:cNvSpPr>
          <p:nvPr/>
        </p:nvSpPr>
        <p:spPr bwMode="auto">
          <a:xfrm>
            <a:off x="381000" y="4038600"/>
            <a:ext cx="8382000" cy="533400"/>
          </a:xfrm>
          <a:prstGeom prst="flowChartAlternateProcess">
            <a:avLst/>
          </a:prstGeom>
          <a:solidFill>
            <a:srgbClr val="C0C0C0">
              <a:alpha val="32156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zh-CN">
              <a:ea typeface="宋体" charset="-122"/>
            </a:endParaRPr>
          </a:p>
        </p:txBody>
      </p:sp>
      <p:sp>
        <p:nvSpPr>
          <p:cNvPr id="13926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latin typeface="微软雅黑"/>
                <a:ea typeface="微软雅黑"/>
                <a:cs typeface="微软雅黑"/>
              </a:rPr>
              <a:t>MySQL</a:t>
            </a:r>
            <a:r>
              <a:rPr lang="zh-CN" altLang="en-US" smtClean="0">
                <a:latin typeface="微软雅黑"/>
                <a:ea typeface="微软雅黑"/>
                <a:cs typeface="微软雅黑"/>
              </a:rPr>
              <a:t>不支持的</a:t>
            </a:r>
            <a:r>
              <a:rPr lang="en-US" altLang="zh-CN" smtClean="0">
                <a:latin typeface="微软雅黑"/>
                <a:ea typeface="微软雅黑"/>
                <a:cs typeface="微软雅黑"/>
              </a:rPr>
              <a:t>MySQL</a:t>
            </a:r>
            <a:r>
              <a:rPr lang="zh-CN" altLang="en-US" smtClean="0">
                <a:latin typeface="微软雅黑"/>
                <a:ea typeface="微软雅黑"/>
                <a:cs typeface="微软雅黑"/>
              </a:rPr>
              <a:t>语法</a:t>
            </a:r>
          </a:p>
        </p:txBody>
      </p:sp>
      <p:sp>
        <p:nvSpPr>
          <p:cNvPr id="139268" name="Rectangle 3"/>
          <p:cNvSpPr>
            <a:spLocks noChangeArrowheads="1"/>
          </p:cNvSpPr>
          <p:nvPr/>
        </p:nvSpPr>
        <p:spPr bwMode="auto">
          <a:xfrm>
            <a:off x="914400" y="1600200"/>
            <a:ext cx="8077200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1400">
                <a:solidFill>
                  <a:srgbClr val="990000"/>
                </a:solidFill>
                <a:latin typeface="Courier New" pitchFamily="49" charset="0"/>
                <a:ea typeface="宋体" charset="-122"/>
              </a:rPr>
              <a:t>table_reference</a:t>
            </a:r>
            <a:r>
              <a:rPr lang="en-US" altLang="zh-CN" sz="1400">
                <a:latin typeface="Courier New" pitchFamily="49" charset="0"/>
                <a:ea typeface="宋体" charset="-122"/>
              </a:rPr>
              <a:t>: </a:t>
            </a:r>
            <a:r>
              <a:rPr lang="en-US" altLang="zh-CN" sz="1400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table_factor</a:t>
            </a:r>
            <a:r>
              <a:rPr lang="en-US" altLang="zh-CN" sz="1400">
                <a:latin typeface="Courier New" pitchFamily="49" charset="0"/>
                <a:ea typeface="宋体" charset="-122"/>
              </a:rPr>
              <a:t> </a:t>
            </a:r>
            <a:r>
              <a:rPr lang="en-US" altLang="zh-CN" sz="1400" b="1">
                <a:latin typeface="Courier New" pitchFamily="49" charset="0"/>
                <a:ea typeface="宋体" charset="-122"/>
              </a:rPr>
              <a:t>'JOIN'</a:t>
            </a:r>
            <a:r>
              <a:rPr lang="en-US" altLang="zh-CN" sz="1400">
                <a:latin typeface="Courier New" pitchFamily="49" charset="0"/>
                <a:ea typeface="宋体" charset="-122"/>
              </a:rPr>
              <a:t>        </a:t>
            </a:r>
            <a:r>
              <a:rPr lang="en-US" altLang="zh-CN" sz="1400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table_factor  </a:t>
            </a:r>
            <a:r>
              <a:rPr lang="en-US" altLang="zh-CN" sz="1400">
                <a:latin typeface="Courier New" pitchFamily="49" charset="0"/>
                <a:ea typeface="宋体" charset="-122"/>
              </a:rPr>
              <a:t> [join_condition]</a:t>
            </a:r>
            <a:endParaRPr lang="en-US" altLang="zh-CN" sz="1400">
              <a:solidFill>
                <a:srgbClr val="00FF0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1400">
                <a:solidFill>
                  <a:srgbClr val="990000"/>
                </a:solidFill>
                <a:latin typeface="Courier New" pitchFamily="49" charset="0"/>
                <a:ea typeface="宋体" charset="-122"/>
              </a:rPr>
              <a:t>table_reference</a:t>
            </a:r>
            <a:r>
              <a:rPr lang="en-US" altLang="zh-CN" sz="1400">
                <a:latin typeface="Courier New" pitchFamily="49" charset="0"/>
                <a:ea typeface="宋体" charset="-122"/>
              </a:rPr>
              <a:t>: </a:t>
            </a:r>
            <a:r>
              <a:rPr lang="en-US" altLang="zh-CN" sz="1400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table_factor</a:t>
            </a:r>
            <a:r>
              <a:rPr lang="en-US" altLang="zh-CN" sz="1400">
                <a:latin typeface="Courier New" pitchFamily="49" charset="0"/>
                <a:ea typeface="宋体" charset="-122"/>
              </a:rPr>
              <a:t> </a:t>
            </a:r>
            <a:r>
              <a:rPr lang="en-US" altLang="zh-CN" sz="1400" b="1">
                <a:latin typeface="Courier New" pitchFamily="49" charset="0"/>
                <a:ea typeface="宋体" charset="-122"/>
              </a:rPr>
              <a:t>'LEFT'</a:t>
            </a:r>
            <a:r>
              <a:rPr lang="en-US" altLang="zh-CN" sz="1400">
                <a:latin typeface="Courier New" pitchFamily="49" charset="0"/>
                <a:ea typeface="宋体" charset="-122"/>
              </a:rPr>
              <a:t> </a:t>
            </a:r>
            <a:r>
              <a:rPr lang="en-US" altLang="zh-CN" sz="1400" b="1">
                <a:latin typeface="Courier New" pitchFamily="49" charset="0"/>
                <a:ea typeface="宋体" charset="-122"/>
              </a:rPr>
              <a:t>'JOIN'</a:t>
            </a:r>
            <a:r>
              <a:rPr lang="en-US" altLang="zh-CN" sz="1400">
                <a:latin typeface="Courier New" pitchFamily="49" charset="0"/>
                <a:ea typeface="宋体" charset="-122"/>
              </a:rPr>
              <a:t> </a:t>
            </a:r>
            <a:r>
              <a:rPr lang="en-US" altLang="zh-CN" sz="1400">
                <a:solidFill>
                  <a:srgbClr val="990000"/>
                </a:solidFill>
                <a:latin typeface="Courier New" pitchFamily="49" charset="0"/>
                <a:ea typeface="宋体" charset="-122"/>
              </a:rPr>
              <a:t>table_reference</a:t>
            </a:r>
            <a:r>
              <a:rPr lang="en-US" altLang="zh-CN" sz="1400">
                <a:latin typeface="Courier New" pitchFamily="49" charset="0"/>
                <a:ea typeface="宋体" charset="-122"/>
              </a:rPr>
              <a:t> join_condition</a:t>
            </a:r>
          </a:p>
        </p:txBody>
      </p:sp>
      <p:sp>
        <p:nvSpPr>
          <p:cNvPr id="139269" name="Rectangle 4"/>
          <p:cNvSpPr>
            <a:spLocks noChangeArrowheads="1"/>
          </p:cNvSpPr>
          <p:nvPr/>
        </p:nvSpPr>
        <p:spPr bwMode="auto">
          <a:xfrm>
            <a:off x="1905000" y="4159250"/>
            <a:ext cx="13716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600" b="1">
                <a:latin typeface="Courier New" pitchFamily="49" charset="0"/>
                <a:ea typeface="宋体" charset="-122"/>
              </a:rPr>
              <a:t>LEFT JOIN</a:t>
            </a:r>
          </a:p>
        </p:txBody>
      </p:sp>
      <p:sp>
        <p:nvSpPr>
          <p:cNvPr id="139270" name="Rectangle 5"/>
          <p:cNvSpPr>
            <a:spLocks noChangeArrowheads="1"/>
          </p:cNvSpPr>
          <p:nvPr/>
        </p:nvSpPr>
        <p:spPr bwMode="auto">
          <a:xfrm>
            <a:off x="914400" y="4159250"/>
            <a:ext cx="6096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600" b="1">
                <a:latin typeface="Courier New" pitchFamily="49" charset="0"/>
                <a:ea typeface="宋体" charset="-122"/>
              </a:rPr>
              <a:t>tb1</a:t>
            </a:r>
          </a:p>
        </p:txBody>
      </p:sp>
      <p:sp>
        <p:nvSpPr>
          <p:cNvPr id="139271" name="Rectangle 6"/>
          <p:cNvSpPr>
            <a:spLocks noChangeArrowheads="1"/>
          </p:cNvSpPr>
          <p:nvPr/>
        </p:nvSpPr>
        <p:spPr bwMode="auto">
          <a:xfrm>
            <a:off x="3429000" y="4159250"/>
            <a:ext cx="6096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600" b="1">
                <a:latin typeface="Courier New" pitchFamily="49" charset="0"/>
                <a:ea typeface="宋体" charset="-122"/>
              </a:rPr>
              <a:t>t2</a:t>
            </a:r>
          </a:p>
        </p:txBody>
      </p:sp>
      <p:sp>
        <p:nvSpPr>
          <p:cNvPr id="139272" name="Rectangle 7"/>
          <p:cNvSpPr>
            <a:spLocks noChangeArrowheads="1"/>
          </p:cNvSpPr>
          <p:nvPr/>
        </p:nvSpPr>
        <p:spPr bwMode="auto">
          <a:xfrm>
            <a:off x="4267200" y="4159250"/>
            <a:ext cx="762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600" b="1">
                <a:latin typeface="Courier New" pitchFamily="49" charset="0"/>
                <a:ea typeface="宋体" charset="-122"/>
              </a:rPr>
              <a:t>JOIN</a:t>
            </a:r>
          </a:p>
        </p:txBody>
      </p:sp>
      <p:sp>
        <p:nvSpPr>
          <p:cNvPr id="139273" name="Rectangle 8"/>
          <p:cNvSpPr>
            <a:spLocks noChangeArrowheads="1"/>
          </p:cNvSpPr>
          <p:nvPr/>
        </p:nvSpPr>
        <p:spPr bwMode="auto">
          <a:xfrm>
            <a:off x="5334000" y="4159250"/>
            <a:ext cx="6096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600" b="1">
                <a:latin typeface="Courier New" pitchFamily="49" charset="0"/>
                <a:ea typeface="宋体" charset="-122"/>
              </a:rPr>
              <a:t>t3</a:t>
            </a:r>
          </a:p>
        </p:txBody>
      </p:sp>
      <p:sp>
        <p:nvSpPr>
          <p:cNvPr id="139274" name="Rectangle 9"/>
          <p:cNvSpPr>
            <a:spLocks noChangeArrowheads="1"/>
          </p:cNvSpPr>
          <p:nvPr/>
        </p:nvSpPr>
        <p:spPr bwMode="auto">
          <a:xfrm>
            <a:off x="6400800" y="4159250"/>
            <a:ext cx="1981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600" b="1">
                <a:latin typeface="Courier New" pitchFamily="49" charset="0"/>
                <a:ea typeface="宋体" charset="-122"/>
              </a:rPr>
              <a:t>USING (id)</a:t>
            </a:r>
          </a:p>
        </p:txBody>
      </p:sp>
      <p:sp>
        <p:nvSpPr>
          <p:cNvPr id="139275" name="Rectangle 10"/>
          <p:cNvSpPr>
            <a:spLocks noChangeArrowheads="1"/>
          </p:cNvSpPr>
          <p:nvPr/>
        </p:nvSpPr>
        <p:spPr bwMode="auto">
          <a:xfrm>
            <a:off x="457200" y="4800600"/>
            <a:ext cx="1524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table_factor</a:t>
            </a:r>
          </a:p>
        </p:txBody>
      </p:sp>
      <p:sp>
        <p:nvSpPr>
          <p:cNvPr id="139276" name="Rectangle 14"/>
          <p:cNvSpPr>
            <a:spLocks noChangeArrowheads="1"/>
          </p:cNvSpPr>
          <p:nvPr/>
        </p:nvSpPr>
        <p:spPr bwMode="auto">
          <a:xfrm>
            <a:off x="228600" y="1549400"/>
            <a:ext cx="666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1400">
                <a:solidFill>
                  <a:srgbClr val="FF0000"/>
                </a:solidFill>
                <a:ea typeface="宋体" charset="-122"/>
              </a:rPr>
              <a:t>规则</a:t>
            </a:r>
            <a:r>
              <a:rPr lang="en-US" altLang="zh-CN">
                <a:solidFill>
                  <a:srgbClr val="FF0000"/>
                </a:solidFill>
                <a:ea typeface="宋体" charset="-122"/>
              </a:rPr>
              <a:t>1</a:t>
            </a:r>
          </a:p>
        </p:txBody>
      </p:sp>
      <p:sp>
        <p:nvSpPr>
          <p:cNvPr id="139277" name="Rectangle 15"/>
          <p:cNvSpPr>
            <a:spLocks noChangeArrowheads="1"/>
          </p:cNvSpPr>
          <p:nvPr/>
        </p:nvSpPr>
        <p:spPr bwMode="auto">
          <a:xfrm>
            <a:off x="228600" y="1778000"/>
            <a:ext cx="666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1400">
                <a:solidFill>
                  <a:srgbClr val="00FF00"/>
                </a:solidFill>
                <a:ea typeface="宋体" charset="-122"/>
              </a:rPr>
              <a:t>规则</a:t>
            </a:r>
            <a:r>
              <a:rPr lang="en-US" altLang="zh-CN">
                <a:solidFill>
                  <a:srgbClr val="00FF00"/>
                </a:solidFill>
                <a:ea typeface="宋体" charset="-122"/>
              </a:rPr>
              <a:t>2</a:t>
            </a:r>
          </a:p>
        </p:txBody>
      </p:sp>
      <p:cxnSp>
        <p:nvCxnSpPr>
          <p:cNvPr id="139278" name="AutoShape 16"/>
          <p:cNvCxnSpPr>
            <a:cxnSpLocks noChangeShapeType="1"/>
            <a:stCxn id="139275" idx="0"/>
            <a:endCxn id="139270" idx="2"/>
          </p:cNvCxnSpPr>
          <p:nvPr/>
        </p:nvCxnSpPr>
        <p:spPr bwMode="auto">
          <a:xfrm flipV="1">
            <a:off x="1219200" y="4495800"/>
            <a:ext cx="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89" name="AutoShape 53"/>
          <p:cNvSpPr>
            <a:spLocks noChangeArrowheads="1"/>
          </p:cNvSpPr>
          <p:nvPr/>
        </p:nvSpPr>
        <p:spPr bwMode="auto">
          <a:xfrm flipV="1">
            <a:off x="304800" y="2209800"/>
            <a:ext cx="8534400" cy="4267200"/>
          </a:xfrm>
          <a:prstGeom prst="flowChartAlternateProcess">
            <a:avLst/>
          </a:prstGeom>
          <a:solidFill>
            <a:srgbClr val="C0C0C0">
              <a:alpha val="32156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zh-CN">
              <a:ea typeface="宋体" charset="-122"/>
            </a:endParaRPr>
          </a:p>
        </p:txBody>
      </p:sp>
      <p:sp>
        <p:nvSpPr>
          <p:cNvPr id="140290" name="AutoShape 52"/>
          <p:cNvSpPr>
            <a:spLocks noChangeArrowheads="1"/>
          </p:cNvSpPr>
          <p:nvPr/>
        </p:nvSpPr>
        <p:spPr bwMode="auto">
          <a:xfrm>
            <a:off x="381000" y="4038600"/>
            <a:ext cx="8382000" cy="533400"/>
          </a:xfrm>
          <a:prstGeom prst="flowChartAlternateProcess">
            <a:avLst/>
          </a:prstGeom>
          <a:solidFill>
            <a:srgbClr val="C0C0C0">
              <a:alpha val="32156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zh-CN">
              <a:ea typeface="宋体" charset="-122"/>
            </a:endParaRPr>
          </a:p>
        </p:txBody>
      </p:sp>
      <p:sp>
        <p:nvSpPr>
          <p:cNvPr id="14029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latin typeface="微软雅黑"/>
                <a:ea typeface="微软雅黑"/>
                <a:cs typeface="微软雅黑"/>
              </a:rPr>
              <a:t>MySQL</a:t>
            </a:r>
            <a:r>
              <a:rPr lang="zh-CN" altLang="en-US" smtClean="0">
                <a:latin typeface="微软雅黑"/>
                <a:ea typeface="微软雅黑"/>
                <a:cs typeface="微软雅黑"/>
              </a:rPr>
              <a:t>不支持的</a:t>
            </a:r>
            <a:r>
              <a:rPr lang="en-US" altLang="zh-CN" smtClean="0">
                <a:latin typeface="微软雅黑"/>
                <a:ea typeface="微软雅黑"/>
                <a:cs typeface="微软雅黑"/>
              </a:rPr>
              <a:t>MySQL</a:t>
            </a:r>
            <a:r>
              <a:rPr lang="zh-CN" altLang="en-US" smtClean="0">
                <a:latin typeface="微软雅黑"/>
                <a:ea typeface="微软雅黑"/>
                <a:cs typeface="微软雅黑"/>
              </a:rPr>
              <a:t>语法</a:t>
            </a:r>
          </a:p>
        </p:txBody>
      </p:sp>
      <p:sp>
        <p:nvSpPr>
          <p:cNvPr id="140292" name="Rectangle 3"/>
          <p:cNvSpPr>
            <a:spLocks noChangeArrowheads="1"/>
          </p:cNvSpPr>
          <p:nvPr/>
        </p:nvSpPr>
        <p:spPr bwMode="auto">
          <a:xfrm>
            <a:off x="914400" y="1600200"/>
            <a:ext cx="8077200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1400">
                <a:solidFill>
                  <a:srgbClr val="990000"/>
                </a:solidFill>
                <a:latin typeface="Courier New" pitchFamily="49" charset="0"/>
                <a:ea typeface="宋体" charset="-122"/>
              </a:rPr>
              <a:t>table_reference</a:t>
            </a:r>
            <a:r>
              <a:rPr lang="en-US" altLang="zh-CN" sz="1400">
                <a:latin typeface="Courier New" pitchFamily="49" charset="0"/>
                <a:ea typeface="宋体" charset="-122"/>
              </a:rPr>
              <a:t>: </a:t>
            </a:r>
            <a:r>
              <a:rPr lang="en-US" altLang="zh-CN" sz="1400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table_factor</a:t>
            </a:r>
            <a:r>
              <a:rPr lang="en-US" altLang="zh-CN" sz="1400">
                <a:latin typeface="Courier New" pitchFamily="49" charset="0"/>
                <a:ea typeface="宋体" charset="-122"/>
              </a:rPr>
              <a:t> </a:t>
            </a:r>
            <a:r>
              <a:rPr lang="en-US" altLang="zh-CN" sz="1400" b="1">
                <a:latin typeface="Courier New" pitchFamily="49" charset="0"/>
                <a:ea typeface="宋体" charset="-122"/>
              </a:rPr>
              <a:t>'JOIN'</a:t>
            </a:r>
            <a:r>
              <a:rPr lang="en-US" altLang="zh-CN" sz="1400">
                <a:latin typeface="Courier New" pitchFamily="49" charset="0"/>
                <a:ea typeface="宋体" charset="-122"/>
              </a:rPr>
              <a:t>        </a:t>
            </a:r>
            <a:r>
              <a:rPr lang="en-US" altLang="zh-CN" sz="1400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table_factor  </a:t>
            </a:r>
            <a:r>
              <a:rPr lang="en-US" altLang="zh-CN" sz="1400">
                <a:latin typeface="Courier New" pitchFamily="49" charset="0"/>
                <a:ea typeface="宋体" charset="-122"/>
              </a:rPr>
              <a:t> [join_condition]</a:t>
            </a:r>
            <a:endParaRPr lang="en-US" altLang="zh-CN" sz="1400">
              <a:solidFill>
                <a:srgbClr val="00FF0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1400">
                <a:solidFill>
                  <a:srgbClr val="990000"/>
                </a:solidFill>
                <a:latin typeface="Courier New" pitchFamily="49" charset="0"/>
                <a:ea typeface="宋体" charset="-122"/>
              </a:rPr>
              <a:t>table_reference</a:t>
            </a:r>
            <a:r>
              <a:rPr lang="en-US" altLang="zh-CN" sz="1400">
                <a:latin typeface="Courier New" pitchFamily="49" charset="0"/>
                <a:ea typeface="宋体" charset="-122"/>
              </a:rPr>
              <a:t>: </a:t>
            </a:r>
            <a:r>
              <a:rPr lang="en-US" altLang="zh-CN" sz="1400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table_factor</a:t>
            </a:r>
            <a:r>
              <a:rPr lang="en-US" altLang="zh-CN" sz="1400">
                <a:latin typeface="Courier New" pitchFamily="49" charset="0"/>
                <a:ea typeface="宋体" charset="-122"/>
              </a:rPr>
              <a:t> </a:t>
            </a:r>
            <a:r>
              <a:rPr lang="en-US" altLang="zh-CN" sz="1400" b="1">
                <a:latin typeface="Courier New" pitchFamily="49" charset="0"/>
                <a:ea typeface="宋体" charset="-122"/>
              </a:rPr>
              <a:t>'LEFT'</a:t>
            </a:r>
            <a:r>
              <a:rPr lang="en-US" altLang="zh-CN" sz="1400">
                <a:latin typeface="Courier New" pitchFamily="49" charset="0"/>
                <a:ea typeface="宋体" charset="-122"/>
              </a:rPr>
              <a:t> </a:t>
            </a:r>
            <a:r>
              <a:rPr lang="en-US" altLang="zh-CN" sz="1400" b="1">
                <a:latin typeface="Courier New" pitchFamily="49" charset="0"/>
                <a:ea typeface="宋体" charset="-122"/>
              </a:rPr>
              <a:t>'JOIN'</a:t>
            </a:r>
            <a:r>
              <a:rPr lang="en-US" altLang="zh-CN" sz="1400">
                <a:latin typeface="Courier New" pitchFamily="49" charset="0"/>
                <a:ea typeface="宋体" charset="-122"/>
              </a:rPr>
              <a:t> </a:t>
            </a:r>
            <a:r>
              <a:rPr lang="en-US" altLang="zh-CN" sz="1400">
                <a:solidFill>
                  <a:srgbClr val="990000"/>
                </a:solidFill>
                <a:latin typeface="Courier New" pitchFamily="49" charset="0"/>
                <a:ea typeface="宋体" charset="-122"/>
              </a:rPr>
              <a:t>table_reference</a:t>
            </a:r>
            <a:r>
              <a:rPr lang="en-US" altLang="zh-CN" sz="1400">
                <a:latin typeface="Courier New" pitchFamily="49" charset="0"/>
                <a:ea typeface="宋体" charset="-122"/>
              </a:rPr>
              <a:t> join_condition</a:t>
            </a:r>
          </a:p>
        </p:txBody>
      </p:sp>
      <p:sp>
        <p:nvSpPr>
          <p:cNvPr id="140293" name="Rectangle 4"/>
          <p:cNvSpPr>
            <a:spLocks noChangeArrowheads="1"/>
          </p:cNvSpPr>
          <p:nvPr/>
        </p:nvSpPr>
        <p:spPr bwMode="auto">
          <a:xfrm>
            <a:off x="1905000" y="4159250"/>
            <a:ext cx="13716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600" b="1">
                <a:latin typeface="Courier New" pitchFamily="49" charset="0"/>
                <a:ea typeface="宋体" charset="-122"/>
              </a:rPr>
              <a:t>LEFT JOIN</a:t>
            </a:r>
          </a:p>
        </p:txBody>
      </p:sp>
      <p:sp>
        <p:nvSpPr>
          <p:cNvPr id="140294" name="Rectangle 5"/>
          <p:cNvSpPr>
            <a:spLocks noChangeArrowheads="1"/>
          </p:cNvSpPr>
          <p:nvPr/>
        </p:nvSpPr>
        <p:spPr bwMode="auto">
          <a:xfrm>
            <a:off x="914400" y="4159250"/>
            <a:ext cx="6096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600" b="1">
                <a:latin typeface="Courier New" pitchFamily="49" charset="0"/>
                <a:ea typeface="宋体" charset="-122"/>
              </a:rPr>
              <a:t>tb1</a:t>
            </a:r>
          </a:p>
        </p:txBody>
      </p:sp>
      <p:sp>
        <p:nvSpPr>
          <p:cNvPr id="140295" name="Rectangle 6"/>
          <p:cNvSpPr>
            <a:spLocks noChangeArrowheads="1"/>
          </p:cNvSpPr>
          <p:nvPr/>
        </p:nvSpPr>
        <p:spPr bwMode="auto">
          <a:xfrm>
            <a:off x="3429000" y="4159250"/>
            <a:ext cx="6096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600" b="1">
                <a:latin typeface="Courier New" pitchFamily="49" charset="0"/>
                <a:ea typeface="宋体" charset="-122"/>
              </a:rPr>
              <a:t>t2</a:t>
            </a:r>
          </a:p>
        </p:txBody>
      </p:sp>
      <p:sp>
        <p:nvSpPr>
          <p:cNvPr id="140296" name="Rectangle 7"/>
          <p:cNvSpPr>
            <a:spLocks noChangeArrowheads="1"/>
          </p:cNvSpPr>
          <p:nvPr/>
        </p:nvSpPr>
        <p:spPr bwMode="auto">
          <a:xfrm>
            <a:off x="4267200" y="4159250"/>
            <a:ext cx="762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600" b="1">
                <a:latin typeface="Courier New" pitchFamily="49" charset="0"/>
                <a:ea typeface="宋体" charset="-122"/>
              </a:rPr>
              <a:t>JOIN</a:t>
            </a:r>
          </a:p>
        </p:txBody>
      </p:sp>
      <p:sp>
        <p:nvSpPr>
          <p:cNvPr id="140297" name="Rectangle 8"/>
          <p:cNvSpPr>
            <a:spLocks noChangeArrowheads="1"/>
          </p:cNvSpPr>
          <p:nvPr/>
        </p:nvSpPr>
        <p:spPr bwMode="auto">
          <a:xfrm>
            <a:off x="5334000" y="4159250"/>
            <a:ext cx="6096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600" b="1">
                <a:latin typeface="Courier New" pitchFamily="49" charset="0"/>
                <a:ea typeface="宋体" charset="-122"/>
              </a:rPr>
              <a:t>t3</a:t>
            </a:r>
          </a:p>
        </p:txBody>
      </p:sp>
      <p:sp>
        <p:nvSpPr>
          <p:cNvPr id="140298" name="Rectangle 9"/>
          <p:cNvSpPr>
            <a:spLocks noChangeArrowheads="1"/>
          </p:cNvSpPr>
          <p:nvPr/>
        </p:nvSpPr>
        <p:spPr bwMode="auto">
          <a:xfrm>
            <a:off x="6400800" y="4159250"/>
            <a:ext cx="1981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600" b="1">
                <a:latin typeface="Courier New" pitchFamily="49" charset="0"/>
                <a:ea typeface="宋体" charset="-122"/>
              </a:rPr>
              <a:t>USING (id)</a:t>
            </a:r>
          </a:p>
        </p:txBody>
      </p:sp>
      <p:sp>
        <p:nvSpPr>
          <p:cNvPr id="140299" name="Rectangle 27"/>
          <p:cNvSpPr>
            <a:spLocks noChangeArrowheads="1"/>
          </p:cNvSpPr>
          <p:nvPr/>
        </p:nvSpPr>
        <p:spPr bwMode="auto">
          <a:xfrm>
            <a:off x="457200" y="4800600"/>
            <a:ext cx="1524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table_factor</a:t>
            </a:r>
          </a:p>
        </p:txBody>
      </p:sp>
      <p:sp>
        <p:nvSpPr>
          <p:cNvPr id="140300" name="Rectangle 31"/>
          <p:cNvSpPr>
            <a:spLocks noChangeArrowheads="1"/>
          </p:cNvSpPr>
          <p:nvPr/>
        </p:nvSpPr>
        <p:spPr bwMode="auto">
          <a:xfrm>
            <a:off x="228600" y="1549400"/>
            <a:ext cx="666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1400">
                <a:solidFill>
                  <a:srgbClr val="FF0000"/>
                </a:solidFill>
                <a:ea typeface="宋体" charset="-122"/>
              </a:rPr>
              <a:t>规则</a:t>
            </a:r>
            <a:r>
              <a:rPr lang="en-US" altLang="zh-CN">
                <a:solidFill>
                  <a:srgbClr val="FF0000"/>
                </a:solidFill>
                <a:ea typeface="宋体" charset="-122"/>
              </a:rPr>
              <a:t>1</a:t>
            </a:r>
          </a:p>
        </p:txBody>
      </p:sp>
      <p:sp>
        <p:nvSpPr>
          <p:cNvPr id="140301" name="Rectangle 32"/>
          <p:cNvSpPr>
            <a:spLocks noChangeArrowheads="1"/>
          </p:cNvSpPr>
          <p:nvPr/>
        </p:nvSpPr>
        <p:spPr bwMode="auto">
          <a:xfrm>
            <a:off x="228600" y="1778000"/>
            <a:ext cx="666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1400">
                <a:solidFill>
                  <a:srgbClr val="00FF00"/>
                </a:solidFill>
                <a:ea typeface="宋体" charset="-122"/>
              </a:rPr>
              <a:t>规则</a:t>
            </a:r>
            <a:r>
              <a:rPr lang="en-US" altLang="zh-CN">
                <a:solidFill>
                  <a:srgbClr val="00FF00"/>
                </a:solidFill>
                <a:ea typeface="宋体" charset="-122"/>
              </a:rPr>
              <a:t>2</a:t>
            </a:r>
          </a:p>
        </p:txBody>
      </p:sp>
      <p:cxnSp>
        <p:nvCxnSpPr>
          <p:cNvPr id="140302" name="AutoShape 33"/>
          <p:cNvCxnSpPr>
            <a:cxnSpLocks noChangeShapeType="1"/>
            <a:stCxn id="140299" idx="0"/>
            <a:endCxn id="140294" idx="2"/>
          </p:cNvCxnSpPr>
          <p:nvPr/>
        </p:nvCxnSpPr>
        <p:spPr bwMode="auto">
          <a:xfrm flipV="1">
            <a:off x="1219200" y="4495800"/>
            <a:ext cx="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40303" name="Rectangle 37"/>
          <p:cNvSpPr>
            <a:spLocks noChangeArrowheads="1"/>
          </p:cNvSpPr>
          <p:nvPr/>
        </p:nvSpPr>
        <p:spPr bwMode="auto">
          <a:xfrm>
            <a:off x="3733800" y="5486400"/>
            <a:ext cx="182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>
                <a:solidFill>
                  <a:srgbClr val="990000"/>
                </a:solidFill>
                <a:latin typeface="Courier New" pitchFamily="49" charset="0"/>
                <a:ea typeface="宋体" charset="-122"/>
              </a:rPr>
              <a:t>table_reference</a:t>
            </a:r>
          </a:p>
        </p:txBody>
      </p:sp>
      <p:sp>
        <p:nvSpPr>
          <p:cNvPr id="140304" name="Rectangle 42"/>
          <p:cNvSpPr>
            <a:spLocks noChangeArrowheads="1"/>
          </p:cNvSpPr>
          <p:nvPr/>
        </p:nvSpPr>
        <p:spPr bwMode="auto">
          <a:xfrm>
            <a:off x="1981200" y="6096000"/>
            <a:ext cx="182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>
                <a:solidFill>
                  <a:srgbClr val="990000"/>
                </a:solidFill>
                <a:latin typeface="Courier New" pitchFamily="49" charset="0"/>
                <a:ea typeface="宋体" charset="-122"/>
              </a:rPr>
              <a:t>table_reference</a:t>
            </a:r>
          </a:p>
        </p:txBody>
      </p:sp>
      <p:cxnSp>
        <p:nvCxnSpPr>
          <p:cNvPr id="140305" name="AutoShape 43"/>
          <p:cNvCxnSpPr>
            <a:cxnSpLocks noChangeShapeType="1"/>
            <a:stCxn id="140299" idx="2"/>
            <a:endCxn id="140304" idx="0"/>
          </p:cNvCxnSpPr>
          <p:nvPr/>
        </p:nvCxnSpPr>
        <p:spPr bwMode="auto">
          <a:xfrm>
            <a:off x="1219200" y="5105400"/>
            <a:ext cx="1676400" cy="990600"/>
          </a:xfrm>
          <a:prstGeom prst="straightConnector1">
            <a:avLst/>
          </a:prstGeom>
          <a:noFill/>
          <a:ln w="9525">
            <a:solidFill>
              <a:srgbClr val="00FF00"/>
            </a:solidFill>
            <a:round/>
            <a:headEnd/>
            <a:tailEnd/>
          </a:ln>
        </p:spPr>
      </p:cxnSp>
      <p:cxnSp>
        <p:nvCxnSpPr>
          <p:cNvPr id="140306" name="AutoShape 44"/>
          <p:cNvCxnSpPr>
            <a:cxnSpLocks noChangeShapeType="1"/>
            <a:stCxn id="140293" idx="2"/>
            <a:endCxn id="140304" idx="0"/>
          </p:cNvCxnSpPr>
          <p:nvPr/>
        </p:nvCxnSpPr>
        <p:spPr bwMode="auto">
          <a:xfrm>
            <a:off x="2590800" y="4495800"/>
            <a:ext cx="304800" cy="1600200"/>
          </a:xfrm>
          <a:prstGeom prst="straightConnector1">
            <a:avLst/>
          </a:prstGeom>
          <a:noFill/>
          <a:ln w="9525">
            <a:solidFill>
              <a:srgbClr val="00FF00"/>
            </a:solidFill>
            <a:round/>
            <a:headEnd/>
            <a:tailEnd/>
          </a:ln>
        </p:spPr>
      </p:cxnSp>
      <p:cxnSp>
        <p:nvCxnSpPr>
          <p:cNvPr id="140307" name="AutoShape 45"/>
          <p:cNvCxnSpPr>
            <a:cxnSpLocks noChangeShapeType="1"/>
            <a:stCxn id="140303" idx="2"/>
            <a:endCxn id="140304" idx="0"/>
          </p:cNvCxnSpPr>
          <p:nvPr/>
        </p:nvCxnSpPr>
        <p:spPr bwMode="auto">
          <a:xfrm flipH="1">
            <a:off x="2895600" y="5791200"/>
            <a:ext cx="1752600" cy="304800"/>
          </a:xfrm>
          <a:prstGeom prst="straightConnector1">
            <a:avLst/>
          </a:prstGeom>
          <a:noFill/>
          <a:ln w="9525">
            <a:solidFill>
              <a:srgbClr val="00FF00"/>
            </a:solidFill>
            <a:round/>
            <a:headEnd/>
            <a:tailEnd/>
          </a:ln>
        </p:spPr>
      </p:cxnSp>
      <p:sp>
        <p:nvSpPr>
          <p:cNvPr id="140308" name="Rectangle 51"/>
          <p:cNvSpPr>
            <a:spLocks noChangeArrowheads="1"/>
          </p:cNvSpPr>
          <p:nvPr/>
        </p:nvSpPr>
        <p:spPr bwMode="auto">
          <a:xfrm>
            <a:off x="1981200" y="5881688"/>
            <a:ext cx="666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1400">
                <a:solidFill>
                  <a:srgbClr val="00FF00"/>
                </a:solidFill>
                <a:ea typeface="宋体" charset="-122"/>
              </a:rPr>
              <a:t>规则</a:t>
            </a:r>
            <a:r>
              <a:rPr lang="en-US" altLang="zh-CN">
                <a:solidFill>
                  <a:srgbClr val="00FF00"/>
                </a:solidFill>
                <a:ea typeface="宋体" charset="-122"/>
              </a:rPr>
              <a:t>2</a:t>
            </a:r>
          </a:p>
        </p:txBody>
      </p:sp>
      <p:sp>
        <p:nvSpPr>
          <p:cNvPr id="140309" name="Rectangle 28"/>
          <p:cNvSpPr>
            <a:spLocks noChangeArrowheads="1"/>
          </p:cNvSpPr>
          <p:nvPr/>
        </p:nvSpPr>
        <p:spPr bwMode="auto">
          <a:xfrm>
            <a:off x="2971800" y="4800600"/>
            <a:ext cx="1524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table_factor</a:t>
            </a:r>
          </a:p>
        </p:txBody>
      </p:sp>
      <p:cxnSp>
        <p:nvCxnSpPr>
          <p:cNvPr id="140310" name="AutoShape 33"/>
          <p:cNvCxnSpPr>
            <a:cxnSpLocks noChangeShapeType="1"/>
          </p:cNvCxnSpPr>
          <p:nvPr/>
        </p:nvCxnSpPr>
        <p:spPr bwMode="auto">
          <a:xfrm flipV="1">
            <a:off x="3733800" y="4495800"/>
            <a:ext cx="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3" name="AutoShape 53"/>
          <p:cNvSpPr>
            <a:spLocks noChangeArrowheads="1"/>
          </p:cNvSpPr>
          <p:nvPr/>
        </p:nvSpPr>
        <p:spPr bwMode="auto">
          <a:xfrm flipV="1">
            <a:off x="304800" y="2209800"/>
            <a:ext cx="8534400" cy="4267200"/>
          </a:xfrm>
          <a:prstGeom prst="flowChartAlternateProcess">
            <a:avLst/>
          </a:prstGeom>
          <a:solidFill>
            <a:srgbClr val="C0C0C0">
              <a:alpha val="32156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zh-CN">
              <a:ea typeface="宋体" charset="-122"/>
            </a:endParaRPr>
          </a:p>
        </p:txBody>
      </p:sp>
      <p:sp>
        <p:nvSpPr>
          <p:cNvPr id="141314" name="AutoShape 52"/>
          <p:cNvSpPr>
            <a:spLocks noChangeArrowheads="1"/>
          </p:cNvSpPr>
          <p:nvPr/>
        </p:nvSpPr>
        <p:spPr bwMode="auto">
          <a:xfrm>
            <a:off x="381000" y="4038600"/>
            <a:ext cx="8382000" cy="533400"/>
          </a:xfrm>
          <a:prstGeom prst="flowChartAlternateProcess">
            <a:avLst/>
          </a:prstGeom>
          <a:solidFill>
            <a:srgbClr val="C0C0C0">
              <a:alpha val="32156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zh-CN">
              <a:ea typeface="宋体" charset="-122"/>
            </a:endParaRPr>
          </a:p>
        </p:txBody>
      </p:sp>
      <p:sp>
        <p:nvSpPr>
          <p:cNvPr id="14131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latin typeface="微软雅黑"/>
                <a:ea typeface="微软雅黑"/>
                <a:cs typeface="微软雅黑"/>
              </a:rPr>
              <a:t>MySQL</a:t>
            </a:r>
            <a:r>
              <a:rPr lang="zh-CN" altLang="en-US" smtClean="0">
                <a:latin typeface="微软雅黑"/>
                <a:ea typeface="微软雅黑"/>
                <a:cs typeface="微软雅黑"/>
              </a:rPr>
              <a:t>不支持的</a:t>
            </a:r>
            <a:r>
              <a:rPr lang="en-US" altLang="zh-CN" smtClean="0">
                <a:latin typeface="微软雅黑"/>
                <a:ea typeface="微软雅黑"/>
                <a:cs typeface="微软雅黑"/>
              </a:rPr>
              <a:t>MySQL</a:t>
            </a:r>
            <a:r>
              <a:rPr lang="zh-CN" altLang="en-US" smtClean="0">
                <a:latin typeface="微软雅黑"/>
                <a:ea typeface="微软雅黑"/>
                <a:cs typeface="微软雅黑"/>
              </a:rPr>
              <a:t>语法</a:t>
            </a:r>
          </a:p>
        </p:txBody>
      </p:sp>
      <p:sp>
        <p:nvSpPr>
          <p:cNvPr id="141316" name="Rectangle 3"/>
          <p:cNvSpPr>
            <a:spLocks noChangeArrowheads="1"/>
          </p:cNvSpPr>
          <p:nvPr/>
        </p:nvSpPr>
        <p:spPr bwMode="auto">
          <a:xfrm>
            <a:off x="914400" y="1600200"/>
            <a:ext cx="8077200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1400">
                <a:solidFill>
                  <a:srgbClr val="990000"/>
                </a:solidFill>
                <a:latin typeface="Courier New" pitchFamily="49" charset="0"/>
                <a:ea typeface="宋体" charset="-122"/>
              </a:rPr>
              <a:t>table_reference</a:t>
            </a:r>
            <a:r>
              <a:rPr lang="en-US" altLang="zh-CN" sz="1400">
                <a:latin typeface="Courier New" pitchFamily="49" charset="0"/>
                <a:ea typeface="宋体" charset="-122"/>
              </a:rPr>
              <a:t>: </a:t>
            </a:r>
            <a:r>
              <a:rPr lang="en-US" altLang="zh-CN" sz="1400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table_factor</a:t>
            </a:r>
            <a:r>
              <a:rPr lang="en-US" altLang="zh-CN" sz="1400">
                <a:latin typeface="Courier New" pitchFamily="49" charset="0"/>
                <a:ea typeface="宋体" charset="-122"/>
              </a:rPr>
              <a:t> </a:t>
            </a:r>
            <a:r>
              <a:rPr lang="en-US" altLang="zh-CN" sz="1400" b="1">
                <a:latin typeface="Courier New" pitchFamily="49" charset="0"/>
                <a:ea typeface="宋体" charset="-122"/>
              </a:rPr>
              <a:t>'JOIN'</a:t>
            </a:r>
            <a:r>
              <a:rPr lang="en-US" altLang="zh-CN" sz="1400">
                <a:latin typeface="Courier New" pitchFamily="49" charset="0"/>
                <a:ea typeface="宋体" charset="-122"/>
              </a:rPr>
              <a:t>        </a:t>
            </a:r>
            <a:r>
              <a:rPr lang="en-US" altLang="zh-CN" sz="1400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table_factor  </a:t>
            </a:r>
            <a:r>
              <a:rPr lang="en-US" altLang="zh-CN" sz="1400">
                <a:latin typeface="Courier New" pitchFamily="49" charset="0"/>
                <a:ea typeface="宋体" charset="-122"/>
              </a:rPr>
              <a:t> [join_condition]</a:t>
            </a:r>
            <a:endParaRPr lang="en-US" altLang="zh-CN" sz="1400">
              <a:solidFill>
                <a:srgbClr val="00FF0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1400">
                <a:solidFill>
                  <a:srgbClr val="990000"/>
                </a:solidFill>
                <a:latin typeface="Courier New" pitchFamily="49" charset="0"/>
                <a:ea typeface="宋体" charset="-122"/>
              </a:rPr>
              <a:t>table_reference</a:t>
            </a:r>
            <a:r>
              <a:rPr lang="en-US" altLang="zh-CN" sz="1400">
                <a:latin typeface="Courier New" pitchFamily="49" charset="0"/>
                <a:ea typeface="宋体" charset="-122"/>
              </a:rPr>
              <a:t>: </a:t>
            </a:r>
            <a:r>
              <a:rPr lang="en-US" altLang="zh-CN" sz="1400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table_factor</a:t>
            </a:r>
            <a:r>
              <a:rPr lang="en-US" altLang="zh-CN" sz="1400">
                <a:latin typeface="Courier New" pitchFamily="49" charset="0"/>
                <a:ea typeface="宋体" charset="-122"/>
              </a:rPr>
              <a:t> </a:t>
            </a:r>
            <a:r>
              <a:rPr lang="en-US" altLang="zh-CN" sz="1400" b="1">
                <a:latin typeface="Courier New" pitchFamily="49" charset="0"/>
                <a:ea typeface="宋体" charset="-122"/>
              </a:rPr>
              <a:t>'LEFT'</a:t>
            </a:r>
            <a:r>
              <a:rPr lang="en-US" altLang="zh-CN" sz="1400">
                <a:latin typeface="Courier New" pitchFamily="49" charset="0"/>
                <a:ea typeface="宋体" charset="-122"/>
              </a:rPr>
              <a:t> </a:t>
            </a:r>
            <a:r>
              <a:rPr lang="en-US" altLang="zh-CN" sz="1400" b="1">
                <a:latin typeface="Courier New" pitchFamily="49" charset="0"/>
                <a:ea typeface="宋体" charset="-122"/>
              </a:rPr>
              <a:t>'JOIN'</a:t>
            </a:r>
            <a:r>
              <a:rPr lang="en-US" altLang="zh-CN" sz="1400">
                <a:latin typeface="Courier New" pitchFamily="49" charset="0"/>
                <a:ea typeface="宋体" charset="-122"/>
              </a:rPr>
              <a:t> </a:t>
            </a:r>
            <a:r>
              <a:rPr lang="en-US" altLang="zh-CN" sz="1400">
                <a:solidFill>
                  <a:srgbClr val="990000"/>
                </a:solidFill>
                <a:latin typeface="Courier New" pitchFamily="49" charset="0"/>
                <a:ea typeface="宋体" charset="-122"/>
              </a:rPr>
              <a:t>table_reference</a:t>
            </a:r>
            <a:r>
              <a:rPr lang="en-US" altLang="zh-CN" sz="1400">
                <a:latin typeface="Courier New" pitchFamily="49" charset="0"/>
                <a:ea typeface="宋体" charset="-122"/>
              </a:rPr>
              <a:t> join_condition</a:t>
            </a:r>
          </a:p>
        </p:txBody>
      </p:sp>
      <p:sp>
        <p:nvSpPr>
          <p:cNvPr id="141317" name="Rectangle 4"/>
          <p:cNvSpPr>
            <a:spLocks noChangeArrowheads="1"/>
          </p:cNvSpPr>
          <p:nvPr/>
        </p:nvSpPr>
        <p:spPr bwMode="auto">
          <a:xfrm>
            <a:off x="1905000" y="4159250"/>
            <a:ext cx="13716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600" b="1">
                <a:latin typeface="Courier New" pitchFamily="49" charset="0"/>
                <a:ea typeface="宋体" charset="-122"/>
              </a:rPr>
              <a:t>LEFT JOIN</a:t>
            </a:r>
          </a:p>
        </p:txBody>
      </p:sp>
      <p:sp>
        <p:nvSpPr>
          <p:cNvPr id="141318" name="Rectangle 5"/>
          <p:cNvSpPr>
            <a:spLocks noChangeArrowheads="1"/>
          </p:cNvSpPr>
          <p:nvPr/>
        </p:nvSpPr>
        <p:spPr bwMode="auto">
          <a:xfrm>
            <a:off x="914400" y="4159250"/>
            <a:ext cx="6096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600" b="1">
                <a:latin typeface="Courier New" pitchFamily="49" charset="0"/>
                <a:ea typeface="宋体" charset="-122"/>
              </a:rPr>
              <a:t>tb1</a:t>
            </a:r>
          </a:p>
        </p:txBody>
      </p:sp>
      <p:sp>
        <p:nvSpPr>
          <p:cNvPr id="141319" name="Rectangle 6"/>
          <p:cNvSpPr>
            <a:spLocks noChangeArrowheads="1"/>
          </p:cNvSpPr>
          <p:nvPr/>
        </p:nvSpPr>
        <p:spPr bwMode="auto">
          <a:xfrm>
            <a:off x="3429000" y="4159250"/>
            <a:ext cx="6096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600" b="1">
                <a:latin typeface="Courier New" pitchFamily="49" charset="0"/>
                <a:ea typeface="宋体" charset="-122"/>
              </a:rPr>
              <a:t>t2</a:t>
            </a:r>
          </a:p>
        </p:txBody>
      </p:sp>
      <p:sp>
        <p:nvSpPr>
          <p:cNvPr id="141320" name="Rectangle 7"/>
          <p:cNvSpPr>
            <a:spLocks noChangeArrowheads="1"/>
          </p:cNvSpPr>
          <p:nvPr/>
        </p:nvSpPr>
        <p:spPr bwMode="auto">
          <a:xfrm>
            <a:off x="4267200" y="4159250"/>
            <a:ext cx="762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600" b="1">
                <a:latin typeface="Courier New" pitchFamily="49" charset="0"/>
                <a:ea typeface="宋体" charset="-122"/>
              </a:rPr>
              <a:t>JOIN</a:t>
            </a:r>
          </a:p>
        </p:txBody>
      </p:sp>
      <p:sp>
        <p:nvSpPr>
          <p:cNvPr id="141321" name="Rectangle 8"/>
          <p:cNvSpPr>
            <a:spLocks noChangeArrowheads="1"/>
          </p:cNvSpPr>
          <p:nvPr/>
        </p:nvSpPr>
        <p:spPr bwMode="auto">
          <a:xfrm>
            <a:off x="5334000" y="4159250"/>
            <a:ext cx="6096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600" b="1">
                <a:latin typeface="Courier New" pitchFamily="49" charset="0"/>
                <a:ea typeface="宋体" charset="-122"/>
              </a:rPr>
              <a:t>t3</a:t>
            </a:r>
          </a:p>
        </p:txBody>
      </p:sp>
      <p:sp>
        <p:nvSpPr>
          <p:cNvPr id="141322" name="Rectangle 9"/>
          <p:cNvSpPr>
            <a:spLocks noChangeArrowheads="1"/>
          </p:cNvSpPr>
          <p:nvPr/>
        </p:nvSpPr>
        <p:spPr bwMode="auto">
          <a:xfrm>
            <a:off x="6400800" y="4159250"/>
            <a:ext cx="1981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600" b="1">
                <a:latin typeface="Courier New" pitchFamily="49" charset="0"/>
                <a:ea typeface="宋体" charset="-122"/>
              </a:rPr>
              <a:t>USING (id)</a:t>
            </a:r>
          </a:p>
        </p:txBody>
      </p:sp>
      <p:sp>
        <p:nvSpPr>
          <p:cNvPr id="141323" name="Rectangle 27"/>
          <p:cNvSpPr>
            <a:spLocks noChangeArrowheads="1"/>
          </p:cNvSpPr>
          <p:nvPr/>
        </p:nvSpPr>
        <p:spPr bwMode="auto">
          <a:xfrm>
            <a:off x="457200" y="4800600"/>
            <a:ext cx="1524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table_factor</a:t>
            </a:r>
          </a:p>
        </p:txBody>
      </p:sp>
      <p:sp>
        <p:nvSpPr>
          <p:cNvPr id="141324" name="Rectangle 28"/>
          <p:cNvSpPr>
            <a:spLocks noChangeArrowheads="1"/>
          </p:cNvSpPr>
          <p:nvPr/>
        </p:nvSpPr>
        <p:spPr bwMode="auto">
          <a:xfrm>
            <a:off x="2971800" y="4800600"/>
            <a:ext cx="1524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table_factor</a:t>
            </a:r>
          </a:p>
        </p:txBody>
      </p:sp>
      <p:sp>
        <p:nvSpPr>
          <p:cNvPr id="141325" name="Rectangle 29"/>
          <p:cNvSpPr>
            <a:spLocks noChangeArrowheads="1"/>
          </p:cNvSpPr>
          <p:nvPr/>
        </p:nvSpPr>
        <p:spPr bwMode="auto">
          <a:xfrm>
            <a:off x="4876800" y="4800600"/>
            <a:ext cx="1524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table_factor</a:t>
            </a:r>
          </a:p>
        </p:txBody>
      </p:sp>
      <p:sp>
        <p:nvSpPr>
          <p:cNvPr id="141326" name="Rectangle 30"/>
          <p:cNvSpPr>
            <a:spLocks noChangeArrowheads="1"/>
          </p:cNvSpPr>
          <p:nvPr/>
        </p:nvSpPr>
        <p:spPr bwMode="auto">
          <a:xfrm>
            <a:off x="6477000" y="4800600"/>
            <a:ext cx="182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>
                <a:latin typeface="Courier New" pitchFamily="49" charset="0"/>
                <a:ea typeface="宋体" charset="-122"/>
              </a:rPr>
              <a:t>join_condition</a:t>
            </a:r>
          </a:p>
        </p:txBody>
      </p:sp>
      <p:sp>
        <p:nvSpPr>
          <p:cNvPr id="141327" name="Rectangle 31"/>
          <p:cNvSpPr>
            <a:spLocks noChangeArrowheads="1"/>
          </p:cNvSpPr>
          <p:nvPr/>
        </p:nvSpPr>
        <p:spPr bwMode="auto">
          <a:xfrm>
            <a:off x="228600" y="1549400"/>
            <a:ext cx="666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1400">
                <a:solidFill>
                  <a:srgbClr val="FF0000"/>
                </a:solidFill>
                <a:ea typeface="宋体" charset="-122"/>
              </a:rPr>
              <a:t>规则</a:t>
            </a:r>
            <a:r>
              <a:rPr lang="en-US" altLang="zh-CN">
                <a:solidFill>
                  <a:srgbClr val="FF0000"/>
                </a:solidFill>
                <a:ea typeface="宋体" charset="-122"/>
              </a:rPr>
              <a:t>1</a:t>
            </a:r>
          </a:p>
        </p:txBody>
      </p:sp>
      <p:sp>
        <p:nvSpPr>
          <p:cNvPr id="141328" name="Rectangle 32"/>
          <p:cNvSpPr>
            <a:spLocks noChangeArrowheads="1"/>
          </p:cNvSpPr>
          <p:nvPr/>
        </p:nvSpPr>
        <p:spPr bwMode="auto">
          <a:xfrm>
            <a:off x="228600" y="1778000"/>
            <a:ext cx="666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1400">
                <a:solidFill>
                  <a:srgbClr val="00FF00"/>
                </a:solidFill>
                <a:ea typeface="宋体" charset="-122"/>
              </a:rPr>
              <a:t>规则</a:t>
            </a:r>
            <a:r>
              <a:rPr lang="en-US" altLang="zh-CN">
                <a:solidFill>
                  <a:srgbClr val="00FF00"/>
                </a:solidFill>
                <a:ea typeface="宋体" charset="-122"/>
              </a:rPr>
              <a:t>2</a:t>
            </a:r>
          </a:p>
        </p:txBody>
      </p:sp>
      <p:cxnSp>
        <p:nvCxnSpPr>
          <p:cNvPr id="141329" name="AutoShape 33"/>
          <p:cNvCxnSpPr>
            <a:cxnSpLocks noChangeShapeType="1"/>
            <a:stCxn id="141323" idx="0"/>
            <a:endCxn id="141318" idx="2"/>
          </p:cNvCxnSpPr>
          <p:nvPr/>
        </p:nvCxnSpPr>
        <p:spPr bwMode="auto">
          <a:xfrm flipV="1">
            <a:off x="1219200" y="4495800"/>
            <a:ext cx="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41330" name="AutoShape 34"/>
          <p:cNvCxnSpPr>
            <a:cxnSpLocks noChangeShapeType="1"/>
            <a:stCxn id="141324" idx="0"/>
            <a:endCxn id="141319" idx="2"/>
          </p:cNvCxnSpPr>
          <p:nvPr/>
        </p:nvCxnSpPr>
        <p:spPr bwMode="auto">
          <a:xfrm flipV="1">
            <a:off x="3733800" y="4495800"/>
            <a:ext cx="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41331" name="AutoShape 35"/>
          <p:cNvCxnSpPr>
            <a:cxnSpLocks noChangeShapeType="1"/>
            <a:stCxn id="141325" idx="0"/>
            <a:endCxn id="141321" idx="2"/>
          </p:cNvCxnSpPr>
          <p:nvPr/>
        </p:nvCxnSpPr>
        <p:spPr bwMode="auto">
          <a:xfrm flipV="1">
            <a:off x="5638800" y="4495800"/>
            <a:ext cx="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41332" name="AutoShape 36"/>
          <p:cNvCxnSpPr>
            <a:cxnSpLocks noChangeShapeType="1"/>
            <a:stCxn id="141326" idx="0"/>
            <a:endCxn id="141322" idx="2"/>
          </p:cNvCxnSpPr>
          <p:nvPr/>
        </p:nvCxnSpPr>
        <p:spPr bwMode="auto">
          <a:xfrm flipV="1">
            <a:off x="7391400" y="4495800"/>
            <a:ext cx="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41333" name="Rectangle 37"/>
          <p:cNvSpPr>
            <a:spLocks noChangeArrowheads="1"/>
          </p:cNvSpPr>
          <p:nvPr/>
        </p:nvSpPr>
        <p:spPr bwMode="auto">
          <a:xfrm>
            <a:off x="3733800" y="5486400"/>
            <a:ext cx="182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>
                <a:solidFill>
                  <a:srgbClr val="990000"/>
                </a:solidFill>
                <a:latin typeface="Courier New" pitchFamily="49" charset="0"/>
                <a:ea typeface="宋体" charset="-122"/>
              </a:rPr>
              <a:t>table_reference</a:t>
            </a:r>
          </a:p>
        </p:txBody>
      </p:sp>
      <p:cxnSp>
        <p:nvCxnSpPr>
          <p:cNvPr id="141334" name="AutoShape 38"/>
          <p:cNvCxnSpPr>
            <a:cxnSpLocks noChangeShapeType="1"/>
            <a:stCxn id="141333" idx="0"/>
            <a:endCxn id="141320" idx="2"/>
          </p:cNvCxnSpPr>
          <p:nvPr/>
        </p:nvCxnSpPr>
        <p:spPr bwMode="auto">
          <a:xfrm flipV="1">
            <a:off x="4648200" y="4495800"/>
            <a:ext cx="0" cy="990600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141335" name="AutoShape 39"/>
          <p:cNvCxnSpPr>
            <a:cxnSpLocks noChangeShapeType="1"/>
            <a:stCxn id="141333" idx="0"/>
            <a:endCxn id="141325" idx="2"/>
          </p:cNvCxnSpPr>
          <p:nvPr/>
        </p:nvCxnSpPr>
        <p:spPr bwMode="auto">
          <a:xfrm flipV="1">
            <a:off x="4648200" y="5105400"/>
            <a:ext cx="990600" cy="381000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141336" name="AutoShape 40"/>
          <p:cNvCxnSpPr>
            <a:cxnSpLocks noChangeShapeType="1"/>
            <a:stCxn id="141333" idx="0"/>
            <a:endCxn id="141324" idx="2"/>
          </p:cNvCxnSpPr>
          <p:nvPr/>
        </p:nvCxnSpPr>
        <p:spPr bwMode="auto">
          <a:xfrm flipH="1" flipV="1">
            <a:off x="3733800" y="5105400"/>
            <a:ext cx="914400" cy="381000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141337" name="AutoShape 41"/>
          <p:cNvCxnSpPr>
            <a:cxnSpLocks noChangeShapeType="1"/>
            <a:stCxn id="141333" idx="0"/>
            <a:endCxn id="141326" idx="2"/>
          </p:cNvCxnSpPr>
          <p:nvPr/>
        </p:nvCxnSpPr>
        <p:spPr bwMode="auto">
          <a:xfrm flipV="1">
            <a:off x="4648200" y="5105400"/>
            <a:ext cx="2743200" cy="381000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</p:cxnSp>
      <p:sp>
        <p:nvSpPr>
          <p:cNvPr id="141338" name="Rectangle 42"/>
          <p:cNvSpPr>
            <a:spLocks noChangeArrowheads="1"/>
          </p:cNvSpPr>
          <p:nvPr/>
        </p:nvSpPr>
        <p:spPr bwMode="auto">
          <a:xfrm>
            <a:off x="1981200" y="6096000"/>
            <a:ext cx="182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>
                <a:solidFill>
                  <a:srgbClr val="990000"/>
                </a:solidFill>
                <a:latin typeface="Courier New" pitchFamily="49" charset="0"/>
                <a:ea typeface="宋体" charset="-122"/>
              </a:rPr>
              <a:t>table_reference</a:t>
            </a:r>
          </a:p>
        </p:txBody>
      </p:sp>
      <p:cxnSp>
        <p:nvCxnSpPr>
          <p:cNvPr id="141339" name="AutoShape 43"/>
          <p:cNvCxnSpPr>
            <a:cxnSpLocks noChangeShapeType="1"/>
            <a:stCxn id="141323" idx="2"/>
            <a:endCxn id="141338" idx="0"/>
          </p:cNvCxnSpPr>
          <p:nvPr/>
        </p:nvCxnSpPr>
        <p:spPr bwMode="auto">
          <a:xfrm>
            <a:off x="1219200" y="5105400"/>
            <a:ext cx="1676400" cy="990600"/>
          </a:xfrm>
          <a:prstGeom prst="straightConnector1">
            <a:avLst/>
          </a:prstGeom>
          <a:noFill/>
          <a:ln w="9525">
            <a:solidFill>
              <a:srgbClr val="00FF00"/>
            </a:solidFill>
            <a:round/>
            <a:headEnd/>
            <a:tailEnd/>
          </a:ln>
        </p:spPr>
      </p:cxnSp>
      <p:cxnSp>
        <p:nvCxnSpPr>
          <p:cNvPr id="141340" name="AutoShape 44"/>
          <p:cNvCxnSpPr>
            <a:cxnSpLocks noChangeShapeType="1"/>
            <a:stCxn id="141317" idx="2"/>
            <a:endCxn id="141338" idx="0"/>
          </p:cNvCxnSpPr>
          <p:nvPr/>
        </p:nvCxnSpPr>
        <p:spPr bwMode="auto">
          <a:xfrm>
            <a:off x="2590800" y="4495800"/>
            <a:ext cx="304800" cy="1600200"/>
          </a:xfrm>
          <a:prstGeom prst="straightConnector1">
            <a:avLst/>
          </a:prstGeom>
          <a:noFill/>
          <a:ln w="9525">
            <a:solidFill>
              <a:srgbClr val="00FF00"/>
            </a:solidFill>
            <a:round/>
            <a:headEnd/>
            <a:tailEnd/>
          </a:ln>
        </p:spPr>
      </p:cxnSp>
      <p:cxnSp>
        <p:nvCxnSpPr>
          <p:cNvPr id="141341" name="AutoShape 45"/>
          <p:cNvCxnSpPr>
            <a:cxnSpLocks noChangeShapeType="1"/>
            <a:stCxn id="141333" idx="2"/>
            <a:endCxn id="141338" idx="0"/>
          </p:cNvCxnSpPr>
          <p:nvPr/>
        </p:nvCxnSpPr>
        <p:spPr bwMode="auto">
          <a:xfrm flipH="1">
            <a:off x="2895600" y="5791200"/>
            <a:ext cx="1752600" cy="304800"/>
          </a:xfrm>
          <a:prstGeom prst="straightConnector1">
            <a:avLst/>
          </a:prstGeom>
          <a:noFill/>
          <a:ln w="9525">
            <a:solidFill>
              <a:srgbClr val="00FF00"/>
            </a:solidFill>
            <a:round/>
            <a:headEnd/>
            <a:tailEnd/>
          </a:ln>
        </p:spPr>
      </p:cxnSp>
      <p:sp>
        <p:nvSpPr>
          <p:cNvPr id="141342" name="Rectangle 49"/>
          <p:cNvSpPr>
            <a:spLocks noChangeArrowheads="1"/>
          </p:cNvSpPr>
          <p:nvPr/>
        </p:nvSpPr>
        <p:spPr bwMode="auto">
          <a:xfrm>
            <a:off x="3733800" y="5257800"/>
            <a:ext cx="666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1400">
                <a:solidFill>
                  <a:srgbClr val="FF0000"/>
                </a:solidFill>
                <a:ea typeface="宋体" charset="-122"/>
              </a:rPr>
              <a:t>规则</a:t>
            </a:r>
            <a:r>
              <a:rPr lang="en-US" altLang="zh-CN">
                <a:solidFill>
                  <a:srgbClr val="FF0000"/>
                </a:solidFill>
                <a:ea typeface="宋体" charset="-122"/>
              </a:rPr>
              <a:t>1</a:t>
            </a:r>
          </a:p>
        </p:txBody>
      </p:sp>
      <p:sp>
        <p:nvSpPr>
          <p:cNvPr id="141343" name="Rectangle 51"/>
          <p:cNvSpPr>
            <a:spLocks noChangeArrowheads="1"/>
          </p:cNvSpPr>
          <p:nvPr/>
        </p:nvSpPr>
        <p:spPr bwMode="auto">
          <a:xfrm>
            <a:off x="1981200" y="5881688"/>
            <a:ext cx="666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1400">
                <a:solidFill>
                  <a:srgbClr val="00FF00"/>
                </a:solidFill>
                <a:ea typeface="宋体" charset="-122"/>
              </a:rPr>
              <a:t>规则</a:t>
            </a:r>
            <a:r>
              <a:rPr lang="en-US" altLang="zh-CN">
                <a:solidFill>
                  <a:srgbClr val="00FF00"/>
                </a:solidFill>
                <a:ea typeface="宋体" charset="-122"/>
              </a:rPr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7" name="AutoShape 53"/>
          <p:cNvSpPr>
            <a:spLocks noChangeArrowheads="1"/>
          </p:cNvSpPr>
          <p:nvPr/>
        </p:nvSpPr>
        <p:spPr bwMode="auto">
          <a:xfrm flipV="1">
            <a:off x="304800" y="2209800"/>
            <a:ext cx="8534400" cy="4267200"/>
          </a:xfrm>
          <a:prstGeom prst="flowChartAlternateProcess">
            <a:avLst/>
          </a:prstGeom>
          <a:solidFill>
            <a:srgbClr val="C0C0C0">
              <a:alpha val="32156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zh-CN">
              <a:ea typeface="宋体" charset="-122"/>
            </a:endParaRPr>
          </a:p>
        </p:txBody>
      </p:sp>
      <p:sp>
        <p:nvSpPr>
          <p:cNvPr id="142338" name="AutoShape 52"/>
          <p:cNvSpPr>
            <a:spLocks noChangeArrowheads="1"/>
          </p:cNvSpPr>
          <p:nvPr/>
        </p:nvSpPr>
        <p:spPr bwMode="auto">
          <a:xfrm>
            <a:off x="381000" y="4038600"/>
            <a:ext cx="8382000" cy="533400"/>
          </a:xfrm>
          <a:prstGeom prst="flowChartAlternateProcess">
            <a:avLst/>
          </a:prstGeom>
          <a:solidFill>
            <a:srgbClr val="C0C0C0">
              <a:alpha val="32156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zh-CN">
              <a:ea typeface="宋体" charset="-122"/>
            </a:endParaRPr>
          </a:p>
        </p:txBody>
      </p:sp>
      <p:sp>
        <p:nvSpPr>
          <p:cNvPr id="14233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latin typeface="微软雅黑"/>
                <a:ea typeface="微软雅黑"/>
                <a:cs typeface="微软雅黑"/>
              </a:rPr>
              <a:t>MySQL</a:t>
            </a:r>
            <a:r>
              <a:rPr lang="zh-CN" altLang="en-US" smtClean="0">
                <a:latin typeface="微软雅黑"/>
                <a:ea typeface="微软雅黑"/>
                <a:cs typeface="微软雅黑"/>
              </a:rPr>
              <a:t>不支持的</a:t>
            </a:r>
            <a:r>
              <a:rPr lang="en-US" altLang="zh-CN" smtClean="0">
                <a:latin typeface="微软雅黑"/>
                <a:ea typeface="微软雅黑"/>
                <a:cs typeface="微软雅黑"/>
              </a:rPr>
              <a:t>MySQL</a:t>
            </a:r>
            <a:r>
              <a:rPr lang="zh-CN" altLang="en-US" smtClean="0">
                <a:latin typeface="微软雅黑"/>
                <a:ea typeface="微软雅黑"/>
                <a:cs typeface="微软雅黑"/>
              </a:rPr>
              <a:t>语法</a:t>
            </a:r>
          </a:p>
        </p:txBody>
      </p:sp>
      <p:sp>
        <p:nvSpPr>
          <p:cNvPr id="142340" name="Rectangle 3"/>
          <p:cNvSpPr>
            <a:spLocks noChangeArrowheads="1"/>
          </p:cNvSpPr>
          <p:nvPr/>
        </p:nvSpPr>
        <p:spPr bwMode="auto">
          <a:xfrm>
            <a:off x="914400" y="1600200"/>
            <a:ext cx="8077200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1400">
                <a:solidFill>
                  <a:srgbClr val="990000"/>
                </a:solidFill>
                <a:latin typeface="Courier New" pitchFamily="49" charset="0"/>
                <a:ea typeface="宋体" charset="-122"/>
              </a:rPr>
              <a:t>table_reference</a:t>
            </a:r>
            <a:r>
              <a:rPr lang="en-US" altLang="zh-CN" sz="1400">
                <a:latin typeface="Courier New" pitchFamily="49" charset="0"/>
                <a:ea typeface="宋体" charset="-122"/>
              </a:rPr>
              <a:t>: </a:t>
            </a:r>
            <a:r>
              <a:rPr lang="en-US" altLang="zh-CN" sz="1400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table_factor</a:t>
            </a:r>
            <a:r>
              <a:rPr lang="en-US" altLang="zh-CN" sz="1400">
                <a:latin typeface="Courier New" pitchFamily="49" charset="0"/>
                <a:ea typeface="宋体" charset="-122"/>
              </a:rPr>
              <a:t> </a:t>
            </a:r>
            <a:r>
              <a:rPr lang="en-US" altLang="zh-CN" sz="1400" b="1">
                <a:latin typeface="Courier New" pitchFamily="49" charset="0"/>
                <a:ea typeface="宋体" charset="-122"/>
              </a:rPr>
              <a:t>'JOIN'</a:t>
            </a:r>
            <a:r>
              <a:rPr lang="en-US" altLang="zh-CN" sz="1400">
                <a:latin typeface="Courier New" pitchFamily="49" charset="0"/>
                <a:ea typeface="宋体" charset="-122"/>
              </a:rPr>
              <a:t>        </a:t>
            </a:r>
            <a:r>
              <a:rPr lang="en-US" altLang="zh-CN" sz="1400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table_factor  </a:t>
            </a:r>
            <a:r>
              <a:rPr lang="en-US" altLang="zh-CN" sz="1400">
                <a:latin typeface="Courier New" pitchFamily="49" charset="0"/>
                <a:ea typeface="宋体" charset="-122"/>
              </a:rPr>
              <a:t> [join_condition]</a:t>
            </a:r>
            <a:endParaRPr lang="en-US" altLang="zh-CN" sz="1400">
              <a:solidFill>
                <a:srgbClr val="00FF0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1400">
                <a:solidFill>
                  <a:srgbClr val="990000"/>
                </a:solidFill>
                <a:latin typeface="Courier New" pitchFamily="49" charset="0"/>
                <a:ea typeface="宋体" charset="-122"/>
              </a:rPr>
              <a:t>table_reference</a:t>
            </a:r>
            <a:r>
              <a:rPr lang="en-US" altLang="zh-CN" sz="1400">
                <a:latin typeface="Courier New" pitchFamily="49" charset="0"/>
                <a:ea typeface="宋体" charset="-122"/>
              </a:rPr>
              <a:t>: </a:t>
            </a:r>
            <a:r>
              <a:rPr lang="en-US" altLang="zh-CN" sz="1400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table_factor</a:t>
            </a:r>
            <a:r>
              <a:rPr lang="en-US" altLang="zh-CN" sz="1400">
                <a:latin typeface="Courier New" pitchFamily="49" charset="0"/>
                <a:ea typeface="宋体" charset="-122"/>
              </a:rPr>
              <a:t> </a:t>
            </a:r>
            <a:r>
              <a:rPr lang="en-US" altLang="zh-CN" sz="1400" b="1">
                <a:latin typeface="Courier New" pitchFamily="49" charset="0"/>
                <a:ea typeface="宋体" charset="-122"/>
              </a:rPr>
              <a:t>'LEFT'</a:t>
            </a:r>
            <a:r>
              <a:rPr lang="en-US" altLang="zh-CN" sz="1400">
                <a:latin typeface="Courier New" pitchFamily="49" charset="0"/>
                <a:ea typeface="宋体" charset="-122"/>
              </a:rPr>
              <a:t> </a:t>
            </a:r>
            <a:r>
              <a:rPr lang="en-US" altLang="zh-CN" sz="1400" b="1">
                <a:latin typeface="Courier New" pitchFamily="49" charset="0"/>
                <a:ea typeface="宋体" charset="-122"/>
              </a:rPr>
              <a:t>'JOIN'</a:t>
            </a:r>
            <a:r>
              <a:rPr lang="en-US" altLang="zh-CN" sz="1400">
                <a:latin typeface="Courier New" pitchFamily="49" charset="0"/>
                <a:ea typeface="宋体" charset="-122"/>
              </a:rPr>
              <a:t> </a:t>
            </a:r>
            <a:r>
              <a:rPr lang="en-US" altLang="zh-CN" sz="1400">
                <a:solidFill>
                  <a:srgbClr val="990000"/>
                </a:solidFill>
                <a:latin typeface="Courier New" pitchFamily="49" charset="0"/>
                <a:ea typeface="宋体" charset="-122"/>
              </a:rPr>
              <a:t>table_reference</a:t>
            </a:r>
            <a:r>
              <a:rPr lang="en-US" altLang="zh-CN" sz="1400">
                <a:latin typeface="Courier New" pitchFamily="49" charset="0"/>
                <a:ea typeface="宋体" charset="-122"/>
              </a:rPr>
              <a:t> join_condition</a:t>
            </a:r>
          </a:p>
        </p:txBody>
      </p:sp>
      <p:sp>
        <p:nvSpPr>
          <p:cNvPr id="142341" name="Rectangle 4"/>
          <p:cNvSpPr>
            <a:spLocks noChangeArrowheads="1"/>
          </p:cNvSpPr>
          <p:nvPr/>
        </p:nvSpPr>
        <p:spPr bwMode="auto">
          <a:xfrm>
            <a:off x="1905000" y="4159250"/>
            <a:ext cx="13716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600" b="1">
                <a:latin typeface="Courier New" pitchFamily="49" charset="0"/>
                <a:ea typeface="宋体" charset="-122"/>
              </a:rPr>
              <a:t>LEFT JOIN</a:t>
            </a:r>
          </a:p>
        </p:txBody>
      </p:sp>
      <p:sp>
        <p:nvSpPr>
          <p:cNvPr id="142342" name="Rectangle 5"/>
          <p:cNvSpPr>
            <a:spLocks noChangeArrowheads="1"/>
          </p:cNvSpPr>
          <p:nvPr/>
        </p:nvSpPr>
        <p:spPr bwMode="auto">
          <a:xfrm>
            <a:off x="914400" y="4159250"/>
            <a:ext cx="6096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600" b="1">
                <a:latin typeface="Courier New" pitchFamily="49" charset="0"/>
                <a:ea typeface="宋体" charset="-122"/>
              </a:rPr>
              <a:t>tb1</a:t>
            </a:r>
          </a:p>
        </p:txBody>
      </p:sp>
      <p:sp>
        <p:nvSpPr>
          <p:cNvPr id="142343" name="Rectangle 6"/>
          <p:cNvSpPr>
            <a:spLocks noChangeArrowheads="1"/>
          </p:cNvSpPr>
          <p:nvPr/>
        </p:nvSpPr>
        <p:spPr bwMode="auto">
          <a:xfrm>
            <a:off x="3429000" y="4159250"/>
            <a:ext cx="6096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600" b="1">
                <a:latin typeface="Courier New" pitchFamily="49" charset="0"/>
                <a:ea typeface="宋体" charset="-122"/>
              </a:rPr>
              <a:t>t2</a:t>
            </a:r>
          </a:p>
        </p:txBody>
      </p:sp>
      <p:sp>
        <p:nvSpPr>
          <p:cNvPr id="142344" name="Rectangle 7"/>
          <p:cNvSpPr>
            <a:spLocks noChangeArrowheads="1"/>
          </p:cNvSpPr>
          <p:nvPr/>
        </p:nvSpPr>
        <p:spPr bwMode="auto">
          <a:xfrm>
            <a:off x="4267200" y="4159250"/>
            <a:ext cx="762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600" b="1">
                <a:latin typeface="Courier New" pitchFamily="49" charset="0"/>
                <a:ea typeface="宋体" charset="-122"/>
              </a:rPr>
              <a:t>JOIN</a:t>
            </a:r>
          </a:p>
        </p:txBody>
      </p:sp>
      <p:sp>
        <p:nvSpPr>
          <p:cNvPr id="142345" name="Rectangle 8"/>
          <p:cNvSpPr>
            <a:spLocks noChangeArrowheads="1"/>
          </p:cNvSpPr>
          <p:nvPr/>
        </p:nvSpPr>
        <p:spPr bwMode="auto">
          <a:xfrm>
            <a:off x="5334000" y="4159250"/>
            <a:ext cx="6096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600" b="1">
                <a:latin typeface="Courier New" pitchFamily="49" charset="0"/>
                <a:ea typeface="宋体" charset="-122"/>
              </a:rPr>
              <a:t>t3</a:t>
            </a:r>
          </a:p>
        </p:txBody>
      </p:sp>
      <p:sp>
        <p:nvSpPr>
          <p:cNvPr id="142346" name="Rectangle 9"/>
          <p:cNvSpPr>
            <a:spLocks noChangeArrowheads="1"/>
          </p:cNvSpPr>
          <p:nvPr/>
        </p:nvSpPr>
        <p:spPr bwMode="auto">
          <a:xfrm>
            <a:off x="6400800" y="4159250"/>
            <a:ext cx="1981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600" b="1">
                <a:latin typeface="Courier New" pitchFamily="49" charset="0"/>
                <a:ea typeface="宋体" charset="-122"/>
              </a:rPr>
              <a:t>USING (id)</a:t>
            </a:r>
          </a:p>
        </p:txBody>
      </p:sp>
      <p:sp>
        <p:nvSpPr>
          <p:cNvPr id="142347" name="Rectangle 27"/>
          <p:cNvSpPr>
            <a:spLocks noChangeArrowheads="1"/>
          </p:cNvSpPr>
          <p:nvPr/>
        </p:nvSpPr>
        <p:spPr bwMode="auto">
          <a:xfrm>
            <a:off x="457200" y="4800600"/>
            <a:ext cx="1524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table_factor</a:t>
            </a:r>
          </a:p>
        </p:txBody>
      </p:sp>
      <p:sp>
        <p:nvSpPr>
          <p:cNvPr id="142348" name="Rectangle 28"/>
          <p:cNvSpPr>
            <a:spLocks noChangeArrowheads="1"/>
          </p:cNvSpPr>
          <p:nvPr/>
        </p:nvSpPr>
        <p:spPr bwMode="auto">
          <a:xfrm>
            <a:off x="2971800" y="4800600"/>
            <a:ext cx="1524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table_factor</a:t>
            </a:r>
          </a:p>
        </p:txBody>
      </p:sp>
      <p:sp>
        <p:nvSpPr>
          <p:cNvPr id="142349" name="Rectangle 29"/>
          <p:cNvSpPr>
            <a:spLocks noChangeArrowheads="1"/>
          </p:cNvSpPr>
          <p:nvPr/>
        </p:nvSpPr>
        <p:spPr bwMode="auto">
          <a:xfrm>
            <a:off x="4876800" y="4800600"/>
            <a:ext cx="1524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table_factor</a:t>
            </a:r>
          </a:p>
        </p:txBody>
      </p:sp>
      <p:sp>
        <p:nvSpPr>
          <p:cNvPr id="142350" name="Rectangle 30"/>
          <p:cNvSpPr>
            <a:spLocks noChangeArrowheads="1"/>
          </p:cNvSpPr>
          <p:nvPr/>
        </p:nvSpPr>
        <p:spPr bwMode="auto">
          <a:xfrm>
            <a:off x="6477000" y="4800600"/>
            <a:ext cx="182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>
                <a:latin typeface="Courier New" pitchFamily="49" charset="0"/>
                <a:ea typeface="宋体" charset="-122"/>
              </a:rPr>
              <a:t>join_condition</a:t>
            </a:r>
          </a:p>
        </p:txBody>
      </p:sp>
      <p:sp>
        <p:nvSpPr>
          <p:cNvPr id="142351" name="Rectangle 31"/>
          <p:cNvSpPr>
            <a:spLocks noChangeArrowheads="1"/>
          </p:cNvSpPr>
          <p:nvPr/>
        </p:nvSpPr>
        <p:spPr bwMode="auto">
          <a:xfrm>
            <a:off x="228600" y="1549400"/>
            <a:ext cx="666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1400">
                <a:solidFill>
                  <a:srgbClr val="FF0000"/>
                </a:solidFill>
                <a:ea typeface="宋体" charset="-122"/>
              </a:rPr>
              <a:t>规则</a:t>
            </a:r>
            <a:r>
              <a:rPr lang="en-US" altLang="zh-CN">
                <a:solidFill>
                  <a:srgbClr val="FF0000"/>
                </a:solidFill>
                <a:ea typeface="宋体" charset="-122"/>
              </a:rPr>
              <a:t>1</a:t>
            </a:r>
          </a:p>
        </p:txBody>
      </p:sp>
      <p:sp>
        <p:nvSpPr>
          <p:cNvPr id="142352" name="Rectangle 32"/>
          <p:cNvSpPr>
            <a:spLocks noChangeArrowheads="1"/>
          </p:cNvSpPr>
          <p:nvPr/>
        </p:nvSpPr>
        <p:spPr bwMode="auto">
          <a:xfrm>
            <a:off x="228600" y="1778000"/>
            <a:ext cx="666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1400">
                <a:solidFill>
                  <a:srgbClr val="00FF00"/>
                </a:solidFill>
                <a:ea typeface="宋体" charset="-122"/>
              </a:rPr>
              <a:t>规则</a:t>
            </a:r>
            <a:r>
              <a:rPr lang="en-US" altLang="zh-CN">
                <a:solidFill>
                  <a:srgbClr val="00FF00"/>
                </a:solidFill>
                <a:ea typeface="宋体" charset="-122"/>
              </a:rPr>
              <a:t>2</a:t>
            </a:r>
          </a:p>
        </p:txBody>
      </p:sp>
      <p:cxnSp>
        <p:nvCxnSpPr>
          <p:cNvPr id="142353" name="AutoShape 33"/>
          <p:cNvCxnSpPr>
            <a:cxnSpLocks noChangeShapeType="1"/>
            <a:stCxn id="142347" idx="0"/>
            <a:endCxn id="142342" idx="2"/>
          </p:cNvCxnSpPr>
          <p:nvPr/>
        </p:nvCxnSpPr>
        <p:spPr bwMode="auto">
          <a:xfrm flipV="1">
            <a:off x="1219200" y="4495800"/>
            <a:ext cx="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42354" name="AutoShape 34"/>
          <p:cNvCxnSpPr>
            <a:cxnSpLocks noChangeShapeType="1"/>
            <a:stCxn id="142348" idx="0"/>
            <a:endCxn id="142343" idx="2"/>
          </p:cNvCxnSpPr>
          <p:nvPr/>
        </p:nvCxnSpPr>
        <p:spPr bwMode="auto">
          <a:xfrm flipV="1">
            <a:off x="3733800" y="4495800"/>
            <a:ext cx="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42355" name="AutoShape 35"/>
          <p:cNvCxnSpPr>
            <a:cxnSpLocks noChangeShapeType="1"/>
            <a:stCxn id="142349" idx="0"/>
            <a:endCxn id="142345" idx="2"/>
          </p:cNvCxnSpPr>
          <p:nvPr/>
        </p:nvCxnSpPr>
        <p:spPr bwMode="auto">
          <a:xfrm flipV="1">
            <a:off x="5638800" y="4495800"/>
            <a:ext cx="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42356" name="AutoShape 36"/>
          <p:cNvCxnSpPr>
            <a:cxnSpLocks noChangeShapeType="1"/>
            <a:stCxn id="142350" idx="0"/>
            <a:endCxn id="142346" idx="2"/>
          </p:cNvCxnSpPr>
          <p:nvPr/>
        </p:nvCxnSpPr>
        <p:spPr bwMode="auto">
          <a:xfrm flipV="1">
            <a:off x="7391400" y="4495800"/>
            <a:ext cx="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42357" name="Rectangle 37"/>
          <p:cNvSpPr>
            <a:spLocks noChangeArrowheads="1"/>
          </p:cNvSpPr>
          <p:nvPr/>
        </p:nvSpPr>
        <p:spPr bwMode="auto">
          <a:xfrm>
            <a:off x="3733800" y="5486400"/>
            <a:ext cx="182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>
                <a:solidFill>
                  <a:srgbClr val="990000"/>
                </a:solidFill>
                <a:latin typeface="Courier New" pitchFamily="49" charset="0"/>
                <a:ea typeface="宋体" charset="-122"/>
              </a:rPr>
              <a:t>table_reference</a:t>
            </a:r>
          </a:p>
        </p:txBody>
      </p:sp>
      <p:cxnSp>
        <p:nvCxnSpPr>
          <p:cNvPr id="142358" name="AutoShape 38"/>
          <p:cNvCxnSpPr>
            <a:cxnSpLocks noChangeShapeType="1"/>
            <a:stCxn id="142357" idx="0"/>
            <a:endCxn id="142344" idx="2"/>
          </p:cNvCxnSpPr>
          <p:nvPr/>
        </p:nvCxnSpPr>
        <p:spPr bwMode="auto">
          <a:xfrm flipV="1">
            <a:off x="4648200" y="4495800"/>
            <a:ext cx="0" cy="990600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142359" name="AutoShape 39"/>
          <p:cNvCxnSpPr>
            <a:cxnSpLocks noChangeShapeType="1"/>
            <a:stCxn id="142357" idx="0"/>
            <a:endCxn id="142349" idx="2"/>
          </p:cNvCxnSpPr>
          <p:nvPr/>
        </p:nvCxnSpPr>
        <p:spPr bwMode="auto">
          <a:xfrm flipV="1">
            <a:off x="4648200" y="5105400"/>
            <a:ext cx="990600" cy="381000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142360" name="AutoShape 40"/>
          <p:cNvCxnSpPr>
            <a:cxnSpLocks noChangeShapeType="1"/>
            <a:stCxn id="142357" idx="0"/>
            <a:endCxn id="142348" idx="2"/>
          </p:cNvCxnSpPr>
          <p:nvPr/>
        </p:nvCxnSpPr>
        <p:spPr bwMode="auto">
          <a:xfrm flipH="1" flipV="1">
            <a:off x="3733800" y="5105400"/>
            <a:ext cx="914400" cy="381000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142361" name="AutoShape 41"/>
          <p:cNvCxnSpPr>
            <a:cxnSpLocks noChangeShapeType="1"/>
            <a:stCxn id="142357" idx="0"/>
            <a:endCxn id="142350" idx="2"/>
          </p:cNvCxnSpPr>
          <p:nvPr/>
        </p:nvCxnSpPr>
        <p:spPr bwMode="auto">
          <a:xfrm flipV="1">
            <a:off x="4648200" y="5105400"/>
            <a:ext cx="2743200" cy="381000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</p:cxnSp>
      <p:sp>
        <p:nvSpPr>
          <p:cNvPr id="142362" name="Rectangle 42"/>
          <p:cNvSpPr>
            <a:spLocks noChangeArrowheads="1"/>
          </p:cNvSpPr>
          <p:nvPr/>
        </p:nvSpPr>
        <p:spPr bwMode="auto">
          <a:xfrm>
            <a:off x="1981200" y="6096000"/>
            <a:ext cx="182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>
                <a:solidFill>
                  <a:srgbClr val="990000"/>
                </a:solidFill>
                <a:latin typeface="Courier New" pitchFamily="49" charset="0"/>
                <a:ea typeface="宋体" charset="-122"/>
              </a:rPr>
              <a:t>table_reference</a:t>
            </a:r>
          </a:p>
        </p:txBody>
      </p:sp>
      <p:cxnSp>
        <p:nvCxnSpPr>
          <p:cNvPr id="142363" name="AutoShape 43"/>
          <p:cNvCxnSpPr>
            <a:cxnSpLocks noChangeShapeType="1"/>
            <a:stCxn id="142347" idx="2"/>
            <a:endCxn id="142362" idx="0"/>
          </p:cNvCxnSpPr>
          <p:nvPr/>
        </p:nvCxnSpPr>
        <p:spPr bwMode="auto">
          <a:xfrm>
            <a:off x="1219200" y="5105400"/>
            <a:ext cx="1676400" cy="990600"/>
          </a:xfrm>
          <a:prstGeom prst="straightConnector1">
            <a:avLst/>
          </a:prstGeom>
          <a:noFill/>
          <a:ln w="9525">
            <a:solidFill>
              <a:srgbClr val="00FF00"/>
            </a:solidFill>
            <a:round/>
            <a:headEnd/>
            <a:tailEnd/>
          </a:ln>
        </p:spPr>
      </p:cxnSp>
      <p:cxnSp>
        <p:nvCxnSpPr>
          <p:cNvPr id="142364" name="AutoShape 44"/>
          <p:cNvCxnSpPr>
            <a:cxnSpLocks noChangeShapeType="1"/>
            <a:stCxn id="142341" idx="2"/>
            <a:endCxn id="142362" idx="0"/>
          </p:cNvCxnSpPr>
          <p:nvPr/>
        </p:nvCxnSpPr>
        <p:spPr bwMode="auto">
          <a:xfrm>
            <a:off x="2590800" y="4495800"/>
            <a:ext cx="304800" cy="1600200"/>
          </a:xfrm>
          <a:prstGeom prst="straightConnector1">
            <a:avLst/>
          </a:prstGeom>
          <a:noFill/>
          <a:ln w="9525">
            <a:solidFill>
              <a:srgbClr val="00FF00"/>
            </a:solidFill>
            <a:round/>
            <a:headEnd/>
            <a:tailEnd/>
          </a:ln>
        </p:spPr>
      </p:cxnSp>
      <p:cxnSp>
        <p:nvCxnSpPr>
          <p:cNvPr id="142365" name="AutoShape 45"/>
          <p:cNvCxnSpPr>
            <a:cxnSpLocks noChangeShapeType="1"/>
            <a:stCxn id="142357" idx="2"/>
            <a:endCxn id="142362" idx="0"/>
          </p:cNvCxnSpPr>
          <p:nvPr/>
        </p:nvCxnSpPr>
        <p:spPr bwMode="auto">
          <a:xfrm flipH="1">
            <a:off x="2895600" y="5791200"/>
            <a:ext cx="1752600" cy="304800"/>
          </a:xfrm>
          <a:prstGeom prst="straightConnector1">
            <a:avLst/>
          </a:prstGeom>
          <a:noFill/>
          <a:ln w="9525">
            <a:solidFill>
              <a:srgbClr val="00FF00"/>
            </a:solidFill>
            <a:round/>
            <a:headEnd/>
            <a:tailEnd/>
          </a:ln>
        </p:spPr>
      </p:cxnSp>
      <p:cxnSp>
        <p:nvCxnSpPr>
          <p:cNvPr id="142366" name="AutoShape 46"/>
          <p:cNvCxnSpPr>
            <a:cxnSpLocks noChangeShapeType="1"/>
            <a:stCxn id="142367" idx="1"/>
            <a:endCxn id="142362" idx="0"/>
          </p:cNvCxnSpPr>
          <p:nvPr/>
        </p:nvCxnSpPr>
        <p:spPr bwMode="auto">
          <a:xfrm flipH="1">
            <a:off x="2895600" y="5622925"/>
            <a:ext cx="5029200" cy="473075"/>
          </a:xfrm>
          <a:prstGeom prst="straightConnector1">
            <a:avLst/>
          </a:prstGeom>
          <a:noFill/>
          <a:ln w="9525">
            <a:solidFill>
              <a:srgbClr val="00FF00"/>
            </a:solidFill>
            <a:round/>
            <a:headEnd/>
            <a:tailEnd/>
          </a:ln>
        </p:spPr>
      </p:cxnSp>
      <p:sp>
        <p:nvSpPr>
          <p:cNvPr id="142367" name="Rectangle 47"/>
          <p:cNvSpPr>
            <a:spLocks noChangeArrowheads="1"/>
          </p:cNvSpPr>
          <p:nvPr/>
        </p:nvSpPr>
        <p:spPr bwMode="auto">
          <a:xfrm>
            <a:off x="7924800" y="5454650"/>
            <a:ext cx="9906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600" b="1">
                <a:latin typeface="Times New Roman" pitchFamily="18" charset="0"/>
                <a:ea typeface="宋体" charset="-122"/>
              </a:rPr>
              <a:t>ERROR!</a:t>
            </a:r>
          </a:p>
        </p:txBody>
      </p:sp>
      <p:sp>
        <p:nvSpPr>
          <p:cNvPr id="142368" name="Rectangle 49"/>
          <p:cNvSpPr>
            <a:spLocks noChangeArrowheads="1"/>
          </p:cNvSpPr>
          <p:nvPr/>
        </p:nvSpPr>
        <p:spPr bwMode="auto">
          <a:xfrm>
            <a:off x="3733800" y="5257800"/>
            <a:ext cx="666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1400">
                <a:solidFill>
                  <a:srgbClr val="FF0000"/>
                </a:solidFill>
                <a:ea typeface="宋体" charset="-122"/>
              </a:rPr>
              <a:t>规则</a:t>
            </a:r>
            <a:r>
              <a:rPr lang="en-US" altLang="zh-CN">
                <a:solidFill>
                  <a:srgbClr val="FF0000"/>
                </a:solidFill>
                <a:ea typeface="宋体" charset="-122"/>
              </a:rPr>
              <a:t>1</a:t>
            </a:r>
          </a:p>
        </p:txBody>
      </p:sp>
      <p:sp>
        <p:nvSpPr>
          <p:cNvPr id="142369" name="Rectangle 51"/>
          <p:cNvSpPr>
            <a:spLocks noChangeArrowheads="1"/>
          </p:cNvSpPr>
          <p:nvPr/>
        </p:nvSpPr>
        <p:spPr bwMode="auto">
          <a:xfrm>
            <a:off x="1981200" y="5881688"/>
            <a:ext cx="666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1400">
                <a:solidFill>
                  <a:srgbClr val="00FF00"/>
                </a:solidFill>
                <a:ea typeface="宋体" charset="-122"/>
              </a:rPr>
              <a:t>规则</a:t>
            </a:r>
            <a:r>
              <a:rPr lang="en-US" altLang="zh-CN">
                <a:solidFill>
                  <a:srgbClr val="00FF00"/>
                </a:solidFill>
                <a:ea typeface="宋体" charset="-122"/>
              </a:rPr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1" name="AutoShape 54"/>
          <p:cNvSpPr>
            <a:spLocks noChangeArrowheads="1"/>
          </p:cNvSpPr>
          <p:nvPr/>
        </p:nvSpPr>
        <p:spPr bwMode="auto">
          <a:xfrm flipV="1">
            <a:off x="304800" y="2209800"/>
            <a:ext cx="8534400" cy="4267200"/>
          </a:xfrm>
          <a:prstGeom prst="flowChartAlternateProcess">
            <a:avLst/>
          </a:prstGeom>
          <a:solidFill>
            <a:srgbClr val="C0C0C0">
              <a:alpha val="32156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zh-CN">
              <a:ea typeface="宋体" charset="-122"/>
            </a:endParaRPr>
          </a:p>
        </p:txBody>
      </p:sp>
      <p:sp>
        <p:nvSpPr>
          <p:cNvPr id="143362" name="AutoShape 52"/>
          <p:cNvSpPr>
            <a:spLocks noChangeArrowheads="1"/>
          </p:cNvSpPr>
          <p:nvPr/>
        </p:nvSpPr>
        <p:spPr bwMode="auto">
          <a:xfrm>
            <a:off x="381000" y="4038600"/>
            <a:ext cx="8382000" cy="533400"/>
          </a:xfrm>
          <a:prstGeom prst="flowChartAlternateProcess">
            <a:avLst/>
          </a:prstGeom>
          <a:solidFill>
            <a:srgbClr val="C0C0C0">
              <a:alpha val="32156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zh-CN">
              <a:ea typeface="宋体" charset="-122"/>
            </a:endParaRPr>
          </a:p>
        </p:txBody>
      </p:sp>
      <p:sp>
        <p:nvSpPr>
          <p:cNvPr id="14336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latin typeface="微软雅黑"/>
                <a:ea typeface="微软雅黑"/>
                <a:cs typeface="微软雅黑"/>
              </a:rPr>
              <a:t>MySQL</a:t>
            </a:r>
            <a:r>
              <a:rPr lang="zh-CN" altLang="en-US" smtClean="0">
                <a:latin typeface="微软雅黑"/>
                <a:ea typeface="微软雅黑"/>
                <a:cs typeface="微软雅黑"/>
              </a:rPr>
              <a:t>不支持的</a:t>
            </a:r>
            <a:r>
              <a:rPr lang="en-US" altLang="zh-CN" smtClean="0">
                <a:latin typeface="微软雅黑"/>
                <a:ea typeface="微软雅黑"/>
                <a:cs typeface="微软雅黑"/>
              </a:rPr>
              <a:t>MySQL</a:t>
            </a:r>
            <a:r>
              <a:rPr lang="zh-CN" altLang="en-US" smtClean="0">
                <a:latin typeface="微软雅黑"/>
                <a:ea typeface="微软雅黑"/>
                <a:cs typeface="微软雅黑"/>
              </a:rPr>
              <a:t>语法</a:t>
            </a:r>
          </a:p>
        </p:txBody>
      </p:sp>
      <p:sp>
        <p:nvSpPr>
          <p:cNvPr id="143364" name="Rectangle 3"/>
          <p:cNvSpPr>
            <a:spLocks noChangeArrowheads="1"/>
          </p:cNvSpPr>
          <p:nvPr/>
        </p:nvSpPr>
        <p:spPr bwMode="auto">
          <a:xfrm>
            <a:off x="914400" y="1600200"/>
            <a:ext cx="8077200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1400">
                <a:solidFill>
                  <a:srgbClr val="990000"/>
                </a:solidFill>
                <a:latin typeface="Courier New" pitchFamily="49" charset="0"/>
                <a:ea typeface="宋体" charset="-122"/>
              </a:rPr>
              <a:t>table_reference</a:t>
            </a:r>
            <a:r>
              <a:rPr lang="en-US" altLang="zh-CN" sz="1400">
                <a:latin typeface="Courier New" pitchFamily="49" charset="0"/>
                <a:ea typeface="宋体" charset="-122"/>
              </a:rPr>
              <a:t>: </a:t>
            </a:r>
            <a:r>
              <a:rPr lang="en-US" altLang="zh-CN" sz="1400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table_factor</a:t>
            </a:r>
            <a:r>
              <a:rPr lang="en-US" altLang="zh-CN" sz="1400">
                <a:latin typeface="Courier New" pitchFamily="49" charset="0"/>
                <a:ea typeface="宋体" charset="-122"/>
              </a:rPr>
              <a:t> </a:t>
            </a:r>
            <a:r>
              <a:rPr lang="en-US" altLang="zh-CN" sz="1400" b="1">
                <a:latin typeface="Courier New" pitchFamily="49" charset="0"/>
                <a:ea typeface="宋体" charset="-122"/>
              </a:rPr>
              <a:t>'JOIN'</a:t>
            </a:r>
            <a:r>
              <a:rPr lang="en-US" altLang="zh-CN" sz="1400">
                <a:latin typeface="Courier New" pitchFamily="49" charset="0"/>
                <a:ea typeface="宋体" charset="-122"/>
              </a:rPr>
              <a:t>        </a:t>
            </a:r>
            <a:r>
              <a:rPr lang="en-US" altLang="zh-CN" sz="1400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table_factor  </a:t>
            </a:r>
            <a:r>
              <a:rPr lang="en-US" altLang="zh-CN" sz="1400">
                <a:latin typeface="Courier New" pitchFamily="49" charset="0"/>
                <a:ea typeface="宋体" charset="-122"/>
              </a:rPr>
              <a:t> [join_condition]</a:t>
            </a:r>
            <a:endParaRPr lang="en-US" altLang="zh-CN" sz="1400">
              <a:solidFill>
                <a:srgbClr val="00FF0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1400">
                <a:solidFill>
                  <a:srgbClr val="990000"/>
                </a:solidFill>
                <a:latin typeface="Courier New" pitchFamily="49" charset="0"/>
                <a:ea typeface="宋体" charset="-122"/>
              </a:rPr>
              <a:t>table_reference</a:t>
            </a:r>
            <a:r>
              <a:rPr lang="en-US" altLang="zh-CN" sz="1400">
                <a:latin typeface="Courier New" pitchFamily="49" charset="0"/>
                <a:ea typeface="宋体" charset="-122"/>
              </a:rPr>
              <a:t>: </a:t>
            </a:r>
            <a:r>
              <a:rPr lang="en-US" altLang="zh-CN" sz="1400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table_factor</a:t>
            </a:r>
            <a:r>
              <a:rPr lang="en-US" altLang="zh-CN" sz="1400">
                <a:latin typeface="Courier New" pitchFamily="49" charset="0"/>
                <a:ea typeface="宋体" charset="-122"/>
              </a:rPr>
              <a:t> </a:t>
            </a:r>
            <a:r>
              <a:rPr lang="en-US" altLang="zh-CN" sz="1400" b="1">
                <a:latin typeface="Courier New" pitchFamily="49" charset="0"/>
                <a:ea typeface="宋体" charset="-122"/>
              </a:rPr>
              <a:t>'LEFT'</a:t>
            </a:r>
            <a:r>
              <a:rPr lang="en-US" altLang="zh-CN" sz="1400">
                <a:latin typeface="Courier New" pitchFamily="49" charset="0"/>
                <a:ea typeface="宋体" charset="-122"/>
              </a:rPr>
              <a:t> </a:t>
            </a:r>
            <a:r>
              <a:rPr lang="en-US" altLang="zh-CN" sz="1400" b="1">
                <a:latin typeface="Courier New" pitchFamily="49" charset="0"/>
                <a:ea typeface="宋体" charset="-122"/>
              </a:rPr>
              <a:t>'JOIN'</a:t>
            </a:r>
            <a:r>
              <a:rPr lang="en-US" altLang="zh-CN" sz="1400">
                <a:latin typeface="Courier New" pitchFamily="49" charset="0"/>
                <a:ea typeface="宋体" charset="-122"/>
              </a:rPr>
              <a:t> </a:t>
            </a:r>
            <a:r>
              <a:rPr lang="en-US" altLang="zh-CN" sz="1400">
                <a:solidFill>
                  <a:srgbClr val="990000"/>
                </a:solidFill>
                <a:latin typeface="Courier New" pitchFamily="49" charset="0"/>
                <a:ea typeface="宋体" charset="-122"/>
              </a:rPr>
              <a:t>table_reference</a:t>
            </a:r>
            <a:r>
              <a:rPr lang="en-US" altLang="zh-CN" sz="1400">
                <a:latin typeface="Courier New" pitchFamily="49" charset="0"/>
                <a:ea typeface="宋体" charset="-122"/>
              </a:rPr>
              <a:t> join_condition</a:t>
            </a:r>
          </a:p>
        </p:txBody>
      </p:sp>
      <p:sp>
        <p:nvSpPr>
          <p:cNvPr id="143365" name="Rectangle 4"/>
          <p:cNvSpPr>
            <a:spLocks noChangeArrowheads="1"/>
          </p:cNvSpPr>
          <p:nvPr/>
        </p:nvSpPr>
        <p:spPr bwMode="auto">
          <a:xfrm>
            <a:off x="1905000" y="4159250"/>
            <a:ext cx="13716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600" b="1">
                <a:latin typeface="Courier New" pitchFamily="49" charset="0"/>
                <a:ea typeface="宋体" charset="-122"/>
              </a:rPr>
              <a:t>LEFT JOIN</a:t>
            </a:r>
          </a:p>
        </p:txBody>
      </p:sp>
      <p:sp>
        <p:nvSpPr>
          <p:cNvPr id="143366" name="Rectangle 5"/>
          <p:cNvSpPr>
            <a:spLocks noChangeArrowheads="1"/>
          </p:cNvSpPr>
          <p:nvPr/>
        </p:nvSpPr>
        <p:spPr bwMode="auto">
          <a:xfrm>
            <a:off x="914400" y="4159250"/>
            <a:ext cx="6096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600" b="1">
                <a:latin typeface="Courier New" pitchFamily="49" charset="0"/>
                <a:ea typeface="宋体" charset="-122"/>
              </a:rPr>
              <a:t>tb1</a:t>
            </a:r>
          </a:p>
        </p:txBody>
      </p:sp>
      <p:sp>
        <p:nvSpPr>
          <p:cNvPr id="143367" name="Rectangle 6"/>
          <p:cNvSpPr>
            <a:spLocks noChangeArrowheads="1"/>
          </p:cNvSpPr>
          <p:nvPr/>
        </p:nvSpPr>
        <p:spPr bwMode="auto">
          <a:xfrm>
            <a:off x="3429000" y="4159250"/>
            <a:ext cx="6096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600" b="1">
                <a:latin typeface="Courier New" pitchFamily="49" charset="0"/>
                <a:ea typeface="宋体" charset="-122"/>
              </a:rPr>
              <a:t>t2</a:t>
            </a:r>
          </a:p>
        </p:txBody>
      </p:sp>
      <p:sp>
        <p:nvSpPr>
          <p:cNvPr id="143368" name="Rectangle 7"/>
          <p:cNvSpPr>
            <a:spLocks noChangeArrowheads="1"/>
          </p:cNvSpPr>
          <p:nvPr/>
        </p:nvSpPr>
        <p:spPr bwMode="auto">
          <a:xfrm>
            <a:off x="4267200" y="4159250"/>
            <a:ext cx="762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600" b="1">
                <a:latin typeface="Courier New" pitchFamily="49" charset="0"/>
                <a:ea typeface="宋体" charset="-122"/>
              </a:rPr>
              <a:t>JOIN</a:t>
            </a:r>
          </a:p>
        </p:txBody>
      </p:sp>
      <p:sp>
        <p:nvSpPr>
          <p:cNvPr id="143369" name="Rectangle 8"/>
          <p:cNvSpPr>
            <a:spLocks noChangeArrowheads="1"/>
          </p:cNvSpPr>
          <p:nvPr/>
        </p:nvSpPr>
        <p:spPr bwMode="auto">
          <a:xfrm>
            <a:off x="5334000" y="4159250"/>
            <a:ext cx="6096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600" b="1">
                <a:latin typeface="Courier New" pitchFamily="49" charset="0"/>
                <a:ea typeface="宋体" charset="-122"/>
              </a:rPr>
              <a:t>t3</a:t>
            </a:r>
          </a:p>
        </p:txBody>
      </p:sp>
      <p:sp>
        <p:nvSpPr>
          <p:cNvPr id="143370" name="Rectangle 9"/>
          <p:cNvSpPr>
            <a:spLocks noChangeArrowheads="1"/>
          </p:cNvSpPr>
          <p:nvPr/>
        </p:nvSpPr>
        <p:spPr bwMode="auto">
          <a:xfrm>
            <a:off x="6400800" y="4159250"/>
            <a:ext cx="1981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600" b="1">
                <a:latin typeface="Courier New" pitchFamily="49" charset="0"/>
                <a:ea typeface="宋体" charset="-122"/>
              </a:rPr>
              <a:t>USING (id)</a:t>
            </a:r>
          </a:p>
        </p:txBody>
      </p:sp>
      <p:sp>
        <p:nvSpPr>
          <p:cNvPr id="143371" name="Rectangle 10"/>
          <p:cNvSpPr>
            <a:spLocks noChangeArrowheads="1"/>
          </p:cNvSpPr>
          <p:nvPr/>
        </p:nvSpPr>
        <p:spPr bwMode="auto">
          <a:xfrm>
            <a:off x="457200" y="3581400"/>
            <a:ext cx="1524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table_factor</a:t>
            </a:r>
          </a:p>
        </p:txBody>
      </p:sp>
      <p:sp>
        <p:nvSpPr>
          <p:cNvPr id="143372" name="Rectangle 11"/>
          <p:cNvSpPr>
            <a:spLocks noChangeArrowheads="1"/>
          </p:cNvSpPr>
          <p:nvPr/>
        </p:nvSpPr>
        <p:spPr bwMode="auto">
          <a:xfrm>
            <a:off x="2971800" y="3581400"/>
            <a:ext cx="1524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table_factor</a:t>
            </a:r>
          </a:p>
        </p:txBody>
      </p:sp>
      <p:sp>
        <p:nvSpPr>
          <p:cNvPr id="143373" name="Rectangle 12"/>
          <p:cNvSpPr>
            <a:spLocks noChangeArrowheads="1"/>
          </p:cNvSpPr>
          <p:nvPr/>
        </p:nvSpPr>
        <p:spPr bwMode="auto">
          <a:xfrm>
            <a:off x="4876800" y="3581400"/>
            <a:ext cx="1524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table_factor</a:t>
            </a:r>
          </a:p>
        </p:txBody>
      </p:sp>
      <p:sp>
        <p:nvSpPr>
          <p:cNvPr id="143374" name="Rectangle 13"/>
          <p:cNvSpPr>
            <a:spLocks noChangeArrowheads="1"/>
          </p:cNvSpPr>
          <p:nvPr/>
        </p:nvSpPr>
        <p:spPr bwMode="auto">
          <a:xfrm>
            <a:off x="3733800" y="2971800"/>
            <a:ext cx="182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>
                <a:solidFill>
                  <a:srgbClr val="990000"/>
                </a:solidFill>
                <a:latin typeface="Courier New" pitchFamily="49" charset="0"/>
                <a:ea typeface="宋体" charset="-122"/>
              </a:rPr>
              <a:t>table_reference</a:t>
            </a:r>
          </a:p>
        </p:txBody>
      </p:sp>
      <p:cxnSp>
        <p:nvCxnSpPr>
          <p:cNvPr id="143375" name="AutoShape 14"/>
          <p:cNvCxnSpPr>
            <a:cxnSpLocks noChangeShapeType="1"/>
            <a:stCxn id="143366" idx="0"/>
            <a:endCxn id="143371" idx="2"/>
          </p:cNvCxnSpPr>
          <p:nvPr/>
        </p:nvCxnSpPr>
        <p:spPr bwMode="auto">
          <a:xfrm flipV="1">
            <a:off x="1219200" y="3886200"/>
            <a:ext cx="0" cy="2730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43376" name="AutoShape 15"/>
          <p:cNvCxnSpPr>
            <a:cxnSpLocks noChangeShapeType="1"/>
            <a:stCxn id="143367" idx="0"/>
            <a:endCxn id="143372" idx="2"/>
          </p:cNvCxnSpPr>
          <p:nvPr/>
        </p:nvCxnSpPr>
        <p:spPr bwMode="auto">
          <a:xfrm flipV="1">
            <a:off x="3733800" y="3886200"/>
            <a:ext cx="0" cy="2730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43377" name="AutoShape 16"/>
          <p:cNvCxnSpPr>
            <a:cxnSpLocks noChangeShapeType="1"/>
            <a:stCxn id="143369" idx="0"/>
            <a:endCxn id="143373" idx="2"/>
          </p:cNvCxnSpPr>
          <p:nvPr/>
        </p:nvCxnSpPr>
        <p:spPr bwMode="auto">
          <a:xfrm flipV="1">
            <a:off x="5638800" y="3886200"/>
            <a:ext cx="0" cy="2730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43378" name="AutoShape 17"/>
          <p:cNvCxnSpPr>
            <a:cxnSpLocks noChangeShapeType="1"/>
            <a:stCxn id="143372" idx="0"/>
            <a:endCxn id="143374" idx="2"/>
          </p:cNvCxnSpPr>
          <p:nvPr/>
        </p:nvCxnSpPr>
        <p:spPr bwMode="auto">
          <a:xfrm flipV="1">
            <a:off x="3733800" y="3276600"/>
            <a:ext cx="914400" cy="304800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143379" name="AutoShape 18"/>
          <p:cNvCxnSpPr>
            <a:cxnSpLocks noChangeShapeType="1"/>
            <a:stCxn id="143373" idx="0"/>
            <a:endCxn id="143374" idx="2"/>
          </p:cNvCxnSpPr>
          <p:nvPr/>
        </p:nvCxnSpPr>
        <p:spPr bwMode="auto">
          <a:xfrm flipH="1" flipV="1">
            <a:off x="4648200" y="3276600"/>
            <a:ext cx="990600" cy="304800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143380" name="AutoShape 19"/>
          <p:cNvCxnSpPr>
            <a:cxnSpLocks noChangeShapeType="1"/>
            <a:stCxn id="143368" idx="0"/>
            <a:endCxn id="143374" idx="2"/>
          </p:cNvCxnSpPr>
          <p:nvPr/>
        </p:nvCxnSpPr>
        <p:spPr bwMode="auto">
          <a:xfrm flipV="1">
            <a:off x="4648200" y="3276600"/>
            <a:ext cx="0" cy="882650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</p:cxnSp>
      <p:sp>
        <p:nvSpPr>
          <p:cNvPr id="143381" name="Rectangle 20"/>
          <p:cNvSpPr>
            <a:spLocks noChangeArrowheads="1"/>
          </p:cNvSpPr>
          <p:nvPr/>
        </p:nvSpPr>
        <p:spPr bwMode="auto">
          <a:xfrm>
            <a:off x="6477000" y="3581400"/>
            <a:ext cx="182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>
                <a:latin typeface="Courier New" pitchFamily="49" charset="0"/>
                <a:ea typeface="宋体" charset="-122"/>
              </a:rPr>
              <a:t>join_condition</a:t>
            </a:r>
          </a:p>
        </p:txBody>
      </p:sp>
      <p:cxnSp>
        <p:nvCxnSpPr>
          <p:cNvPr id="143382" name="AutoShape 21"/>
          <p:cNvCxnSpPr>
            <a:cxnSpLocks noChangeShapeType="1"/>
            <a:stCxn id="143370" idx="0"/>
            <a:endCxn id="143381" idx="2"/>
          </p:cNvCxnSpPr>
          <p:nvPr/>
        </p:nvCxnSpPr>
        <p:spPr bwMode="auto">
          <a:xfrm flipV="1">
            <a:off x="7391400" y="3886200"/>
            <a:ext cx="0" cy="2730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43383" name="Rectangle 22"/>
          <p:cNvSpPr>
            <a:spLocks noChangeArrowheads="1"/>
          </p:cNvSpPr>
          <p:nvPr/>
        </p:nvSpPr>
        <p:spPr bwMode="auto">
          <a:xfrm>
            <a:off x="2895600" y="2209800"/>
            <a:ext cx="182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>
                <a:solidFill>
                  <a:srgbClr val="990000"/>
                </a:solidFill>
                <a:latin typeface="Courier New" pitchFamily="49" charset="0"/>
                <a:ea typeface="宋体" charset="-122"/>
              </a:rPr>
              <a:t>table_reference</a:t>
            </a:r>
          </a:p>
        </p:txBody>
      </p:sp>
      <p:cxnSp>
        <p:nvCxnSpPr>
          <p:cNvPr id="143384" name="AutoShape 23"/>
          <p:cNvCxnSpPr>
            <a:cxnSpLocks noChangeShapeType="1"/>
            <a:stCxn id="143371" idx="0"/>
            <a:endCxn id="143383" idx="2"/>
          </p:cNvCxnSpPr>
          <p:nvPr/>
        </p:nvCxnSpPr>
        <p:spPr bwMode="auto">
          <a:xfrm flipV="1">
            <a:off x="1219200" y="2514600"/>
            <a:ext cx="2590800" cy="1066800"/>
          </a:xfrm>
          <a:prstGeom prst="straightConnector1">
            <a:avLst/>
          </a:prstGeom>
          <a:noFill/>
          <a:ln w="9525">
            <a:solidFill>
              <a:srgbClr val="00FF00"/>
            </a:solidFill>
            <a:round/>
            <a:headEnd/>
            <a:tailEnd/>
          </a:ln>
        </p:spPr>
      </p:cxnSp>
      <p:cxnSp>
        <p:nvCxnSpPr>
          <p:cNvPr id="143385" name="AutoShape 24"/>
          <p:cNvCxnSpPr>
            <a:cxnSpLocks noChangeShapeType="1"/>
            <a:stCxn id="143365" idx="0"/>
            <a:endCxn id="143383" idx="2"/>
          </p:cNvCxnSpPr>
          <p:nvPr/>
        </p:nvCxnSpPr>
        <p:spPr bwMode="auto">
          <a:xfrm flipV="1">
            <a:off x="2590800" y="2514600"/>
            <a:ext cx="1219200" cy="1644650"/>
          </a:xfrm>
          <a:prstGeom prst="straightConnector1">
            <a:avLst/>
          </a:prstGeom>
          <a:noFill/>
          <a:ln w="9525">
            <a:solidFill>
              <a:srgbClr val="00FF00"/>
            </a:solidFill>
            <a:round/>
            <a:headEnd/>
            <a:tailEnd/>
          </a:ln>
        </p:spPr>
      </p:cxnSp>
      <p:cxnSp>
        <p:nvCxnSpPr>
          <p:cNvPr id="143386" name="AutoShape 25"/>
          <p:cNvCxnSpPr>
            <a:cxnSpLocks noChangeShapeType="1"/>
            <a:stCxn id="143374" idx="0"/>
            <a:endCxn id="143383" idx="2"/>
          </p:cNvCxnSpPr>
          <p:nvPr/>
        </p:nvCxnSpPr>
        <p:spPr bwMode="auto">
          <a:xfrm flipH="1" flipV="1">
            <a:off x="3810000" y="2514600"/>
            <a:ext cx="838200" cy="457200"/>
          </a:xfrm>
          <a:prstGeom prst="straightConnector1">
            <a:avLst/>
          </a:prstGeom>
          <a:noFill/>
          <a:ln w="9525">
            <a:solidFill>
              <a:srgbClr val="00FF00"/>
            </a:solidFill>
            <a:round/>
            <a:headEnd/>
            <a:tailEnd/>
          </a:ln>
        </p:spPr>
      </p:cxnSp>
      <p:sp>
        <p:nvSpPr>
          <p:cNvPr id="143387" name="Rectangle 27"/>
          <p:cNvSpPr>
            <a:spLocks noChangeArrowheads="1"/>
          </p:cNvSpPr>
          <p:nvPr/>
        </p:nvSpPr>
        <p:spPr bwMode="auto">
          <a:xfrm>
            <a:off x="457200" y="4800600"/>
            <a:ext cx="1524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>
                <a:solidFill>
                  <a:schemeClr val="bg2"/>
                </a:solidFill>
                <a:latin typeface="Courier New" pitchFamily="49" charset="0"/>
                <a:ea typeface="宋体" charset="-122"/>
              </a:rPr>
              <a:t>table_factor</a:t>
            </a:r>
          </a:p>
        </p:txBody>
      </p:sp>
      <p:sp>
        <p:nvSpPr>
          <p:cNvPr id="143388" name="Rectangle 28"/>
          <p:cNvSpPr>
            <a:spLocks noChangeArrowheads="1"/>
          </p:cNvSpPr>
          <p:nvPr/>
        </p:nvSpPr>
        <p:spPr bwMode="auto">
          <a:xfrm>
            <a:off x="2971800" y="4800600"/>
            <a:ext cx="1524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>
                <a:solidFill>
                  <a:schemeClr val="bg2"/>
                </a:solidFill>
                <a:latin typeface="Courier New" pitchFamily="49" charset="0"/>
                <a:ea typeface="宋体" charset="-122"/>
              </a:rPr>
              <a:t>table_factor</a:t>
            </a:r>
          </a:p>
        </p:txBody>
      </p:sp>
      <p:sp>
        <p:nvSpPr>
          <p:cNvPr id="143389" name="Rectangle 29"/>
          <p:cNvSpPr>
            <a:spLocks noChangeArrowheads="1"/>
          </p:cNvSpPr>
          <p:nvPr/>
        </p:nvSpPr>
        <p:spPr bwMode="auto">
          <a:xfrm>
            <a:off x="4876800" y="4800600"/>
            <a:ext cx="1524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>
                <a:solidFill>
                  <a:schemeClr val="bg2"/>
                </a:solidFill>
                <a:latin typeface="Courier New" pitchFamily="49" charset="0"/>
                <a:ea typeface="宋体" charset="-122"/>
              </a:rPr>
              <a:t>table_factor</a:t>
            </a:r>
          </a:p>
        </p:txBody>
      </p:sp>
      <p:sp>
        <p:nvSpPr>
          <p:cNvPr id="143390" name="Rectangle 30"/>
          <p:cNvSpPr>
            <a:spLocks noChangeArrowheads="1"/>
          </p:cNvSpPr>
          <p:nvPr/>
        </p:nvSpPr>
        <p:spPr bwMode="auto">
          <a:xfrm>
            <a:off x="6477000" y="4800600"/>
            <a:ext cx="182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>
                <a:solidFill>
                  <a:schemeClr val="bg2"/>
                </a:solidFill>
                <a:latin typeface="Courier New" pitchFamily="49" charset="0"/>
                <a:ea typeface="宋体" charset="-122"/>
              </a:rPr>
              <a:t>join_condition</a:t>
            </a:r>
          </a:p>
        </p:txBody>
      </p:sp>
      <p:sp>
        <p:nvSpPr>
          <p:cNvPr id="143391" name="Rectangle 31"/>
          <p:cNvSpPr>
            <a:spLocks noChangeArrowheads="1"/>
          </p:cNvSpPr>
          <p:nvPr/>
        </p:nvSpPr>
        <p:spPr bwMode="auto">
          <a:xfrm>
            <a:off x="228600" y="1549400"/>
            <a:ext cx="666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1400">
                <a:solidFill>
                  <a:srgbClr val="FF0000"/>
                </a:solidFill>
                <a:ea typeface="宋体" charset="-122"/>
              </a:rPr>
              <a:t>规则</a:t>
            </a:r>
            <a:r>
              <a:rPr lang="en-US" altLang="zh-CN">
                <a:solidFill>
                  <a:srgbClr val="FF0000"/>
                </a:solidFill>
                <a:ea typeface="宋体" charset="-122"/>
              </a:rPr>
              <a:t>1</a:t>
            </a:r>
          </a:p>
        </p:txBody>
      </p:sp>
      <p:sp>
        <p:nvSpPr>
          <p:cNvPr id="143392" name="Rectangle 32"/>
          <p:cNvSpPr>
            <a:spLocks noChangeArrowheads="1"/>
          </p:cNvSpPr>
          <p:nvPr/>
        </p:nvSpPr>
        <p:spPr bwMode="auto">
          <a:xfrm>
            <a:off x="228600" y="1778000"/>
            <a:ext cx="666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1400">
                <a:solidFill>
                  <a:srgbClr val="00FF00"/>
                </a:solidFill>
                <a:ea typeface="宋体" charset="-122"/>
              </a:rPr>
              <a:t>规则</a:t>
            </a:r>
            <a:r>
              <a:rPr lang="en-US" altLang="zh-CN">
                <a:solidFill>
                  <a:srgbClr val="00FF00"/>
                </a:solidFill>
                <a:ea typeface="宋体" charset="-122"/>
              </a:rPr>
              <a:t>2</a:t>
            </a:r>
          </a:p>
        </p:txBody>
      </p:sp>
      <p:cxnSp>
        <p:nvCxnSpPr>
          <p:cNvPr id="143393" name="AutoShape 33"/>
          <p:cNvCxnSpPr>
            <a:cxnSpLocks noChangeShapeType="1"/>
            <a:stCxn id="143387" idx="0"/>
            <a:endCxn id="143366" idx="2"/>
          </p:cNvCxnSpPr>
          <p:nvPr/>
        </p:nvCxnSpPr>
        <p:spPr bwMode="auto">
          <a:xfrm flipV="1">
            <a:off x="1219200" y="4495800"/>
            <a:ext cx="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43394" name="AutoShape 34"/>
          <p:cNvCxnSpPr>
            <a:cxnSpLocks noChangeShapeType="1"/>
            <a:stCxn id="143388" idx="0"/>
            <a:endCxn id="143367" idx="2"/>
          </p:cNvCxnSpPr>
          <p:nvPr/>
        </p:nvCxnSpPr>
        <p:spPr bwMode="auto">
          <a:xfrm flipV="1">
            <a:off x="3733800" y="4495800"/>
            <a:ext cx="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43395" name="AutoShape 35"/>
          <p:cNvCxnSpPr>
            <a:cxnSpLocks noChangeShapeType="1"/>
            <a:stCxn id="143389" idx="0"/>
            <a:endCxn id="143369" idx="2"/>
          </p:cNvCxnSpPr>
          <p:nvPr/>
        </p:nvCxnSpPr>
        <p:spPr bwMode="auto">
          <a:xfrm flipV="1">
            <a:off x="5638800" y="4495800"/>
            <a:ext cx="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43396" name="AutoShape 36"/>
          <p:cNvCxnSpPr>
            <a:cxnSpLocks noChangeShapeType="1"/>
            <a:stCxn id="143390" idx="0"/>
            <a:endCxn id="143370" idx="2"/>
          </p:cNvCxnSpPr>
          <p:nvPr/>
        </p:nvCxnSpPr>
        <p:spPr bwMode="auto">
          <a:xfrm flipV="1">
            <a:off x="7391400" y="4495800"/>
            <a:ext cx="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43397" name="Rectangle 37"/>
          <p:cNvSpPr>
            <a:spLocks noChangeArrowheads="1"/>
          </p:cNvSpPr>
          <p:nvPr/>
        </p:nvSpPr>
        <p:spPr bwMode="auto">
          <a:xfrm>
            <a:off x="3733800" y="5486400"/>
            <a:ext cx="182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>
                <a:solidFill>
                  <a:schemeClr val="bg2"/>
                </a:solidFill>
                <a:latin typeface="Courier New" pitchFamily="49" charset="0"/>
                <a:ea typeface="宋体" charset="-122"/>
              </a:rPr>
              <a:t>table_reference</a:t>
            </a:r>
          </a:p>
        </p:txBody>
      </p:sp>
      <p:cxnSp>
        <p:nvCxnSpPr>
          <p:cNvPr id="143398" name="AutoShape 38"/>
          <p:cNvCxnSpPr>
            <a:cxnSpLocks noChangeShapeType="1"/>
            <a:stCxn id="143397" idx="0"/>
            <a:endCxn id="143368" idx="2"/>
          </p:cNvCxnSpPr>
          <p:nvPr/>
        </p:nvCxnSpPr>
        <p:spPr bwMode="auto">
          <a:xfrm flipV="1">
            <a:off x="4648200" y="4495800"/>
            <a:ext cx="0" cy="990600"/>
          </a:xfrm>
          <a:prstGeom prst="straightConnector1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</p:spPr>
      </p:cxnSp>
      <p:cxnSp>
        <p:nvCxnSpPr>
          <p:cNvPr id="143399" name="AutoShape 39"/>
          <p:cNvCxnSpPr>
            <a:cxnSpLocks noChangeShapeType="1"/>
            <a:stCxn id="143397" idx="0"/>
            <a:endCxn id="143389" idx="2"/>
          </p:cNvCxnSpPr>
          <p:nvPr/>
        </p:nvCxnSpPr>
        <p:spPr bwMode="auto">
          <a:xfrm flipV="1">
            <a:off x="4648200" y="5105400"/>
            <a:ext cx="990600" cy="381000"/>
          </a:xfrm>
          <a:prstGeom prst="straightConnector1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</p:spPr>
      </p:cxnSp>
      <p:cxnSp>
        <p:nvCxnSpPr>
          <p:cNvPr id="143400" name="AutoShape 40"/>
          <p:cNvCxnSpPr>
            <a:cxnSpLocks noChangeShapeType="1"/>
            <a:stCxn id="143397" idx="0"/>
            <a:endCxn id="143388" idx="2"/>
          </p:cNvCxnSpPr>
          <p:nvPr/>
        </p:nvCxnSpPr>
        <p:spPr bwMode="auto">
          <a:xfrm flipH="1" flipV="1">
            <a:off x="3733800" y="5105400"/>
            <a:ext cx="914400" cy="381000"/>
          </a:xfrm>
          <a:prstGeom prst="straightConnector1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</p:spPr>
      </p:cxnSp>
      <p:cxnSp>
        <p:nvCxnSpPr>
          <p:cNvPr id="143401" name="AutoShape 41"/>
          <p:cNvCxnSpPr>
            <a:cxnSpLocks noChangeShapeType="1"/>
            <a:stCxn id="143397" idx="0"/>
            <a:endCxn id="143390" idx="2"/>
          </p:cNvCxnSpPr>
          <p:nvPr/>
        </p:nvCxnSpPr>
        <p:spPr bwMode="auto">
          <a:xfrm flipV="1">
            <a:off x="4648200" y="5105400"/>
            <a:ext cx="2743200" cy="381000"/>
          </a:xfrm>
          <a:prstGeom prst="straightConnector1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</p:spPr>
      </p:cxnSp>
      <p:sp>
        <p:nvSpPr>
          <p:cNvPr id="143402" name="Rectangle 42"/>
          <p:cNvSpPr>
            <a:spLocks noChangeArrowheads="1"/>
          </p:cNvSpPr>
          <p:nvPr/>
        </p:nvSpPr>
        <p:spPr bwMode="auto">
          <a:xfrm>
            <a:off x="1981200" y="6096000"/>
            <a:ext cx="182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>
                <a:solidFill>
                  <a:schemeClr val="bg2"/>
                </a:solidFill>
                <a:latin typeface="Courier New" pitchFamily="49" charset="0"/>
                <a:ea typeface="宋体" charset="-122"/>
              </a:rPr>
              <a:t>table_reference</a:t>
            </a:r>
          </a:p>
        </p:txBody>
      </p:sp>
      <p:cxnSp>
        <p:nvCxnSpPr>
          <p:cNvPr id="143403" name="AutoShape 43"/>
          <p:cNvCxnSpPr>
            <a:cxnSpLocks noChangeShapeType="1"/>
            <a:stCxn id="143387" idx="2"/>
            <a:endCxn id="143402" idx="0"/>
          </p:cNvCxnSpPr>
          <p:nvPr/>
        </p:nvCxnSpPr>
        <p:spPr bwMode="auto">
          <a:xfrm>
            <a:off x="1219200" y="5105400"/>
            <a:ext cx="1676400" cy="990600"/>
          </a:xfrm>
          <a:prstGeom prst="straightConnector1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</p:spPr>
      </p:cxnSp>
      <p:cxnSp>
        <p:nvCxnSpPr>
          <p:cNvPr id="143404" name="AutoShape 44"/>
          <p:cNvCxnSpPr>
            <a:cxnSpLocks noChangeShapeType="1"/>
            <a:stCxn id="143365" idx="2"/>
            <a:endCxn id="143402" idx="0"/>
          </p:cNvCxnSpPr>
          <p:nvPr/>
        </p:nvCxnSpPr>
        <p:spPr bwMode="auto">
          <a:xfrm>
            <a:off x="2590800" y="4495800"/>
            <a:ext cx="304800" cy="1600200"/>
          </a:xfrm>
          <a:prstGeom prst="straightConnector1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</p:spPr>
      </p:cxnSp>
      <p:cxnSp>
        <p:nvCxnSpPr>
          <p:cNvPr id="143405" name="AutoShape 45"/>
          <p:cNvCxnSpPr>
            <a:cxnSpLocks noChangeShapeType="1"/>
            <a:stCxn id="143397" idx="2"/>
            <a:endCxn id="143402" idx="0"/>
          </p:cNvCxnSpPr>
          <p:nvPr/>
        </p:nvCxnSpPr>
        <p:spPr bwMode="auto">
          <a:xfrm flipH="1">
            <a:off x="2895600" y="5791200"/>
            <a:ext cx="1752600" cy="304800"/>
          </a:xfrm>
          <a:prstGeom prst="straightConnector1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</p:spPr>
      </p:cxnSp>
      <p:cxnSp>
        <p:nvCxnSpPr>
          <p:cNvPr id="143406" name="AutoShape 46"/>
          <p:cNvCxnSpPr>
            <a:cxnSpLocks noChangeShapeType="1"/>
            <a:stCxn id="143407" idx="1"/>
            <a:endCxn id="143402" idx="0"/>
          </p:cNvCxnSpPr>
          <p:nvPr/>
        </p:nvCxnSpPr>
        <p:spPr bwMode="auto">
          <a:xfrm flipH="1">
            <a:off x="2895600" y="5622925"/>
            <a:ext cx="5029200" cy="473075"/>
          </a:xfrm>
          <a:prstGeom prst="straightConnector1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</p:spPr>
      </p:cxnSp>
      <p:sp>
        <p:nvSpPr>
          <p:cNvPr id="143407" name="Rectangle 47"/>
          <p:cNvSpPr>
            <a:spLocks noChangeArrowheads="1"/>
          </p:cNvSpPr>
          <p:nvPr/>
        </p:nvSpPr>
        <p:spPr bwMode="auto">
          <a:xfrm>
            <a:off x="7924800" y="5454650"/>
            <a:ext cx="9906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600" b="1">
                <a:solidFill>
                  <a:schemeClr val="bg2"/>
                </a:solidFill>
                <a:latin typeface="Times New Roman" pitchFamily="18" charset="0"/>
                <a:ea typeface="宋体" charset="-122"/>
              </a:rPr>
              <a:t>ERROR!</a:t>
            </a:r>
          </a:p>
        </p:txBody>
      </p:sp>
      <p:sp>
        <p:nvSpPr>
          <p:cNvPr id="143408" name="Rectangle 48"/>
          <p:cNvSpPr>
            <a:spLocks noChangeArrowheads="1"/>
          </p:cNvSpPr>
          <p:nvPr/>
        </p:nvSpPr>
        <p:spPr bwMode="auto">
          <a:xfrm>
            <a:off x="4876800" y="3062288"/>
            <a:ext cx="666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1400">
                <a:solidFill>
                  <a:srgbClr val="FF0000"/>
                </a:solidFill>
                <a:ea typeface="宋体" charset="-122"/>
              </a:rPr>
              <a:t>规则</a:t>
            </a:r>
            <a:r>
              <a:rPr lang="en-US" altLang="zh-CN">
                <a:solidFill>
                  <a:srgbClr val="FF0000"/>
                </a:solidFill>
                <a:ea typeface="宋体" charset="-122"/>
              </a:rPr>
              <a:t>1</a:t>
            </a:r>
          </a:p>
        </p:txBody>
      </p:sp>
      <p:sp>
        <p:nvSpPr>
          <p:cNvPr id="143409" name="Rectangle 49"/>
          <p:cNvSpPr>
            <a:spLocks noChangeArrowheads="1"/>
          </p:cNvSpPr>
          <p:nvPr/>
        </p:nvSpPr>
        <p:spPr bwMode="auto">
          <a:xfrm>
            <a:off x="3733800" y="5257800"/>
            <a:ext cx="666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1400">
                <a:solidFill>
                  <a:schemeClr val="bg2"/>
                </a:solidFill>
                <a:ea typeface="宋体" charset="-122"/>
              </a:rPr>
              <a:t>规则</a:t>
            </a:r>
            <a:r>
              <a:rPr lang="en-US" altLang="zh-CN">
                <a:solidFill>
                  <a:schemeClr val="bg2"/>
                </a:solidFill>
                <a:ea typeface="宋体" charset="-122"/>
              </a:rPr>
              <a:t>1</a:t>
            </a:r>
          </a:p>
        </p:txBody>
      </p:sp>
      <p:sp>
        <p:nvSpPr>
          <p:cNvPr id="143410" name="Rectangle 50"/>
          <p:cNvSpPr>
            <a:spLocks noChangeArrowheads="1"/>
          </p:cNvSpPr>
          <p:nvPr/>
        </p:nvSpPr>
        <p:spPr bwMode="auto">
          <a:xfrm>
            <a:off x="2838450" y="2376488"/>
            <a:ext cx="666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1400">
                <a:solidFill>
                  <a:srgbClr val="00FF00"/>
                </a:solidFill>
                <a:ea typeface="宋体" charset="-122"/>
              </a:rPr>
              <a:t>规则</a:t>
            </a:r>
            <a:r>
              <a:rPr lang="en-US" altLang="zh-CN">
                <a:solidFill>
                  <a:srgbClr val="00FF00"/>
                </a:solidFill>
                <a:ea typeface="宋体" charset="-122"/>
              </a:rPr>
              <a:t>2</a:t>
            </a:r>
          </a:p>
        </p:txBody>
      </p:sp>
      <p:sp>
        <p:nvSpPr>
          <p:cNvPr id="143411" name="Rectangle 51"/>
          <p:cNvSpPr>
            <a:spLocks noChangeArrowheads="1"/>
          </p:cNvSpPr>
          <p:nvPr/>
        </p:nvSpPr>
        <p:spPr bwMode="auto">
          <a:xfrm>
            <a:off x="1981200" y="5881688"/>
            <a:ext cx="666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1400">
                <a:solidFill>
                  <a:schemeClr val="bg2"/>
                </a:solidFill>
                <a:ea typeface="宋体" charset="-122"/>
              </a:rPr>
              <a:t>规则</a:t>
            </a:r>
            <a:r>
              <a:rPr lang="en-US" altLang="zh-CN">
                <a:solidFill>
                  <a:schemeClr val="bg2"/>
                </a:solidFill>
                <a:ea typeface="宋体" charset="-122"/>
              </a:rPr>
              <a:t>2</a:t>
            </a:r>
          </a:p>
        </p:txBody>
      </p:sp>
      <p:cxnSp>
        <p:nvCxnSpPr>
          <p:cNvPr id="143412" name="AutoShape 17"/>
          <p:cNvCxnSpPr>
            <a:cxnSpLocks noChangeShapeType="1"/>
            <a:stCxn id="143381" idx="0"/>
            <a:endCxn id="143374" idx="2"/>
          </p:cNvCxnSpPr>
          <p:nvPr/>
        </p:nvCxnSpPr>
        <p:spPr bwMode="auto">
          <a:xfrm rot="16200000" flipV="1">
            <a:off x="5867400" y="2057400"/>
            <a:ext cx="304800" cy="2743200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5" name="AutoShape 54"/>
          <p:cNvSpPr>
            <a:spLocks noChangeArrowheads="1"/>
          </p:cNvSpPr>
          <p:nvPr/>
        </p:nvSpPr>
        <p:spPr bwMode="auto">
          <a:xfrm flipV="1">
            <a:off x="304800" y="2209800"/>
            <a:ext cx="8534400" cy="4267200"/>
          </a:xfrm>
          <a:prstGeom prst="flowChartAlternateProcess">
            <a:avLst/>
          </a:prstGeom>
          <a:solidFill>
            <a:srgbClr val="C0C0C0">
              <a:alpha val="32156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zh-CN">
              <a:ea typeface="宋体" charset="-122"/>
            </a:endParaRPr>
          </a:p>
        </p:txBody>
      </p:sp>
      <p:sp>
        <p:nvSpPr>
          <p:cNvPr id="144386" name="AutoShape 52"/>
          <p:cNvSpPr>
            <a:spLocks noChangeArrowheads="1"/>
          </p:cNvSpPr>
          <p:nvPr/>
        </p:nvSpPr>
        <p:spPr bwMode="auto">
          <a:xfrm>
            <a:off x="381000" y="4038600"/>
            <a:ext cx="8382000" cy="533400"/>
          </a:xfrm>
          <a:prstGeom prst="flowChartAlternateProcess">
            <a:avLst/>
          </a:prstGeom>
          <a:solidFill>
            <a:srgbClr val="C0C0C0">
              <a:alpha val="32156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zh-CN">
              <a:ea typeface="宋体" charset="-122"/>
            </a:endParaRPr>
          </a:p>
        </p:txBody>
      </p:sp>
      <p:sp>
        <p:nvSpPr>
          <p:cNvPr id="14438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latin typeface="微软雅黑"/>
                <a:ea typeface="微软雅黑"/>
                <a:cs typeface="微软雅黑"/>
              </a:rPr>
              <a:t>MySQL</a:t>
            </a:r>
            <a:r>
              <a:rPr lang="zh-CN" altLang="en-US" smtClean="0">
                <a:latin typeface="微软雅黑"/>
                <a:ea typeface="微软雅黑"/>
                <a:cs typeface="微软雅黑"/>
              </a:rPr>
              <a:t>不支持的</a:t>
            </a:r>
            <a:r>
              <a:rPr lang="en-US" altLang="zh-CN" smtClean="0">
                <a:latin typeface="微软雅黑"/>
                <a:ea typeface="微软雅黑"/>
                <a:cs typeface="微软雅黑"/>
              </a:rPr>
              <a:t>MySQL</a:t>
            </a:r>
            <a:r>
              <a:rPr lang="zh-CN" altLang="en-US" smtClean="0">
                <a:latin typeface="微软雅黑"/>
                <a:ea typeface="微软雅黑"/>
                <a:cs typeface="微软雅黑"/>
              </a:rPr>
              <a:t>语法</a:t>
            </a:r>
          </a:p>
        </p:txBody>
      </p:sp>
      <p:sp>
        <p:nvSpPr>
          <p:cNvPr id="144388" name="Rectangle 3"/>
          <p:cNvSpPr>
            <a:spLocks noChangeArrowheads="1"/>
          </p:cNvSpPr>
          <p:nvPr/>
        </p:nvSpPr>
        <p:spPr bwMode="auto">
          <a:xfrm>
            <a:off x="914400" y="1600200"/>
            <a:ext cx="8077200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1400">
                <a:solidFill>
                  <a:srgbClr val="990000"/>
                </a:solidFill>
                <a:latin typeface="Courier New" pitchFamily="49" charset="0"/>
                <a:ea typeface="宋体" charset="-122"/>
              </a:rPr>
              <a:t>table_reference</a:t>
            </a:r>
            <a:r>
              <a:rPr lang="en-US" altLang="zh-CN" sz="1400">
                <a:latin typeface="Courier New" pitchFamily="49" charset="0"/>
                <a:ea typeface="宋体" charset="-122"/>
              </a:rPr>
              <a:t>: </a:t>
            </a:r>
            <a:r>
              <a:rPr lang="en-US" altLang="zh-CN" sz="1400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table_factor</a:t>
            </a:r>
            <a:r>
              <a:rPr lang="en-US" altLang="zh-CN" sz="1400">
                <a:latin typeface="Courier New" pitchFamily="49" charset="0"/>
                <a:ea typeface="宋体" charset="-122"/>
              </a:rPr>
              <a:t> </a:t>
            </a:r>
            <a:r>
              <a:rPr lang="en-US" altLang="zh-CN" sz="1400" b="1">
                <a:latin typeface="Courier New" pitchFamily="49" charset="0"/>
                <a:ea typeface="宋体" charset="-122"/>
              </a:rPr>
              <a:t>'JOIN'</a:t>
            </a:r>
            <a:r>
              <a:rPr lang="en-US" altLang="zh-CN" sz="1400">
                <a:latin typeface="Courier New" pitchFamily="49" charset="0"/>
                <a:ea typeface="宋体" charset="-122"/>
              </a:rPr>
              <a:t>        </a:t>
            </a:r>
            <a:r>
              <a:rPr lang="en-US" altLang="zh-CN" sz="1400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table_factor  </a:t>
            </a:r>
            <a:r>
              <a:rPr lang="en-US" altLang="zh-CN" sz="1400">
                <a:latin typeface="Courier New" pitchFamily="49" charset="0"/>
                <a:ea typeface="宋体" charset="-122"/>
              </a:rPr>
              <a:t> [join_condition]</a:t>
            </a:r>
            <a:endParaRPr lang="en-US" altLang="zh-CN" sz="1400">
              <a:solidFill>
                <a:srgbClr val="00FF0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1400">
                <a:solidFill>
                  <a:srgbClr val="990000"/>
                </a:solidFill>
                <a:latin typeface="Courier New" pitchFamily="49" charset="0"/>
                <a:ea typeface="宋体" charset="-122"/>
              </a:rPr>
              <a:t>table_reference</a:t>
            </a:r>
            <a:r>
              <a:rPr lang="en-US" altLang="zh-CN" sz="1400">
                <a:latin typeface="Courier New" pitchFamily="49" charset="0"/>
                <a:ea typeface="宋体" charset="-122"/>
              </a:rPr>
              <a:t>: </a:t>
            </a:r>
            <a:r>
              <a:rPr lang="en-US" altLang="zh-CN" sz="1400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table_factor</a:t>
            </a:r>
            <a:r>
              <a:rPr lang="en-US" altLang="zh-CN" sz="1400">
                <a:latin typeface="Courier New" pitchFamily="49" charset="0"/>
                <a:ea typeface="宋体" charset="-122"/>
              </a:rPr>
              <a:t> </a:t>
            </a:r>
            <a:r>
              <a:rPr lang="en-US" altLang="zh-CN" sz="1400" b="1">
                <a:latin typeface="Courier New" pitchFamily="49" charset="0"/>
                <a:ea typeface="宋体" charset="-122"/>
              </a:rPr>
              <a:t>'LEFT'</a:t>
            </a:r>
            <a:r>
              <a:rPr lang="en-US" altLang="zh-CN" sz="1400">
                <a:latin typeface="Courier New" pitchFamily="49" charset="0"/>
                <a:ea typeface="宋体" charset="-122"/>
              </a:rPr>
              <a:t> </a:t>
            </a:r>
            <a:r>
              <a:rPr lang="en-US" altLang="zh-CN" sz="1400" b="1">
                <a:latin typeface="Courier New" pitchFamily="49" charset="0"/>
                <a:ea typeface="宋体" charset="-122"/>
              </a:rPr>
              <a:t>'JOIN'</a:t>
            </a:r>
            <a:r>
              <a:rPr lang="en-US" altLang="zh-CN" sz="1400">
                <a:latin typeface="Courier New" pitchFamily="49" charset="0"/>
                <a:ea typeface="宋体" charset="-122"/>
              </a:rPr>
              <a:t> </a:t>
            </a:r>
            <a:r>
              <a:rPr lang="en-US" altLang="zh-CN" sz="1400">
                <a:solidFill>
                  <a:srgbClr val="990000"/>
                </a:solidFill>
                <a:latin typeface="Courier New" pitchFamily="49" charset="0"/>
                <a:ea typeface="宋体" charset="-122"/>
              </a:rPr>
              <a:t>table_reference</a:t>
            </a:r>
            <a:r>
              <a:rPr lang="en-US" altLang="zh-CN" sz="1400">
                <a:latin typeface="Courier New" pitchFamily="49" charset="0"/>
                <a:ea typeface="宋体" charset="-122"/>
              </a:rPr>
              <a:t> join_condition</a:t>
            </a:r>
          </a:p>
        </p:txBody>
      </p:sp>
      <p:sp>
        <p:nvSpPr>
          <p:cNvPr id="144389" name="Rectangle 4"/>
          <p:cNvSpPr>
            <a:spLocks noChangeArrowheads="1"/>
          </p:cNvSpPr>
          <p:nvPr/>
        </p:nvSpPr>
        <p:spPr bwMode="auto">
          <a:xfrm>
            <a:off x="1905000" y="4159250"/>
            <a:ext cx="13716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600" b="1">
                <a:latin typeface="Courier New" pitchFamily="49" charset="0"/>
                <a:ea typeface="宋体" charset="-122"/>
              </a:rPr>
              <a:t>LEFT JOIN</a:t>
            </a:r>
          </a:p>
        </p:txBody>
      </p:sp>
      <p:sp>
        <p:nvSpPr>
          <p:cNvPr id="144390" name="Rectangle 5"/>
          <p:cNvSpPr>
            <a:spLocks noChangeArrowheads="1"/>
          </p:cNvSpPr>
          <p:nvPr/>
        </p:nvSpPr>
        <p:spPr bwMode="auto">
          <a:xfrm>
            <a:off x="914400" y="4159250"/>
            <a:ext cx="6096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600" b="1">
                <a:latin typeface="Courier New" pitchFamily="49" charset="0"/>
                <a:ea typeface="宋体" charset="-122"/>
              </a:rPr>
              <a:t>tb1</a:t>
            </a:r>
          </a:p>
        </p:txBody>
      </p:sp>
      <p:sp>
        <p:nvSpPr>
          <p:cNvPr id="144391" name="Rectangle 6"/>
          <p:cNvSpPr>
            <a:spLocks noChangeArrowheads="1"/>
          </p:cNvSpPr>
          <p:nvPr/>
        </p:nvSpPr>
        <p:spPr bwMode="auto">
          <a:xfrm>
            <a:off x="3429000" y="4159250"/>
            <a:ext cx="6096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600" b="1">
                <a:latin typeface="Courier New" pitchFamily="49" charset="0"/>
                <a:ea typeface="宋体" charset="-122"/>
              </a:rPr>
              <a:t>t2</a:t>
            </a:r>
          </a:p>
        </p:txBody>
      </p:sp>
      <p:sp>
        <p:nvSpPr>
          <p:cNvPr id="144392" name="Rectangle 7"/>
          <p:cNvSpPr>
            <a:spLocks noChangeArrowheads="1"/>
          </p:cNvSpPr>
          <p:nvPr/>
        </p:nvSpPr>
        <p:spPr bwMode="auto">
          <a:xfrm>
            <a:off x="4267200" y="4159250"/>
            <a:ext cx="762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600" b="1">
                <a:latin typeface="Courier New" pitchFamily="49" charset="0"/>
                <a:ea typeface="宋体" charset="-122"/>
              </a:rPr>
              <a:t>JOIN</a:t>
            </a:r>
          </a:p>
        </p:txBody>
      </p:sp>
      <p:sp>
        <p:nvSpPr>
          <p:cNvPr id="144393" name="Rectangle 8"/>
          <p:cNvSpPr>
            <a:spLocks noChangeArrowheads="1"/>
          </p:cNvSpPr>
          <p:nvPr/>
        </p:nvSpPr>
        <p:spPr bwMode="auto">
          <a:xfrm>
            <a:off x="5334000" y="4159250"/>
            <a:ext cx="6096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600" b="1">
                <a:latin typeface="Courier New" pitchFamily="49" charset="0"/>
                <a:ea typeface="宋体" charset="-122"/>
              </a:rPr>
              <a:t>t3</a:t>
            </a:r>
          </a:p>
        </p:txBody>
      </p:sp>
      <p:sp>
        <p:nvSpPr>
          <p:cNvPr id="144394" name="Rectangle 9"/>
          <p:cNvSpPr>
            <a:spLocks noChangeArrowheads="1"/>
          </p:cNvSpPr>
          <p:nvPr/>
        </p:nvSpPr>
        <p:spPr bwMode="auto">
          <a:xfrm>
            <a:off x="6400800" y="4159250"/>
            <a:ext cx="1981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600" b="1">
                <a:latin typeface="Courier New" pitchFamily="49" charset="0"/>
                <a:ea typeface="宋体" charset="-122"/>
              </a:rPr>
              <a:t>USING (id)</a:t>
            </a:r>
          </a:p>
        </p:txBody>
      </p:sp>
      <p:sp>
        <p:nvSpPr>
          <p:cNvPr id="144395" name="Rectangle 10"/>
          <p:cNvSpPr>
            <a:spLocks noChangeArrowheads="1"/>
          </p:cNvSpPr>
          <p:nvPr/>
        </p:nvSpPr>
        <p:spPr bwMode="auto">
          <a:xfrm>
            <a:off x="457200" y="3581400"/>
            <a:ext cx="1524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table_factor</a:t>
            </a:r>
          </a:p>
        </p:txBody>
      </p:sp>
      <p:sp>
        <p:nvSpPr>
          <p:cNvPr id="144396" name="Rectangle 11"/>
          <p:cNvSpPr>
            <a:spLocks noChangeArrowheads="1"/>
          </p:cNvSpPr>
          <p:nvPr/>
        </p:nvSpPr>
        <p:spPr bwMode="auto">
          <a:xfrm>
            <a:off x="2971800" y="3581400"/>
            <a:ext cx="1524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table_factor</a:t>
            </a:r>
          </a:p>
        </p:txBody>
      </p:sp>
      <p:sp>
        <p:nvSpPr>
          <p:cNvPr id="144397" name="Rectangle 12"/>
          <p:cNvSpPr>
            <a:spLocks noChangeArrowheads="1"/>
          </p:cNvSpPr>
          <p:nvPr/>
        </p:nvSpPr>
        <p:spPr bwMode="auto">
          <a:xfrm>
            <a:off x="4876800" y="3581400"/>
            <a:ext cx="1524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table_factor</a:t>
            </a:r>
          </a:p>
        </p:txBody>
      </p:sp>
      <p:sp>
        <p:nvSpPr>
          <p:cNvPr id="144398" name="Rectangle 13"/>
          <p:cNvSpPr>
            <a:spLocks noChangeArrowheads="1"/>
          </p:cNvSpPr>
          <p:nvPr/>
        </p:nvSpPr>
        <p:spPr bwMode="auto">
          <a:xfrm>
            <a:off x="3733800" y="2971800"/>
            <a:ext cx="182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>
                <a:solidFill>
                  <a:srgbClr val="990000"/>
                </a:solidFill>
                <a:latin typeface="Courier New" pitchFamily="49" charset="0"/>
                <a:ea typeface="宋体" charset="-122"/>
              </a:rPr>
              <a:t>table_reference</a:t>
            </a:r>
          </a:p>
        </p:txBody>
      </p:sp>
      <p:cxnSp>
        <p:nvCxnSpPr>
          <p:cNvPr id="144399" name="AutoShape 14"/>
          <p:cNvCxnSpPr>
            <a:cxnSpLocks noChangeShapeType="1"/>
            <a:stCxn id="144390" idx="0"/>
            <a:endCxn id="144395" idx="2"/>
          </p:cNvCxnSpPr>
          <p:nvPr/>
        </p:nvCxnSpPr>
        <p:spPr bwMode="auto">
          <a:xfrm flipV="1">
            <a:off x="1219200" y="3886200"/>
            <a:ext cx="0" cy="2730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44400" name="AutoShape 15"/>
          <p:cNvCxnSpPr>
            <a:cxnSpLocks noChangeShapeType="1"/>
            <a:stCxn id="144391" idx="0"/>
            <a:endCxn id="144396" idx="2"/>
          </p:cNvCxnSpPr>
          <p:nvPr/>
        </p:nvCxnSpPr>
        <p:spPr bwMode="auto">
          <a:xfrm flipV="1">
            <a:off x="3733800" y="3886200"/>
            <a:ext cx="0" cy="2730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44401" name="AutoShape 16"/>
          <p:cNvCxnSpPr>
            <a:cxnSpLocks noChangeShapeType="1"/>
            <a:stCxn id="144393" idx="0"/>
            <a:endCxn id="144397" idx="2"/>
          </p:cNvCxnSpPr>
          <p:nvPr/>
        </p:nvCxnSpPr>
        <p:spPr bwMode="auto">
          <a:xfrm flipV="1">
            <a:off x="5638800" y="3886200"/>
            <a:ext cx="0" cy="2730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44402" name="AutoShape 17"/>
          <p:cNvCxnSpPr>
            <a:cxnSpLocks noChangeShapeType="1"/>
            <a:stCxn id="144396" idx="0"/>
            <a:endCxn id="144398" idx="2"/>
          </p:cNvCxnSpPr>
          <p:nvPr/>
        </p:nvCxnSpPr>
        <p:spPr bwMode="auto">
          <a:xfrm flipV="1">
            <a:off x="3733800" y="3276600"/>
            <a:ext cx="914400" cy="304800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144403" name="AutoShape 18"/>
          <p:cNvCxnSpPr>
            <a:cxnSpLocks noChangeShapeType="1"/>
            <a:stCxn id="144397" idx="0"/>
            <a:endCxn id="144398" idx="2"/>
          </p:cNvCxnSpPr>
          <p:nvPr/>
        </p:nvCxnSpPr>
        <p:spPr bwMode="auto">
          <a:xfrm flipH="1" flipV="1">
            <a:off x="4648200" y="3276600"/>
            <a:ext cx="990600" cy="304800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144404" name="AutoShape 19"/>
          <p:cNvCxnSpPr>
            <a:cxnSpLocks noChangeShapeType="1"/>
            <a:stCxn id="144392" idx="0"/>
            <a:endCxn id="144398" idx="2"/>
          </p:cNvCxnSpPr>
          <p:nvPr/>
        </p:nvCxnSpPr>
        <p:spPr bwMode="auto">
          <a:xfrm flipV="1">
            <a:off x="4648200" y="3276600"/>
            <a:ext cx="0" cy="882650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</p:cxnSp>
      <p:sp>
        <p:nvSpPr>
          <p:cNvPr id="144405" name="Rectangle 20"/>
          <p:cNvSpPr>
            <a:spLocks noChangeArrowheads="1"/>
          </p:cNvSpPr>
          <p:nvPr/>
        </p:nvSpPr>
        <p:spPr bwMode="auto">
          <a:xfrm>
            <a:off x="6477000" y="3581400"/>
            <a:ext cx="182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>
                <a:latin typeface="Courier New" pitchFamily="49" charset="0"/>
                <a:ea typeface="宋体" charset="-122"/>
              </a:rPr>
              <a:t>join_condition</a:t>
            </a:r>
          </a:p>
        </p:txBody>
      </p:sp>
      <p:cxnSp>
        <p:nvCxnSpPr>
          <p:cNvPr id="144406" name="AutoShape 21"/>
          <p:cNvCxnSpPr>
            <a:cxnSpLocks noChangeShapeType="1"/>
            <a:stCxn id="144394" idx="0"/>
            <a:endCxn id="144405" idx="2"/>
          </p:cNvCxnSpPr>
          <p:nvPr/>
        </p:nvCxnSpPr>
        <p:spPr bwMode="auto">
          <a:xfrm flipV="1">
            <a:off x="7391400" y="3886200"/>
            <a:ext cx="0" cy="2730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44407" name="Rectangle 22"/>
          <p:cNvSpPr>
            <a:spLocks noChangeArrowheads="1"/>
          </p:cNvSpPr>
          <p:nvPr/>
        </p:nvSpPr>
        <p:spPr bwMode="auto">
          <a:xfrm>
            <a:off x="2895600" y="2209800"/>
            <a:ext cx="182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>
                <a:solidFill>
                  <a:srgbClr val="990000"/>
                </a:solidFill>
                <a:latin typeface="Courier New" pitchFamily="49" charset="0"/>
                <a:ea typeface="宋体" charset="-122"/>
              </a:rPr>
              <a:t>table_reference</a:t>
            </a:r>
          </a:p>
        </p:txBody>
      </p:sp>
      <p:cxnSp>
        <p:nvCxnSpPr>
          <p:cNvPr id="144408" name="AutoShape 23"/>
          <p:cNvCxnSpPr>
            <a:cxnSpLocks noChangeShapeType="1"/>
            <a:stCxn id="144395" idx="0"/>
            <a:endCxn id="144407" idx="2"/>
          </p:cNvCxnSpPr>
          <p:nvPr/>
        </p:nvCxnSpPr>
        <p:spPr bwMode="auto">
          <a:xfrm flipV="1">
            <a:off x="1219200" y="2514600"/>
            <a:ext cx="2590800" cy="1066800"/>
          </a:xfrm>
          <a:prstGeom prst="straightConnector1">
            <a:avLst/>
          </a:prstGeom>
          <a:noFill/>
          <a:ln w="9525">
            <a:solidFill>
              <a:srgbClr val="00FF00"/>
            </a:solidFill>
            <a:round/>
            <a:headEnd/>
            <a:tailEnd/>
          </a:ln>
        </p:spPr>
      </p:cxnSp>
      <p:cxnSp>
        <p:nvCxnSpPr>
          <p:cNvPr id="144409" name="AutoShape 24"/>
          <p:cNvCxnSpPr>
            <a:cxnSpLocks noChangeShapeType="1"/>
            <a:stCxn id="144389" idx="0"/>
            <a:endCxn id="144407" idx="2"/>
          </p:cNvCxnSpPr>
          <p:nvPr/>
        </p:nvCxnSpPr>
        <p:spPr bwMode="auto">
          <a:xfrm flipV="1">
            <a:off x="2590800" y="2514600"/>
            <a:ext cx="1219200" cy="1644650"/>
          </a:xfrm>
          <a:prstGeom prst="straightConnector1">
            <a:avLst/>
          </a:prstGeom>
          <a:noFill/>
          <a:ln w="9525">
            <a:solidFill>
              <a:srgbClr val="00FF00"/>
            </a:solidFill>
            <a:round/>
            <a:headEnd/>
            <a:tailEnd/>
          </a:ln>
        </p:spPr>
      </p:cxnSp>
      <p:cxnSp>
        <p:nvCxnSpPr>
          <p:cNvPr id="144410" name="AutoShape 25"/>
          <p:cNvCxnSpPr>
            <a:cxnSpLocks noChangeShapeType="1"/>
            <a:stCxn id="144398" idx="0"/>
            <a:endCxn id="144407" idx="2"/>
          </p:cNvCxnSpPr>
          <p:nvPr/>
        </p:nvCxnSpPr>
        <p:spPr bwMode="auto">
          <a:xfrm flipH="1" flipV="1">
            <a:off x="3810000" y="2514600"/>
            <a:ext cx="838200" cy="457200"/>
          </a:xfrm>
          <a:prstGeom prst="straightConnector1">
            <a:avLst/>
          </a:prstGeom>
          <a:noFill/>
          <a:ln w="9525">
            <a:solidFill>
              <a:srgbClr val="00FF00"/>
            </a:solidFill>
            <a:round/>
            <a:headEnd/>
            <a:tailEnd/>
          </a:ln>
        </p:spPr>
      </p:cxnSp>
      <p:cxnSp>
        <p:nvCxnSpPr>
          <p:cNvPr id="144411" name="AutoShape 26"/>
          <p:cNvCxnSpPr>
            <a:cxnSpLocks noChangeShapeType="1"/>
            <a:stCxn id="144405" idx="0"/>
            <a:endCxn id="144407" idx="2"/>
          </p:cNvCxnSpPr>
          <p:nvPr/>
        </p:nvCxnSpPr>
        <p:spPr bwMode="auto">
          <a:xfrm flipH="1" flipV="1">
            <a:off x="3810000" y="2514600"/>
            <a:ext cx="3581400" cy="1066800"/>
          </a:xfrm>
          <a:prstGeom prst="straightConnector1">
            <a:avLst/>
          </a:prstGeom>
          <a:noFill/>
          <a:ln w="9525">
            <a:solidFill>
              <a:srgbClr val="00FF00"/>
            </a:solidFill>
            <a:round/>
            <a:headEnd/>
            <a:tailEnd/>
          </a:ln>
        </p:spPr>
      </p:cxnSp>
      <p:sp>
        <p:nvSpPr>
          <p:cNvPr id="144412" name="Rectangle 27"/>
          <p:cNvSpPr>
            <a:spLocks noChangeArrowheads="1"/>
          </p:cNvSpPr>
          <p:nvPr/>
        </p:nvSpPr>
        <p:spPr bwMode="auto">
          <a:xfrm>
            <a:off x="457200" y="4800600"/>
            <a:ext cx="1524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>
                <a:solidFill>
                  <a:schemeClr val="bg2"/>
                </a:solidFill>
                <a:latin typeface="Courier New" pitchFamily="49" charset="0"/>
                <a:ea typeface="宋体" charset="-122"/>
              </a:rPr>
              <a:t>table_factor</a:t>
            </a:r>
          </a:p>
        </p:txBody>
      </p:sp>
      <p:sp>
        <p:nvSpPr>
          <p:cNvPr id="144413" name="Rectangle 28"/>
          <p:cNvSpPr>
            <a:spLocks noChangeArrowheads="1"/>
          </p:cNvSpPr>
          <p:nvPr/>
        </p:nvSpPr>
        <p:spPr bwMode="auto">
          <a:xfrm>
            <a:off x="2971800" y="4800600"/>
            <a:ext cx="1524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>
                <a:solidFill>
                  <a:schemeClr val="bg2"/>
                </a:solidFill>
                <a:latin typeface="Courier New" pitchFamily="49" charset="0"/>
                <a:ea typeface="宋体" charset="-122"/>
              </a:rPr>
              <a:t>table_factor</a:t>
            </a:r>
          </a:p>
        </p:txBody>
      </p:sp>
      <p:sp>
        <p:nvSpPr>
          <p:cNvPr id="144414" name="Rectangle 29"/>
          <p:cNvSpPr>
            <a:spLocks noChangeArrowheads="1"/>
          </p:cNvSpPr>
          <p:nvPr/>
        </p:nvSpPr>
        <p:spPr bwMode="auto">
          <a:xfrm>
            <a:off x="4876800" y="4800600"/>
            <a:ext cx="1524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>
                <a:solidFill>
                  <a:schemeClr val="bg2"/>
                </a:solidFill>
                <a:latin typeface="Courier New" pitchFamily="49" charset="0"/>
                <a:ea typeface="宋体" charset="-122"/>
              </a:rPr>
              <a:t>table_factor</a:t>
            </a:r>
          </a:p>
        </p:txBody>
      </p:sp>
      <p:sp>
        <p:nvSpPr>
          <p:cNvPr id="144415" name="Rectangle 30"/>
          <p:cNvSpPr>
            <a:spLocks noChangeArrowheads="1"/>
          </p:cNvSpPr>
          <p:nvPr/>
        </p:nvSpPr>
        <p:spPr bwMode="auto">
          <a:xfrm>
            <a:off x="6477000" y="4800600"/>
            <a:ext cx="182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>
                <a:solidFill>
                  <a:schemeClr val="bg2"/>
                </a:solidFill>
                <a:latin typeface="Courier New" pitchFamily="49" charset="0"/>
                <a:ea typeface="宋体" charset="-122"/>
              </a:rPr>
              <a:t>join_condition</a:t>
            </a:r>
          </a:p>
        </p:txBody>
      </p:sp>
      <p:sp>
        <p:nvSpPr>
          <p:cNvPr id="144416" name="Rectangle 31"/>
          <p:cNvSpPr>
            <a:spLocks noChangeArrowheads="1"/>
          </p:cNvSpPr>
          <p:nvPr/>
        </p:nvSpPr>
        <p:spPr bwMode="auto">
          <a:xfrm>
            <a:off x="228600" y="1549400"/>
            <a:ext cx="666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1400">
                <a:solidFill>
                  <a:srgbClr val="FF0000"/>
                </a:solidFill>
                <a:ea typeface="宋体" charset="-122"/>
              </a:rPr>
              <a:t>规则</a:t>
            </a:r>
            <a:r>
              <a:rPr lang="en-US" altLang="zh-CN">
                <a:solidFill>
                  <a:srgbClr val="FF0000"/>
                </a:solidFill>
                <a:ea typeface="宋体" charset="-122"/>
              </a:rPr>
              <a:t>1</a:t>
            </a:r>
          </a:p>
        </p:txBody>
      </p:sp>
      <p:sp>
        <p:nvSpPr>
          <p:cNvPr id="144417" name="Rectangle 32"/>
          <p:cNvSpPr>
            <a:spLocks noChangeArrowheads="1"/>
          </p:cNvSpPr>
          <p:nvPr/>
        </p:nvSpPr>
        <p:spPr bwMode="auto">
          <a:xfrm>
            <a:off x="228600" y="1778000"/>
            <a:ext cx="666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1400">
                <a:solidFill>
                  <a:srgbClr val="00FF00"/>
                </a:solidFill>
                <a:ea typeface="宋体" charset="-122"/>
              </a:rPr>
              <a:t>规则</a:t>
            </a:r>
            <a:r>
              <a:rPr lang="en-US" altLang="zh-CN">
                <a:solidFill>
                  <a:srgbClr val="00FF00"/>
                </a:solidFill>
                <a:ea typeface="宋体" charset="-122"/>
              </a:rPr>
              <a:t>2</a:t>
            </a:r>
          </a:p>
        </p:txBody>
      </p:sp>
      <p:cxnSp>
        <p:nvCxnSpPr>
          <p:cNvPr id="144418" name="AutoShape 33"/>
          <p:cNvCxnSpPr>
            <a:cxnSpLocks noChangeShapeType="1"/>
            <a:stCxn id="144412" idx="0"/>
            <a:endCxn id="144390" idx="2"/>
          </p:cNvCxnSpPr>
          <p:nvPr/>
        </p:nvCxnSpPr>
        <p:spPr bwMode="auto">
          <a:xfrm flipV="1">
            <a:off x="1219200" y="4495800"/>
            <a:ext cx="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44419" name="AutoShape 34"/>
          <p:cNvCxnSpPr>
            <a:cxnSpLocks noChangeShapeType="1"/>
            <a:stCxn id="144413" idx="0"/>
            <a:endCxn id="144391" idx="2"/>
          </p:cNvCxnSpPr>
          <p:nvPr/>
        </p:nvCxnSpPr>
        <p:spPr bwMode="auto">
          <a:xfrm flipV="1">
            <a:off x="3733800" y="4495800"/>
            <a:ext cx="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44420" name="AutoShape 35"/>
          <p:cNvCxnSpPr>
            <a:cxnSpLocks noChangeShapeType="1"/>
            <a:stCxn id="144414" idx="0"/>
            <a:endCxn id="144393" idx="2"/>
          </p:cNvCxnSpPr>
          <p:nvPr/>
        </p:nvCxnSpPr>
        <p:spPr bwMode="auto">
          <a:xfrm flipV="1">
            <a:off x="5638800" y="4495800"/>
            <a:ext cx="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44421" name="AutoShape 36"/>
          <p:cNvCxnSpPr>
            <a:cxnSpLocks noChangeShapeType="1"/>
            <a:stCxn id="144415" idx="0"/>
            <a:endCxn id="144394" idx="2"/>
          </p:cNvCxnSpPr>
          <p:nvPr/>
        </p:nvCxnSpPr>
        <p:spPr bwMode="auto">
          <a:xfrm flipV="1">
            <a:off x="7391400" y="4495800"/>
            <a:ext cx="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44422" name="Rectangle 37"/>
          <p:cNvSpPr>
            <a:spLocks noChangeArrowheads="1"/>
          </p:cNvSpPr>
          <p:nvPr/>
        </p:nvSpPr>
        <p:spPr bwMode="auto">
          <a:xfrm>
            <a:off x="3733800" y="5486400"/>
            <a:ext cx="182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>
                <a:solidFill>
                  <a:schemeClr val="bg2"/>
                </a:solidFill>
                <a:latin typeface="Courier New" pitchFamily="49" charset="0"/>
                <a:ea typeface="宋体" charset="-122"/>
              </a:rPr>
              <a:t>table_reference</a:t>
            </a:r>
          </a:p>
        </p:txBody>
      </p:sp>
      <p:cxnSp>
        <p:nvCxnSpPr>
          <p:cNvPr id="144423" name="AutoShape 38"/>
          <p:cNvCxnSpPr>
            <a:cxnSpLocks noChangeShapeType="1"/>
            <a:stCxn id="144422" idx="0"/>
            <a:endCxn id="144392" idx="2"/>
          </p:cNvCxnSpPr>
          <p:nvPr/>
        </p:nvCxnSpPr>
        <p:spPr bwMode="auto">
          <a:xfrm flipV="1">
            <a:off x="4648200" y="4495800"/>
            <a:ext cx="0" cy="990600"/>
          </a:xfrm>
          <a:prstGeom prst="straightConnector1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</p:spPr>
      </p:cxnSp>
      <p:cxnSp>
        <p:nvCxnSpPr>
          <p:cNvPr id="144424" name="AutoShape 39"/>
          <p:cNvCxnSpPr>
            <a:cxnSpLocks noChangeShapeType="1"/>
            <a:stCxn id="144422" idx="0"/>
            <a:endCxn id="144414" idx="2"/>
          </p:cNvCxnSpPr>
          <p:nvPr/>
        </p:nvCxnSpPr>
        <p:spPr bwMode="auto">
          <a:xfrm flipV="1">
            <a:off x="4648200" y="5105400"/>
            <a:ext cx="990600" cy="381000"/>
          </a:xfrm>
          <a:prstGeom prst="straightConnector1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</p:spPr>
      </p:cxnSp>
      <p:cxnSp>
        <p:nvCxnSpPr>
          <p:cNvPr id="144425" name="AutoShape 40"/>
          <p:cNvCxnSpPr>
            <a:cxnSpLocks noChangeShapeType="1"/>
            <a:stCxn id="144422" idx="0"/>
            <a:endCxn id="144413" idx="2"/>
          </p:cNvCxnSpPr>
          <p:nvPr/>
        </p:nvCxnSpPr>
        <p:spPr bwMode="auto">
          <a:xfrm flipH="1" flipV="1">
            <a:off x="3733800" y="5105400"/>
            <a:ext cx="914400" cy="381000"/>
          </a:xfrm>
          <a:prstGeom prst="straightConnector1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</p:spPr>
      </p:cxnSp>
      <p:cxnSp>
        <p:nvCxnSpPr>
          <p:cNvPr id="144426" name="AutoShape 41"/>
          <p:cNvCxnSpPr>
            <a:cxnSpLocks noChangeShapeType="1"/>
            <a:stCxn id="144422" idx="0"/>
            <a:endCxn id="144415" idx="2"/>
          </p:cNvCxnSpPr>
          <p:nvPr/>
        </p:nvCxnSpPr>
        <p:spPr bwMode="auto">
          <a:xfrm flipV="1">
            <a:off x="4648200" y="5105400"/>
            <a:ext cx="2743200" cy="381000"/>
          </a:xfrm>
          <a:prstGeom prst="straightConnector1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</p:spPr>
      </p:cxnSp>
      <p:sp>
        <p:nvSpPr>
          <p:cNvPr id="144427" name="Rectangle 42"/>
          <p:cNvSpPr>
            <a:spLocks noChangeArrowheads="1"/>
          </p:cNvSpPr>
          <p:nvPr/>
        </p:nvSpPr>
        <p:spPr bwMode="auto">
          <a:xfrm>
            <a:off x="1981200" y="6096000"/>
            <a:ext cx="182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400">
                <a:solidFill>
                  <a:schemeClr val="bg2"/>
                </a:solidFill>
                <a:latin typeface="Courier New" pitchFamily="49" charset="0"/>
                <a:ea typeface="宋体" charset="-122"/>
              </a:rPr>
              <a:t>table_reference</a:t>
            </a:r>
          </a:p>
        </p:txBody>
      </p:sp>
      <p:cxnSp>
        <p:nvCxnSpPr>
          <p:cNvPr id="144428" name="AutoShape 43"/>
          <p:cNvCxnSpPr>
            <a:cxnSpLocks noChangeShapeType="1"/>
            <a:stCxn id="144412" idx="2"/>
            <a:endCxn id="144427" idx="0"/>
          </p:cNvCxnSpPr>
          <p:nvPr/>
        </p:nvCxnSpPr>
        <p:spPr bwMode="auto">
          <a:xfrm>
            <a:off x="1219200" y="5105400"/>
            <a:ext cx="1676400" cy="990600"/>
          </a:xfrm>
          <a:prstGeom prst="straightConnector1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</p:spPr>
      </p:cxnSp>
      <p:cxnSp>
        <p:nvCxnSpPr>
          <p:cNvPr id="144429" name="AutoShape 44"/>
          <p:cNvCxnSpPr>
            <a:cxnSpLocks noChangeShapeType="1"/>
            <a:stCxn id="144389" idx="2"/>
            <a:endCxn id="144427" idx="0"/>
          </p:cNvCxnSpPr>
          <p:nvPr/>
        </p:nvCxnSpPr>
        <p:spPr bwMode="auto">
          <a:xfrm>
            <a:off x="2590800" y="4495800"/>
            <a:ext cx="304800" cy="1600200"/>
          </a:xfrm>
          <a:prstGeom prst="straightConnector1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</p:spPr>
      </p:cxnSp>
      <p:cxnSp>
        <p:nvCxnSpPr>
          <p:cNvPr id="144430" name="AutoShape 45"/>
          <p:cNvCxnSpPr>
            <a:cxnSpLocks noChangeShapeType="1"/>
            <a:stCxn id="144422" idx="2"/>
            <a:endCxn id="144427" idx="0"/>
          </p:cNvCxnSpPr>
          <p:nvPr/>
        </p:nvCxnSpPr>
        <p:spPr bwMode="auto">
          <a:xfrm flipH="1">
            <a:off x="2895600" y="5791200"/>
            <a:ext cx="1752600" cy="304800"/>
          </a:xfrm>
          <a:prstGeom prst="straightConnector1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</p:spPr>
      </p:cxnSp>
      <p:cxnSp>
        <p:nvCxnSpPr>
          <p:cNvPr id="144431" name="AutoShape 46"/>
          <p:cNvCxnSpPr>
            <a:cxnSpLocks noChangeShapeType="1"/>
            <a:stCxn id="144432" idx="1"/>
            <a:endCxn id="144427" idx="0"/>
          </p:cNvCxnSpPr>
          <p:nvPr/>
        </p:nvCxnSpPr>
        <p:spPr bwMode="auto">
          <a:xfrm flipH="1">
            <a:off x="2895600" y="5622925"/>
            <a:ext cx="5029200" cy="473075"/>
          </a:xfrm>
          <a:prstGeom prst="straightConnector1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</p:spPr>
      </p:cxnSp>
      <p:sp>
        <p:nvSpPr>
          <p:cNvPr id="144432" name="Rectangle 47"/>
          <p:cNvSpPr>
            <a:spLocks noChangeArrowheads="1"/>
          </p:cNvSpPr>
          <p:nvPr/>
        </p:nvSpPr>
        <p:spPr bwMode="auto">
          <a:xfrm>
            <a:off x="7924800" y="5454650"/>
            <a:ext cx="9906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600" b="1">
                <a:solidFill>
                  <a:schemeClr val="bg2"/>
                </a:solidFill>
                <a:latin typeface="Times New Roman" pitchFamily="18" charset="0"/>
                <a:ea typeface="宋体" charset="-122"/>
              </a:rPr>
              <a:t>ERROR!</a:t>
            </a:r>
          </a:p>
        </p:txBody>
      </p:sp>
      <p:sp>
        <p:nvSpPr>
          <p:cNvPr id="144433" name="Rectangle 48"/>
          <p:cNvSpPr>
            <a:spLocks noChangeArrowheads="1"/>
          </p:cNvSpPr>
          <p:nvPr/>
        </p:nvSpPr>
        <p:spPr bwMode="auto">
          <a:xfrm>
            <a:off x="4876800" y="3062288"/>
            <a:ext cx="666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1400">
                <a:solidFill>
                  <a:srgbClr val="FF0000"/>
                </a:solidFill>
                <a:ea typeface="宋体" charset="-122"/>
              </a:rPr>
              <a:t>规则</a:t>
            </a:r>
            <a:r>
              <a:rPr lang="en-US" altLang="zh-CN">
                <a:solidFill>
                  <a:srgbClr val="FF0000"/>
                </a:solidFill>
                <a:ea typeface="宋体" charset="-122"/>
              </a:rPr>
              <a:t>1</a:t>
            </a:r>
          </a:p>
        </p:txBody>
      </p:sp>
      <p:sp>
        <p:nvSpPr>
          <p:cNvPr id="144434" name="Rectangle 49"/>
          <p:cNvSpPr>
            <a:spLocks noChangeArrowheads="1"/>
          </p:cNvSpPr>
          <p:nvPr/>
        </p:nvSpPr>
        <p:spPr bwMode="auto">
          <a:xfrm>
            <a:off x="3733800" y="5257800"/>
            <a:ext cx="666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1400">
                <a:solidFill>
                  <a:schemeClr val="bg2"/>
                </a:solidFill>
                <a:ea typeface="宋体" charset="-122"/>
              </a:rPr>
              <a:t>规则</a:t>
            </a:r>
            <a:r>
              <a:rPr lang="en-US" altLang="zh-CN">
                <a:solidFill>
                  <a:schemeClr val="bg2"/>
                </a:solidFill>
                <a:ea typeface="宋体" charset="-122"/>
              </a:rPr>
              <a:t>1</a:t>
            </a:r>
          </a:p>
        </p:txBody>
      </p:sp>
      <p:sp>
        <p:nvSpPr>
          <p:cNvPr id="144435" name="Rectangle 50"/>
          <p:cNvSpPr>
            <a:spLocks noChangeArrowheads="1"/>
          </p:cNvSpPr>
          <p:nvPr/>
        </p:nvSpPr>
        <p:spPr bwMode="auto">
          <a:xfrm>
            <a:off x="2838450" y="2376488"/>
            <a:ext cx="666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1400">
                <a:solidFill>
                  <a:srgbClr val="00FF00"/>
                </a:solidFill>
                <a:ea typeface="宋体" charset="-122"/>
              </a:rPr>
              <a:t>规则</a:t>
            </a:r>
            <a:r>
              <a:rPr lang="en-US" altLang="zh-CN">
                <a:solidFill>
                  <a:srgbClr val="00FF00"/>
                </a:solidFill>
                <a:ea typeface="宋体" charset="-122"/>
              </a:rPr>
              <a:t>2</a:t>
            </a:r>
          </a:p>
        </p:txBody>
      </p:sp>
      <p:sp>
        <p:nvSpPr>
          <p:cNvPr id="144436" name="Rectangle 51"/>
          <p:cNvSpPr>
            <a:spLocks noChangeArrowheads="1"/>
          </p:cNvSpPr>
          <p:nvPr/>
        </p:nvSpPr>
        <p:spPr bwMode="auto">
          <a:xfrm>
            <a:off x="1981200" y="5881688"/>
            <a:ext cx="666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1400">
                <a:solidFill>
                  <a:schemeClr val="bg2"/>
                </a:solidFill>
                <a:ea typeface="宋体" charset="-122"/>
              </a:rPr>
              <a:t>规则</a:t>
            </a:r>
            <a:r>
              <a:rPr lang="en-US" altLang="zh-CN">
                <a:solidFill>
                  <a:schemeClr val="bg2"/>
                </a:solidFill>
                <a:ea typeface="宋体" charset="-122"/>
              </a:rPr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09" name="AutoShape 27"/>
          <p:cNvSpPr>
            <a:spLocks noChangeArrowheads="1"/>
          </p:cNvSpPr>
          <p:nvPr/>
        </p:nvSpPr>
        <p:spPr bwMode="auto">
          <a:xfrm>
            <a:off x="381000" y="2895600"/>
            <a:ext cx="8382000" cy="1905000"/>
          </a:xfrm>
          <a:prstGeom prst="flowChartAlternateProcess">
            <a:avLst/>
          </a:prstGeom>
          <a:solidFill>
            <a:srgbClr val="C0C0C0">
              <a:alpha val="32156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zh-CN">
              <a:ea typeface="宋体" charset="-122"/>
            </a:endParaRPr>
          </a:p>
        </p:txBody>
      </p:sp>
      <p:sp>
        <p:nvSpPr>
          <p:cNvPr id="14541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latin typeface="微软雅黑"/>
                <a:ea typeface="微软雅黑"/>
                <a:cs typeface="微软雅黑"/>
              </a:rPr>
              <a:t>Table References</a:t>
            </a:r>
            <a:r>
              <a:rPr lang="zh-CN" altLang="en-US" smtClean="0">
                <a:latin typeface="微软雅黑"/>
                <a:ea typeface="微软雅黑"/>
                <a:cs typeface="微软雅黑"/>
              </a:rPr>
              <a:t>的表达式特性</a:t>
            </a:r>
          </a:p>
        </p:txBody>
      </p:sp>
      <p:sp>
        <p:nvSpPr>
          <p:cNvPr id="145411" name="Rectangle 4"/>
          <p:cNvSpPr>
            <a:spLocks noChangeArrowheads="1"/>
          </p:cNvSpPr>
          <p:nvPr/>
        </p:nvSpPr>
        <p:spPr bwMode="auto">
          <a:xfrm>
            <a:off x="381000" y="1597025"/>
            <a:ext cx="8077200" cy="106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160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table_references</a:t>
            </a:r>
            <a:r>
              <a:rPr lang="en-US" altLang="zh-CN" sz="1600">
                <a:latin typeface="Courier New" pitchFamily="49" charset="0"/>
                <a:ea typeface="宋体" charset="-122"/>
              </a:rPr>
              <a:t>: </a:t>
            </a:r>
            <a:r>
              <a:rPr lang="en-US" altLang="zh-CN" sz="1600">
                <a:solidFill>
                  <a:srgbClr val="00FF00"/>
                </a:solidFill>
                <a:latin typeface="Courier New" pitchFamily="49" charset="0"/>
                <a:ea typeface="宋体" charset="-122"/>
              </a:rPr>
              <a:t>table_reference</a:t>
            </a:r>
            <a:r>
              <a:rPr lang="en-US" altLang="zh-CN" sz="1600">
                <a:latin typeface="Courier New" pitchFamily="49" charset="0"/>
                <a:ea typeface="宋体" charset="-122"/>
              </a:rPr>
              <a:t> {</a:t>
            </a:r>
            <a:r>
              <a:rPr lang="en-US" altLang="zh-CN" sz="1600" b="1">
                <a:latin typeface="Courier New" pitchFamily="49" charset="0"/>
                <a:ea typeface="宋体" charset="-122"/>
              </a:rPr>
              <a:t>','</a:t>
            </a:r>
            <a:r>
              <a:rPr lang="en-US" altLang="zh-CN" sz="1600">
                <a:latin typeface="Courier New" pitchFamily="49" charset="0"/>
                <a:ea typeface="宋体" charset="-122"/>
              </a:rPr>
              <a:t> </a:t>
            </a:r>
            <a:r>
              <a:rPr lang="en-US" altLang="zh-CN" sz="1600">
                <a:solidFill>
                  <a:srgbClr val="00FF00"/>
                </a:solidFill>
                <a:latin typeface="Courier New" pitchFamily="49" charset="0"/>
                <a:ea typeface="宋体" charset="-122"/>
              </a:rPr>
              <a:t>table_reference</a:t>
            </a:r>
            <a:r>
              <a:rPr lang="en-US" altLang="zh-CN" sz="1600">
                <a:latin typeface="Courier New" pitchFamily="49" charset="0"/>
                <a:ea typeface="宋体" charset="-122"/>
              </a:rPr>
              <a:t>}</a:t>
            </a:r>
          </a:p>
          <a:p>
            <a:r>
              <a:rPr lang="en-US" altLang="zh-CN" sz="1600">
                <a:solidFill>
                  <a:srgbClr val="00FF00"/>
                </a:solidFill>
                <a:latin typeface="Courier New" pitchFamily="49" charset="0"/>
                <a:ea typeface="宋体" charset="-122"/>
              </a:rPr>
              <a:t>table_reference </a:t>
            </a:r>
            <a:r>
              <a:rPr lang="en-US" altLang="zh-CN" sz="1600">
                <a:latin typeface="Courier New" pitchFamily="49" charset="0"/>
                <a:ea typeface="宋体" charset="-122"/>
              </a:rPr>
              <a:t>: </a:t>
            </a:r>
            <a:r>
              <a:rPr lang="en-US" altLang="zh-CN" sz="1600" b="1">
                <a:latin typeface="Courier New" pitchFamily="49" charset="0"/>
                <a:ea typeface="宋体" charset="-122"/>
              </a:rPr>
              <a:t>’(’</a:t>
            </a:r>
            <a:r>
              <a:rPr lang="en-US" altLang="zh-CN" sz="1600">
                <a:latin typeface="Courier New" pitchFamily="49" charset="0"/>
                <a:ea typeface="宋体" charset="-122"/>
              </a:rPr>
              <a:t> </a:t>
            </a:r>
            <a:r>
              <a:rPr lang="en-US" altLang="zh-CN" sz="160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table_references</a:t>
            </a:r>
            <a:r>
              <a:rPr lang="en-US" altLang="zh-CN" sz="1600">
                <a:latin typeface="Courier New" pitchFamily="49" charset="0"/>
                <a:ea typeface="宋体" charset="-122"/>
              </a:rPr>
              <a:t> </a:t>
            </a:r>
            <a:r>
              <a:rPr lang="en-US" altLang="zh-CN" sz="1600" b="1">
                <a:latin typeface="Courier New" pitchFamily="49" charset="0"/>
                <a:ea typeface="宋体" charset="-122"/>
              </a:rPr>
              <a:t>')'</a:t>
            </a:r>
            <a:endParaRPr lang="en-US" altLang="zh-CN" sz="1600">
              <a:latin typeface="Courier New" pitchFamily="49" charset="0"/>
              <a:ea typeface="宋体" charset="-122"/>
            </a:endParaRPr>
          </a:p>
          <a:p>
            <a:r>
              <a:rPr lang="en-US" altLang="zh-CN" sz="1600">
                <a:latin typeface="Courier New" pitchFamily="49" charset="0"/>
                <a:ea typeface="宋体" charset="-122"/>
              </a:rPr>
              <a:t>                | </a:t>
            </a:r>
            <a:r>
              <a:rPr lang="en-US" altLang="zh-CN" sz="1600" b="1">
                <a:latin typeface="Courier New" pitchFamily="49" charset="0"/>
                <a:ea typeface="宋体" charset="-122"/>
              </a:rPr>
              <a:t>’(’</a:t>
            </a:r>
            <a:r>
              <a:rPr lang="en-US" altLang="zh-CN" sz="1600">
                <a:latin typeface="Courier New" pitchFamily="49" charset="0"/>
                <a:ea typeface="宋体" charset="-122"/>
              </a:rPr>
              <a:t> </a:t>
            </a:r>
            <a:r>
              <a:rPr lang="en-US" altLang="zh-CN" sz="1600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query</a:t>
            </a:r>
            <a:r>
              <a:rPr lang="en-US" altLang="zh-CN" sz="1600">
                <a:latin typeface="Courier New" pitchFamily="49" charset="0"/>
                <a:ea typeface="宋体" charset="-122"/>
              </a:rPr>
              <a:t> { </a:t>
            </a:r>
            <a:r>
              <a:rPr lang="en-US" altLang="zh-CN" sz="1600" b="1">
                <a:latin typeface="Courier New" pitchFamily="49" charset="0"/>
                <a:ea typeface="宋体" charset="-122"/>
              </a:rPr>
              <a:t>’UNION’</a:t>
            </a:r>
            <a:r>
              <a:rPr lang="en-US" altLang="zh-CN" sz="1600">
                <a:latin typeface="Courier New" pitchFamily="49" charset="0"/>
                <a:ea typeface="宋体" charset="-122"/>
              </a:rPr>
              <a:t> </a:t>
            </a:r>
            <a:r>
              <a:rPr lang="en-US" altLang="zh-CN" sz="1600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query</a:t>
            </a:r>
            <a:r>
              <a:rPr lang="en-US" altLang="zh-CN" sz="1600">
                <a:latin typeface="Courier New" pitchFamily="49" charset="0"/>
                <a:ea typeface="宋体" charset="-122"/>
              </a:rPr>
              <a:t>} </a:t>
            </a:r>
            <a:r>
              <a:rPr lang="en-US" altLang="zh-CN" sz="1600" b="1">
                <a:latin typeface="Courier New" pitchFamily="49" charset="0"/>
                <a:ea typeface="宋体" charset="-122"/>
              </a:rPr>
              <a:t>’)’</a:t>
            </a:r>
            <a:r>
              <a:rPr lang="en-US" altLang="zh-CN" sz="1600">
                <a:latin typeface="Courier New" pitchFamily="49" charset="0"/>
                <a:ea typeface="宋体" charset="-122"/>
              </a:rPr>
              <a:t> [</a:t>
            </a:r>
            <a:r>
              <a:rPr lang="en-US" altLang="zh-CN" sz="1600" b="1">
                <a:latin typeface="Courier New" pitchFamily="49" charset="0"/>
                <a:ea typeface="宋体" charset="-122"/>
              </a:rPr>
              <a:t>’AS’</a:t>
            </a:r>
            <a:r>
              <a:rPr lang="en-US" altLang="zh-CN" sz="1600">
                <a:latin typeface="Courier New" pitchFamily="49" charset="0"/>
                <a:ea typeface="宋体" charset="-122"/>
              </a:rPr>
              <a:t>] alias </a:t>
            </a:r>
          </a:p>
          <a:p>
            <a:r>
              <a:rPr lang="en-US" altLang="zh-CN" sz="1600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query</a:t>
            </a:r>
            <a:r>
              <a:rPr lang="en-US" altLang="zh-CN" sz="1600">
                <a:latin typeface="Courier New" pitchFamily="49" charset="0"/>
                <a:ea typeface="宋体" charset="-122"/>
              </a:rPr>
              <a:t>           : </a:t>
            </a:r>
            <a:r>
              <a:rPr lang="en-US" altLang="zh-CN" sz="1600" b="1">
                <a:latin typeface="Courier New" pitchFamily="49" charset="0"/>
                <a:ea typeface="宋体" charset="-122"/>
              </a:rPr>
              <a:t>’(’</a:t>
            </a:r>
            <a:r>
              <a:rPr lang="en-US" altLang="zh-CN" sz="1600">
                <a:latin typeface="Courier New" pitchFamily="49" charset="0"/>
                <a:ea typeface="宋体" charset="-122"/>
              </a:rPr>
              <a:t> </a:t>
            </a:r>
            <a:r>
              <a:rPr lang="en-US" altLang="zh-CN" sz="1600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query</a:t>
            </a:r>
            <a:r>
              <a:rPr lang="en-US" altLang="zh-CN" sz="1600">
                <a:latin typeface="Courier New" pitchFamily="49" charset="0"/>
                <a:ea typeface="宋体" charset="-122"/>
              </a:rPr>
              <a:t> </a:t>
            </a:r>
            <a:r>
              <a:rPr lang="en-US" altLang="zh-CN" sz="1600" b="1">
                <a:latin typeface="Courier New" pitchFamily="49" charset="0"/>
                <a:ea typeface="宋体" charset="-122"/>
              </a:rPr>
              <a:t>’)’</a:t>
            </a:r>
            <a:r>
              <a:rPr lang="en-US" altLang="zh-CN" sz="1600">
                <a:latin typeface="Courier New" pitchFamily="49" charset="0"/>
                <a:ea typeface="宋体" charset="-122"/>
              </a:rPr>
              <a:t> | </a:t>
            </a:r>
            <a:r>
              <a:rPr lang="en-US" altLang="zh-CN" sz="1600" b="1">
                <a:latin typeface="Courier New" pitchFamily="49" charset="0"/>
                <a:ea typeface="宋体" charset="-122"/>
              </a:rPr>
              <a:t>’SELECT ...’</a:t>
            </a:r>
          </a:p>
        </p:txBody>
      </p:sp>
      <p:sp>
        <p:nvSpPr>
          <p:cNvPr id="145412" name="Rectangle 5"/>
          <p:cNvSpPr>
            <a:spLocks noChangeArrowheads="1"/>
          </p:cNvSpPr>
          <p:nvPr/>
        </p:nvSpPr>
        <p:spPr bwMode="auto">
          <a:xfrm>
            <a:off x="1447800" y="3125788"/>
            <a:ext cx="7239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>
                <a:latin typeface="Courier New" pitchFamily="49" charset="0"/>
                <a:ea typeface="宋体" charset="-122"/>
              </a:rPr>
              <a:t>( ( select ...) UNOIN (select...) ) AS t1</a:t>
            </a:r>
            <a:endParaRPr lang="en-US" altLang="zh-CN" b="1">
              <a:latin typeface="Courier New" pitchFamily="49" charset="0"/>
              <a:ea typeface="宋体" charset="-122"/>
            </a:endParaRPr>
          </a:p>
        </p:txBody>
      </p:sp>
      <p:sp>
        <p:nvSpPr>
          <p:cNvPr id="145413" name="Rectangle 6"/>
          <p:cNvSpPr>
            <a:spLocks noChangeArrowheads="1"/>
          </p:cNvSpPr>
          <p:nvPr/>
        </p:nvSpPr>
        <p:spPr bwMode="auto">
          <a:xfrm>
            <a:off x="1447800" y="3762375"/>
            <a:ext cx="2667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>
                <a:latin typeface="Courier New" pitchFamily="49" charset="0"/>
                <a:ea typeface="宋体" charset="-122"/>
              </a:rPr>
              <a:t>( ( t1, t2), t3 )</a:t>
            </a:r>
            <a:endParaRPr lang="en-US" altLang="zh-CN" b="1">
              <a:latin typeface="Courier New" pitchFamily="49" charset="0"/>
              <a:ea typeface="宋体" charset="-122"/>
            </a:endParaRPr>
          </a:p>
        </p:txBody>
      </p:sp>
      <p:sp>
        <p:nvSpPr>
          <p:cNvPr id="145414" name="Rectangle 7"/>
          <p:cNvSpPr>
            <a:spLocks noChangeArrowheads="1"/>
          </p:cNvSpPr>
          <p:nvPr/>
        </p:nvSpPr>
        <p:spPr bwMode="auto">
          <a:xfrm>
            <a:off x="1447800" y="3138488"/>
            <a:ext cx="304800" cy="990600"/>
          </a:xfrm>
          <a:prstGeom prst="rect">
            <a:avLst/>
          </a:prstGeom>
          <a:noFill/>
          <a:ln w="317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endParaRPr lang="zh-CN" altLang="zh-CN">
              <a:ea typeface="宋体" charset="-122"/>
            </a:endParaRPr>
          </a:p>
        </p:txBody>
      </p:sp>
      <p:sp>
        <p:nvSpPr>
          <p:cNvPr id="145415" name="Line 8"/>
          <p:cNvSpPr>
            <a:spLocks noChangeShapeType="1"/>
          </p:cNvSpPr>
          <p:nvPr/>
        </p:nvSpPr>
        <p:spPr bwMode="auto">
          <a:xfrm flipV="1">
            <a:off x="1524000" y="4129088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5416" name="Rectangle 10"/>
          <p:cNvSpPr>
            <a:spLocks noChangeArrowheads="1"/>
          </p:cNvSpPr>
          <p:nvPr/>
        </p:nvSpPr>
        <p:spPr bwMode="auto">
          <a:xfrm>
            <a:off x="1219200" y="4357688"/>
            <a:ext cx="7175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>
                <a:ea typeface="宋体" charset="-122"/>
              </a:rPr>
              <a:t>LL(1)</a:t>
            </a:r>
          </a:p>
        </p:txBody>
      </p:sp>
      <p:sp>
        <p:nvSpPr>
          <p:cNvPr id="145417" name="Line 11"/>
          <p:cNvSpPr>
            <a:spLocks noChangeShapeType="1"/>
          </p:cNvSpPr>
          <p:nvPr/>
        </p:nvSpPr>
        <p:spPr bwMode="auto">
          <a:xfrm>
            <a:off x="1905000" y="3138488"/>
            <a:ext cx="1600200" cy="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5418" name="Line 12"/>
          <p:cNvSpPr>
            <a:spLocks noChangeShapeType="1"/>
          </p:cNvSpPr>
          <p:nvPr/>
        </p:nvSpPr>
        <p:spPr bwMode="auto">
          <a:xfrm>
            <a:off x="4495800" y="3138488"/>
            <a:ext cx="1524000" cy="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5419" name="Line 13"/>
          <p:cNvSpPr>
            <a:spLocks noChangeShapeType="1"/>
          </p:cNvSpPr>
          <p:nvPr/>
        </p:nvSpPr>
        <p:spPr bwMode="auto">
          <a:xfrm flipV="1">
            <a:off x="1600200" y="3062288"/>
            <a:ext cx="5410200" cy="0"/>
          </a:xfrm>
          <a:prstGeom prst="line">
            <a:avLst/>
          </a:prstGeom>
          <a:noFill/>
          <a:ln w="9525">
            <a:solidFill>
              <a:srgbClr val="00FF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5420" name="Line 14"/>
          <p:cNvSpPr>
            <a:spLocks noChangeShapeType="1"/>
          </p:cNvSpPr>
          <p:nvPr/>
        </p:nvSpPr>
        <p:spPr bwMode="auto">
          <a:xfrm>
            <a:off x="1828800" y="4129088"/>
            <a:ext cx="1143000" cy="0"/>
          </a:xfrm>
          <a:prstGeom prst="line">
            <a:avLst/>
          </a:prstGeom>
          <a:noFill/>
          <a:ln w="9525">
            <a:solidFill>
              <a:srgbClr val="00FF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5421" name="Line 17"/>
          <p:cNvSpPr>
            <a:spLocks noChangeShapeType="1"/>
          </p:cNvSpPr>
          <p:nvPr/>
        </p:nvSpPr>
        <p:spPr bwMode="auto">
          <a:xfrm>
            <a:off x="1600200" y="4281488"/>
            <a:ext cx="2209800" cy="0"/>
          </a:xfrm>
          <a:prstGeom prst="line">
            <a:avLst/>
          </a:prstGeom>
          <a:noFill/>
          <a:ln w="9525">
            <a:solidFill>
              <a:srgbClr val="00FF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5422" name="Line 18"/>
          <p:cNvSpPr>
            <a:spLocks noChangeShapeType="1"/>
          </p:cNvSpPr>
          <p:nvPr/>
        </p:nvSpPr>
        <p:spPr bwMode="auto">
          <a:xfrm>
            <a:off x="2057400" y="4052888"/>
            <a:ext cx="8382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5423" name="Line 19"/>
          <p:cNvSpPr>
            <a:spLocks noChangeShapeType="1"/>
          </p:cNvSpPr>
          <p:nvPr/>
        </p:nvSpPr>
        <p:spPr bwMode="auto">
          <a:xfrm>
            <a:off x="1828800" y="4205288"/>
            <a:ext cx="18288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5424" name="Rectangle 20"/>
          <p:cNvSpPr>
            <a:spLocks noChangeArrowheads="1"/>
          </p:cNvSpPr>
          <p:nvPr/>
        </p:nvSpPr>
        <p:spPr bwMode="auto">
          <a:xfrm>
            <a:off x="628650" y="3813175"/>
            <a:ext cx="6381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1400">
                <a:ea typeface="宋体" charset="-122"/>
              </a:rPr>
              <a:t>规则</a:t>
            </a:r>
            <a:r>
              <a:rPr lang="en-US" altLang="zh-CN" sz="1400">
                <a:ea typeface="宋体" charset="-122"/>
              </a:rPr>
              <a:t>1</a:t>
            </a:r>
            <a:endParaRPr lang="en-US" altLang="zh-CN">
              <a:ea typeface="宋体" charset="-122"/>
            </a:endParaRPr>
          </a:p>
        </p:txBody>
      </p:sp>
      <p:sp>
        <p:nvSpPr>
          <p:cNvPr id="145425" name="Rectangle 21"/>
          <p:cNvSpPr>
            <a:spLocks noChangeArrowheads="1"/>
          </p:cNvSpPr>
          <p:nvPr/>
        </p:nvSpPr>
        <p:spPr bwMode="auto">
          <a:xfrm>
            <a:off x="609600" y="3138488"/>
            <a:ext cx="6381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1400">
                <a:ea typeface="宋体" charset="-122"/>
              </a:rPr>
              <a:t>规则</a:t>
            </a:r>
            <a:r>
              <a:rPr lang="en-US" altLang="zh-CN" sz="1400">
                <a:ea typeface="宋体" charset="-122"/>
              </a:rPr>
              <a:t>2</a:t>
            </a:r>
            <a:endParaRPr lang="en-US" altLang="zh-CN">
              <a:ea typeface="宋体" charset="-122"/>
            </a:endParaRPr>
          </a:p>
        </p:txBody>
      </p:sp>
      <p:sp>
        <p:nvSpPr>
          <p:cNvPr id="145426" name="Rectangle 22"/>
          <p:cNvSpPr>
            <a:spLocks noChangeArrowheads="1"/>
          </p:cNvSpPr>
          <p:nvPr/>
        </p:nvSpPr>
        <p:spPr bwMode="auto">
          <a:xfrm>
            <a:off x="8201025" y="2133600"/>
            <a:ext cx="6381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1400">
                <a:ea typeface="宋体" charset="-122"/>
              </a:rPr>
              <a:t>规则</a:t>
            </a:r>
            <a:r>
              <a:rPr lang="en-US" altLang="zh-CN" sz="1400">
                <a:ea typeface="宋体" charset="-122"/>
              </a:rPr>
              <a:t>2</a:t>
            </a:r>
            <a:endParaRPr lang="en-US" altLang="zh-CN">
              <a:ea typeface="宋体" charset="-122"/>
            </a:endParaRPr>
          </a:p>
        </p:txBody>
      </p:sp>
      <p:sp>
        <p:nvSpPr>
          <p:cNvPr id="145427" name="Rectangle 23"/>
          <p:cNvSpPr>
            <a:spLocks noChangeArrowheads="1"/>
          </p:cNvSpPr>
          <p:nvPr/>
        </p:nvSpPr>
        <p:spPr bwMode="auto">
          <a:xfrm>
            <a:off x="8201025" y="1905000"/>
            <a:ext cx="6381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1400">
                <a:ea typeface="宋体" charset="-122"/>
              </a:rPr>
              <a:t>规则</a:t>
            </a:r>
            <a:r>
              <a:rPr lang="en-US" altLang="zh-CN" sz="1400">
                <a:ea typeface="宋体" charset="-122"/>
              </a:rPr>
              <a:t>1</a:t>
            </a:r>
            <a:endParaRPr lang="en-US" altLang="zh-CN">
              <a:ea typeface="宋体" charset="-122"/>
            </a:endParaRPr>
          </a:p>
        </p:txBody>
      </p:sp>
      <p:sp>
        <p:nvSpPr>
          <p:cNvPr id="145428" name="Rectangle 25"/>
          <p:cNvSpPr>
            <a:spLocks noChangeArrowheads="1"/>
          </p:cNvSpPr>
          <p:nvPr/>
        </p:nvSpPr>
        <p:spPr bwMode="auto">
          <a:xfrm>
            <a:off x="762000" y="5562600"/>
            <a:ext cx="7239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2000">
                <a:latin typeface="Courier New" pitchFamily="49" charset="0"/>
                <a:ea typeface="宋体" charset="-122"/>
              </a:rPr>
              <a:t>expr: </a:t>
            </a:r>
            <a:r>
              <a:rPr lang="en-US" altLang="zh-CN" sz="2000" b="1">
                <a:latin typeface="Courier New" pitchFamily="49" charset="0"/>
                <a:ea typeface="宋体" charset="-122"/>
              </a:rPr>
              <a:t>’(’ </a:t>
            </a:r>
            <a:r>
              <a:rPr lang="en-US" altLang="zh-CN" sz="2000">
                <a:latin typeface="Courier New" pitchFamily="49" charset="0"/>
                <a:ea typeface="宋体" charset="-122"/>
              </a:rPr>
              <a:t>expr </a:t>
            </a:r>
            <a:r>
              <a:rPr lang="en-US" altLang="zh-CN" sz="2000" b="1">
                <a:latin typeface="Courier New" pitchFamily="49" charset="0"/>
                <a:ea typeface="宋体" charset="-122"/>
              </a:rPr>
              <a:t>’)’</a:t>
            </a:r>
            <a:r>
              <a:rPr lang="en-US" altLang="zh-CN" sz="2000">
                <a:latin typeface="Courier New" pitchFamily="49" charset="0"/>
                <a:ea typeface="宋体" charset="-122"/>
              </a:rPr>
              <a:t> | tableRefs | subquery</a:t>
            </a:r>
            <a:endParaRPr lang="en-US" altLang="zh-CN" sz="2000" b="1">
              <a:latin typeface="Courier New" pitchFamily="49" charset="0"/>
              <a:ea typeface="宋体" charset="-122"/>
            </a:endParaRPr>
          </a:p>
        </p:txBody>
      </p:sp>
      <p:sp>
        <p:nvSpPr>
          <p:cNvPr id="145429" name="Rectangle 26"/>
          <p:cNvSpPr>
            <a:spLocks noChangeArrowheads="1"/>
          </p:cNvSpPr>
          <p:nvPr/>
        </p:nvSpPr>
        <p:spPr bwMode="auto">
          <a:xfrm>
            <a:off x="457200" y="5029200"/>
            <a:ext cx="29718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2800">
                <a:latin typeface="Courier New" pitchFamily="49" charset="0"/>
                <a:ea typeface="宋体" charset="-122"/>
              </a:rPr>
              <a:t>类似于表达式：</a:t>
            </a:r>
            <a:endParaRPr lang="zh-CN" altLang="en-US" sz="2800" b="1">
              <a:latin typeface="Courier New" pitchFamily="49" charset="0"/>
              <a:ea typeface="宋体" charset="-122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3" name="Rectangle 19"/>
          <p:cNvSpPr>
            <a:spLocks noChangeArrowheads="1"/>
          </p:cNvSpPr>
          <p:nvPr/>
        </p:nvSpPr>
        <p:spPr bwMode="auto">
          <a:xfrm>
            <a:off x="1295400" y="4572000"/>
            <a:ext cx="6858000" cy="9906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b"/>
          <a:lstStyle/>
          <a:p>
            <a:pPr algn="ctr"/>
            <a:r>
              <a:rPr lang="zh-CN" altLang="en-US">
                <a:latin typeface="微软雅黑"/>
              </a:rPr>
              <a:t>基本元素</a:t>
            </a:r>
          </a:p>
        </p:txBody>
      </p:sp>
      <p:sp>
        <p:nvSpPr>
          <p:cNvPr id="146434" name="Rectangle 25"/>
          <p:cNvSpPr>
            <a:spLocks noChangeArrowheads="1"/>
          </p:cNvSpPr>
          <p:nvPr/>
        </p:nvSpPr>
        <p:spPr bwMode="auto">
          <a:xfrm>
            <a:off x="1295400" y="3429000"/>
            <a:ext cx="5867400" cy="9906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b"/>
          <a:lstStyle/>
          <a:p>
            <a:pPr algn="ctr"/>
            <a:r>
              <a:rPr lang="zh-CN" altLang="en-US">
                <a:latin typeface="微软雅黑"/>
              </a:rPr>
              <a:t>语法元素</a:t>
            </a:r>
          </a:p>
        </p:txBody>
      </p:sp>
      <p:sp>
        <p:nvSpPr>
          <p:cNvPr id="146435" name="Freeform 35"/>
          <p:cNvSpPr>
            <a:spLocks/>
          </p:cNvSpPr>
          <p:nvPr/>
        </p:nvSpPr>
        <p:spPr bwMode="auto">
          <a:xfrm>
            <a:off x="1295400" y="2133600"/>
            <a:ext cx="6858000" cy="2286000"/>
          </a:xfrm>
          <a:custGeom>
            <a:avLst/>
            <a:gdLst>
              <a:gd name="T0" fmla="*/ 2147483647 w 4320"/>
              <a:gd name="T1" fmla="*/ 2147483647 h 1440"/>
              <a:gd name="T2" fmla="*/ 2147483647 w 4320"/>
              <a:gd name="T3" fmla="*/ 2147483647 h 1440"/>
              <a:gd name="T4" fmla="*/ 0 w 4320"/>
              <a:gd name="T5" fmla="*/ 2147483647 h 1440"/>
              <a:gd name="T6" fmla="*/ 0 w 4320"/>
              <a:gd name="T7" fmla="*/ 0 h 1440"/>
              <a:gd name="T8" fmla="*/ 2147483647 w 4320"/>
              <a:gd name="T9" fmla="*/ 0 h 1440"/>
              <a:gd name="T10" fmla="*/ 2147483647 w 4320"/>
              <a:gd name="T11" fmla="*/ 2147483647 h 1440"/>
              <a:gd name="T12" fmla="*/ 2147483647 w 4320"/>
              <a:gd name="T13" fmla="*/ 2147483647 h 144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320"/>
              <a:gd name="T22" fmla="*/ 0 h 1440"/>
              <a:gd name="T23" fmla="*/ 4320 w 4320"/>
              <a:gd name="T24" fmla="*/ 1440 h 144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320" h="1440">
                <a:moveTo>
                  <a:pt x="3744" y="1440"/>
                </a:moveTo>
                <a:lnTo>
                  <a:pt x="3744" y="720"/>
                </a:lnTo>
                <a:lnTo>
                  <a:pt x="0" y="720"/>
                </a:lnTo>
                <a:lnTo>
                  <a:pt x="0" y="0"/>
                </a:lnTo>
                <a:lnTo>
                  <a:pt x="4320" y="0"/>
                </a:lnTo>
                <a:lnTo>
                  <a:pt x="4320" y="1440"/>
                </a:lnTo>
                <a:lnTo>
                  <a:pt x="3744" y="1440"/>
                </a:lnTo>
                <a:close/>
              </a:path>
            </a:pathLst>
          </a:custGeom>
          <a:solidFill>
            <a:srgbClr val="DDDDD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6436" name="Rectangle 1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latin typeface="微软雅黑"/>
                <a:ea typeface="微软雅黑"/>
                <a:cs typeface="微软雅黑"/>
              </a:rPr>
              <a:t>MySQL 5.5 </a:t>
            </a:r>
            <a:r>
              <a:rPr lang="zh-CN" altLang="en-US" smtClean="0">
                <a:latin typeface="微软雅黑"/>
                <a:ea typeface="微软雅黑"/>
                <a:cs typeface="微软雅黑"/>
              </a:rPr>
              <a:t>语法结构</a:t>
            </a:r>
          </a:p>
        </p:txBody>
      </p:sp>
      <p:sp>
        <p:nvSpPr>
          <p:cNvPr id="146437" name="Rectangle 15"/>
          <p:cNvSpPr>
            <a:spLocks noChangeArrowheads="1"/>
          </p:cNvSpPr>
          <p:nvPr/>
        </p:nvSpPr>
        <p:spPr bwMode="auto">
          <a:xfrm>
            <a:off x="1524000" y="4724400"/>
            <a:ext cx="9906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微软雅黑"/>
              </a:rPr>
              <a:t>Identifier</a:t>
            </a:r>
          </a:p>
        </p:txBody>
      </p:sp>
      <p:sp>
        <p:nvSpPr>
          <p:cNvPr id="146438" name="Rectangle 16"/>
          <p:cNvSpPr>
            <a:spLocks noChangeArrowheads="1"/>
          </p:cNvSpPr>
          <p:nvPr/>
        </p:nvSpPr>
        <p:spPr bwMode="auto">
          <a:xfrm>
            <a:off x="2743200" y="4724400"/>
            <a:ext cx="10668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微软雅黑"/>
              </a:rPr>
              <a:t>Keyword</a:t>
            </a:r>
          </a:p>
        </p:txBody>
      </p:sp>
      <p:sp>
        <p:nvSpPr>
          <p:cNvPr id="146439" name="Rectangle 17"/>
          <p:cNvSpPr>
            <a:spLocks noChangeArrowheads="1"/>
          </p:cNvSpPr>
          <p:nvPr/>
        </p:nvSpPr>
        <p:spPr bwMode="auto">
          <a:xfrm>
            <a:off x="5410200" y="4724400"/>
            <a:ext cx="838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微软雅黑"/>
              </a:rPr>
              <a:t>Literal</a:t>
            </a:r>
          </a:p>
        </p:txBody>
      </p:sp>
      <p:sp>
        <p:nvSpPr>
          <p:cNvPr id="146440" name="Rectangle 18"/>
          <p:cNvSpPr>
            <a:spLocks noChangeArrowheads="1"/>
          </p:cNvSpPr>
          <p:nvPr/>
        </p:nvSpPr>
        <p:spPr bwMode="auto">
          <a:xfrm>
            <a:off x="6477000" y="4724400"/>
            <a:ext cx="15240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微软雅黑"/>
              </a:rPr>
              <a:t>Punctuation</a:t>
            </a:r>
          </a:p>
        </p:txBody>
      </p:sp>
      <p:sp>
        <p:nvSpPr>
          <p:cNvPr id="146441" name="Rectangle 20"/>
          <p:cNvSpPr>
            <a:spLocks noChangeArrowheads="1"/>
          </p:cNvSpPr>
          <p:nvPr/>
        </p:nvSpPr>
        <p:spPr bwMode="auto">
          <a:xfrm>
            <a:off x="5867400" y="3581400"/>
            <a:ext cx="1143000" cy="4572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latin typeface="微软雅黑"/>
              </a:rPr>
              <a:t>表达式</a:t>
            </a:r>
          </a:p>
        </p:txBody>
      </p:sp>
      <p:sp>
        <p:nvSpPr>
          <p:cNvPr id="146442" name="Rectangle 21"/>
          <p:cNvSpPr>
            <a:spLocks noChangeArrowheads="1"/>
          </p:cNvSpPr>
          <p:nvPr/>
        </p:nvSpPr>
        <p:spPr bwMode="auto">
          <a:xfrm>
            <a:off x="3810000" y="3581400"/>
            <a:ext cx="1981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微软雅黑"/>
              </a:rPr>
              <a:t>Table References</a:t>
            </a:r>
          </a:p>
        </p:txBody>
      </p:sp>
      <p:sp>
        <p:nvSpPr>
          <p:cNvPr id="146443" name="Rectangle 22"/>
          <p:cNvSpPr>
            <a:spLocks noChangeArrowheads="1"/>
          </p:cNvSpPr>
          <p:nvPr/>
        </p:nvSpPr>
        <p:spPr bwMode="auto">
          <a:xfrm>
            <a:off x="2819400" y="3581400"/>
            <a:ext cx="9144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微软雅黑"/>
              </a:rPr>
              <a:t>Limit</a:t>
            </a:r>
          </a:p>
        </p:txBody>
      </p:sp>
      <p:sp>
        <p:nvSpPr>
          <p:cNvPr id="146444" name="Rectangle 23"/>
          <p:cNvSpPr>
            <a:spLocks noChangeArrowheads="1"/>
          </p:cNvSpPr>
          <p:nvPr/>
        </p:nvSpPr>
        <p:spPr bwMode="auto">
          <a:xfrm>
            <a:off x="1752600" y="3581400"/>
            <a:ext cx="9906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微软雅黑"/>
              </a:rPr>
              <a:t>OrderBy</a:t>
            </a:r>
          </a:p>
        </p:txBody>
      </p:sp>
      <p:sp>
        <p:nvSpPr>
          <p:cNvPr id="146445" name="Rectangle 24"/>
          <p:cNvSpPr>
            <a:spLocks noChangeArrowheads="1"/>
          </p:cNvSpPr>
          <p:nvPr/>
        </p:nvSpPr>
        <p:spPr bwMode="auto">
          <a:xfrm>
            <a:off x="1295400" y="3595688"/>
            <a:ext cx="35083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>
                <a:latin typeface="微软雅黑"/>
              </a:rPr>
              <a:t>...</a:t>
            </a:r>
          </a:p>
        </p:txBody>
      </p:sp>
      <p:sp>
        <p:nvSpPr>
          <p:cNvPr id="146446" name="Rectangle 27"/>
          <p:cNvSpPr>
            <a:spLocks noChangeArrowheads="1"/>
          </p:cNvSpPr>
          <p:nvPr/>
        </p:nvSpPr>
        <p:spPr bwMode="auto">
          <a:xfrm>
            <a:off x="2667000" y="2667000"/>
            <a:ext cx="9906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微软雅黑"/>
              </a:rPr>
              <a:t>Delete</a:t>
            </a:r>
          </a:p>
        </p:txBody>
      </p:sp>
      <p:sp>
        <p:nvSpPr>
          <p:cNvPr id="146447" name="Rectangle 28"/>
          <p:cNvSpPr>
            <a:spLocks noChangeArrowheads="1"/>
          </p:cNvSpPr>
          <p:nvPr/>
        </p:nvSpPr>
        <p:spPr bwMode="auto">
          <a:xfrm>
            <a:off x="3733800" y="2667000"/>
            <a:ext cx="9906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微软雅黑"/>
              </a:rPr>
              <a:t>Update</a:t>
            </a:r>
          </a:p>
        </p:txBody>
      </p:sp>
      <p:sp>
        <p:nvSpPr>
          <p:cNvPr id="146448" name="Rectangle 29"/>
          <p:cNvSpPr>
            <a:spLocks noChangeArrowheads="1"/>
          </p:cNvSpPr>
          <p:nvPr/>
        </p:nvSpPr>
        <p:spPr bwMode="auto">
          <a:xfrm>
            <a:off x="4800600" y="2667000"/>
            <a:ext cx="9906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微软雅黑"/>
              </a:rPr>
              <a:t>Insert</a:t>
            </a:r>
          </a:p>
        </p:txBody>
      </p:sp>
      <p:sp>
        <p:nvSpPr>
          <p:cNvPr id="146449" name="Rectangle 30"/>
          <p:cNvSpPr>
            <a:spLocks noChangeArrowheads="1"/>
          </p:cNvSpPr>
          <p:nvPr/>
        </p:nvSpPr>
        <p:spPr bwMode="auto">
          <a:xfrm>
            <a:off x="5867400" y="2667000"/>
            <a:ext cx="9906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微软雅黑"/>
              </a:rPr>
              <a:t>Replace</a:t>
            </a:r>
          </a:p>
        </p:txBody>
      </p:sp>
      <p:sp>
        <p:nvSpPr>
          <p:cNvPr id="146450" name="Rectangle 31"/>
          <p:cNvSpPr>
            <a:spLocks noChangeArrowheads="1"/>
          </p:cNvSpPr>
          <p:nvPr/>
        </p:nvSpPr>
        <p:spPr bwMode="auto">
          <a:xfrm>
            <a:off x="6934200" y="2667000"/>
            <a:ext cx="9906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微软雅黑"/>
              </a:rPr>
              <a:t>Select</a:t>
            </a:r>
          </a:p>
        </p:txBody>
      </p:sp>
      <p:sp>
        <p:nvSpPr>
          <p:cNvPr id="146451" name="Rectangle 32"/>
          <p:cNvSpPr>
            <a:spLocks noChangeArrowheads="1"/>
          </p:cNvSpPr>
          <p:nvPr/>
        </p:nvSpPr>
        <p:spPr bwMode="auto">
          <a:xfrm>
            <a:off x="7391400" y="3505200"/>
            <a:ext cx="533400" cy="609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微软雅黑"/>
              </a:rPr>
              <a:t>Call</a:t>
            </a:r>
          </a:p>
        </p:txBody>
      </p:sp>
      <p:sp>
        <p:nvSpPr>
          <p:cNvPr id="146452" name="Rectangle 33"/>
          <p:cNvSpPr>
            <a:spLocks noChangeArrowheads="1"/>
          </p:cNvSpPr>
          <p:nvPr/>
        </p:nvSpPr>
        <p:spPr bwMode="auto">
          <a:xfrm>
            <a:off x="1447800" y="2667000"/>
            <a:ext cx="11430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微软雅黑"/>
              </a:rPr>
              <a:t>Set/Show</a:t>
            </a:r>
          </a:p>
        </p:txBody>
      </p:sp>
      <p:sp>
        <p:nvSpPr>
          <p:cNvPr id="146453" name="Rectangle 36"/>
          <p:cNvSpPr>
            <a:spLocks noChangeArrowheads="1"/>
          </p:cNvSpPr>
          <p:nvPr/>
        </p:nvSpPr>
        <p:spPr bwMode="auto">
          <a:xfrm>
            <a:off x="4038600" y="2224088"/>
            <a:ext cx="10763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>
                <a:latin typeface="微软雅黑"/>
              </a:rPr>
              <a:t>SQL</a:t>
            </a:r>
            <a:r>
              <a:rPr lang="zh-CN" altLang="en-US">
                <a:latin typeface="微软雅黑"/>
              </a:rPr>
              <a:t>语句</a:t>
            </a:r>
          </a:p>
        </p:txBody>
      </p:sp>
      <p:sp>
        <p:nvSpPr>
          <p:cNvPr id="146454" name="Rectangle 37"/>
          <p:cNvSpPr>
            <a:spLocks noChangeArrowheads="1"/>
          </p:cNvSpPr>
          <p:nvPr/>
        </p:nvSpPr>
        <p:spPr bwMode="auto">
          <a:xfrm>
            <a:off x="4038600" y="4724400"/>
            <a:ext cx="11430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微软雅黑"/>
              </a:rPr>
              <a:t>Variable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algn="l" eaLnBrk="1" hangingPunct="1"/>
            <a:r>
              <a:rPr lang="zh-CN" altLang="en-US" smtClean="0">
                <a:ea typeface="微软雅黑"/>
                <a:cs typeface="微软雅黑"/>
              </a:rPr>
              <a:t>表达式</a:t>
            </a:r>
          </a:p>
        </p:txBody>
      </p:sp>
      <p:pic>
        <p:nvPicPr>
          <p:cNvPr id="147458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84775" y="152400"/>
            <a:ext cx="3806825" cy="647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7459" name="Rectangle 6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4800600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800" smtClean="0">
                <a:ea typeface="微软雅黑"/>
                <a:cs typeface="微软雅黑"/>
              </a:rPr>
              <a:t>优先级和结合型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smtClean="0">
                <a:latin typeface="宋体" charset="-122"/>
              </a:rPr>
              <a:t>MySQL Manual</a:t>
            </a:r>
            <a:r>
              <a:rPr lang="zh-CN" altLang="en-US" sz="2400" smtClean="0">
                <a:latin typeface="宋体" charset="-122"/>
              </a:rPr>
              <a:t>文档不精确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smtClean="0">
                <a:latin typeface="宋体" charset="-122"/>
              </a:rPr>
              <a:t>文档</a:t>
            </a:r>
            <a:r>
              <a:rPr lang="en-US" altLang="zh-CN" sz="2400" smtClean="0">
                <a:latin typeface="宋体" charset="-122"/>
              </a:rPr>
              <a:t>+</a:t>
            </a:r>
            <a:r>
              <a:rPr lang="zh-CN" altLang="en-US" sz="2400" smtClean="0">
                <a:latin typeface="宋体" charset="-122"/>
              </a:rPr>
              <a:t>实验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800" smtClean="0">
                <a:ea typeface="微软雅黑"/>
                <a:cs typeface="微软雅黑"/>
              </a:rPr>
              <a:t>特殊函数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smtClean="0">
                <a:latin typeface="宋体" charset="-122"/>
              </a:rPr>
              <a:t>Keyword</a:t>
            </a:r>
            <a:r>
              <a:rPr lang="zh-CN" altLang="en-US" sz="2400" smtClean="0">
                <a:latin typeface="宋体" charset="-122"/>
              </a:rPr>
              <a:t>作为函数名：</a:t>
            </a:r>
            <a:r>
              <a:rPr lang="en-US" altLang="zh-CN" sz="2400" smtClean="0">
                <a:latin typeface="宋体" charset="-122"/>
              </a:rPr>
              <a:t>23</a:t>
            </a:r>
            <a:r>
              <a:rPr lang="zh-CN" altLang="en-US" sz="2400" smtClean="0">
                <a:latin typeface="宋体" charset="-122"/>
              </a:rPr>
              <a:t>个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CN" sz="1400" smtClean="0">
                <a:latin typeface="Courier New" pitchFamily="49" charset="0"/>
              </a:rPr>
              <a:t>INSERT('Quadratic', 3, 4, </a:t>
            </a:r>
            <a:br>
              <a:rPr lang="en-US" altLang="zh-CN" sz="1400" smtClean="0">
                <a:latin typeface="Courier New" pitchFamily="49" charset="0"/>
              </a:rPr>
            </a:br>
            <a:r>
              <a:rPr lang="en-US" altLang="zh-CN" sz="1400" smtClean="0">
                <a:latin typeface="Courier New" pitchFamily="49" charset="0"/>
              </a:rPr>
              <a:t>       'What')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smtClean="0"/>
              <a:t>非规则参数列表：</a:t>
            </a:r>
            <a:r>
              <a:rPr lang="en-US" altLang="zh-CN" sz="2400" smtClean="0"/>
              <a:t>13</a:t>
            </a:r>
            <a:r>
              <a:rPr lang="zh-CN" altLang="en-US" sz="2400" smtClean="0"/>
              <a:t>个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CN" sz="1200" smtClean="0">
                <a:latin typeface="Courier New" pitchFamily="49" charset="0"/>
              </a:rPr>
              <a:t>SELECT TRIM(BOTH 'x' FROM 'xxxbarx')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800" smtClean="0">
                <a:latin typeface="微软雅黑"/>
                <a:ea typeface="微软雅黑"/>
                <a:cs typeface="微软雅黑"/>
              </a:rPr>
              <a:t>特殊</a:t>
            </a:r>
            <a:r>
              <a:rPr lang="en-US" altLang="zh-CN" sz="2800" smtClean="0">
                <a:latin typeface="微软雅黑"/>
                <a:ea typeface="微软雅黑"/>
                <a:cs typeface="微软雅黑"/>
              </a:rPr>
              <a:t>Identifier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smtClean="0">
                <a:latin typeface="Courier New" pitchFamily="49" charset="0"/>
              </a:rPr>
              <a:t>1 &gt;= any + 2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smtClean="0">
                <a:latin typeface="Courier New" pitchFamily="49" charset="0"/>
              </a:rPr>
              <a:t>1 &gt;= any (select …)</a:t>
            </a:r>
            <a:r>
              <a:rPr lang="en-US" altLang="zh-CN" sz="2400" smtClean="0"/>
              <a:t> </a:t>
            </a:r>
          </a:p>
          <a:p>
            <a:pPr eaLnBrk="1" hangingPunct="1">
              <a:lnSpc>
                <a:spcPct val="90000"/>
              </a:lnSpc>
            </a:pPr>
            <a:endParaRPr lang="en-US" altLang="zh-CN" sz="28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1" name="Rectangle 4"/>
          <p:cNvSpPr>
            <a:spLocks noChangeArrowheads="1"/>
          </p:cNvSpPr>
          <p:nvPr/>
        </p:nvSpPr>
        <p:spPr bwMode="auto">
          <a:xfrm>
            <a:off x="533400" y="609600"/>
            <a:ext cx="8229600" cy="5929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1000" b="1">
                <a:solidFill>
                  <a:srgbClr val="FF0000"/>
                </a:solidFill>
                <a:latin typeface="Times New Roman" pitchFamily="18" charset="0"/>
                <a:ea typeface="宋体" charset="-122"/>
              </a:rPr>
              <a:t>simple</a:t>
            </a:r>
            <a:r>
              <a:rPr lang="en-US" altLang="zh-CN" sz="1000">
                <a:latin typeface="Courier New" pitchFamily="49" charset="0"/>
                <a:ea typeface="宋体" charset="-122"/>
              </a:rPr>
              <a:t>: </a:t>
            </a:r>
            <a:r>
              <a:rPr lang="en-US" altLang="zh-CN" sz="1000">
                <a:solidFill>
                  <a:srgbClr val="FF3300"/>
                </a:solidFill>
                <a:latin typeface="Courier New" pitchFamily="49" charset="0"/>
                <a:ea typeface="宋体" charset="-122"/>
              </a:rPr>
              <a:t>"select id from </a:t>
            </a:r>
            <a:r>
              <a:rPr lang="en-US" altLang="zh-CN" sz="1000" b="1">
                <a:solidFill>
                  <a:srgbClr val="FF3300"/>
                </a:solidFill>
                <a:latin typeface="Courier New" pitchFamily="49" charset="0"/>
                <a:ea typeface="宋体" charset="-122"/>
              </a:rPr>
              <a:t>t1</a:t>
            </a:r>
            <a:r>
              <a:rPr lang="en-US" altLang="zh-CN" sz="1000">
                <a:solidFill>
                  <a:srgbClr val="FF3300"/>
                </a:solidFill>
                <a:latin typeface="Courier New" pitchFamily="49" charset="0"/>
                <a:ea typeface="宋体" charset="-122"/>
              </a:rPr>
              <a:t>“</a:t>
            </a:r>
          </a:p>
          <a:p>
            <a:endParaRPr lang="en-US" altLang="zh-CN" sz="1000">
              <a:latin typeface="Courier New" pitchFamily="49" charset="0"/>
              <a:ea typeface="宋体" charset="-122"/>
            </a:endParaRPr>
          </a:p>
          <a:p>
            <a:r>
              <a:rPr lang="en-US" altLang="zh-CN" sz="1000" b="1">
                <a:solidFill>
                  <a:srgbClr val="0000CC"/>
                </a:solidFill>
                <a:latin typeface="Times New Roman" pitchFamily="18" charset="0"/>
                <a:ea typeface="宋体" charset="-122"/>
              </a:rPr>
              <a:t>short</a:t>
            </a:r>
            <a:r>
              <a:rPr lang="en-US" altLang="zh-CN" sz="1000">
                <a:solidFill>
                  <a:srgbClr val="0000CC"/>
                </a:solidFill>
                <a:latin typeface="Courier New" pitchFamily="49" charset="0"/>
                <a:ea typeface="宋体" charset="-122"/>
              </a:rPr>
              <a:t>: " seLEcT id, member_id , image_path \t , image_size , STATUS, gmt_modified from </a:t>
            </a:r>
            <a:r>
              <a:rPr lang="en-US" altLang="zh-CN" sz="1000" b="1">
                <a:solidFill>
                  <a:srgbClr val="0000CC"/>
                </a:solidFill>
                <a:latin typeface="Courier New" pitchFamily="49" charset="0"/>
                <a:ea typeface="宋体" charset="-122"/>
              </a:rPr>
              <a:t>wp_image</a:t>
            </a:r>
            <a:r>
              <a:rPr lang="en-US" altLang="zh-CN" sz="1000">
                <a:solidFill>
                  <a:srgbClr val="0000CC"/>
                </a:solidFill>
                <a:latin typeface="Courier New" pitchFamily="49" charset="0"/>
                <a:ea typeface="宋体" charset="-122"/>
              </a:rPr>
              <a:t> wheRe \t\t\n id = ? AND member_id\t=\t-123.456"</a:t>
            </a:r>
          </a:p>
          <a:p>
            <a:endParaRPr lang="en-US" altLang="zh-CN" sz="1000">
              <a:solidFill>
                <a:srgbClr val="0000CC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1000" b="1">
                <a:solidFill>
                  <a:srgbClr val="FF0000"/>
                </a:solidFill>
                <a:latin typeface="Times New Roman" pitchFamily="18" charset="0"/>
                <a:ea typeface="宋体" charset="-122"/>
              </a:rPr>
              <a:t>short2</a:t>
            </a:r>
            <a:r>
              <a:rPr lang="en-US" altLang="zh-CN" sz="100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: "select count(*)            from </a:t>
            </a:r>
            <a:r>
              <a:rPr lang="en-US" altLang="zh-CN" sz="1000" b="1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MESSAGE_REC_RECORD</a:t>
            </a:r>
            <a:r>
              <a:rPr lang="en-US" altLang="zh-CN" sz="100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                 where RECEIVER_VACOUNT          =?                                      and                             RECEIVER_ID in                          (                                       ?                       ,                                       ?                       ,                                       ?                       ,                                       ?                       ,                                       ?                       ,                                       ?                       ,                                       ?                       ,                                       ?                       ,                                       ?                       ,                                       ?                       ,                                       ?                       ,                                       ?                       )                                                                       and                             RECEIVER_STATUS in                              (                                       ?                       ,                                       ?                       )                                                                                               and                             SPAM_STATUS in                          (                         ?    )  and    DELETE_STATUS = ?"</a:t>
            </a:r>
          </a:p>
          <a:p>
            <a:endParaRPr lang="en-US" altLang="zh-CN" sz="1000">
              <a:solidFill>
                <a:srgbClr val="FF0000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1000" b="1">
                <a:solidFill>
                  <a:srgbClr val="0000CC"/>
                </a:solidFill>
                <a:latin typeface="Times New Roman" pitchFamily="18" charset="0"/>
                <a:ea typeface="宋体" charset="-122"/>
              </a:rPr>
              <a:t>long</a:t>
            </a:r>
            <a:r>
              <a:rPr lang="en-US" altLang="zh-CN" sz="1000">
                <a:solidFill>
                  <a:srgbClr val="0000CC"/>
                </a:solidFill>
                <a:latin typeface="Courier New" pitchFamily="49" charset="0"/>
                <a:ea typeface="宋体" charset="-122"/>
              </a:rPr>
              <a:t>: "select ID, GMT_CREATE, GMT_MODIFIED, INBOX_FOLDER_ID, MESSAGE_ID, FEEDBACK_TYPE, TARGET_ID, TRADE_ID, SUBJECT, SENDER_ID, SENDER_TYPE, S_DISPLAY_NAME, SENDER_STATUS, RECEIVER_ID, RECEIVER_TYPE, R_DISPLAY_NAME, RECEIVER_STATUS, SPAM_STATUS, REPLY_STATUS, ATTACHMENT_STATUS, SENDER_COUNTRY, RECEIVER_COUNTRY,APP_FROM,APP_TO,APP_SOURCE,SENDER_VACOUNT,RECEIVER_VACOUNT, DISTRIBUTE_STATUS,ORG_RECEIVER_ID,CUSTOMER_ID,OPERATOR_ID,OPERATOR_NAME,FOLLOW_STATUS,DELETE_STATUS,FOLLOW_TIME,BATCH_COUNT from </a:t>
            </a:r>
            <a:r>
              <a:rPr lang="en-US" altLang="zh-CN" sz="1000" b="1">
                <a:solidFill>
                  <a:srgbClr val="0000CC"/>
                </a:solidFill>
                <a:latin typeface="Courier New" pitchFamily="49" charset="0"/>
                <a:ea typeface="宋体" charset="-122"/>
              </a:rPr>
              <a:t>MESSAGE_REC_RECORD</a:t>
            </a:r>
            <a:r>
              <a:rPr lang="en-US" altLang="zh-CN" sz="1000">
                <a:solidFill>
                  <a:srgbClr val="0000CC"/>
                </a:solidFill>
                <a:latin typeface="Courier New" pitchFamily="49" charset="0"/>
                <a:ea typeface="宋体" charset="-122"/>
              </a:rPr>
              <a:t> where RECEIVER_VACOUNT =? and ID = ?"</a:t>
            </a:r>
          </a:p>
          <a:p>
            <a:endParaRPr lang="en-US" altLang="zh-CN" sz="1000">
              <a:solidFill>
                <a:srgbClr val="0000CC"/>
              </a:solidFill>
              <a:latin typeface="Courier New" pitchFamily="49" charset="0"/>
              <a:ea typeface="宋体" charset="-122"/>
            </a:endParaRPr>
          </a:p>
          <a:p>
            <a:r>
              <a:rPr lang="en-US" altLang="zh-CN" sz="1000" b="1">
                <a:solidFill>
                  <a:srgbClr val="FF0000"/>
                </a:solidFill>
                <a:latin typeface="Times New Roman" pitchFamily="18" charset="0"/>
                <a:ea typeface="宋体" charset="-122"/>
              </a:rPr>
              <a:t>long2</a:t>
            </a:r>
            <a:r>
              <a:rPr lang="en-US" altLang="zh-CN" sz="100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: "select A.ID , A.GMT_CREATE , A.GMT_MODIFIED , A.MESSAGE_ID , A.SENDER_COMPANY_ID, A.SENDER_ID, A.SENDER_IP, A.SENDER_TYPE, A.SENDER_COMPANY , A.SENDER_ADDRESS , A.SENDER_COUNTRY , A.SENDER_ZIP , A.SENDER_PHONE , A.SENDER_FAX , A.SENDER_EMAIL , A.RECEIVER_COMPANY_ID, A.RECEIVER_ID, A.RECEIVER_TYPE, A.RECEIVER_COMPANY , A.RECEIVER_ADDRESS , A.RECEIVER_COUNTRY , A.RECEIVER_ZIP , A.RECEIVER_PHONE , A.RECEIVER_FAX , A.RECEIVER_EMAIL , A.TARGET_ID, A.FEEDBACK_TYPE, A.FEEDBACK_CATEGORY, A.SUBJECT, A.APP_SOURCE , A.ATTACHMENT_IDS , B.REMARK , A.S_DISPLAY_NAME , A.R_DISPLAY_NAME , A.RELATED_FEEDBACK_IDS , A.NOTICE_MESSAGE , B.PROPERTIES, A.APP_FROM,APP_TO,A.SENDER_VACOUNT,A.RECEIVER_VACOUNT from </a:t>
            </a:r>
            <a:r>
              <a:rPr lang="en-US" altLang="zh-CN" sz="1000" b="1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MESSAGE_DETAIL A,MESSAGE_DETAIL_REMARK_PROPERTIES B</a:t>
            </a:r>
            <a:r>
              <a:rPr lang="en-US" altLang="zh-CN" sz="100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 where A.ID = ? and A.ID = B.ID"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 altLang="zh-CN" sz="1000">
              <a:latin typeface="Courier New" pitchFamily="49" charset="0"/>
              <a:ea typeface="宋体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ea typeface="微软雅黑"/>
                <a:cs typeface="微软雅黑"/>
              </a:rPr>
              <a:t>性能对比</a:t>
            </a:r>
          </a:p>
        </p:txBody>
      </p:sp>
      <p:graphicFrame>
        <p:nvGraphicFramePr>
          <p:cNvPr id="467003" name="Group 59"/>
          <p:cNvGraphicFramePr>
            <a:graphicFrameLocks noGrp="1"/>
          </p:cNvGraphicFramePr>
          <p:nvPr>
            <p:ph idx="4294967295"/>
          </p:nvPr>
        </p:nvGraphicFramePr>
        <p:xfrm>
          <a:off x="1195388" y="1600200"/>
          <a:ext cx="6881812" cy="4686300"/>
        </p:xfrm>
        <a:graphic>
          <a:graphicData uri="http://schemas.openxmlformats.org/drawingml/2006/table">
            <a:tbl>
              <a:tblPr/>
              <a:tblGrid>
                <a:gridCol w="1376362"/>
                <a:gridCol w="1376363"/>
                <a:gridCol w="1376362"/>
                <a:gridCol w="1376363"/>
                <a:gridCol w="1376362"/>
              </a:tblGrid>
              <a:tr h="754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楷体" pitchFamily="49" charset="-122"/>
                          <a:ea typeface="楷体" pitchFamily="49" charset="-122"/>
                        </a:rPr>
                        <a:t>单位</a:t>
                      </a:r>
                      <a:br>
                        <a:rPr kumimoji="0" lang="zh-CN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楷体" pitchFamily="49" charset="-122"/>
                          <a:ea typeface="楷体" pitchFamily="49" charset="-122"/>
                        </a:rPr>
                      </a:br>
                      <a:r>
                        <a:rPr kumimoji="0" lang="zh-CN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楷体" pitchFamily="49" charset="-122"/>
                          <a:ea typeface="楷体" pitchFamily="49" charset="-122"/>
                        </a:rPr>
                        <a:t>微秒</a:t>
                      </a:r>
                      <a:endParaRPr kumimoji="0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楷体" pitchFamily="49" charset="-122"/>
                        <a:ea typeface="楷体" pitchFamily="49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F5F5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第一版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F5F5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第二版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F5F5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手写</a:t>
                      </a:r>
                      <a:r>
                        <a:rPr kumimoji="0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v2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F5F5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手写</a:t>
                      </a:r>
                      <a:r>
                        <a:rPr kumimoji="0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v2</a:t>
                      </a:r>
                      <a:br>
                        <a:rPr kumimoji="0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</a:br>
                      <a:r>
                        <a:rPr kumimoji="0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sqlgen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F5F5F"/>
                    </a:solidFill>
                  </a:tcPr>
                </a:tc>
              </a:tr>
              <a:tr h="754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Simple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25.6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1.76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0.9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</a:tr>
              <a:tr h="754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Short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43.2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8.6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4.1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5.2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754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Short2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63.4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17.6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9.8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</a:tr>
              <a:tr h="754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Long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75.2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25.9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14.6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7254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Long2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94.4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35.4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22.3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latin typeface="微软雅黑"/>
                <a:ea typeface="微软雅黑"/>
                <a:cs typeface="微软雅黑"/>
              </a:rPr>
              <a:t>GC</a:t>
            </a:r>
            <a:r>
              <a:rPr lang="zh-CN" altLang="en-US" smtClean="0">
                <a:latin typeface="微软雅黑"/>
                <a:ea typeface="微软雅黑"/>
                <a:cs typeface="微软雅黑"/>
              </a:rPr>
              <a:t>对比</a:t>
            </a:r>
          </a:p>
        </p:txBody>
      </p:sp>
      <p:graphicFrame>
        <p:nvGraphicFramePr>
          <p:cNvPr id="470045" name="Group 29"/>
          <p:cNvGraphicFramePr>
            <a:graphicFrameLocks noGrp="1"/>
          </p:cNvGraphicFramePr>
          <p:nvPr>
            <p:ph idx="4294967295"/>
          </p:nvPr>
        </p:nvGraphicFramePr>
        <p:xfrm>
          <a:off x="457200" y="1600200"/>
          <a:ext cx="8153400" cy="3487738"/>
        </p:xfrm>
        <a:graphic>
          <a:graphicData uri="http://schemas.openxmlformats.org/drawingml/2006/table">
            <a:tbl>
              <a:tblPr/>
              <a:tblGrid>
                <a:gridCol w="2719388"/>
                <a:gridCol w="2717800"/>
                <a:gridCol w="2716212"/>
              </a:tblGrid>
              <a:tr h="703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F5F5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YGC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F5F5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YGCT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F5F5F"/>
                    </a:solidFill>
                  </a:tcPr>
                </a:tc>
              </a:tr>
              <a:tr h="703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第一版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2838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0.803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</a:tr>
              <a:tr h="701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第二版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410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0.116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703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第三版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229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0.057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第三版</a:t>
                      </a:r>
                      <a:r>
                        <a:rPr kumimoji="0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+sql</a:t>
                      </a:r>
                      <a:r>
                        <a:rPr kumimoji="0" lang="zh-CN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生成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263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0.074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1" name="Rectangle 25"/>
          <p:cNvSpPr>
            <a:spLocks noChangeArrowheads="1"/>
          </p:cNvSpPr>
          <p:nvPr/>
        </p:nvSpPr>
        <p:spPr bwMode="auto">
          <a:xfrm>
            <a:off x="2971800" y="1752600"/>
            <a:ext cx="2590800" cy="2667000"/>
          </a:xfrm>
          <a:prstGeom prst="rect">
            <a:avLst/>
          </a:prstGeom>
          <a:solidFill>
            <a:schemeClr val="bg1">
              <a:alpha val="83136"/>
            </a:schemeClr>
          </a:solidFill>
          <a:ln w="317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/>
          <a:lstStyle/>
          <a:p>
            <a:pPr algn="ctr"/>
            <a:r>
              <a:rPr lang="en-US" altLang="zh-CN" b="1" i="1">
                <a:solidFill>
                  <a:schemeClr val="bg1"/>
                </a:solidFill>
                <a:latin typeface="Times New Roman" pitchFamily="18" charset="0"/>
                <a:ea typeface="宋体" charset="-122"/>
              </a:rPr>
              <a:t>Processor(1)</a:t>
            </a:r>
          </a:p>
        </p:txBody>
      </p:sp>
      <p:sp>
        <p:nvSpPr>
          <p:cNvPr id="153602" name="Rectangle 26"/>
          <p:cNvSpPr>
            <a:spLocks noChangeArrowheads="1"/>
          </p:cNvSpPr>
          <p:nvPr/>
        </p:nvSpPr>
        <p:spPr bwMode="auto">
          <a:xfrm>
            <a:off x="6019800" y="1752600"/>
            <a:ext cx="2590800" cy="2667000"/>
          </a:xfrm>
          <a:prstGeom prst="rect">
            <a:avLst/>
          </a:prstGeom>
          <a:solidFill>
            <a:schemeClr val="bg1">
              <a:alpha val="83136"/>
            </a:schemeClr>
          </a:solidFill>
          <a:ln w="317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/>
          <a:lstStyle/>
          <a:p>
            <a:pPr algn="ctr"/>
            <a:r>
              <a:rPr lang="en-US" altLang="zh-CN" b="1" i="1">
                <a:solidFill>
                  <a:schemeClr val="bg1"/>
                </a:solidFill>
                <a:latin typeface="Times New Roman" pitchFamily="18" charset="0"/>
                <a:ea typeface="宋体" charset="-122"/>
              </a:rPr>
              <a:t>Processor(n)</a:t>
            </a:r>
          </a:p>
        </p:txBody>
      </p:sp>
      <p:sp>
        <p:nvSpPr>
          <p:cNvPr id="153603" name="AutoShape 2"/>
          <p:cNvSpPr>
            <a:spLocks noChangeArrowheads="1"/>
          </p:cNvSpPr>
          <p:nvPr/>
        </p:nvSpPr>
        <p:spPr bwMode="auto">
          <a:xfrm>
            <a:off x="4267200" y="5943600"/>
            <a:ext cx="1447800" cy="533400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ea typeface="宋体" charset="-122"/>
              </a:rPr>
              <a:t>MySQL</a:t>
            </a:r>
          </a:p>
        </p:txBody>
      </p:sp>
      <p:sp>
        <p:nvSpPr>
          <p:cNvPr id="153604" name="AutoShape 3"/>
          <p:cNvSpPr>
            <a:spLocks noChangeArrowheads="1"/>
          </p:cNvSpPr>
          <p:nvPr/>
        </p:nvSpPr>
        <p:spPr bwMode="auto">
          <a:xfrm>
            <a:off x="5943600" y="5943600"/>
            <a:ext cx="1447800" cy="533400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ea typeface="宋体" charset="-122"/>
              </a:rPr>
              <a:t>MySQL</a:t>
            </a:r>
          </a:p>
        </p:txBody>
      </p:sp>
      <p:sp>
        <p:nvSpPr>
          <p:cNvPr id="153605" name="AutoShape 4"/>
          <p:cNvSpPr>
            <a:spLocks noChangeArrowheads="1"/>
          </p:cNvSpPr>
          <p:nvPr/>
        </p:nvSpPr>
        <p:spPr bwMode="auto">
          <a:xfrm>
            <a:off x="7620000" y="5943600"/>
            <a:ext cx="1447800" cy="533400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ea typeface="宋体" charset="-122"/>
              </a:rPr>
              <a:t>MySQL</a:t>
            </a:r>
          </a:p>
        </p:txBody>
      </p:sp>
      <p:sp>
        <p:nvSpPr>
          <p:cNvPr id="153606" name="Rectangle 5"/>
          <p:cNvSpPr>
            <a:spLocks noChangeArrowheads="1"/>
          </p:cNvSpPr>
          <p:nvPr/>
        </p:nvSpPr>
        <p:spPr bwMode="auto">
          <a:xfrm>
            <a:off x="2362200" y="1676400"/>
            <a:ext cx="6477000" cy="3657600"/>
          </a:xfrm>
          <a:prstGeom prst="rect">
            <a:avLst/>
          </a:prstGeom>
          <a:solidFill>
            <a:schemeClr val="bg1">
              <a:alpha val="58823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3607" name="Rectangle 6"/>
          <p:cNvSpPr>
            <a:spLocks noGrp="1" noChangeArrowheads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algn="l" eaLnBrk="1" hangingPunct="1"/>
            <a:r>
              <a:rPr lang="en-US" altLang="zh-CN" smtClean="0"/>
              <a:t>Cobar</a:t>
            </a:r>
            <a:r>
              <a:rPr lang="zh-CN" altLang="en-US" smtClean="0">
                <a:ea typeface="微软雅黑"/>
                <a:cs typeface="微软雅黑"/>
              </a:rPr>
              <a:t>结构</a:t>
            </a:r>
          </a:p>
        </p:txBody>
      </p:sp>
      <p:sp>
        <p:nvSpPr>
          <p:cNvPr id="153608" name="Rectangle 7"/>
          <p:cNvSpPr>
            <a:spLocks noChangeArrowheads="1"/>
          </p:cNvSpPr>
          <p:nvPr/>
        </p:nvSpPr>
        <p:spPr bwMode="auto">
          <a:xfrm>
            <a:off x="2514600" y="1371600"/>
            <a:ext cx="62484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Front-end Communication</a:t>
            </a:r>
          </a:p>
        </p:txBody>
      </p:sp>
      <p:sp>
        <p:nvSpPr>
          <p:cNvPr id="153609" name="Rectangle 9"/>
          <p:cNvSpPr>
            <a:spLocks noChangeArrowheads="1"/>
          </p:cNvSpPr>
          <p:nvPr/>
        </p:nvSpPr>
        <p:spPr bwMode="auto">
          <a:xfrm>
            <a:off x="3657600" y="304800"/>
            <a:ext cx="48006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Application1</a:t>
            </a:r>
          </a:p>
        </p:txBody>
      </p:sp>
      <p:sp>
        <p:nvSpPr>
          <p:cNvPr id="153610" name="AutoShape 10"/>
          <p:cNvSpPr>
            <a:spLocks noChangeArrowheads="1"/>
          </p:cNvSpPr>
          <p:nvPr/>
        </p:nvSpPr>
        <p:spPr bwMode="auto">
          <a:xfrm>
            <a:off x="4191000" y="6019800"/>
            <a:ext cx="1447800" cy="533400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ea typeface="宋体" charset="-122"/>
              </a:rPr>
              <a:t>MySQL</a:t>
            </a:r>
          </a:p>
        </p:txBody>
      </p:sp>
      <p:sp>
        <p:nvSpPr>
          <p:cNvPr id="153611" name="AutoShape 11"/>
          <p:cNvSpPr>
            <a:spLocks noChangeArrowheads="1"/>
          </p:cNvSpPr>
          <p:nvPr/>
        </p:nvSpPr>
        <p:spPr bwMode="auto">
          <a:xfrm>
            <a:off x="4800600" y="5486400"/>
            <a:ext cx="304800" cy="609600"/>
          </a:xfrm>
          <a:prstGeom prst="upDownArrow">
            <a:avLst>
              <a:gd name="adj1" fmla="val 42704"/>
              <a:gd name="adj2" fmla="val 5625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/>
            <a:endParaRPr lang="zh-CN" altLang="en-US"/>
          </a:p>
        </p:txBody>
      </p:sp>
      <p:grpSp>
        <p:nvGrpSpPr>
          <p:cNvPr id="153612" name="Group 12"/>
          <p:cNvGrpSpPr>
            <a:grpSpLocks/>
          </p:cNvGrpSpPr>
          <p:nvPr/>
        </p:nvGrpSpPr>
        <p:grpSpPr bwMode="auto">
          <a:xfrm>
            <a:off x="5105400" y="685800"/>
            <a:ext cx="2209800" cy="762000"/>
            <a:chOff x="3120" y="576"/>
            <a:chExt cx="1392" cy="480"/>
          </a:xfrm>
        </p:grpSpPr>
        <p:sp>
          <p:nvSpPr>
            <p:cNvPr id="153650" name="AutoShape 13"/>
            <p:cNvSpPr>
              <a:spLocks noChangeArrowheads="1"/>
            </p:cNvSpPr>
            <p:nvPr/>
          </p:nvSpPr>
          <p:spPr bwMode="auto">
            <a:xfrm>
              <a:off x="3504" y="576"/>
              <a:ext cx="576" cy="480"/>
            </a:xfrm>
            <a:prstGeom prst="upDownArrow">
              <a:avLst>
                <a:gd name="adj1" fmla="val 50694"/>
                <a:gd name="adj2" fmla="val 31667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anchor="ctr"/>
            <a:lstStyle/>
            <a:p>
              <a:pPr algn="ctr"/>
              <a:endParaRPr lang="zh-CN" altLang="zh-CN">
                <a:ea typeface="宋体" charset="-122"/>
              </a:endParaRPr>
            </a:p>
          </p:txBody>
        </p:sp>
        <p:sp>
          <p:nvSpPr>
            <p:cNvPr id="153651" name="Text Box 14"/>
            <p:cNvSpPr txBox="1">
              <a:spLocks noChangeArrowheads="1"/>
            </p:cNvSpPr>
            <p:nvPr/>
          </p:nvSpPr>
          <p:spPr bwMode="auto">
            <a:xfrm>
              <a:off x="3120" y="681"/>
              <a:ext cx="1392" cy="231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i="1">
                  <a:latin typeface="Times New Roman" pitchFamily="18" charset="0"/>
                  <a:ea typeface="宋体" charset="-122"/>
                </a:rPr>
                <a:t>MySQL Protocol</a:t>
              </a:r>
            </a:p>
          </p:txBody>
        </p:sp>
      </p:grpSp>
      <p:sp>
        <p:nvSpPr>
          <p:cNvPr id="153613" name="AutoShape 15"/>
          <p:cNvSpPr>
            <a:spLocks noChangeArrowheads="1"/>
          </p:cNvSpPr>
          <p:nvPr/>
        </p:nvSpPr>
        <p:spPr bwMode="auto">
          <a:xfrm>
            <a:off x="5867400" y="6019800"/>
            <a:ext cx="1447800" cy="533400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ea typeface="宋体" charset="-122"/>
              </a:rPr>
              <a:t>MySQL</a:t>
            </a:r>
          </a:p>
        </p:txBody>
      </p:sp>
      <p:sp>
        <p:nvSpPr>
          <p:cNvPr id="153614" name="AutoShape 16"/>
          <p:cNvSpPr>
            <a:spLocks noChangeArrowheads="1"/>
          </p:cNvSpPr>
          <p:nvPr/>
        </p:nvSpPr>
        <p:spPr bwMode="auto">
          <a:xfrm>
            <a:off x="6477000" y="5486400"/>
            <a:ext cx="304800" cy="609600"/>
          </a:xfrm>
          <a:prstGeom prst="upDownArrow">
            <a:avLst>
              <a:gd name="adj1" fmla="val 42704"/>
              <a:gd name="adj2" fmla="val 5625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/>
            <a:endParaRPr lang="zh-CN" altLang="en-US"/>
          </a:p>
        </p:txBody>
      </p:sp>
      <p:sp>
        <p:nvSpPr>
          <p:cNvPr id="153615" name="AutoShape 17"/>
          <p:cNvSpPr>
            <a:spLocks noChangeArrowheads="1"/>
          </p:cNvSpPr>
          <p:nvPr/>
        </p:nvSpPr>
        <p:spPr bwMode="auto">
          <a:xfrm>
            <a:off x="7543800" y="6019800"/>
            <a:ext cx="1447800" cy="533400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ea typeface="宋体" charset="-122"/>
              </a:rPr>
              <a:t>MySQL</a:t>
            </a:r>
          </a:p>
        </p:txBody>
      </p:sp>
      <p:sp>
        <p:nvSpPr>
          <p:cNvPr id="153616" name="AutoShape 18"/>
          <p:cNvSpPr>
            <a:spLocks noChangeArrowheads="1"/>
          </p:cNvSpPr>
          <p:nvPr/>
        </p:nvSpPr>
        <p:spPr bwMode="auto">
          <a:xfrm>
            <a:off x="8153400" y="5486400"/>
            <a:ext cx="304800" cy="609600"/>
          </a:xfrm>
          <a:prstGeom prst="upDownArrow">
            <a:avLst>
              <a:gd name="adj1" fmla="val 42704"/>
              <a:gd name="adj2" fmla="val 5625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/>
            <a:endParaRPr lang="zh-CN" altLang="en-US"/>
          </a:p>
        </p:txBody>
      </p:sp>
      <p:sp>
        <p:nvSpPr>
          <p:cNvPr id="153617" name="Rectangle 20"/>
          <p:cNvSpPr>
            <a:spLocks noChangeArrowheads="1"/>
          </p:cNvSpPr>
          <p:nvPr/>
        </p:nvSpPr>
        <p:spPr bwMode="auto">
          <a:xfrm rot="10800000" flipV="1">
            <a:off x="1828800" y="2057400"/>
            <a:ext cx="990600" cy="3124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400">
                <a:ea typeface="宋体" charset="-122"/>
              </a:rPr>
              <a:t>Monitor</a:t>
            </a:r>
            <a:br>
              <a:rPr lang="en-US" altLang="zh-CN" sz="1400">
                <a:ea typeface="宋体" charset="-122"/>
              </a:rPr>
            </a:br>
            <a:endParaRPr lang="en-US" altLang="zh-CN" sz="1400">
              <a:ea typeface="宋体" charset="-122"/>
            </a:endParaRPr>
          </a:p>
          <a:p>
            <a:pPr algn="ctr"/>
            <a:r>
              <a:rPr lang="en-US" altLang="zh-CN" sz="1400">
                <a:ea typeface="宋体" charset="-122"/>
              </a:rPr>
              <a:t>Configure</a:t>
            </a:r>
          </a:p>
        </p:txBody>
      </p:sp>
      <p:sp>
        <p:nvSpPr>
          <p:cNvPr id="153618" name="AutoShape 22"/>
          <p:cNvSpPr>
            <a:spLocks noChangeArrowheads="1"/>
          </p:cNvSpPr>
          <p:nvPr/>
        </p:nvSpPr>
        <p:spPr bwMode="auto">
          <a:xfrm>
            <a:off x="2590800" y="5943600"/>
            <a:ext cx="1447800" cy="533400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ea typeface="宋体" charset="-122"/>
              </a:rPr>
              <a:t>MySQL</a:t>
            </a:r>
          </a:p>
        </p:txBody>
      </p:sp>
      <p:sp>
        <p:nvSpPr>
          <p:cNvPr id="153619" name="AutoShape 23"/>
          <p:cNvSpPr>
            <a:spLocks noChangeArrowheads="1"/>
          </p:cNvSpPr>
          <p:nvPr/>
        </p:nvSpPr>
        <p:spPr bwMode="auto">
          <a:xfrm>
            <a:off x="2514600" y="6019800"/>
            <a:ext cx="1447800" cy="533400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ea typeface="宋体" charset="-122"/>
              </a:rPr>
              <a:t>MySQL</a:t>
            </a:r>
          </a:p>
        </p:txBody>
      </p:sp>
      <p:sp>
        <p:nvSpPr>
          <p:cNvPr id="153620" name="AutoShape 24"/>
          <p:cNvSpPr>
            <a:spLocks noChangeArrowheads="1"/>
          </p:cNvSpPr>
          <p:nvPr/>
        </p:nvSpPr>
        <p:spPr bwMode="auto">
          <a:xfrm>
            <a:off x="3124200" y="5486400"/>
            <a:ext cx="304800" cy="609600"/>
          </a:xfrm>
          <a:prstGeom prst="upDownArrow">
            <a:avLst>
              <a:gd name="adj1" fmla="val 42704"/>
              <a:gd name="adj2" fmla="val 5625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/>
            <a:endParaRPr lang="zh-CN" altLang="en-US"/>
          </a:p>
        </p:txBody>
      </p:sp>
      <p:sp>
        <p:nvSpPr>
          <p:cNvPr id="153621" name="Rectangle 27"/>
          <p:cNvSpPr>
            <a:spLocks noChangeArrowheads="1"/>
          </p:cNvSpPr>
          <p:nvPr/>
        </p:nvSpPr>
        <p:spPr bwMode="auto">
          <a:xfrm>
            <a:off x="3048000" y="3733800"/>
            <a:ext cx="24384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SQL Executor</a:t>
            </a:r>
          </a:p>
        </p:txBody>
      </p:sp>
      <p:sp>
        <p:nvSpPr>
          <p:cNvPr id="153622" name="Rectangle 28"/>
          <p:cNvSpPr>
            <a:spLocks noChangeArrowheads="1"/>
          </p:cNvSpPr>
          <p:nvPr/>
        </p:nvSpPr>
        <p:spPr bwMode="auto">
          <a:xfrm>
            <a:off x="3048000" y="3048000"/>
            <a:ext cx="13716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SQL Router</a:t>
            </a:r>
          </a:p>
        </p:txBody>
      </p:sp>
      <p:sp>
        <p:nvSpPr>
          <p:cNvPr id="153623" name="Rectangle 29"/>
          <p:cNvSpPr>
            <a:spLocks noChangeArrowheads="1"/>
          </p:cNvSpPr>
          <p:nvPr/>
        </p:nvSpPr>
        <p:spPr bwMode="auto">
          <a:xfrm>
            <a:off x="3048000" y="2362200"/>
            <a:ext cx="13716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SQL Parser</a:t>
            </a:r>
          </a:p>
        </p:txBody>
      </p:sp>
      <p:sp>
        <p:nvSpPr>
          <p:cNvPr id="153624" name="Rectangle 30"/>
          <p:cNvSpPr>
            <a:spLocks noChangeArrowheads="1"/>
          </p:cNvSpPr>
          <p:nvPr/>
        </p:nvSpPr>
        <p:spPr bwMode="auto">
          <a:xfrm>
            <a:off x="4572000" y="2362200"/>
            <a:ext cx="914400" cy="1143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Result</a:t>
            </a:r>
            <a:br>
              <a:rPr lang="en-US" altLang="zh-CN">
                <a:ea typeface="宋体" charset="-122"/>
              </a:rPr>
            </a:br>
            <a:r>
              <a:rPr lang="en-US" altLang="zh-CN">
                <a:ea typeface="宋体" charset="-122"/>
              </a:rPr>
              <a:t>Merger</a:t>
            </a:r>
          </a:p>
        </p:txBody>
      </p:sp>
      <p:sp>
        <p:nvSpPr>
          <p:cNvPr id="153625" name="AutoShape 31"/>
          <p:cNvSpPr>
            <a:spLocks noChangeArrowheads="1"/>
          </p:cNvSpPr>
          <p:nvPr/>
        </p:nvSpPr>
        <p:spPr bwMode="auto">
          <a:xfrm>
            <a:off x="3373438" y="1828800"/>
            <a:ext cx="228600" cy="609600"/>
          </a:xfrm>
          <a:prstGeom prst="downArrow">
            <a:avLst>
              <a:gd name="adj1" fmla="val 50000"/>
              <a:gd name="adj2" fmla="val 6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/>
            <a:endParaRPr lang="zh-CN" altLang="en-US"/>
          </a:p>
        </p:txBody>
      </p:sp>
      <p:sp>
        <p:nvSpPr>
          <p:cNvPr id="153626" name="AutoShape 32"/>
          <p:cNvSpPr>
            <a:spLocks noChangeArrowheads="1"/>
          </p:cNvSpPr>
          <p:nvPr/>
        </p:nvSpPr>
        <p:spPr bwMode="auto">
          <a:xfrm>
            <a:off x="3352800" y="2667000"/>
            <a:ext cx="249238" cy="457200"/>
          </a:xfrm>
          <a:prstGeom prst="downArrow">
            <a:avLst>
              <a:gd name="adj1" fmla="val 50000"/>
              <a:gd name="adj2" fmla="val 4586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/>
            <a:endParaRPr lang="zh-CN" altLang="en-US"/>
          </a:p>
        </p:txBody>
      </p:sp>
      <p:sp>
        <p:nvSpPr>
          <p:cNvPr id="153627" name="AutoShape 33"/>
          <p:cNvSpPr>
            <a:spLocks noChangeArrowheads="1"/>
          </p:cNvSpPr>
          <p:nvPr/>
        </p:nvSpPr>
        <p:spPr bwMode="auto">
          <a:xfrm>
            <a:off x="3352800" y="3429000"/>
            <a:ext cx="249238" cy="381000"/>
          </a:xfrm>
          <a:prstGeom prst="downArrow">
            <a:avLst>
              <a:gd name="adj1" fmla="val 50000"/>
              <a:gd name="adj2" fmla="val 38216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/>
            <a:endParaRPr lang="zh-CN" altLang="en-US"/>
          </a:p>
        </p:txBody>
      </p:sp>
      <p:sp>
        <p:nvSpPr>
          <p:cNvPr id="153628" name="AutoShape 34"/>
          <p:cNvSpPr>
            <a:spLocks noChangeArrowheads="1"/>
          </p:cNvSpPr>
          <p:nvPr/>
        </p:nvSpPr>
        <p:spPr bwMode="auto">
          <a:xfrm rot="10800000">
            <a:off x="4932363" y="3429000"/>
            <a:ext cx="249237" cy="381000"/>
          </a:xfrm>
          <a:prstGeom prst="downArrow">
            <a:avLst>
              <a:gd name="adj1" fmla="val 50000"/>
              <a:gd name="adj2" fmla="val 3821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/>
            <a:endParaRPr lang="zh-CN" altLang="en-US"/>
          </a:p>
        </p:txBody>
      </p:sp>
      <p:sp>
        <p:nvSpPr>
          <p:cNvPr id="153629" name="AutoShape 35"/>
          <p:cNvSpPr>
            <a:spLocks noChangeArrowheads="1"/>
          </p:cNvSpPr>
          <p:nvPr/>
        </p:nvSpPr>
        <p:spPr bwMode="auto">
          <a:xfrm rot="10800000">
            <a:off x="4953000" y="1828800"/>
            <a:ext cx="228600" cy="609600"/>
          </a:xfrm>
          <a:prstGeom prst="downArrow">
            <a:avLst>
              <a:gd name="adj1" fmla="val 50000"/>
              <a:gd name="adj2" fmla="val 6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/>
            <a:endParaRPr lang="zh-CN" altLang="en-US"/>
          </a:p>
        </p:txBody>
      </p:sp>
      <p:sp>
        <p:nvSpPr>
          <p:cNvPr id="153630" name="Rectangle 36"/>
          <p:cNvSpPr>
            <a:spLocks noChangeArrowheads="1"/>
          </p:cNvSpPr>
          <p:nvPr/>
        </p:nvSpPr>
        <p:spPr bwMode="auto">
          <a:xfrm>
            <a:off x="6096000" y="3733800"/>
            <a:ext cx="24384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SQL Executor</a:t>
            </a:r>
          </a:p>
        </p:txBody>
      </p:sp>
      <p:sp>
        <p:nvSpPr>
          <p:cNvPr id="153631" name="Rectangle 37"/>
          <p:cNvSpPr>
            <a:spLocks noChangeArrowheads="1"/>
          </p:cNvSpPr>
          <p:nvPr/>
        </p:nvSpPr>
        <p:spPr bwMode="auto">
          <a:xfrm>
            <a:off x="6096000" y="3048000"/>
            <a:ext cx="13716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SQL Router</a:t>
            </a:r>
          </a:p>
        </p:txBody>
      </p:sp>
      <p:sp>
        <p:nvSpPr>
          <p:cNvPr id="153632" name="Rectangle 38"/>
          <p:cNvSpPr>
            <a:spLocks noChangeArrowheads="1"/>
          </p:cNvSpPr>
          <p:nvPr/>
        </p:nvSpPr>
        <p:spPr bwMode="auto">
          <a:xfrm>
            <a:off x="6096000" y="2362200"/>
            <a:ext cx="13716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SQL Parser</a:t>
            </a:r>
          </a:p>
        </p:txBody>
      </p:sp>
      <p:sp>
        <p:nvSpPr>
          <p:cNvPr id="153633" name="Rectangle 39"/>
          <p:cNvSpPr>
            <a:spLocks noChangeArrowheads="1"/>
          </p:cNvSpPr>
          <p:nvPr/>
        </p:nvSpPr>
        <p:spPr bwMode="auto">
          <a:xfrm>
            <a:off x="7620000" y="2362200"/>
            <a:ext cx="914400" cy="1143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Result</a:t>
            </a:r>
            <a:br>
              <a:rPr lang="en-US" altLang="zh-CN">
                <a:ea typeface="宋体" charset="-122"/>
              </a:rPr>
            </a:br>
            <a:r>
              <a:rPr lang="en-US" altLang="zh-CN">
                <a:ea typeface="宋体" charset="-122"/>
              </a:rPr>
              <a:t>Merger</a:t>
            </a:r>
          </a:p>
        </p:txBody>
      </p:sp>
      <p:sp>
        <p:nvSpPr>
          <p:cNvPr id="153634" name="AutoShape 40"/>
          <p:cNvSpPr>
            <a:spLocks noChangeArrowheads="1"/>
          </p:cNvSpPr>
          <p:nvPr/>
        </p:nvSpPr>
        <p:spPr bwMode="auto">
          <a:xfrm>
            <a:off x="6421438" y="1828800"/>
            <a:ext cx="228600" cy="609600"/>
          </a:xfrm>
          <a:prstGeom prst="downArrow">
            <a:avLst>
              <a:gd name="adj1" fmla="val 50000"/>
              <a:gd name="adj2" fmla="val 6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/>
            <a:endParaRPr lang="zh-CN" altLang="en-US"/>
          </a:p>
        </p:txBody>
      </p:sp>
      <p:sp>
        <p:nvSpPr>
          <p:cNvPr id="153635" name="AutoShape 41"/>
          <p:cNvSpPr>
            <a:spLocks noChangeArrowheads="1"/>
          </p:cNvSpPr>
          <p:nvPr/>
        </p:nvSpPr>
        <p:spPr bwMode="auto">
          <a:xfrm>
            <a:off x="6400800" y="2667000"/>
            <a:ext cx="249238" cy="457200"/>
          </a:xfrm>
          <a:prstGeom prst="downArrow">
            <a:avLst>
              <a:gd name="adj1" fmla="val 50000"/>
              <a:gd name="adj2" fmla="val 4586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/>
            <a:endParaRPr lang="zh-CN" altLang="en-US"/>
          </a:p>
        </p:txBody>
      </p:sp>
      <p:sp>
        <p:nvSpPr>
          <p:cNvPr id="153636" name="AutoShape 42"/>
          <p:cNvSpPr>
            <a:spLocks noChangeArrowheads="1"/>
          </p:cNvSpPr>
          <p:nvPr/>
        </p:nvSpPr>
        <p:spPr bwMode="auto">
          <a:xfrm>
            <a:off x="6400800" y="3429000"/>
            <a:ext cx="249238" cy="381000"/>
          </a:xfrm>
          <a:prstGeom prst="downArrow">
            <a:avLst>
              <a:gd name="adj1" fmla="val 50000"/>
              <a:gd name="adj2" fmla="val 38216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/>
            <a:endParaRPr lang="zh-CN" altLang="en-US"/>
          </a:p>
        </p:txBody>
      </p:sp>
      <p:sp>
        <p:nvSpPr>
          <p:cNvPr id="153637" name="AutoShape 43"/>
          <p:cNvSpPr>
            <a:spLocks noChangeArrowheads="1"/>
          </p:cNvSpPr>
          <p:nvPr/>
        </p:nvSpPr>
        <p:spPr bwMode="auto">
          <a:xfrm rot="10800000">
            <a:off x="7980363" y="3429000"/>
            <a:ext cx="249237" cy="381000"/>
          </a:xfrm>
          <a:prstGeom prst="downArrow">
            <a:avLst>
              <a:gd name="adj1" fmla="val 50000"/>
              <a:gd name="adj2" fmla="val 3821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/>
            <a:endParaRPr lang="zh-CN" altLang="en-US"/>
          </a:p>
        </p:txBody>
      </p:sp>
      <p:sp>
        <p:nvSpPr>
          <p:cNvPr id="153638" name="AutoShape 44"/>
          <p:cNvSpPr>
            <a:spLocks noChangeArrowheads="1"/>
          </p:cNvSpPr>
          <p:nvPr/>
        </p:nvSpPr>
        <p:spPr bwMode="auto">
          <a:xfrm rot="10800000">
            <a:off x="8001000" y="1828800"/>
            <a:ext cx="228600" cy="609600"/>
          </a:xfrm>
          <a:prstGeom prst="downArrow">
            <a:avLst>
              <a:gd name="adj1" fmla="val 50000"/>
              <a:gd name="adj2" fmla="val 6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/>
            <a:endParaRPr lang="zh-CN" altLang="en-US"/>
          </a:p>
        </p:txBody>
      </p:sp>
      <p:sp>
        <p:nvSpPr>
          <p:cNvPr id="153639" name="Text Box 45"/>
          <p:cNvSpPr txBox="1">
            <a:spLocks noChangeArrowheads="1"/>
          </p:cNvSpPr>
          <p:nvPr/>
        </p:nvSpPr>
        <p:spPr bwMode="auto">
          <a:xfrm>
            <a:off x="5257800" y="2590800"/>
            <a:ext cx="1143000" cy="823913"/>
          </a:xfrm>
          <a:prstGeom prst="rect">
            <a:avLst/>
          </a:prstGeom>
          <a:solidFill>
            <a:schemeClr val="bg1"/>
          </a:solidFill>
          <a:ln w="3175">
            <a:noFill/>
            <a:prstDash val="dashDot"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4800">
                <a:ea typeface="宋体" charset="-122"/>
              </a:rPr>
              <a:t>... </a:t>
            </a:r>
          </a:p>
        </p:txBody>
      </p:sp>
      <p:sp>
        <p:nvSpPr>
          <p:cNvPr id="153640" name="Rectangle 46"/>
          <p:cNvSpPr>
            <a:spLocks noChangeArrowheads="1"/>
          </p:cNvSpPr>
          <p:nvPr/>
        </p:nvSpPr>
        <p:spPr bwMode="auto">
          <a:xfrm rot="10800000" flipV="1">
            <a:off x="304800" y="2057400"/>
            <a:ext cx="914400" cy="3124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600">
                <a:ea typeface="宋体" charset="-122"/>
              </a:rPr>
              <a:t>Manager</a:t>
            </a:r>
          </a:p>
        </p:txBody>
      </p:sp>
      <p:sp>
        <p:nvSpPr>
          <p:cNvPr id="153641" name="AutoShape 47"/>
          <p:cNvSpPr>
            <a:spLocks noChangeArrowheads="1"/>
          </p:cNvSpPr>
          <p:nvPr/>
        </p:nvSpPr>
        <p:spPr bwMode="auto">
          <a:xfrm rot="-5400000">
            <a:off x="1257300" y="3238500"/>
            <a:ext cx="533400" cy="762000"/>
          </a:xfrm>
          <a:prstGeom prst="upDownArrow">
            <a:avLst>
              <a:gd name="adj1" fmla="val 42704"/>
              <a:gd name="adj2" fmla="val 40179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/>
            <a:endParaRPr lang="zh-CN" altLang="en-US"/>
          </a:p>
        </p:txBody>
      </p:sp>
      <p:sp>
        <p:nvSpPr>
          <p:cNvPr id="153642" name="Rectangle 48"/>
          <p:cNvSpPr>
            <a:spLocks noChangeArrowheads="1"/>
          </p:cNvSpPr>
          <p:nvPr/>
        </p:nvSpPr>
        <p:spPr bwMode="auto">
          <a:xfrm>
            <a:off x="2298700" y="5562600"/>
            <a:ext cx="1739900" cy="366713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i="1">
                <a:latin typeface="Times New Roman" pitchFamily="18" charset="0"/>
              </a:rPr>
              <a:t>MySQL Protocol</a:t>
            </a:r>
          </a:p>
        </p:txBody>
      </p:sp>
      <p:sp>
        <p:nvSpPr>
          <p:cNvPr id="153643" name="Rectangle 49"/>
          <p:cNvSpPr>
            <a:spLocks noChangeArrowheads="1"/>
          </p:cNvSpPr>
          <p:nvPr/>
        </p:nvSpPr>
        <p:spPr bwMode="auto">
          <a:xfrm>
            <a:off x="4051300" y="5562600"/>
            <a:ext cx="1739900" cy="366713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i="1">
                <a:latin typeface="Times New Roman" pitchFamily="18" charset="0"/>
              </a:rPr>
              <a:t>MySQL Protocol</a:t>
            </a:r>
          </a:p>
        </p:txBody>
      </p:sp>
      <p:sp>
        <p:nvSpPr>
          <p:cNvPr id="153644" name="Rectangle 50"/>
          <p:cNvSpPr>
            <a:spLocks noChangeArrowheads="1"/>
          </p:cNvSpPr>
          <p:nvPr/>
        </p:nvSpPr>
        <p:spPr bwMode="auto">
          <a:xfrm>
            <a:off x="5727700" y="5562600"/>
            <a:ext cx="1739900" cy="366713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i="1">
                <a:latin typeface="Times New Roman" pitchFamily="18" charset="0"/>
              </a:rPr>
              <a:t>MySQL Protocol</a:t>
            </a:r>
          </a:p>
        </p:txBody>
      </p:sp>
      <p:sp>
        <p:nvSpPr>
          <p:cNvPr id="153645" name="Rectangle 51"/>
          <p:cNvSpPr>
            <a:spLocks noChangeArrowheads="1"/>
          </p:cNvSpPr>
          <p:nvPr/>
        </p:nvSpPr>
        <p:spPr bwMode="auto">
          <a:xfrm>
            <a:off x="7404100" y="5562600"/>
            <a:ext cx="1739900" cy="366713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i="1">
                <a:latin typeface="Times New Roman" pitchFamily="18" charset="0"/>
              </a:rPr>
              <a:t>MySQL Protocol</a:t>
            </a:r>
          </a:p>
        </p:txBody>
      </p:sp>
      <p:sp>
        <p:nvSpPr>
          <p:cNvPr id="153646" name="Rectangle 52"/>
          <p:cNvSpPr>
            <a:spLocks noChangeArrowheads="1"/>
          </p:cNvSpPr>
          <p:nvPr/>
        </p:nvSpPr>
        <p:spPr bwMode="auto">
          <a:xfrm rot="-5400000">
            <a:off x="819150" y="3257550"/>
            <a:ext cx="1377950" cy="64135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i="1">
                <a:latin typeface="Times New Roman" pitchFamily="18" charset="0"/>
              </a:rPr>
              <a:t>Management</a:t>
            </a:r>
            <a:br>
              <a:rPr lang="en-US" altLang="zh-CN" i="1">
                <a:latin typeface="Times New Roman" pitchFamily="18" charset="0"/>
              </a:rPr>
            </a:br>
            <a:r>
              <a:rPr lang="en-US" altLang="zh-CN" i="1">
                <a:latin typeface="Times New Roman" pitchFamily="18" charset="0"/>
              </a:rPr>
              <a:t>Protocol</a:t>
            </a:r>
          </a:p>
        </p:txBody>
      </p:sp>
      <p:sp>
        <p:nvSpPr>
          <p:cNvPr id="153647" name="Rectangle 8"/>
          <p:cNvSpPr>
            <a:spLocks noChangeArrowheads="1"/>
          </p:cNvSpPr>
          <p:nvPr/>
        </p:nvSpPr>
        <p:spPr bwMode="auto">
          <a:xfrm>
            <a:off x="3048000" y="5105400"/>
            <a:ext cx="54864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MySQL Protcol Adaptor (BIO)</a:t>
            </a:r>
          </a:p>
        </p:txBody>
      </p:sp>
      <p:sp>
        <p:nvSpPr>
          <p:cNvPr id="153648" name="Rectangle 19"/>
          <p:cNvSpPr>
            <a:spLocks noChangeArrowheads="1"/>
          </p:cNvSpPr>
          <p:nvPr/>
        </p:nvSpPr>
        <p:spPr bwMode="auto">
          <a:xfrm>
            <a:off x="3048000" y="4343400"/>
            <a:ext cx="5486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Data Nodes</a:t>
            </a:r>
          </a:p>
        </p:txBody>
      </p:sp>
      <p:sp>
        <p:nvSpPr>
          <p:cNvPr id="153649" name="Rectangle 21"/>
          <p:cNvSpPr>
            <a:spLocks noChangeArrowheads="1"/>
          </p:cNvSpPr>
          <p:nvPr/>
        </p:nvSpPr>
        <p:spPr bwMode="auto">
          <a:xfrm>
            <a:off x="3048000" y="4724400"/>
            <a:ext cx="5486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ea typeface="宋体" charset="-122"/>
              </a:rPr>
              <a:t>HA Pool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ea typeface="微软雅黑"/>
                <a:cs typeface="微软雅黑"/>
              </a:rPr>
              <a:t>后台数据访问逻辑层次</a:t>
            </a:r>
          </a:p>
        </p:txBody>
      </p:sp>
      <p:sp>
        <p:nvSpPr>
          <p:cNvPr id="154626" name="Rectangle 6"/>
          <p:cNvSpPr>
            <a:spLocks noChangeArrowheads="1"/>
          </p:cNvSpPr>
          <p:nvPr/>
        </p:nvSpPr>
        <p:spPr bwMode="auto">
          <a:xfrm>
            <a:off x="4876800" y="2438400"/>
            <a:ext cx="38100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itchFamily="18" charset="0"/>
                <a:ea typeface="宋体" charset="-122"/>
              </a:rPr>
              <a:t>HA Pool</a:t>
            </a:r>
          </a:p>
        </p:txBody>
      </p:sp>
      <p:sp>
        <p:nvSpPr>
          <p:cNvPr id="154627" name="Rectangle 7"/>
          <p:cNvSpPr>
            <a:spLocks noChangeArrowheads="1"/>
          </p:cNvSpPr>
          <p:nvPr/>
        </p:nvSpPr>
        <p:spPr bwMode="auto">
          <a:xfrm>
            <a:off x="4876800" y="2819400"/>
            <a:ext cx="38100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400" b="1">
                <a:ea typeface="宋体" charset="-122"/>
              </a:rPr>
              <a:t>MySQL Protocol Adapter</a:t>
            </a:r>
          </a:p>
        </p:txBody>
      </p:sp>
      <p:sp>
        <p:nvSpPr>
          <p:cNvPr id="154628" name="Rectangle 8"/>
          <p:cNvSpPr>
            <a:spLocks noChangeArrowheads="1"/>
          </p:cNvSpPr>
          <p:nvPr/>
        </p:nvSpPr>
        <p:spPr bwMode="auto">
          <a:xfrm>
            <a:off x="4876800" y="2057400"/>
            <a:ext cx="38100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itchFamily="18" charset="0"/>
                <a:ea typeface="宋体" charset="-122"/>
              </a:rPr>
              <a:t>Data Node</a:t>
            </a:r>
          </a:p>
        </p:txBody>
      </p:sp>
      <p:sp>
        <p:nvSpPr>
          <p:cNvPr id="154629" name="AutoShape 11"/>
          <p:cNvSpPr>
            <a:spLocks noChangeArrowheads="1"/>
          </p:cNvSpPr>
          <p:nvPr/>
        </p:nvSpPr>
        <p:spPr bwMode="auto">
          <a:xfrm>
            <a:off x="1905000" y="5105400"/>
            <a:ext cx="457200" cy="838200"/>
          </a:xfrm>
          <a:prstGeom prst="can">
            <a:avLst>
              <a:gd name="adj" fmla="val 46003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微软雅黑"/>
              </a:rPr>
              <a:t>S</a:t>
            </a:r>
          </a:p>
        </p:txBody>
      </p:sp>
      <p:sp>
        <p:nvSpPr>
          <p:cNvPr id="154630" name="AutoShape 12"/>
          <p:cNvSpPr>
            <a:spLocks noChangeArrowheads="1"/>
          </p:cNvSpPr>
          <p:nvPr/>
        </p:nvSpPr>
        <p:spPr bwMode="auto">
          <a:xfrm>
            <a:off x="1219200" y="5105400"/>
            <a:ext cx="457200" cy="838200"/>
          </a:xfrm>
          <a:prstGeom prst="can">
            <a:avLst>
              <a:gd name="adj" fmla="val 46003"/>
            </a:avLst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微软雅黑"/>
              </a:rPr>
              <a:t>M</a:t>
            </a:r>
          </a:p>
        </p:txBody>
      </p:sp>
      <p:cxnSp>
        <p:nvCxnSpPr>
          <p:cNvPr id="154631" name="AutoShape 13"/>
          <p:cNvCxnSpPr>
            <a:cxnSpLocks noChangeShapeType="1"/>
            <a:stCxn id="154630" idx="4"/>
            <a:endCxn id="154629" idx="2"/>
          </p:cNvCxnSpPr>
          <p:nvPr/>
        </p:nvCxnSpPr>
        <p:spPr bwMode="auto">
          <a:xfrm>
            <a:off x="1676400" y="5524500"/>
            <a:ext cx="228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</p:cxnSp>
      <p:sp>
        <p:nvSpPr>
          <p:cNvPr id="154632" name="Oval 14"/>
          <p:cNvSpPr>
            <a:spLocks noChangeArrowheads="1"/>
          </p:cNvSpPr>
          <p:nvPr/>
        </p:nvSpPr>
        <p:spPr bwMode="auto">
          <a:xfrm>
            <a:off x="1371600" y="43434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cxnSp>
        <p:nvCxnSpPr>
          <p:cNvPr id="154633" name="AutoShape 15"/>
          <p:cNvCxnSpPr>
            <a:cxnSpLocks noChangeShapeType="1"/>
            <a:stCxn id="154630" idx="1"/>
            <a:endCxn id="154632" idx="4"/>
          </p:cNvCxnSpPr>
          <p:nvPr/>
        </p:nvCxnSpPr>
        <p:spPr bwMode="auto">
          <a:xfrm flipV="1">
            <a:off x="1447800" y="4495800"/>
            <a:ext cx="0" cy="609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54634" name="AutoShape 16"/>
          <p:cNvSpPr>
            <a:spLocks noChangeArrowheads="1"/>
          </p:cNvSpPr>
          <p:nvPr/>
        </p:nvSpPr>
        <p:spPr bwMode="auto">
          <a:xfrm>
            <a:off x="3352800" y="5105400"/>
            <a:ext cx="457200" cy="838200"/>
          </a:xfrm>
          <a:prstGeom prst="can">
            <a:avLst>
              <a:gd name="adj" fmla="val 46003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微软雅黑"/>
              </a:rPr>
              <a:t>S</a:t>
            </a:r>
          </a:p>
        </p:txBody>
      </p:sp>
      <p:sp>
        <p:nvSpPr>
          <p:cNvPr id="154635" name="AutoShape 17"/>
          <p:cNvSpPr>
            <a:spLocks noChangeArrowheads="1"/>
          </p:cNvSpPr>
          <p:nvPr/>
        </p:nvSpPr>
        <p:spPr bwMode="auto">
          <a:xfrm>
            <a:off x="2667000" y="5105400"/>
            <a:ext cx="457200" cy="838200"/>
          </a:xfrm>
          <a:prstGeom prst="can">
            <a:avLst>
              <a:gd name="adj" fmla="val 46003"/>
            </a:avLst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微软雅黑"/>
              </a:rPr>
              <a:t>M</a:t>
            </a:r>
          </a:p>
        </p:txBody>
      </p:sp>
      <p:cxnSp>
        <p:nvCxnSpPr>
          <p:cNvPr id="154636" name="AutoShape 18"/>
          <p:cNvCxnSpPr>
            <a:cxnSpLocks noChangeShapeType="1"/>
            <a:stCxn id="154635" idx="4"/>
            <a:endCxn id="154634" idx="2"/>
          </p:cNvCxnSpPr>
          <p:nvPr/>
        </p:nvCxnSpPr>
        <p:spPr bwMode="auto">
          <a:xfrm>
            <a:off x="3124200" y="5524500"/>
            <a:ext cx="228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</p:cxnSp>
      <p:sp>
        <p:nvSpPr>
          <p:cNvPr id="154637" name="Oval 19"/>
          <p:cNvSpPr>
            <a:spLocks noChangeArrowheads="1"/>
          </p:cNvSpPr>
          <p:nvPr/>
        </p:nvSpPr>
        <p:spPr bwMode="auto">
          <a:xfrm>
            <a:off x="2819400" y="43434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cxnSp>
        <p:nvCxnSpPr>
          <p:cNvPr id="154638" name="AutoShape 20"/>
          <p:cNvCxnSpPr>
            <a:cxnSpLocks noChangeShapeType="1"/>
            <a:stCxn id="154635" idx="1"/>
            <a:endCxn id="154637" idx="4"/>
          </p:cNvCxnSpPr>
          <p:nvPr/>
        </p:nvCxnSpPr>
        <p:spPr bwMode="auto">
          <a:xfrm flipV="1">
            <a:off x="2895600" y="4495800"/>
            <a:ext cx="0" cy="609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54639" name="AutoShape 21"/>
          <p:cNvSpPr>
            <a:spLocks noChangeArrowheads="1"/>
          </p:cNvSpPr>
          <p:nvPr/>
        </p:nvSpPr>
        <p:spPr bwMode="auto">
          <a:xfrm>
            <a:off x="4800600" y="5105400"/>
            <a:ext cx="457200" cy="838200"/>
          </a:xfrm>
          <a:prstGeom prst="can">
            <a:avLst>
              <a:gd name="adj" fmla="val 46003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微软雅黑"/>
              </a:rPr>
              <a:t>S</a:t>
            </a:r>
          </a:p>
        </p:txBody>
      </p:sp>
      <p:sp>
        <p:nvSpPr>
          <p:cNvPr id="154640" name="AutoShape 22"/>
          <p:cNvSpPr>
            <a:spLocks noChangeArrowheads="1"/>
          </p:cNvSpPr>
          <p:nvPr/>
        </p:nvSpPr>
        <p:spPr bwMode="auto">
          <a:xfrm>
            <a:off x="4114800" y="5105400"/>
            <a:ext cx="457200" cy="838200"/>
          </a:xfrm>
          <a:prstGeom prst="can">
            <a:avLst>
              <a:gd name="adj" fmla="val 46003"/>
            </a:avLst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微软雅黑"/>
              </a:rPr>
              <a:t>M</a:t>
            </a:r>
          </a:p>
        </p:txBody>
      </p:sp>
      <p:cxnSp>
        <p:nvCxnSpPr>
          <p:cNvPr id="154641" name="AutoShape 23"/>
          <p:cNvCxnSpPr>
            <a:cxnSpLocks noChangeShapeType="1"/>
            <a:stCxn id="154640" idx="4"/>
            <a:endCxn id="154639" idx="2"/>
          </p:cNvCxnSpPr>
          <p:nvPr/>
        </p:nvCxnSpPr>
        <p:spPr bwMode="auto">
          <a:xfrm>
            <a:off x="4572000" y="5524500"/>
            <a:ext cx="228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</p:cxnSp>
      <p:sp>
        <p:nvSpPr>
          <p:cNvPr id="154642" name="Oval 24"/>
          <p:cNvSpPr>
            <a:spLocks noChangeArrowheads="1"/>
          </p:cNvSpPr>
          <p:nvPr/>
        </p:nvSpPr>
        <p:spPr bwMode="auto">
          <a:xfrm>
            <a:off x="4267200" y="43434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cxnSp>
        <p:nvCxnSpPr>
          <p:cNvPr id="154643" name="AutoShape 25"/>
          <p:cNvCxnSpPr>
            <a:cxnSpLocks noChangeShapeType="1"/>
            <a:stCxn id="154640" idx="1"/>
            <a:endCxn id="154642" idx="4"/>
          </p:cNvCxnSpPr>
          <p:nvPr/>
        </p:nvCxnSpPr>
        <p:spPr bwMode="auto">
          <a:xfrm flipV="1">
            <a:off x="4343400" y="4495800"/>
            <a:ext cx="0" cy="609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54644" name="AutoShape 26"/>
          <p:cNvSpPr>
            <a:spLocks noChangeArrowheads="1"/>
          </p:cNvSpPr>
          <p:nvPr/>
        </p:nvSpPr>
        <p:spPr bwMode="auto">
          <a:xfrm>
            <a:off x="6248400" y="5105400"/>
            <a:ext cx="457200" cy="838200"/>
          </a:xfrm>
          <a:prstGeom prst="can">
            <a:avLst>
              <a:gd name="adj" fmla="val 46003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微软雅黑"/>
              </a:rPr>
              <a:t>S</a:t>
            </a:r>
          </a:p>
        </p:txBody>
      </p:sp>
      <p:sp>
        <p:nvSpPr>
          <p:cNvPr id="154645" name="AutoShape 27"/>
          <p:cNvSpPr>
            <a:spLocks noChangeArrowheads="1"/>
          </p:cNvSpPr>
          <p:nvPr/>
        </p:nvSpPr>
        <p:spPr bwMode="auto">
          <a:xfrm>
            <a:off x="5562600" y="5105400"/>
            <a:ext cx="457200" cy="838200"/>
          </a:xfrm>
          <a:prstGeom prst="can">
            <a:avLst>
              <a:gd name="adj" fmla="val 46003"/>
            </a:avLst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微软雅黑"/>
              </a:rPr>
              <a:t>M</a:t>
            </a:r>
          </a:p>
        </p:txBody>
      </p:sp>
      <p:cxnSp>
        <p:nvCxnSpPr>
          <p:cNvPr id="154646" name="AutoShape 28"/>
          <p:cNvCxnSpPr>
            <a:cxnSpLocks noChangeShapeType="1"/>
            <a:stCxn id="154645" idx="4"/>
            <a:endCxn id="154644" idx="2"/>
          </p:cNvCxnSpPr>
          <p:nvPr/>
        </p:nvCxnSpPr>
        <p:spPr bwMode="auto">
          <a:xfrm>
            <a:off x="6019800" y="5524500"/>
            <a:ext cx="228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</p:cxnSp>
      <p:sp>
        <p:nvSpPr>
          <p:cNvPr id="154647" name="Oval 29"/>
          <p:cNvSpPr>
            <a:spLocks noChangeArrowheads="1"/>
          </p:cNvSpPr>
          <p:nvPr/>
        </p:nvSpPr>
        <p:spPr bwMode="auto">
          <a:xfrm>
            <a:off x="5715000" y="43434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cxnSp>
        <p:nvCxnSpPr>
          <p:cNvPr id="154648" name="AutoShape 30"/>
          <p:cNvCxnSpPr>
            <a:cxnSpLocks noChangeShapeType="1"/>
            <a:stCxn id="154645" idx="1"/>
            <a:endCxn id="154647" idx="4"/>
          </p:cNvCxnSpPr>
          <p:nvPr/>
        </p:nvCxnSpPr>
        <p:spPr bwMode="auto">
          <a:xfrm flipV="1">
            <a:off x="5791200" y="4495800"/>
            <a:ext cx="0" cy="609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54649" name="AutoShape 31"/>
          <p:cNvSpPr>
            <a:spLocks noChangeArrowheads="1"/>
          </p:cNvSpPr>
          <p:nvPr/>
        </p:nvSpPr>
        <p:spPr bwMode="auto">
          <a:xfrm>
            <a:off x="7696200" y="5105400"/>
            <a:ext cx="457200" cy="838200"/>
          </a:xfrm>
          <a:prstGeom prst="can">
            <a:avLst>
              <a:gd name="adj" fmla="val 46003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微软雅黑"/>
              </a:rPr>
              <a:t>S</a:t>
            </a:r>
          </a:p>
        </p:txBody>
      </p:sp>
      <p:sp>
        <p:nvSpPr>
          <p:cNvPr id="154650" name="AutoShape 32"/>
          <p:cNvSpPr>
            <a:spLocks noChangeArrowheads="1"/>
          </p:cNvSpPr>
          <p:nvPr/>
        </p:nvSpPr>
        <p:spPr bwMode="auto">
          <a:xfrm>
            <a:off x="7010400" y="5105400"/>
            <a:ext cx="457200" cy="838200"/>
          </a:xfrm>
          <a:prstGeom prst="can">
            <a:avLst>
              <a:gd name="adj" fmla="val 46003"/>
            </a:avLst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微软雅黑"/>
              </a:rPr>
              <a:t>M</a:t>
            </a:r>
          </a:p>
        </p:txBody>
      </p:sp>
      <p:cxnSp>
        <p:nvCxnSpPr>
          <p:cNvPr id="154651" name="AutoShape 33"/>
          <p:cNvCxnSpPr>
            <a:cxnSpLocks noChangeShapeType="1"/>
            <a:stCxn id="154650" idx="4"/>
            <a:endCxn id="154649" idx="2"/>
          </p:cNvCxnSpPr>
          <p:nvPr/>
        </p:nvCxnSpPr>
        <p:spPr bwMode="auto">
          <a:xfrm>
            <a:off x="7467600" y="5524500"/>
            <a:ext cx="228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</p:cxnSp>
      <p:sp>
        <p:nvSpPr>
          <p:cNvPr id="154652" name="Oval 34"/>
          <p:cNvSpPr>
            <a:spLocks noChangeArrowheads="1"/>
          </p:cNvSpPr>
          <p:nvPr/>
        </p:nvSpPr>
        <p:spPr bwMode="auto">
          <a:xfrm>
            <a:off x="7162800" y="43434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cxnSp>
        <p:nvCxnSpPr>
          <p:cNvPr id="154653" name="AutoShape 35"/>
          <p:cNvCxnSpPr>
            <a:cxnSpLocks noChangeShapeType="1"/>
            <a:stCxn id="154650" idx="1"/>
            <a:endCxn id="154652" idx="4"/>
          </p:cNvCxnSpPr>
          <p:nvPr/>
        </p:nvCxnSpPr>
        <p:spPr bwMode="auto">
          <a:xfrm flipV="1">
            <a:off x="7239000" y="4495800"/>
            <a:ext cx="0" cy="609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54654" name="Text Box 36"/>
          <p:cNvSpPr txBox="1">
            <a:spLocks noChangeArrowheads="1"/>
          </p:cNvSpPr>
          <p:nvPr/>
        </p:nvSpPr>
        <p:spPr bwMode="auto">
          <a:xfrm>
            <a:off x="5410200" y="3900488"/>
            <a:ext cx="152400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Times New Roman" pitchFamily="18" charset="0"/>
              </a:rPr>
              <a:t>ip:port/</a:t>
            </a:r>
            <a:r>
              <a:rPr lang="en-US" altLang="zh-CN" b="1">
                <a:solidFill>
                  <a:srgbClr val="FF0000"/>
                </a:solidFill>
                <a:latin typeface="Times New Roman" pitchFamily="18" charset="0"/>
              </a:rPr>
              <a:t>offer</a:t>
            </a:r>
          </a:p>
        </p:txBody>
      </p:sp>
      <p:sp>
        <p:nvSpPr>
          <p:cNvPr id="154655" name="Text Box 37"/>
          <p:cNvSpPr txBox="1">
            <a:spLocks noChangeArrowheads="1"/>
          </p:cNvSpPr>
          <p:nvPr/>
        </p:nvSpPr>
        <p:spPr bwMode="auto">
          <a:xfrm>
            <a:off x="6858000" y="3886200"/>
            <a:ext cx="1524000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Times New Roman" pitchFamily="18" charset="0"/>
              </a:rPr>
              <a:t>ip:port/</a:t>
            </a:r>
            <a:r>
              <a:rPr lang="en-US" altLang="zh-CN" b="1">
                <a:solidFill>
                  <a:srgbClr val="FF0000"/>
                </a:solidFill>
                <a:latin typeface="Times New Roman" pitchFamily="18" charset="0"/>
              </a:rPr>
              <a:t>offer</a:t>
            </a:r>
          </a:p>
        </p:txBody>
      </p:sp>
      <p:sp>
        <p:nvSpPr>
          <p:cNvPr id="154656" name="Text Box 38"/>
          <p:cNvSpPr txBox="1">
            <a:spLocks noChangeArrowheads="1"/>
          </p:cNvSpPr>
          <p:nvPr/>
        </p:nvSpPr>
        <p:spPr bwMode="auto">
          <a:xfrm>
            <a:off x="2514600" y="3900488"/>
            <a:ext cx="152400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Times New Roman" pitchFamily="18" charset="0"/>
              </a:rPr>
              <a:t>ip:port/</a:t>
            </a:r>
            <a:r>
              <a:rPr lang="en-US" altLang="zh-CN" b="1">
                <a:solidFill>
                  <a:srgbClr val="0000FF"/>
                </a:solidFill>
                <a:latin typeface="Times New Roman" pitchFamily="18" charset="0"/>
              </a:rPr>
              <a:t>ibank</a:t>
            </a:r>
          </a:p>
        </p:txBody>
      </p:sp>
      <p:sp>
        <p:nvSpPr>
          <p:cNvPr id="154657" name="Text Box 39"/>
          <p:cNvSpPr txBox="1">
            <a:spLocks noChangeArrowheads="1"/>
          </p:cNvSpPr>
          <p:nvPr/>
        </p:nvSpPr>
        <p:spPr bwMode="auto">
          <a:xfrm>
            <a:off x="3962400" y="3886200"/>
            <a:ext cx="1524000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Times New Roman" pitchFamily="18" charset="0"/>
              </a:rPr>
              <a:t>ip:port/</a:t>
            </a:r>
            <a:r>
              <a:rPr lang="en-US" altLang="zh-CN" b="1">
                <a:solidFill>
                  <a:srgbClr val="0000FF"/>
                </a:solidFill>
                <a:latin typeface="Times New Roman" pitchFamily="18" charset="0"/>
              </a:rPr>
              <a:t>ibank</a:t>
            </a:r>
          </a:p>
        </p:txBody>
      </p:sp>
      <p:sp>
        <p:nvSpPr>
          <p:cNvPr id="154658" name="Text Box 40"/>
          <p:cNvSpPr txBox="1">
            <a:spLocks noChangeArrowheads="1"/>
          </p:cNvSpPr>
          <p:nvPr/>
        </p:nvSpPr>
        <p:spPr bwMode="auto">
          <a:xfrm>
            <a:off x="1066800" y="3900488"/>
            <a:ext cx="152400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latin typeface="Times New Roman" pitchFamily="18" charset="0"/>
              </a:rPr>
              <a:t>ip:port/</a:t>
            </a:r>
            <a:r>
              <a:rPr lang="en-US" altLang="zh-CN" b="1">
                <a:solidFill>
                  <a:srgbClr val="0000FF"/>
                </a:solidFill>
                <a:latin typeface="Times New Roman" pitchFamily="18" charset="0"/>
              </a:rPr>
              <a:t>ibank</a:t>
            </a:r>
          </a:p>
        </p:txBody>
      </p:sp>
      <p:sp>
        <p:nvSpPr>
          <p:cNvPr id="154659" name="Rectangle 4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ea typeface="微软雅黑"/>
                <a:cs typeface="微软雅黑"/>
              </a:rPr>
              <a:t>数据库连接</a:t>
            </a:r>
          </a:p>
          <a:p>
            <a:pPr lvl="1" eaLnBrk="1" hangingPunct="1"/>
            <a:r>
              <a:rPr lang="zh-CN" altLang="en-US" smtClean="0"/>
              <a:t>基于协议数据包</a:t>
            </a:r>
          </a:p>
          <a:p>
            <a:pPr lvl="1" eaLnBrk="1" hangingPunct="1"/>
            <a:r>
              <a:rPr lang="zh-CN" altLang="en-US" smtClean="0">
                <a:latin typeface="Times New Roman" pitchFamily="18" charset="0"/>
                <a:cs typeface="Times New Roman" pitchFamily="18" charset="0"/>
              </a:rPr>
              <a:t>与</a:t>
            </a:r>
            <a:r>
              <a:rPr lang="en-US" altLang="zh-CN" smtClean="0">
                <a:latin typeface="Times New Roman" pitchFamily="18" charset="0"/>
                <a:cs typeface="Times New Roman" pitchFamily="18" charset="0"/>
              </a:rPr>
              <a:t>MySQL</a:t>
            </a:r>
            <a:r>
              <a:rPr lang="zh-CN" altLang="en-US" smtClean="0">
                <a:latin typeface="Times New Roman" pitchFamily="18" charset="0"/>
                <a:cs typeface="Times New Roman" pitchFamily="18" charset="0"/>
              </a:rPr>
              <a:t>交互</a:t>
            </a:r>
          </a:p>
          <a:p>
            <a:pPr eaLnBrk="1" hangingPunct="1"/>
            <a:endParaRPr lang="en-US" altLang="zh-CN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latin typeface="微软雅黑"/>
                <a:ea typeface="微软雅黑"/>
                <a:cs typeface="微软雅黑"/>
              </a:rPr>
              <a:t>基于</a:t>
            </a:r>
            <a:r>
              <a:rPr lang="en-US" altLang="zh-CN" smtClean="0">
                <a:latin typeface="微软雅黑"/>
                <a:ea typeface="微软雅黑"/>
                <a:cs typeface="微软雅黑"/>
              </a:rPr>
              <a:t>MySQL</a:t>
            </a:r>
            <a:r>
              <a:rPr lang="zh-CN" altLang="en-US" smtClean="0">
                <a:latin typeface="微软雅黑"/>
                <a:ea typeface="微软雅黑"/>
                <a:cs typeface="微软雅黑"/>
              </a:rPr>
              <a:t>协议</a:t>
            </a:r>
          </a:p>
        </p:txBody>
      </p:sp>
      <p:sp>
        <p:nvSpPr>
          <p:cNvPr id="155650" name="AutoShape 3"/>
          <p:cNvSpPr>
            <a:spLocks noChangeArrowheads="1"/>
          </p:cNvSpPr>
          <p:nvPr/>
        </p:nvSpPr>
        <p:spPr bwMode="auto">
          <a:xfrm>
            <a:off x="7696200" y="1752600"/>
            <a:ext cx="3886200" cy="3886200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CN" sz="3200">
                <a:ea typeface="宋体" charset="-122"/>
              </a:rPr>
              <a:t> MySQL</a:t>
            </a:r>
          </a:p>
        </p:txBody>
      </p:sp>
      <p:sp>
        <p:nvSpPr>
          <p:cNvPr id="155651" name="Rectangle 4"/>
          <p:cNvSpPr>
            <a:spLocks noChangeArrowheads="1"/>
          </p:cNvSpPr>
          <p:nvPr/>
        </p:nvSpPr>
        <p:spPr bwMode="auto">
          <a:xfrm>
            <a:off x="3886200" y="2514600"/>
            <a:ext cx="990600" cy="2438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latin typeface="微软雅黑"/>
              </a:rPr>
              <a:t>新</a:t>
            </a:r>
            <a:r>
              <a:rPr lang="en-US" altLang="zh-CN">
                <a:latin typeface="微软雅黑"/>
              </a:rPr>
              <a:t>Cobar</a:t>
            </a:r>
          </a:p>
        </p:txBody>
      </p:sp>
      <p:sp>
        <p:nvSpPr>
          <p:cNvPr id="155652" name="Line 5"/>
          <p:cNvSpPr>
            <a:spLocks noChangeShapeType="1"/>
          </p:cNvSpPr>
          <p:nvPr/>
        </p:nvSpPr>
        <p:spPr bwMode="auto">
          <a:xfrm>
            <a:off x="4876800" y="3200400"/>
            <a:ext cx="2819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5653" name="Text Box 6"/>
          <p:cNvSpPr txBox="1">
            <a:spLocks noChangeArrowheads="1"/>
          </p:cNvSpPr>
          <p:nvPr/>
        </p:nvSpPr>
        <p:spPr bwMode="auto">
          <a:xfrm>
            <a:off x="4800600" y="2909888"/>
            <a:ext cx="2819400" cy="366712"/>
          </a:xfrm>
          <a:prstGeom prst="rect">
            <a:avLst/>
          </a:prstGeom>
          <a:noFill/>
          <a:ln w="3175">
            <a:noFill/>
            <a:prstDash val="dashDot"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>
                <a:latin typeface="Courier New" pitchFamily="49" charset="0"/>
                <a:ea typeface="宋体" charset="-122"/>
              </a:rPr>
              <a:t>select * from offer</a:t>
            </a:r>
          </a:p>
        </p:txBody>
      </p:sp>
      <p:sp>
        <p:nvSpPr>
          <p:cNvPr id="155654" name="Line 7"/>
          <p:cNvSpPr>
            <a:spLocks noChangeShapeType="1"/>
          </p:cNvSpPr>
          <p:nvPr/>
        </p:nvSpPr>
        <p:spPr bwMode="auto">
          <a:xfrm>
            <a:off x="1066800" y="3033713"/>
            <a:ext cx="2819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5655" name="Text Box 8"/>
          <p:cNvSpPr txBox="1">
            <a:spLocks noChangeArrowheads="1"/>
          </p:cNvSpPr>
          <p:nvPr/>
        </p:nvSpPr>
        <p:spPr bwMode="auto">
          <a:xfrm>
            <a:off x="990600" y="2743200"/>
            <a:ext cx="2819400" cy="366713"/>
          </a:xfrm>
          <a:prstGeom prst="rect">
            <a:avLst/>
          </a:prstGeom>
          <a:noFill/>
          <a:ln w="3175">
            <a:noFill/>
            <a:prstDash val="dashDot"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>
                <a:latin typeface="Courier New" pitchFamily="49" charset="0"/>
                <a:ea typeface="宋体" charset="-122"/>
              </a:rPr>
              <a:t>select * from offer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latin typeface="微软雅黑"/>
                <a:ea typeface="微软雅黑"/>
                <a:cs typeface="微软雅黑"/>
              </a:rPr>
              <a:t>基于</a:t>
            </a:r>
            <a:r>
              <a:rPr lang="en-US" altLang="zh-CN" smtClean="0">
                <a:latin typeface="微软雅黑"/>
                <a:ea typeface="微软雅黑"/>
                <a:cs typeface="微软雅黑"/>
              </a:rPr>
              <a:t>MySQL</a:t>
            </a:r>
            <a:r>
              <a:rPr lang="zh-CN" altLang="en-US" smtClean="0">
                <a:latin typeface="微软雅黑"/>
                <a:ea typeface="微软雅黑"/>
                <a:cs typeface="微软雅黑"/>
              </a:rPr>
              <a:t>协议</a:t>
            </a:r>
          </a:p>
        </p:txBody>
      </p:sp>
      <p:sp>
        <p:nvSpPr>
          <p:cNvPr id="156674" name="AutoShape 3"/>
          <p:cNvSpPr>
            <a:spLocks noChangeArrowheads="1"/>
          </p:cNvSpPr>
          <p:nvPr/>
        </p:nvSpPr>
        <p:spPr bwMode="auto">
          <a:xfrm>
            <a:off x="7696200" y="1752600"/>
            <a:ext cx="3886200" cy="3886200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altLang="zh-CN" sz="3200">
                <a:ea typeface="宋体" charset="-122"/>
              </a:rPr>
              <a:t> MySQL</a:t>
            </a:r>
          </a:p>
        </p:txBody>
      </p:sp>
      <p:sp>
        <p:nvSpPr>
          <p:cNvPr id="156675" name="Rectangle 4"/>
          <p:cNvSpPr>
            <a:spLocks noChangeArrowheads="1"/>
          </p:cNvSpPr>
          <p:nvPr/>
        </p:nvSpPr>
        <p:spPr bwMode="auto">
          <a:xfrm>
            <a:off x="3886200" y="2514600"/>
            <a:ext cx="990600" cy="2438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latin typeface="微软雅黑"/>
              </a:rPr>
              <a:t>新</a:t>
            </a:r>
            <a:r>
              <a:rPr lang="en-US" altLang="zh-CN">
                <a:latin typeface="微软雅黑"/>
              </a:rPr>
              <a:t>Cobar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2514600" y="4191000"/>
            <a:ext cx="14097000" cy="457200"/>
            <a:chOff x="192" y="2640"/>
            <a:chExt cx="8880" cy="288"/>
          </a:xfrm>
        </p:grpSpPr>
        <p:sp>
          <p:nvSpPr>
            <p:cNvPr id="156685" name="AutoShape 6"/>
            <p:cNvSpPr>
              <a:spLocks noChangeArrowheads="1"/>
            </p:cNvSpPr>
            <p:nvPr/>
          </p:nvSpPr>
          <p:spPr bwMode="auto">
            <a:xfrm>
              <a:off x="192" y="2640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rgbClr val="DDDDDD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400">
                  <a:latin typeface="Courier New" pitchFamily="49" charset="0"/>
                </a:rPr>
                <a:t>HEADER</a:t>
              </a:r>
            </a:p>
          </p:txBody>
        </p:sp>
        <p:sp>
          <p:nvSpPr>
            <p:cNvPr id="156686" name="AutoShape 7"/>
            <p:cNvSpPr>
              <a:spLocks noChangeArrowheads="1"/>
            </p:cNvSpPr>
            <p:nvPr/>
          </p:nvSpPr>
          <p:spPr bwMode="auto">
            <a:xfrm>
              <a:off x="624" y="2640"/>
              <a:ext cx="384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400">
                  <a:latin typeface="Courier New" pitchFamily="49" charset="0"/>
                </a:rPr>
                <a:t>FIELD</a:t>
              </a:r>
            </a:p>
          </p:txBody>
        </p:sp>
        <p:sp>
          <p:nvSpPr>
            <p:cNvPr id="156687" name="AutoShape 8"/>
            <p:cNvSpPr>
              <a:spLocks noChangeArrowheads="1"/>
            </p:cNvSpPr>
            <p:nvPr/>
          </p:nvSpPr>
          <p:spPr bwMode="auto">
            <a:xfrm>
              <a:off x="1008" y="2640"/>
              <a:ext cx="288" cy="288"/>
            </a:xfrm>
            <a:prstGeom prst="roundRect">
              <a:avLst>
                <a:gd name="adj" fmla="val 16667"/>
              </a:avLst>
            </a:prstGeom>
            <a:solidFill>
              <a:srgbClr val="DDDDDD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400">
                  <a:latin typeface="Courier New" pitchFamily="49" charset="0"/>
                </a:rPr>
                <a:t>EOF</a:t>
              </a:r>
            </a:p>
          </p:txBody>
        </p:sp>
        <p:sp>
          <p:nvSpPr>
            <p:cNvPr id="156688" name="AutoShape 9"/>
            <p:cNvSpPr>
              <a:spLocks noChangeArrowheads="1"/>
            </p:cNvSpPr>
            <p:nvPr/>
          </p:nvSpPr>
          <p:spPr bwMode="auto">
            <a:xfrm>
              <a:off x="1296" y="2640"/>
              <a:ext cx="288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400">
                  <a:latin typeface="Courier New" pitchFamily="49" charset="0"/>
                </a:rPr>
                <a:t>ROW</a:t>
              </a:r>
            </a:p>
          </p:txBody>
        </p:sp>
        <p:sp>
          <p:nvSpPr>
            <p:cNvPr id="156689" name="AutoShape 10"/>
            <p:cNvSpPr>
              <a:spLocks noChangeArrowheads="1"/>
            </p:cNvSpPr>
            <p:nvPr/>
          </p:nvSpPr>
          <p:spPr bwMode="auto">
            <a:xfrm>
              <a:off x="1584" y="2640"/>
              <a:ext cx="288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400">
                  <a:latin typeface="Courier New" pitchFamily="49" charset="0"/>
                </a:rPr>
                <a:t>ROW</a:t>
              </a:r>
            </a:p>
          </p:txBody>
        </p:sp>
        <p:sp>
          <p:nvSpPr>
            <p:cNvPr id="156690" name="AutoShape 11"/>
            <p:cNvSpPr>
              <a:spLocks noChangeArrowheads="1"/>
            </p:cNvSpPr>
            <p:nvPr/>
          </p:nvSpPr>
          <p:spPr bwMode="auto">
            <a:xfrm>
              <a:off x="1872" y="2640"/>
              <a:ext cx="288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400">
                  <a:latin typeface="Courier New" pitchFamily="49" charset="0"/>
                </a:rPr>
                <a:t>ROW</a:t>
              </a:r>
            </a:p>
          </p:txBody>
        </p:sp>
        <p:sp>
          <p:nvSpPr>
            <p:cNvPr id="156691" name="AutoShape 12"/>
            <p:cNvSpPr>
              <a:spLocks noChangeArrowheads="1"/>
            </p:cNvSpPr>
            <p:nvPr/>
          </p:nvSpPr>
          <p:spPr bwMode="auto">
            <a:xfrm>
              <a:off x="2160" y="2640"/>
              <a:ext cx="288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400">
                  <a:latin typeface="Courier New" pitchFamily="49" charset="0"/>
                </a:rPr>
                <a:t>ROW</a:t>
              </a:r>
            </a:p>
          </p:txBody>
        </p:sp>
        <p:sp>
          <p:nvSpPr>
            <p:cNvPr id="156692" name="AutoShape 13"/>
            <p:cNvSpPr>
              <a:spLocks noChangeArrowheads="1"/>
            </p:cNvSpPr>
            <p:nvPr/>
          </p:nvSpPr>
          <p:spPr bwMode="auto">
            <a:xfrm>
              <a:off x="2448" y="2640"/>
              <a:ext cx="288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400">
                  <a:latin typeface="Courier New" pitchFamily="49" charset="0"/>
                </a:rPr>
                <a:t>ROW</a:t>
              </a:r>
            </a:p>
          </p:txBody>
        </p:sp>
        <p:sp>
          <p:nvSpPr>
            <p:cNvPr id="156693" name="AutoShape 14"/>
            <p:cNvSpPr>
              <a:spLocks noChangeArrowheads="1"/>
            </p:cNvSpPr>
            <p:nvPr/>
          </p:nvSpPr>
          <p:spPr bwMode="auto">
            <a:xfrm>
              <a:off x="2736" y="2640"/>
              <a:ext cx="288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400">
                  <a:latin typeface="Courier New" pitchFamily="49" charset="0"/>
                </a:rPr>
                <a:t>ROW</a:t>
              </a:r>
            </a:p>
          </p:txBody>
        </p:sp>
        <p:sp>
          <p:nvSpPr>
            <p:cNvPr id="156694" name="AutoShape 15"/>
            <p:cNvSpPr>
              <a:spLocks noChangeArrowheads="1"/>
            </p:cNvSpPr>
            <p:nvPr/>
          </p:nvSpPr>
          <p:spPr bwMode="auto">
            <a:xfrm>
              <a:off x="3024" y="2640"/>
              <a:ext cx="288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400">
                  <a:latin typeface="Courier New" pitchFamily="49" charset="0"/>
                </a:rPr>
                <a:t>ROW</a:t>
              </a:r>
            </a:p>
          </p:txBody>
        </p:sp>
        <p:sp>
          <p:nvSpPr>
            <p:cNvPr id="156695" name="AutoShape 16"/>
            <p:cNvSpPr>
              <a:spLocks noChangeArrowheads="1"/>
            </p:cNvSpPr>
            <p:nvPr/>
          </p:nvSpPr>
          <p:spPr bwMode="auto">
            <a:xfrm>
              <a:off x="3312" y="2640"/>
              <a:ext cx="288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400">
                  <a:latin typeface="Courier New" pitchFamily="49" charset="0"/>
                </a:rPr>
                <a:t>ROW</a:t>
              </a:r>
            </a:p>
          </p:txBody>
        </p:sp>
        <p:sp>
          <p:nvSpPr>
            <p:cNvPr id="156696" name="AutoShape 17"/>
            <p:cNvSpPr>
              <a:spLocks noChangeArrowheads="1"/>
            </p:cNvSpPr>
            <p:nvPr/>
          </p:nvSpPr>
          <p:spPr bwMode="auto">
            <a:xfrm>
              <a:off x="3600" y="2640"/>
              <a:ext cx="288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400">
                  <a:latin typeface="Courier New" pitchFamily="49" charset="0"/>
                </a:rPr>
                <a:t>ROW</a:t>
              </a:r>
            </a:p>
          </p:txBody>
        </p:sp>
        <p:sp>
          <p:nvSpPr>
            <p:cNvPr id="156697" name="AutoShape 18"/>
            <p:cNvSpPr>
              <a:spLocks noChangeArrowheads="1"/>
            </p:cNvSpPr>
            <p:nvPr/>
          </p:nvSpPr>
          <p:spPr bwMode="auto">
            <a:xfrm>
              <a:off x="3888" y="2640"/>
              <a:ext cx="288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400">
                  <a:latin typeface="Courier New" pitchFamily="49" charset="0"/>
                </a:rPr>
                <a:t>ROW</a:t>
              </a:r>
            </a:p>
          </p:txBody>
        </p:sp>
        <p:sp>
          <p:nvSpPr>
            <p:cNvPr id="156698" name="AutoShape 19"/>
            <p:cNvSpPr>
              <a:spLocks noChangeArrowheads="1"/>
            </p:cNvSpPr>
            <p:nvPr/>
          </p:nvSpPr>
          <p:spPr bwMode="auto">
            <a:xfrm>
              <a:off x="4176" y="2640"/>
              <a:ext cx="288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400">
                  <a:latin typeface="Courier New" pitchFamily="49" charset="0"/>
                </a:rPr>
                <a:t>ROW</a:t>
              </a:r>
            </a:p>
          </p:txBody>
        </p:sp>
        <p:sp>
          <p:nvSpPr>
            <p:cNvPr id="156699" name="AutoShape 20"/>
            <p:cNvSpPr>
              <a:spLocks noChangeArrowheads="1"/>
            </p:cNvSpPr>
            <p:nvPr/>
          </p:nvSpPr>
          <p:spPr bwMode="auto">
            <a:xfrm>
              <a:off x="4464" y="2640"/>
              <a:ext cx="288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400">
                  <a:latin typeface="Courier New" pitchFamily="49" charset="0"/>
                </a:rPr>
                <a:t>ROW</a:t>
              </a:r>
            </a:p>
          </p:txBody>
        </p:sp>
        <p:sp>
          <p:nvSpPr>
            <p:cNvPr id="156700" name="AutoShape 21"/>
            <p:cNvSpPr>
              <a:spLocks noChangeArrowheads="1"/>
            </p:cNvSpPr>
            <p:nvPr/>
          </p:nvSpPr>
          <p:spPr bwMode="auto">
            <a:xfrm>
              <a:off x="4752" y="2640"/>
              <a:ext cx="288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400">
                  <a:latin typeface="Courier New" pitchFamily="49" charset="0"/>
                </a:rPr>
                <a:t>ROW</a:t>
              </a:r>
            </a:p>
          </p:txBody>
        </p:sp>
        <p:sp>
          <p:nvSpPr>
            <p:cNvPr id="156701" name="AutoShape 22"/>
            <p:cNvSpPr>
              <a:spLocks noChangeArrowheads="1"/>
            </p:cNvSpPr>
            <p:nvPr/>
          </p:nvSpPr>
          <p:spPr bwMode="auto">
            <a:xfrm>
              <a:off x="5040" y="2640"/>
              <a:ext cx="288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400">
                  <a:latin typeface="Courier New" pitchFamily="49" charset="0"/>
                </a:rPr>
                <a:t>ROW</a:t>
              </a:r>
            </a:p>
          </p:txBody>
        </p:sp>
        <p:sp>
          <p:nvSpPr>
            <p:cNvPr id="156702" name="AutoShape 23"/>
            <p:cNvSpPr>
              <a:spLocks noChangeArrowheads="1"/>
            </p:cNvSpPr>
            <p:nvPr/>
          </p:nvSpPr>
          <p:spPr bwMode="auto">
            <a:xfrm>
              <a:off x="5328" y="2640"/>
              <a:ext cx="288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400">
                  <a:latin typeface="Courier New" pitchFamily="49" charset="0"/>
                </a:rPr>
                <a:t>ROW</a:t>
              </a:r>
            </a:p>
          </p:txBody>
        </p:sp>
        <p:sp>
          <p:nvSpPr>
            <p:cNvPr id="156703" name="AutoShape 24"/>
            <p:cNvSpPr>
              <a:spLocks noChangeArrowheads="1"/>
            </p:cNvSpPr>
            <p:nvPr/>
          </p:nvSpPr>
          <p:spPr bwMode="auto">
            <a:xfrm>
              <a:off x="5616" y="2640"/>
              <a:ext cx="288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400">
                  <a:latin typeface="Courier New" pitchFamily="49" charset="0"/>
                </a:rPr>
                <a:t>ROW</a:t>
              </a:r>
            </a:p>
          </p:txBody>
        </p:sp>
        <p:sp>
          <p:nvSpPr>
            <p:cNvPr id="156704" name="AutoShape 25"/>
            <p:cNvSpPr>
              <a:spLocks noChangeArrowheads="1"/>
            </p:cNvSpPr>
            <p:nvPr/>
          </p:nvSpPr>
          <p:spPr bwMode="auto">
            <a:xfrm>
              <a:off x="5904" y="2640"/>
              <a:ext cx="288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400">
                  <a:latin typeface="Courier New" pitchFamily="49" charset="0"/>
                </a:rPr>
                <a:t>ROW</a:t>
              </a:r>
            </a:p>
          </p:txBody>
        </p:sp>
        <p:sp>
          <p:nvSpPr>
            <p:cNvPr id="156705" name="AutoShape 26"/>
            <p:cNvSpPr>
              <a:spLocks noChangeArrowheads="1"/>
            </p:cNvSpPr>
            <p:nvPr/>
          </p:nvSpPr>
          <p:spPr bwMode="auto">
            <a:xfrm>
              <a:off x="6192" y="2640"/>
              <a:ext cx="288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400">
                  <a:latin typeface="Courier New" pitchFamily="49" charset="0"/>
                </a:rPr>
                <a:t>ROW</a:t>
              </a:r>
            </a:p>
          </p:txBody>
        </p:sp>
        <p:sp>
          <p:nvSpPr>
            <p:cNvPr id="156706" name="AutoShape 27"/>
            <p:cNvSpPr>
              <a:spLocks noChangeArrowheads="1"/>
            </p:cNvSpPr>
            <p:nvPr/>
          </p:nvSpPr>
          <p:spPr bwMode="auto">
            <a:xfrm>
              <a:off x="6480" y="2640"/>
              <a:ext cx="288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400">
                  <a:latin typeface="Courier New" pitchFamily="49" charset="0"/>
                </a:rPr>
                <a:t>ROW</a:t>
              </a:r>
            </a:p>
          </p:txBody>
        </p:sp>
        <p:sp>
          <p:nvSpPr>
            <p:cNvPr id="156707" name="AutoShape 28"/>
            <p:cNvSpPr>
              <a:spLocks noChangeArrowheads="1"/>
            </p:cNvSpPr>
            <p:nvPr/>
          </p:nvSpPr>
          <p:spPr bwMode="auto">
            <a:xfrm>
              <a:off x="6768" y="2640"/>
              <a:ext cx="288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400">
                  <a:latin typeface="Courier New" pitchFamily="49" charset="0"/>
                </a:rPr>
                <a:t>ROW</a:t>
              </a:r>
            </a:p>
          </p:txBody>
        </p:sp>
        <p:sp>
          <p:nvSpPr>
            <p:cNvPr id="156708" name="AutoShape 29"/>
            <p:cNvSpPr>
              <a:spLocks noChangeArrowheads="1"/>
            </p:cNvSpPr>
            <p:nvPr/>
          </p:nvSpPr>
          <p:spPr bwMode="auto">
            <a:xfrm>
              <a:off x="7056" y="2640"/>
              <a:ext cx="288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400">
                  <a:latin typeface="Courier New" pitchFamily="49" charset="0"/>
                </a:rPr>
                <a:t>ROW</a:t>
              </a:r>
            </a:p>
          </p:txBody>
        </p:sp>
        <p:sp>
          <p:nvSpPr>
            <p:cNvPr id="156709" name="AutoShape 30"/>
            <p:cNvSpPr>
              <a:spLocks noChangeArrowheads="1"/>
            </p:cNvSpPr>
            <p:nvPr/>
          </p:nvSpPr>
          <p:spPr bwMode="auto">
            <a:xfrm>
              <a:off x="7344" y="2640"/>
              <a:ext cx="288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400">
                  <a:latin typeface="Courier New" pitchFamily="49" charset="0"/>
                </a:rPr>
                <a:t>ROW</a:t>
              </a:r>
            </a:p>
          </p:txBody>
        </p:sp>
        <p:sp>
          <p:nvSpPr>
            <p:cNvPr id="156710" name="AutoShape 31"/>
            <p:cNvSpPr>
              <a:spLocks noChangeArrowheads="1"/>
            </p:cNvSpPr>
            <p:nvPr/>
          </p:nvSpPr>
          <p:spPr bwMode="auto">
            <a:xfrm>
              <a:off x="7632" y="2640"/>
              <a:ext cx="288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400">
                  <a:latin typeface="Courier New" pitchFamily="49" charset="0"/>
                </a:rPr>
                <a:t>ROW</a:t>
              </a:r>
            </a:p>
          </p:txBody>
        </p:sp>
        <p:sp>
          <p:nvSpPr>
            <p:cNvPr id="156711" name="AutoShape 32"/>
            <p:cNvSpPr>
              <a:spLocks noChangeArrowheads="1"/>
            </p:cNvSpPr>
            <p:nvPr/>
          </p:nvSpPr>
          <p:spPr bwMode="auto">
            <a:xfrm>
              <a:off x="7920" y="2640"/>
              <a:ext cx="288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400">
                  <a:latin typeface="Courier New" pitchFamily="49" charset="0"/>
                </a:rPr>
                <a:t>ROW</a:t>
              </a:r>
            </a:p>
          </p:txBody>
        </p:sp>
        <p:sp>
          <p:nvSpPr>
            <p:cNvPr id="156712" name="AutoShape 33"/>
            <p:cNvSpPr>
              <a:spLocks noChangeArrowheads="1"/>
            </p:cNvSpPr>
            <p:nvPr/>
          </p:nvSpPr>
          <p:spPr bwMode="auto">
            <a:xfrm>
              <a:off x="8208" y="2640"/>
              <a:ext cx="288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400">
                  <a:latin typeface="Courier New" pitchFamily="49" charset="0"/>
                </a:rPr>
                <a:t>ROW</a:t>
              </a:r>
            </a:p>
          </p:txBody>
        </p:sp>
        <p:sp>
          <p:nvSpPr>
            <p:cNvPr id="156713" name="AutoShape 34"/>
            <p:cNvSpPr>
              <a:spLocks noChangeArrowheads="1"/>
            </p:cNvSpPr>
            <p:nvPr/>
          </p:nvSpPr>
          <p:spPr bwMode="auto">
            <a:xfrm>
              <a:off x="8496" y="2640"/>
              <a:ext cx="288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400">
                  <a:latin typeface="Courier New" pitchFamily="49" charset="0"/>
                </a:rPr>
                <a:t>ROW</a:t>
              </a:r>
            </a:p>
          </p:txBody>
        </p:sp>
        <p:sp>
          <p:nvSpPr>
            <p:cNvPr id="156714" name="AutoShape 35"/>
            <p:cNvSpPr>
              <a:spLocks noChangeArrowheads="1"/>
            </p:cNvSpPr>
            <p:nvPr/>
          </p:nvSpPr>
          <p:spPr bwMode="auto">
            <a:xfrm>
              <a:off x="8784" y="2640"/>
              <a:ext cx="288" cy="288"/>
            </a:xfrm>
            <a:prstGeom prst="roundRect">
              <a:avLst>
                <a:gd name="adj" fmla="val 16667"/>
              </a:avLst>
            </a:prstGeom>
            <a:solidFill>
              <a:srgbClr val="DDDDDD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400">
                  <a:latin typeface="Courier New" pitchFamily="49" charset="0"/>
                </a:rPr>
                <a:t>EOF</a:t>
              </a:r>
            </a:p>
          </p:txBody>
        </p:sp>
      </p:grpSp>
      <p:sp>
        <p:nvSpPr>
          <p:cNvPr id="156677" name="Line 36"/>
          <p:cNvSpPr>
            <a:spLocks noChangeShapeType="1"/>
          </p:cNvSpPr>
          <p:nvPr/>
        </p:nvSpPr>
        <p:spPr bwMode="auto">
          <a:xfrm>
            <a:off x="4876800" y="3200400"/>
            <a:ext cx="2819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6678" name="Text Box 37"/>
          <p:cNvSpPr txBox="1">
            <a:spLocks noChangeArrowheads="1"/>
          </p:cNvSpPr>
          <p:nvPr/>
        </p:nvSpPr>
        <p:spPr bwMode="auto">
          <a:xfrm>
            <a:off x="4800600" y="2909888"/>
            <a:ext cx="2819400" cy="366712"/>
          </a:xfrm>
          <a:prstGeom prst="rect">
            <a:avLst/>
          </a:prstGeom>
          <a:noFill/>
          <a:ln w="3175">
            <a:noFill/>
            <a:prstDash val="dashDot"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>
                <a:latin typeface="Courier New" pitchFamily="49" charset="0"/>
                <a:ea typeface="宋体" charset="-122"/>
              </a:rPr>
              <a:t>select * from offer</a:t>
            </a:r>
          </a:p>
        </p:txBody>
      </p:sp>
      <p:grpSp>
        <p:nvGrpSpPr>
          <p:cNvPr id="3" name="Group 38"/>
          <p:cNvGrpSpPr>
            <a:grpSpLocks/>
          </p:cNvGrpSpPr>
          <p:nvPr/>
        </p:nvGrpSpPr>
        <p:grpSpPr bwMode="auto">
          <a:xfrm>
            <a:off x="2590800" y="4724400"/>
            <a:ext cx="7391400" cy="900113"/>
            <a:chOff x="1632" y="2976"/>
            <a:chExt cx="4656" cy="567"/>
          </a:xfrm>
        </p:grpSpPr>
        <p:sp>
          <p:nvSpPr>
            <p:cNvPr id="156683" name="AutoShape 39"/>
            <p:cNvSpPr>
              <a:spLocks/>
            </p:cNvSpPr>
            <p:nvPr/>
          </p:nvSpPr>
          <p:spPr bwMode="auto">
            <a:xfrm rot="5400000">
              <a:off x="3792" y="816"/>
              <a:ext cx="336" cy="4656"/>
            </a:xfrm>
            <a:prstGeom prst="rightBrace">
              <a:avLst>
                <a:gd name="adj1" fmla="val 115476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en-US"/>
            </a:p>
          </p:txBody>
        </p:sp>
        <p:sp>
          <p:nvSpPr>
            <p:cNvPr id="156684" name="Rectangle 40"/>
            <p:cNvSpPr>
              <a:spLocks noChangeArrowheads="1"/>
            </p:cNvSpPr>
            <p:nvPr/>
          </p:nvSpPr>
          <p:spPr bwMode="auto">
            <a:xfrm>
              <a:off x="3360" y="3312"/>
              <a:ext cx="1262" cy="23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altLang="zh-CN"/>
                <a:t>Result 2GB</a:t>
              </a:r>
            </a:p>
          </p:txBody>
        </p:sp>
      </p:grpSp>
      <p:sp>
        <p:nvSpPr>
          <p:cNvPr id="156680" name="Line 41"/>
          <p:cNvSpPr>
            <a:spLocks noChangeShapeType="1"/>
          </p:cNvSpPr>
          <p:nvPr/>
        </p:nvSpPr>
        <p:spPr bwMode="auto">
          <a:xfrm flipH="1">
            <a:off x="4876800" y="4038600"/>
            <a:ext cx="2819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6681" name="Line 42"/>
          <p:cNvSpPr>
            <a:spLocks noChangeShapeType="1"/>
          </p:cNvSpPr>
          <p:nvPr/>
        </p:nvSpPr>
        <p:spPr bwMode="auto">
          <a:xfrm>
            <a:off x="1066800" y="3033713"/>
            <a:ext cx="2819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6682" name="Text Box 43"/>
          <p:cNvSpPr txBox="1">
            <a:spLocks noChangeArrowheads="1"/>
          </p:cNvSpPr>
          <p:nvPr/>
        </p:nvSpPr>
        <p:spPr bwMode="auto">
          <a:xfrm>
            <a:off x="990600" y="2743200"/>
            <a:ext cx="2819400" cy="366713"/>
          </a:xfrm>
          <a:prstGeom prst="rect">
            <a:avLst/>
          </a:prstGeom>
          <a:noFill/>
          <a:ln w="3175">
            <a:noFill/>
            <a:prstDash val="dashDot"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>
                <a:latin typeface="Courier New" pitchFamily="49" charset="0"/>
                <a:ea typeface="宋体" charset="-122"/>
              </a:rPr>
              <a:t>select * from offer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ea typeface="微软雅黑"/>
                <a:cs typeface="微软雅黑"/>
              </a:rPr>
              <a:t>后台数据访问逻辑层次</a:t>
            </a:r>
          </a:p>
        </p:txBody>
      </p:sp>
      <p:sp>
        <p:nvSpPr>
          <p:cNvPr id="157698" name="AutoShape 3"/>
          <p:cNvSpPr>
            <a:spLocks noChangeArrowheads="1"/>
          </p:cNvSpPr>
          <p:nvPr/>
        </p:nvSpPr>
        <p:spPr bwMode="auto">
          <a:xfrm>
            <a:off x="1066800" y="5105400"/>
            <a:ext cx="457200" cy="838200"/>
          </a:xfrm>
          <a:prstGeom prst="can">
            <a:avLst>
              <a:gd name="adj" fmla="val 46003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微软雅黑"/>
              </a:rPr>
              <a:t>S</a:t>
            </a:r>
          </a:p>
        </p:txBody>
      </p:sp>
      <p:sp>
        <p:nvSpPr>
          <p:cNvPr id="157699" name="AutoShape 4"/>
          <p:cNvSpPr>
            <a:spLocks noChangeArrowheads="1"/>
          </p:cNvSpPr>
          <p:nvPr/>
        </p:nvSpPr>
        <p:spPr bwMode="auto">
          <a:xfrm>
            <a:off x="381000" y="5105400"/>
            <a:ext cx="457200" cy="838200"/>
          </a:xfrm>
          <a:prstGeom prst="can">
            <a:avLst>
              <a:gd name="adj" fmla="val 46003"/>
            </a:avLst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微软雅黑"/>
              </a:rPr>
              <a:t>M</a:t>
            </a:r>
          </a:p>
        </p:txBody>
      </p:sp>
      <p:cxnSp>
        <p:nvCxnSpPr>
          <p:cNvPr id="157700" name="AutoShape 5"/>
          <p:cNvCxnSpPr>
            <a:cxnSpLocks noChangeShapeType="1"/>
            <a:stCxn id="157699" idx="4"/>
            <a:endCxn id="157698" idx="2"/>
          </p:cNvCxnSpPr>
          <p:nvPr/>
        </p:nvCxnSpPr>
        <p:spPr bwMode="auto">
          <a:xfrm>
            <a:off x="838200" y="5524500"/>
            <a:ext cx="228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</p:cxnSp>
      <p:sp>
        <p:nvSpPr>
          <p:cNvPr id="157701" name="Rectangle 6"/>
          <p:cNvSpPr>
            <a:spLocks noChangeArrowheads="1"/>
          </p:cNvSpPr>
          <p:nvPr/>
        </p:nvSpPr>
        <p:spPr bwMode="auto">
          <a:xfrm>
            <a:off x="4876800" y="2438400"/>
            <a:ext cx="38100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400" b="1">
                <a:latin typeface="微软雅黑"/>
              </a:rPr>
              <a:t>HA Pool</a:t>
            </a:r>
          </a:p>
        </p:txBody>
      </p:sp>
      <p:sp>
        <p:nvSpPr>
          <p:cNvPr id="157702" name="Rectangle 7"/>
          <p:cNvSpPr>
            <a:spLocks noChangeArrowheads="1"/>
          </p:cNvSpPr>
          <p:nvPr/>
        </p:nvSpPr>
        <p:spPr bwMode="auto">
          <a:xfrm>
            <a:off x="4876800" y="2819400"/>
            <a:ext cx="38100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itchFamily="18" charset="0"/>
                <a:ea typeface="宋体" charset="-122"/>
                <a:cs typeface="Times New Roman" pitchFamily="18" charset="0"/>
              </a:rPr>
              <a:t>MySQL Protocol Adapter</a:t>
            </a:r>
          </a:p>
        </p:txBody>
      </p:sp>
      <p:sp>
        <p:nvSpPr>
          <p:cNvPr id="157703" name="Rectangle 8"/>
          <p:cNvSpPr>
            <a:spLocks noChangeArrowheads="1"/>
          </p:cNvSpPr>
          <p:nvPr/>
        </p:nvSpPr>
        <p:spPr bwMode="auto">
          <a:xfrm>
            <a:off x="4876800" y="2057400"/>
            <a:ext cx="38100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itchFamily="18" charset="0"/>
                <a:ea typeface="宋体" charset="-122"/>
              </a:rPr>
              <a:t>Data Node</a:t>
            </a:r>
          </a:p>
        </p:txBody>
      </p:sp>
      <p:sp>
        <p:nvSpPr>
          <p:cNvPr id="157704" name="Oval 9"/>
          <p:cNvSpPr>
            <a:spLocks noChangeArrowheads="1"/>
          </p:cNvSpPr>
          <p:nvPr/>
        </p:nvSpPr>
        <p:spPr bwMode="auto">
          <a:xfrm>
            <a:off x="762000" y="43434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7705" name="Rectangle 10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1905000"/>
          </a:xfrm>
        </p:spPr>
        <p:txBody>
          <a:bodyPr/>
          <a:lstStyle/>
          <a:p>
            <a:pPr eaLnBrk="1" hangingPunct="1"/>
            <a:r>
              <a:rPr lang="zh-CN" altLang="en-US" smtClean="0">
                <a:ea typeface="微软雅黑"/>
                <a:cs typeface="微软雅黑"/>
              </a:rPr>
              <a:t>主备连接池</a:t>
            </a:r>
          </a:p>
        </p:txBody>
      </p:sp>
      <p:sp>
        <p:nvSpPr>
          <p:cNvPr id="157706" name="Oval 11"/>
          <p:cNvSpPr>
            <a:spLocks noChangeArrowheads="1"/>
          </p:cNvSpPr>
          <p:nvPr/>
        </p:nvSpPr>
        <p:spPr bwMode="auto">
          <a:xfrm>
            <a:off x="1066800" y="41148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7707" name="Oval 12"/>
          <p:cNvSpPr>
            <a:spLocks noChangeArrowheads="1"/>
          </p:cNvSpPr>
          <p:nvPr/>
        </p:nvSpPr>
        <p:spPr bwMode="auto">
          <a:xfrm>
            <a:off x="990600" y="43434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7708" name="Oval 13"/>
          <p:cNvSpPr>
            <a:spLocks noChangeArrowheads="1"/>
          </p:cNvSpPr>
          <p:nvPr/>
        </p:nvSpPr>
        <p:spPr bwMode="auto">
          <a:xfrm>
            <a:off x="838200" y="41910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7709" name="Oval 14"/>
          <p:cNvSpPr>
            <a:spLocks noChangeArrowheads="1"/>
          </p:cNvSpPr>
          <p:nvPr/>
        </p:nvSpPr>
        <p:spPr bwMode="auto">
          <a:xfrm>
            <a:off x="609600" y="41910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7710" name="Oval 15"/>
          <p:cNvSpPr>
            <a:spLocks noChangeArrowheads="1"/>
          </p:cNvSpPr>
          <p:nvPr/>
        </p:nvSpPr>
        <p:spPr bwMode="auto">
          <a:xfrm>
            <a:off x="1143000" y="42672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7711" name="Oval 16"/>
          <p:cNvSpPr>
            <a:spLocks noChangeArrowheads="1"/>
          </p:cNvSpPr>
          <p:nvPr/>
        </p:nvSpPr>
        <p:spPr bwMode="auto">
          <a:xfrm>
            <a:off x="533400" y="4038600"/>
            <a:ext cx="838200" cy="533400"/>
          </a:xfrm>
          <a:prstGeom prst="ellipse">
            <a:avLst/>
          </a:prstGeom>
          <a:noFill/>
          <a:ln w="6350" algn="ctr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cxnSp>
        <p:nvCxnSpPr>
          <p:cNvPr id="157712" name="AutoShape 17"/>
          <p:cNvCxnSpPr>
            <a:cxnSpLocks noChangeShapeType="1"/>
            <a:stCxn id="157711" idx="4"/>
            <a:endCxn id="157699" idx="1"/>
          </p:cNvCxnSpPr>
          <p:nvPr/>
        </p:nvCxnSpPr>
        <p:spPr bwMode="auto">
          <a:xfrm flipH="1">
            <a:off x="609600" y="4572000"/>
            <a:ext cx="342900" cy="533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57713" name="AutoShape 18"/>
          <p:cNvSpPr>
            <a:spLocks noChangeArrowheads="1"/>
          </p:cNvSpPr>
          <p:nvPr/>
        </p:nvSpPr>
        <p:spPr bwMode="auto">
          <a:xfrm>
            <a:off x="2514600" y="5105400"/>
            <a:ext cx="457200" cy="838200"/>
          </a:xfrm>
          <a:prstGeom prst="can">
            <a:avLst>
              <a:gd name="adj" fmla="val 46003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微软雅黑"/>
              </a:rPr>
              <a:t>S</a:t>
            </a:r>
          </a:p>
        </p:txBody>
      </p:sp>
      <p:sp>
        <p:nvSpPr>
          <p:cNvPr id="157714" name="AutoShape 19"/>
          <p:cNvSpPr>
            <a:spLocks noChangeArrowheads="1"/>
          </p:cNvSpPr>
          <p:nvPr/>
        </p:nvSpPr>
        <p:spPr bwMode="auto">
          <a:xfrm>
            <a:off x="1828800" y="5105400"/>
            <a:ext cx="457200" cy="838200"/>
          </a:xfrm>
          <a:prstGeom prst="can">
            <a:avLst>
              <a:gd name="adj" fmla="val 46003"/>
            </a:avLst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微软雅黑"/>
              </a:rPr>
              <a:t>M</a:t>
            </a:r>
          </a:p>
        </p:txBody>
      </p:sp>
      <p:cxnSp>
        <p:nvCxnSpPr>
          <p:cNvPr id="157715" name="AutoShape 20"/>
          <p:cNvCxnSpPr>
            <a:cxnSpLocks noChangeShapeType="1"/>
            <a:stCxn id="157714" idx="4"/>
            <a:endCxn id="157713" idx="2"/>
          </p:cNvCxnSpPr>
          <p:nvPr/>
        </p:nvCxnSpPr>
        <p:spPr bwMode="auto">
          <a:xfrm>
            <a:off x="2286000" y="5524500"/>
            <a:ext cx="228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</p:cxnSp>
      <p:sp>
        <p:nvSpPr>
          <p:cNvPr id="157716" name="Oval 21"/>
          <p:cNvSpPr>
            <a:spLocks noChangeArrowheads="1"/>
          </p:cNvSpPr>
          <p:nvPr/>
        </p:nvSpPr>
        <p:spPr bwMode="auto">
          <a:xfrm>
            <a:off x="2209800" y="43434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7717" name="Oval 22"/>
          <p:cNvSpPr>
            <a:spLocks noChangeArrowheads="1"/>
          </p:cNvSpPr>
          <p:nvPr/>
        </p:nvSpPr>
        <p:spPr bwMode="auto">
          <a:xfrm>
            <a:off x="2514600" y="41148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7718" name="Oval 23"/>
          <p:cNvSpPr>
            <a:spLocks noChangeArrowheads="1"/>
          </p:cNvSpPr>
          <p:nvPr/>
        </p:nvSpPr>
        <p:spPr bwMode="auto">
          <a:xfrm>
            <a:off x="2438400" y="43434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7719" name="Oval 24"/>
          <p:cNvSpPr>
            <a:spLocks noChangeArrowheads="1"/>
          </p:cNvSpPr>
          <p:nvPr/>
        </p:nvSpPr>
        <p:spPr bwMode="auto">
          <a:xfrm>
            <a:off x="2286000" y="41910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7720" name="Oval 25"/>
          <p:cNvSpPr>
            <a:spLocks noChangeArrowheads="1"/>
          </p:cNvSpPr>
          <p:nvPr/>
        </p:nvSpPr>
        <p:spPr bwMode="auto">
          <a:xfrm>
            <a:off x="2057400" y="41910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7721" name="Oval 26"/>
          <p:cNvSpPr>
            <a:spLocks noChangeArrowheads="1"/>
          </p:cNvSpPr>
          <p:nvPr/>
        </p:nvSpPr>
        <p:spPr bwMode="auto">
          <a:xfrm>
            <a:off x="2590800" y="42672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7722" name="Oval 27"/>
          <p:cNvSpPr>
            <a:spLocks noChangeArrowheads="1"/>
          </p:cNvSpPr>
          <p:nvPr/>
        </p:nvSpPr>
        <p:spPr bwMode="auto">
          <a:xfrm>
            <a:off x="1981200" y="4038600"/>
            <a:ext cx="838200" cy="533400"/>
          </a:xfrm>
          <a:prstGeom prst="ellipse">
            <a:avLst/>
          </a:prstGeom>
          <a:noFill/>
          <a:ln w="6350" algn="ctr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cxnSp>
        <p:nvCxnSpPr>
          <p:cNvPr id="157723" name="AutoShape 28"/>
          <p:cNvCxnSpPr>
            <a:cxnSpLocks noChangeShapeType="1"/>
            <a:stCxn id="157722" idx="4"/>
            <a:endCxn id="157714" idx="1"/>
          </p:cNvCxnSpPr>
          <p:nvPr/>
        </p:nvCxnSpPr>
        <p:spPr bwMode="auto">
          <a:xfrm flipH="1">
            <a:off x="2057400" y="4572000"/>
            <a:ext cx="342900" cy="533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57724" name="AutoShape 29"/>
          <p:cNvSpPr>
            <a:spLocks noChangeArrowheads="1"/>
          </p:cNvSpPr>
          <p:nvPr/>
        </p:nvSpPr>
        <p:spPr bwMode="auto">
          <a:xfrm>
            <a:off x="3962400" y="5105400"/>
            <a:ext cx="457200" cy="838200"/>
          </a:xfrm>
          <a:prstGeom prst="can">
            <a:avLst>
              <a:gd name="adj" fmla="val 46003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微软雅黑"/>
              </a:rPr>
              <a:t>S</a:t>
            </a:r>
          </a:p>
        </p:txBody>
      </p:sp>
      <p:sp>
        <p:nvSpPr>
          <p:cNvPr id="157725" name="AutoShape 30"/>
          <p:cNvSpPr>
            <a:spLocks noChangeArrowheads="1"/>
          </p:cNvSpPr>
          <p:nvPr/>
        </p:nvSpPr>
        <p:spPr bwMode="auto">
          <a:xfrm>
            <a:off x="3276600" y="5105400"/>
            <a:ext cx="457200" cy="838200"/>
          </a:xfrm>
          <a:prstGeom prst="can">
            <a:avLst>
              <a:gd name="adj" fmla="val 46003"/>
            </a:avLst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微软雅黑"/>
              </a:rPr>
              <a:t>M</a:t>
            </a:r>
          </a:p>
        </p:txBody>
      </p:sp>
      <p:cxnSp>
        <p:nvCxnSpPr>
          <p:cNvPr id="157726" name="AutoShape 31"/>
          <p:cNvCxnSpPr>
            <a:cxnSpLocks noChangeShapeType="1"/>
            <a:stCxn id="157725" idx="4"/>
            <a:endCxn id="157724" idx="2"/>
          </p:cNvCxnSpPr>
          <p:nvPr/>
        </p:nvCxnSpPr>
        <p:spPr bwMode="auto">
          <a:xfrm>
            <a:off x="3733800" y="5524500"/>
            <a:ext cx="228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</p:cxnSp>
      <p:sp>
        <p:nvSpPr>
          <p:cNvPr id="157727" name="Oval 32"/>
          <p:cNvSpPr>
            <a:spLocks noChangeArrowheads="1"/>
          </p:cNvSpPr>
          <p:nvPr/>
        </p:nvSpPr>
        <p:spPr bwMode="auto">
          <a:xfrm>
            <a:off x="3657600" y="43434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7728" name="Oval 33"/>
          <p:cNvSpPr>
            <a:spLocks noChangeArrowheads="1"/>
          </p:cNvSpPr>
          <p:nvPr/>
        </p:nvSpPr>
        <p:spPr bwMode="auto">
          <a:xfrm>
            <a:off x="3962400" y="41148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7729" name="Oval 34"/>
          <p:cNvSpPr>
            <a:spLocks noChangeArrowheads="1"/>
          </p:cNvSpPr>
          <p:nvPr/>
        </p:nvSpPr>
        <p:spPr bwMode="auto">
          <a:xfrm>
            <a:off x="3886200" y="43434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7730" name="Oval 35"/>
          <p:cNvSpPr>
            <a:spLocks noChangeArrowheads="1"/>
          </p:cNvSpPr>
          <p:nvPr/>
        </p:nvSpPr>
        <p:spPr bwMode="auto">
          <a:xfrm>
            <a:off x="3733800" y="41910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7731" name="Oval 36"/>
          <p:cNvSpPr>
            <a:spLocks noChangeArrowheads="1"/>
          </p:cNvSpPr>
          <p:nvPr/>
        </p:nvSpPr>
        <p:spPr bwMode="auto">
          <a:xfrm>
            <a:off x="3505200" y="41910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7732" name="Oval 37"/>
          <p:cNvSpPr>
            <a:spLocks noChangeArrowheads="1"/>
          </p:cNvSpPr>
          <p:nvPr/>
        </p:nvSpPr>
        <p:spPr bwMode="auto">
          <a:xfrm>
            <a:off x="4038600" y="42672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7733" name="Oval 38"/>
          <p:cNvSpPr>
            <a:spLocks noChangeArrowheads="1"/>
          </p:cNvSpPr>
          <p:nvPr/>
        </p:nvSpPr>
        <p:spPr bwMode="auto">
          <a:xfrm>
            <a:off x="3429000" y="4038600"/>
            <a:ext cx="838200" cy="533400"/>
          </a:xfrm>
          <a:prstGeom prst="ellipse">
            <a:avLst/>
          </a:prstGeom>
          <a:noFill/>
          <a:ln w="6350" algn="ctr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cxnSp>
        <p:nvCxnSpPr>
          <p:cNvPr id="157734" name="AutoShape 39"/>
          <p:cNvCxnSpPr>
            <a:cxnSpLocks noChangeShapeType="1"/>
            <a:stCxn id="157733" idx="4"/>
            <a:endCxn id="157725" idx="1"/>
          </p:cNvCxnSpPr>
          <p:nvPr/>
        </p:nvCxnSpPr>
        <p:spPr bwMode="auto">
          <a:xfrm flipH="1">
            <a:off x="3505200" y="4572000"/>
            <a:ext cx="342900" cy="533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57735" name="AutoShape 40"/>
          <p:cNvSpPr>
            <a:spLocks noChangeArrowheads="1"/>
          </p:cNvSpPr>
          <p:nvPr/>
        </p:nvSpPr>
        <p:spPr bwMode="auto">
          <a:xfrm>
            <a:off x="5410200" y="5105400"/>
            <a:ext cx="457200" cy="838200"/>
          </a:xfrm>
          <a:prstGeom prst="can">
            <a:avLst>
              <a:gd name="adj" fmla="val 46003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微软雅黑"/>
              </a:rPr>
              <a:t>S</a:t>
            </a:r>
          </a:p>
        </p:txBody>
      </p:sp>
      <p:sp>
        <p:nvSpPr>
          <p:cNvPr id="157736" name="AutoShape 41"/>
          <p:cNvSpPr>
            <a:spLocks noChangeArrowheads="1"/>
          </p:cNvSpPr>
          <p:nvPr/>
        </p:nvSpPr>
        <p:spPr bwMode="auto">
          <a:xfrm>
            <a:off x="4724400" y="5105400"/>
            <a:ext cx="457200" cy="838200"/>
          </a:xfrm>
          <a:prstGeom prst="can">
            <a:avLst>
              <a:gd name="adj" fmla="val 46003"/>
            </a:avLst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微软雅黑"/>
              </a:rPr>
              <a:t>M</a:t>
            </a:r>
          </a:p>
        </p:txBody>
      </p:sp>
      <p:cxnSp>
        <p:nvCxnSpPr>
          <p:cNvPr id="157737" name="AutoShape 42"/>
          <p:cNvCxnSpPr>
            <a:cxnSpLocks noChangeShapeType="1"/>
            <a:stCxn id="157736" idx="4"/>
            <a:endCxn id="157735" idx="2"/>
          </p:cNvCxnSpPr>
          <p:nvPr/>
        </p:nvCxnSpPr>
        <p:spPr bwMode="auto">
          <a:xfrm>
            <a:off x="5181600" y="5524500"/>
            <a:ext cx="228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</p:cxnSp>
      <p:sp>
        <p:nvSpPr>
          <p:cNvPr id="157738" name="Oval 43"/>
          <p:cNvSpPr>
            <a:spLocks noChangeArrowheads="1"/>
          </p:cNvSpPr>
          <p:nvPr/>
        </p:nvSpPr>
        <p:spPr bwMode="auto">
          <a:xfrm>
            <a:off x="5105400" y="43434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7739" name="Oval 44"/>
          <p:cNvSpPr>
            <a:spLocks noChangeArrowheads="1"/>
          </p:cNvSpPr>
          <p:nvPr/>
        </p:nvSpPr>
        <p:spPr bwMode="auto">
          <a:xfrm>
            <a:off x="5410200" y="41148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7740" name="Oval 45"/>
          <p:cNvSpPr>
            <a:spLocks noChangeArrowheads="1"/>
          </p:cNvSpPr>
          <p:nvPr/>
        </p:nvSpPr>
        <p:spPr bwMode="auto">
          <a:xfrm>
            <a:off x="5334000" y="43434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7741" name="Oval 46"/>
          <p:cNvSpPr>
            <a:spLocks noChangeArrowheads="1"/>
          </p:cNvSpPr>
          <p:nvPr/>
        </p:nvSpPr>
        <p:spPr bwMode="auto">
          <a:xfrm>
            <a:off x="5181600" y="41910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7742" name="Oval 47"/>
          <p:cNvSpPr>
            <a:spLocks noChangeArrowheads="1"/>
          </p:cNvSpPr>
          <p:nvPr/>
        </p:nvSpPr>
        <p:spPr bwMode="auto">
          <a:xfrm>
            <a:off x="4953000" y="41910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7743" name="Oval 48"/>
          <p:cNvSpPr>
            <a:spLocks noChangeArrowheads="1"/>
          </p:cNvSpPr>
          <p:nvPr/>
        </p:nvSpPr>
        <p:spPr bwMode="auto">
          <a:xfrm>
            <a:off x="5486400" y="42672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7744" name="Oval 49"/>
          <p:cNvSpPr>
            <a:spLocks noChangeArrowheads="1"/>
          </p:cNvSpPr>
          <p:nvPr/>
        </p:nvSpPr>
        <p:spPr bwMode="auto">
          <a:xfrm>
            <a:off x="4876800" y="4038600"/>
            <a:ext cx="838200" cy="533400"/>
          </a:xfrm>
          <a:prstGeom prst="ellipse">
            <a:avLst/>
          </a:prstGeom>
          <a:noFill/>
          <a:ln w="6350" algn="ctr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cxnSp>
        <p:nvCxnSpPr>
          <p:cNvPr id="157745" name="AutoShape 50"/>
          <p:cNvCxnSpPr>
            <a:cxnSpLocks noChangeShapeType="1"/>
            <a:stCxn id="157744" idx="4"/>
            <a:endCxn id="157736" idx="1"/>
          </p:cNvCxnSpPr>
          <p:nvPr/>
        </p:nvCxnSpPr>
        <p:spPr bwMode="auto">
          <a:xfrm flipH="1">
            <a:off x="4953000" y="4572000"/>
            <a:ext cx="342900" cy="533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57746" name="AutoShape 51"/>
          <p:cNvSpPr>
            <a:spLocks noChangeArrowheads="1"/>
          </p:cNvSpPr>
          <p:nvPr/>
        </p:nvSpPr>
        <p:spPr bwMode="auto">
          <a:xfrm>
            <a:off x="6858000" y="5105400"/>
            <a:ext cx="457200" cy="838200"/>
          </a:xfrm>
          <a:prstGeom prst="can">
            <a:avLst>
              <a:gd name="adj" fmla="val 46003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微软雅黑"/>
              </a:rPr>
              <a:t>S</a:t>
            </a:r>
          </a:p>
        </p:txBody>
      </p:sp>
      <p:sp>
        <p:nvSpPr>
          <p:cNvPr id="157747" name="AutoShape 52"/>
          <p:cNvSpPr>
            <a:spLocks noChangeArrowheads="1"/>
          </p:cNvSpPr>
          <p:nvPr/>
        </p:nvSpPr>
        <p:spPr bwMode="auto">
          <a:xfrm>
            <a:off x="6172200" y="5105400"/>
            <a:ext cx="457200" cy="838200"/>
          </a:xfrm>
          <a:prstGeom prst="can">
            <a:avLst>
              <a:gd name="adj" fmla="val 46003"/>
            </a:avLst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微软雅黑"/>
              </a:rPr>
              <a:t>M</a:t>
            </a:r>
          </a:p>
        </p:txBody>
      </p:sp>
      <p:cxnSp>
        <p:nvCxnSpPr>
          <p:cNvPr id="157748" name="AutoShape 53"/>
          <p:cNvCxnSpPr>
            <a:cxnSpLocks noChangeShapeType="1"/>
            <a:stCxn id="157747" idx="4"/>
            <a:endCxn id="157746" idx="2"/>
          </p:cNvCxnSpPr>
          <p:nvPr/>
        </p:nvCxnSpPr>
        <p:spPr bwMode="auto">
          <a:xfrm>
            <a:off x="6629400" y="5524500"/>
            <a:ext cx="228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</p:cxnSp>
      <p:sp>
        <p:nvSpPr>
          <p:cNvPr id="157749" name="Oval 54"/>
          <p:cNvSpPr>
            <a:spLocks noChangeArrowheads="1"/>
          </p:cNvSpPr>
          <p:nvPr/>
        </p:nvSpPr>
        <p:spPr bwMode="auto">
          <a:xfrm>
            <a:off x="6553200" y="43434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7750" name="Oval 55"/>
          <p:cNvSpPr>
            <a:spLocks noChangeArrowheads="1"/>
          </p:cNvSpPr>
          <p:nvPr/>
        </p:nvSpPr>
        <p:spPr bwMode="auto">
          <a:xfrm>
            <a:off x="6858000" y="41148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7751" name="Oval 56"/>
          <p:cNvSpPr>
            <a:spLocks noChangeArrowheads="1"/>
          </p:cNvSpPr>
          <p:nvPr/>
        </p:nvSpPr>
        <p:spPr bwMode="auto">
          <a:xfrm>
            <a:off x="6781800" y="43434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7752" name="Oval 57"/>
          <p:cNvSpPr>
            <a:spLocks noChangeArrowheads="1"/>
          </p:cNvSpPr>
          <p:nvPr/>
        </p:nvSpPr>
        <p:spPr bwMode="auto">
          <a:xfrm>
            <a:off x="6629400" y="41910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7753" name="Oval 58"/>
          <p:cNvSpPr>
            <a:spLocks noChangeArrowheads="1"/>
          </p:cNvSpPr>
          <p:nvPr/>
        </p:nvSpPr>
        <p:spPr bwMode="auto">
          <a:xfrm>
            <a:off x="6400800" y="41910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7754" name="Oval 59"/>
          <p:cNvSpPr>
            <a:spLocks noChangeArrowheads="1"/>
          </p:cNvSpPr>
          <p:nvPr/>
        </p:nvSpPr>
        <p:spPr bwMode="auto">
          <a:xfrm>
            <a:off x="6934200" y="42672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7755" name="Oval 60"/>
          <p:cNvSpPr>
            <a:spLocks noChangeArrowheads="1"/>
          </p:cNvSpPr>
          <p:nvPr/>
        </p:nvSpPr>
        <p:spPr bwMode="auto">
          <a:xfrm>
            <a:off x="6324600" y="4038600"/>
            <a:ext cx="838200" cy="533400"/>
          </a:xfrm>
          <a:prstGeom prst="ellipse">
            <a:avLst/>
          </a:prstGeom>
          <a:noFill/>
          <a:ln w="6350" algn="ctr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cxnSp>
        <p:nvCxnSpPr>
          <p:cNvPr id="157756" name="AutoShape 61"/>
          <p:cNvCxnSpPr>
            <a:cxnSpLocks noChangeShapeType="1"/>
            <a:stCxn id="157755" idx="4"/>
            <a:endCxn id="157747" idx="1"/>
          </p:cNvCxnSpPr>
          <p:nvPr/>
        </p:nvCxnSpPr>
        <p:spPr bwMode="auto">
          <a:xfrm flipH="1">
            <a:off x="6400800" y="4572000"/>
            <a:ext cx="342900" cy="533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57757" name="AutoShape 62"/>
          <p:cNvSpPr>
            <a:spLocks noChangeArrowheads="1"/>
          </p:cNvSpPr>
          <p:nvPr/>
        </p:nvSpPr>
        <p:spPr bwMode="auto">
          <a:xfrm>
            <a:off x="8305800" y="5105400"/>
            <a:ext cx="457200" cy="838200"/>
          </a:xfrm>
          <a:prstGeom prst="can">
            <a:avLst>
              <a:gd name="adj" fmla="val 46003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微软雅黑"/>
              </a:rPr>
              <a:t>S</a:t>
            </a:r>
          </a:p>
        </p:txBody>
      </p:sp>
      <p:sp>
        <p:nvSpPr>
          <p:cNvPr id="157758" name="AutoShape 63"/>
          <p:cNvSpPr>
            <a:spLocks noChangeArrowheads="1"/>
          </p:cNvSpPr>
          <p:nvPr/>
        </p:nvSpPr>
        <p:spPr bwMode="auto">
          <a:xfrm>
            <a:off x="7620000" y="5105400"/>
            <a:ext cx="457200" cy="838200"/>
          </a:xfrm>
          <a:prstGeom prst="can">
            <a:avLst>
              <a:gd name="adj" fmla="val 46003"/>
            </a:avLst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微软雅黑"/>
              </a:rPr>
              <a:t>M</a:t>
            </a:r>
          </a:p>
        </p:txBody>
      </p:sp>
      <p:cxnSp>
        <p:nvCxnSpPr>
          <p:cNvPr id="157759" name="AutoShape 64"/>
          <p:cNvCxnSpPr>
            <a:cxnSpLocks noChangeShapeType="1"/>
            <a:stCxn id="157758" idx="4"/>
            <a:endCxn id="157757" idx="2"/>
          </p:cNvCxnSpPr>
          <p:nvPr/>
        </p:nvCxnSpPr>
        <p:spPr bwMode="auto">
          <a:xfrm>
            <a:off x="8077200" y="5524500"/>
            <a:ext cx="228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</p:cxnSp>
      <p:sp>
        <p:nvSpPr>
          <p:cNvPr id="157760" name="Oval 65"/>
          <p:cNvSpPr>
            <a:spLocks noChangeArrowheads="1"/>
          </p:cNvSpPr>
          <p:nvPr/>
        </p:nvSpPr>
        <p:spPr bwMode="auto">
          <a:xfrm>
            <a:off x="8001000" y="43434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7761" name="Oval 66"/>
          <p:cNvSpPr>
            <a:spLocks noChangeArrowheads="1"/>
          </p:cNvSpPr>
          <p:nvPr/>
        </p:nvSpPr>
        <p:spPr bwMode="auto">
          <a:xfrm>
            <a:off x="8305800" y="41148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7762" name="Oval 67"/>
          <p:cNvSpPr>
            <a:spLocks noChangeArrowheads="1"/>
          </p:cNvSpPr>
          <p:nvPr/>
        </p:nvSpPr>
        <p:spPr bwMode="auto">
          <a:xfrm>
            <a:off x="8229600" y="43434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7763" name="Oval 68"/>
          <p:cNvSpPr>
            <a:spLocks noChangeArrowheads="1"/>
          </p:cNvSpPr>
          <p:nvPr/>
        </p:nvSpPr>
        <p:spPr bwMode="auto">
          <a:xfrm>
            <a:off x="8077200" y="41910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7764" name="Oval 69"/>
          <p:cNvSpPr>
            <a:spLocks noChangeArrowheads="1"/>
          </p:cNvSpPr>
          <p:nvPr/>
        </p:nvSpPr>
        <p:spPr bwMode="auto">
          <a:xfrm>
            <a:off x="7848600" y="41910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7765" name="Oval 70"/>
          <p:cNvSpPr>
            <a:spLocks noChangeArrowheads="1"/>
          </p:cNvSpPr>
          <p:nvPr/>
        </p:nvSpPr>
        <p:spPr bwMode="auto">
          <a:xfrm>
            <a:off x="8382000" y="42672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7766" name="Oval 71"/>
          <p:cNvSpPr>
            <a:spLocks noChangeArrowheads="1"/>
          </p:cNvSpPr>
          <p:nvPr/>
        </p:nvSpPr>
        <p:spPr bwMode="auto">
          <a:xfrm>
            <a:off x="7772400" y="4038600"/>
            <a:ext cx="838200" cy="533400"/>
          </a:xfrm>
          <a:prstGeom prst="ellipse">
            <a:avLst/>
          </a:prstGeom>
          <a:noFill/>
          <a:ln w="6350" algn="ctr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cxnSp>
        <p:nvCxnSpPr>
          <p:cNvPr id="157767" name="AutoShape 72"/>
          <p:cNvCxnSpPr>
            <a:cxnSpLocks noChangeShapeType="1"/>
            <a:stCxn id="157766" idx="4"/>
            <a:endCxn id="157758" idx="1"/>
          </p:cNvCxnSpPr>
          <p:nvPr/>
        </p:nvCxnSpPr>
        <p:spPr bwMode="auto">
          <a:xfrm flipH="1">
            <a:off x="7848600" y="4572000"/>
            <a:ext cx="342900" cy="533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ea typeface="微软雅黑"/>
                <a:cs typeface="微软雅黑"/>
              </a:rPr>
              <a:t>后台数据访问逻辑层次</a:t>
            </a:r>
          </a:p>
        </p:txBody>
      </p:sp>
      <p:sp>
        <p:nvSpPr>
          <p:cNvPr id="158722" name="AutoShape 3"/>
          <p:cNvSpPr>
            <a:spLocks noChangeArrowheads="1"/>
          </p:cNvSpPr>
          <p:nvPr/>
        </p:nvSpPr>
        <p:spPr bwMode="auto">
          <a:xfrm>
            <a:off x="1066800" y="5105400"/>
            <a:ext cx="457200" cy="838200"/>
          </a:xfrm>
          <a:prstGeom prst="can">
            <a:avLst>
              <a:gd name="adj" fmla="val 46003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微软雅黑"/>
              </a:rPr>
              <a:t>S</a:t>
            </a:r>
          </a:p>
        </p:txBody>
      </p:sp>
      <p:sp>
        <p:nvSpPr>
          <p:cNvPr id="158723" name="AutoShape 4"/>
          <p:cNvSpPr>
            <a:spLocks noChangeArrowheads="1"/>
          </p:cNvSpPr>
          <p:nvPr/>
        </p:nvSpPr>
        <p:spPr bwMode="auto">
          <a:xfrm>
            <a:off x="381000" y="5105400"/>
            <a:ext cx="457200" cy="838200"/>
          </a:xfrm>
          <a:prstGeom prst="can">
            <a:avLst>
              <a:gd name="adj" fmla="val 46003"/>
            </a:avLst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微软雅黑"/>
              </a:rPr>
              <a:t>M</a:t>
            </a:r>
          </a:p>
        </p:txBody>
      </p:sp>
      <p:cxnSp>
        <p:nvCxnSpPr>
          <p:cNvPr id="158724" name="AutoShape 5"/>
          <p:cNvCxnSpPr>
            <a:cxnSpLocks noChangeShapeType="1"/>
            <a:stCxn id="158723" idx="4"/>
            <a:endCxn id="158722" idx="2"/>
          </p:cNvCxnSpPr>
          <p:nvPr/>
        </p:nvCxnSpPr>
        <p:spPr bwMode="auto">
          <a:xfrm>
            <a:off x="838200" y="5524500"/>
            <a:ext cx="228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</p:cxnSp>
      <p:sp>
        <p:nvSpPr>
          <p:cNvPr id="158725" name="Oval 6"/>
          <p:cNvSpPr>
            <a:spLocks noChangeArrowheads="1"/>
          </p:cNvSpPr>
          <p:nvPr/>
        </p:nvSpPr>
        <p:spPr bwMode="auto">
          <a:xfrm>
            <a:off x="762000" y="43434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8726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1905000"/>
          </a:xfrm>
        </p:spPr>
        <p:txBody>
          <a:bodyPr/>
          <a:lstStyle/>
          <a:p>
            <a:pPr eaLnBrk="1" hangingPunct="1"/>
            <a:r>
              <a:rPr lang="zh-CN" altLang="en-US" smtClean="0">
                <a:ea typeface="微软雅黑"/>
                <a:cs typeface="微软雅黑"/>
              </a:rPr>
              <a:t>心跳检测后端连接</a:t>
            </a:r>
          </a:p>
        </p:txBody>
      </p:sp>
      <p:sp>
        <p:nvSpPr>
          <p:cNvPr id="158727" name="Oval 8"/>
          <p:cNvSpPr>
            <a:spLocks noChangeArrowheads="1"/>
          </p:cNvSpPr>
          <p:nvPr/>
        </p:nvSpPr>
        <p:spPr bwMode="auto">
          <a:xfrm>
            <a:off x="1066800" y="41148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8728" name="Oval 9"/>
          <p:cNvSpPr>
            <a:spLocks noChangeArrowheads="1"/>
          </p:cNvSpPr>
          <p:nvPr/>
        </p:nvSpPr>
        <p:spPr bwMode="auto">
          <a:xfrm>
            <a:off x="990600" y="43434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8729" name="Oval 10"/>
          <p:cNvSpPr>
            <a:spLocks noChangeArrowheads="1"/>
          </p:cNvSpPr>
          <p:nvPr/>
        </p:nvSpPr>
        <p:spPr bwMode="auto">
          <a:xfrm>
            <a:off x="838200" y="41910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8730" name="Oval 11"/>
          <p:cNvSpPr>
            <a:spLocks noChangeArrowheads="1"/>
          </p:cNvSpPr>
          <p:nvPr/>
        </p:nvSpPr>
        <p:spPr bwMode="auto">
          <a:xfrm>
            <a:off x="609600" y="41910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8731" name="Oval 12"/>
          <p:cNvSpPr>
            <a:spLocks noChangeArrowheads="1"/>
          </p:cNvSpPr>
          <p:nvPr/>
        </p:nvSpPr>
        <p:spPr bwMode="auto">
          <a:xfrm>
            <a:off x="1143000" y="42672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8732" name="Oval 13"/>
          <p:cNvSpPr>
            <a:spLocks noChangeArrowheads="1"/>
          </p:cNvSpPr>
          <p:nvPr/>
        </p:nvSpPr>
        <p:spPr bwMode="auto">
          <a:xfrm>
            <a:off x="533400" y="4038600"/>
            <a:ext cx="838200" cy="533400"/>
          </a:xfrm>
          <a:prstGeom prst="ellipse">
            <a:avLst/>
          </a:prstGeom>
          <a:noFill/>
          <a:ln w="6350" algn="ctr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cxnSp>
        <p:nvCxnSpPr>
          <p:cNvPr id="158733" name="AutoShape 14"/>
          <p:cNvCxnSpPr>
            <a:cxnSpLocks noChangeShapeType="1"/>
            <a:stCxn id="158732" idx="4"/>
            <a:endCxn id="158723" idx="1"/>
          </p:cNvCxnSpPr>
          <p:nvPr/>
        </p:nvCxnSpPr>
        <p:spPr bwMode="auto">
          <a:xfrm flipH="1">
            <a:off x="609600" y="4572000"/>
            <a:ext cx="342900" cy="533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58734" name="AutoShape 15"/>
          <p:cNvSpPr>
            <a:spLocks noChangeArrowheads="1"/>
          </p:cNvSpPr>
          <p:nvPr/>
        </p:nvSpPr>
        <p:spPr bwMode="auto">
          <a:xfrm>
            <a:off x="2514600" y="5105400"/>
            <a:ext cx="457200" cy="838200"/>
          </a:xfrm>
          <a:prstGeom prst="can">
            <a:avLst>
              <a:gd name="adj" fmla="val 46003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微软雅黑"/>
              </a:rPr>
              <a:t>S</a:t>
            </a:r>
          </a:p>
        </p:txBody>
      </p:sp>
      <p:sp>
        <p:nvSpPr>
          <p:cNvPr id="158735" name="AutoShape 16"/>
          <p:cNvSpPr>
            <a:spLocks noChangeArrowheads="1"/>
          </p:cNvSpPr>
          <p:nvPr/>
        </p:nvSpPr>
        <p:spPr bwMode="auto">
          <a:xfrm>
            <a:off x="1828800" y="5105400"/>
            <a:ext cx="457200" cy="838200"/>
          </a:xfrm>
          <a:prstGeom prst="can">
            <a:avLst>
              <a:gd name="adj" fmla="val 46003"/>
            </a:avLst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微软雅黑"/>
              </a:rPr>
              <a:t>M</a:t>
            </a:r>
          </a:p>
        </p:txBody>
      </p:sp>
      <p:cxnSp>
        <p:nvCxnSpPr>
          <p:cNvPr id="158736" name="AutoShape 17"/>
          <p:cNvCxnSpPr>
            <a:cxnSpLocks noChangeShapeType="1"/>
            <a:stCxn id="158735" idx="4"/>
            <a:endCxn id="158734" idx="2"/>
          </p:cNvCxnSpPr>
          <p:nvPr/>
        </p:nvCxnSpPr>
        <p:spPr bwMode="auto">
          <a:xfrm>
            <a:off x="2286000" y="5524500"/>
            <a:ext cx="228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</p:cxnSp>
      <p:sp>
        <p:nvSpPr>
          <p:cNvPr id="158737" name="Oval 18"/>
          <p:cNvSpPr>
            <a:spLocks noChangeArrowheads="1"/>
          </p:cNvSpPr>
          <p:nvPr/>
        </p:nvSpPr>
        <p:spPr bwMode="auto">
          <a:xfrm>
            <a:off x="2209800" y="43434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8738" name="Oval 19"/>
          <p:cNvSpPr>
            <a:spLocks noChangeArrowheads="1"/>
          </p:cNvSpPr>
          <p:nvPr/>
        </p:nvSpPr>
        <p:spPr bwMode="auto">
          <a:xfrm>
            <a:off x="2514600" y="41148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8739" name="Oval 20"/>
          <p:cNvSpPr>
            <a:spLocks noChangeArrowheads="1"/>
          </p:cNvSpPr>
          <p:nvPr/>
        </p:nvSpPr>
        <p:spPr bwMode="auto">
          <a:xfrm>
            <a:off x="2438400" y="43434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8740" name="Oval 21"/>
          <p:cNvSpPr>
            <a:spLocks noChangeArrowheads="1"/>
          </p:cNvSpPr>
          <p:nvPr/>
        </p:nvSpPr>
        <p:spPr bwMode="auto">
          <a:xfrm>
            <a:off x="2286000" y="41910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8741" name="Oval 22"/>
          <p:cNvSpPr>
            <a:spLocks noChangeArrowheads="1"/>
          </p:cNvSpPr>
          <p:nvPr/>
        </p:nvSpPr>
        <p:spPr bwMode="auto">
          <a:xfrm>
            <a:off x="2057400" y="41910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8742" name="Oval 23"/>
          <p:cNvSpPr>
            <a:spLocks noChangeArrowheads="1"/>
          </p:cNvSpPr>
          <p:nvPr/>
        </p:nvSpPr>
        <p:spPr bwMode="auto">
          <a:xfrm>
            <a:off x="2590800" y="42672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8743" name="Oval 24"/>
          <p:cNvSpPr>
            <a:spLocks noChangeArrowheads="1"/>
          </p:cNvSpPr>
          <p:nvPr/>
        </p:nvSpPr>
        <p:spPr bwMode="auto">
          <a:xfrm>
            <a:off x="1981200" y="4038600"/>
            <a:ext cx="838200" cy="533400"/>
          </a:xfrm>
          <a:prstGeom prst="ellipse">
            <a:avLst/>
          </a:prstGeom>
          <a:noFill/>
          <a:ln w="6350" algn="ctr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cxnSp>
        <p:nvCxnSpPr>
          <p:cNvPr id="158744" name="AutoShape 25"/>
          <p:cNvCxnSpPr>
            <a:cxnSpLocks noChangeShapeType="1"/>
            <a:stCxn id="158743" idx="4"/>
            <a:endCxn id="158735" idx="1"/>
          </p:cNvCxnSpPr>
          <p:nvPr/>
        </p:nvCxnSpPr>
        <p:spPr bwMode="auto">
          <a:xfrm flipH="1">
            <a:off x="2057400" y="4572000"/>
            <a:ext cx="342900" cy="533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58745" name="AutoShape 26"/>
          <p:cNvSpPr>
            <a:spLocks noChangeArrowheads="1"/>
          </p:cNvSpPr>
          <p:nvPr/>
        </p:nvSpPr>
        <p:spPr bwMode="auto">
          <a:xfrm>
            <a:off x="3962400" y="5105400"/>
            <a:ext cx="457200" cy="838200"/>
          </a:xfrm>
          <a:prstGeom prst="can">
            <a:avLst>
              <a:gd name="adj" fmla="val 46003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微软雅黑"/>
              </a:rPr>
              <a:t>S</a:t>
            </a:r>
          </a:p>
        </p:txBody>
      </p:sp>
      <p:sp>
        <p:nvSpPr>
          <p:cNvPr id="158746" name="AutoShape 27"/>
          <p:cNvSpPr>
            <a:spLocks noChangeArrowheads="1"/>
          </p:cNvSpPr>
          <p:nvPr/>
        </p:nvSpPr>
        <p:spPr bwMode="auto">
          <a:xfrm>
            <a:off x="3276600" y="5105400"/>
            <a:ext cx="457200" cy="838200"/>
          </a:xfrm>
          <a:prstGeom prst="can">
            <a:avLst>
              <a:gd name="adj" fmla="val 46003"/>
            </a:avLst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微软雅黑"/>
              </a:rPr>
              <a:t>M</a:t>
            </a:r>
          </a:p>
        </p:txBody>
      </p:sp>
      <p:cxnSp>
        <p:nvCxnSpPr>
          <p:cNvPr id="158747" name="AutoShape 28"/>
          <p:cNvCxnSpPr>
            <a:cxnSpLocks noChangeShapeType="1"/>
            <a:stCxn id="158746" idx="4"/>
            <a:endCxn id="158745" idx="2"/>
          </p:cNvCxnSpPr>
          <p:nvPr/>
        </p:nvCxnSpPr>
        <p:spPr bwMode="auto">
          <a:xfrm>
            <a:off x="3733800" y="5524500"/>
            <a:ext cx="228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</p:cxnSp>
      <p:sp>
        <p:nvSpPr>
          <p:cNvPr id="158748" name="Oval 29"/>
          <p:cNvSpPr>
            <a:spLocks noChangeArrowheads="1"/>
          </p:cNvSpPr>
          <p:nvPr/>
        </p:nvSpPr>
        <p:spPr bwMode="auto">
          <a:xfrm>
            <a:off x="3657600" y="43434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8749" name="Oval 30"/>
          <p:cNvSpPr>
            <a:spLocks noChangeArrowheads="1"/>
          </p:cNvSpPr>
          <p:nvPr/>
        </p:nvSpPr>
        <p:spPr bwMode="auto">
          <a:xfrm>
            <a:off x="3962400" y="41148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8750" name="Oval 31"/>
          <p:cNvSpPr>
            <a:spLocks noChangeArrowheads="1"/>
          </p:cNvSpPr>
          <p:nvPr/>
        </p:nvSpPr>
        <p:spPr bwMode="auto">
          <a:xfrm>
            <a:off x="3886200" y="43434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8751" name="Oval 32"/>
          <p:cNvSpPr>
            <a:spLocks noChangeArrowheads="1"/>
          </p:cNvSpPr>
          <p:nvPr/>
        </p:nvSpPr>
        <p:spPr bwMode="auto">
          <a:xfrm>
            <a:off x="3733800" y="41910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8752" name="Oval 33"/>
          <p:cNvSpPr>
            <a:spLocks noChangeArrowheads="1"/>
          </p:cNvSpPr>
          <p:nvPr/>
        </p:nvSpPr>
        <p:spPr bwMode="auto">
          <a:xfrm>
            <a:off x="3505200" y="41910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8753" name="Oval 34"/>
          <p:cNvSpPr>
            <a:spLocks noChangeArrowheads="1"/>
          </p:cNvSpPr>
          <p:nvPr/>
        </p:nvSpPr>
        <p:spPr bwMode="auto">
          <a:xfrm>
            <a:off x="4038600" y="42672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8754" name="Oval 35"/>
          <p:cNvSpPr>
            <a:spLocks noChangeArrowheads="1"/>
          </p:cNvSpPr>
          <p:nvPr/>
        </p:nvSpPr>
        <p:spPr bwMode="auto">
          <a:xfrm>
            <a:off x="3429000" y="4038600"/>
            <a:ext cx="838200" cy="533400"/>
          </a:xfrm>
          <a:prstGeom prst="ellipse">
            <a:avLst/>
          </a:prstGeom>
          <a:noFill/>
          <a:ln w="6350" algn="ctr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cxnSp>
        <p:nvCxnSpPr>
          <p:cNvPr id="158755" name="AutoShape 36"/>
          <p:cNvCxnSpPr>
            <a:cxnSpLocks noChangeShapeType="1"/>
            <a:stCxn id="158754" idx="4"/>
            <a:endCxn id="158746" idx="1"/>
          </p:cNvCxnSpPr>
          <p:nvPr/>
        </p:nvCxnSpPr>
        <p:spPr bwMode="auto">
          <a:xfrm flipH="1">
            <a:off x="3505200" y="4572000"/>
            <a:ext cx="342900" cy="533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58756" name="AutoShape 37"/>
          <p:cNvSpPr>
            <a:spLocks noChangeArrowheads="1"/>
          </p:cNvSpPr>
          <p:nvPr/>
        </p:nvSpPr>
        <p:spPr bwMode="auto">
          <a:xfrm>
            <a:off x="5410200" y="5105400"/>
            <a:ext cx="457200" cy="838200"/>
          </a:xfrm>
          <a:prstGeom prst="can">
            <a:avLst>
              <a:gd name="adj" fmla="val 46003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微软雅黑"/>
              </a:rPr>
              <a:t>S</a:t>
            </a:r>
          </a:p>
        </p:txBody>
      </p:sp>
      <p:sp>
        <p:nvSpPr>
          <p:cNvPr id="158757" name="AutoShape 38"/>
          <p:cNvSpPr>
            <a:spLocks noChangeArrowheads="1"/>
          </p:cNvSpPr>
          <p:nvPr/>
        </p:nvSpPr>
        <p:spPr bwMode="auto">
          <a:xfrm>
            <a:off x="4724400" y="5105400"/>
            <a:ext cx="457200" cy="838200"/>
          </a:xfrm>
          <a:prstGeom prst="can">
            <a:avLst>
              <a:gd name="adj" fmla="val 46003"/>
            </a:avLst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微软雅黑"/>
              </a:rPr>
              <a:t>M</a:t>
            </a:r>
          </a:p>
        </p:txBody>
      </p:sp>
      <p:cxnSp>
        <p:nvCxnSpPr>
          <p:cNvPr id="158758" name="AutoShape 39"/>
          <p:cNvCxnSpPr>
            <a:cxnSpLocks noChangeShapeType="1"/>
            <a:stCxn id="158757" idx="4"/>
            <a:endCxn id="158756" idx="2"/>
          </p:cNvCxnSpPr>
          <p:nvPr/>
        </p:nvCxnSpPr>
        <p:spPr bwMode="auto">
          <a:xfrm>
            <a:off x="5181600" y="5524500"/>
            <a:ext cx="228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</p:cxnSp>
      <p:sp>
        <p:nvSpPr>
          <p:cNvPr id="158759" name="Oval 40"/>
          <p:cNvSpPr>
            <a:spLocks noChangeArrowheads="1"/>
          </p:cNvSpPr>
          <p:nvPr/>
        </p:nvSpPr>
        <p:spPr bwMode="auto">
          <a:xfrm>
            <a:off x="5105400" y="43434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8760" name="Oval 41"/>
          <p:cNvSpPr>
            <a:spLocks noChangeArrowheads="1"/>
          </p:cNvSpPr>
          <p:nvPr/>
        </p:nvSpPr>
        <p:spPr bwMode="auto">
          <a:xfrm>
            <a:off x="5410200" y="41148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8761" name="Oval 42"/>
          <p:cNvSpPr>
            <a:spLocks noChangeArrowheads="1"/>
          </p:cNvSpPr>
          <p:nvPr/>
        </p:nvSpPr>
        <p:spPr bwMode="auto">
          <a:xfrm>
            <a:off x="5334000" y="43434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8762" name="Oval 43"/>
          <p:cNvSpPr>
            <a:spLocks noChangeArrowheads="1"/>
          </p:cNvSpPr>
          <p:nvPr/>
        </p:nvSpPr>
        <p:spPr bwMode="auto">
          <a:xfrm>
            <a:off x="5181600" y="41910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8763" name="Oval 44"/>
          <p:cNvSpPr>
            <a:spLocks noChangeArrowheads="1"/>
          </p:cNvSpPr>
          <p:nvPr/>
        </p:nvSpPr>
        <p:spPr bwMode="auto">
          <a:xfrm>
            <a:off x="4953000" y="41910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8764" name="Oval 45"/>
          <p:cNvSpPr>
            <a:spLocks noChangeArrowheads="1"/>
          </p:cNvSpPr>
          <p:nvPr/>
        </p:nvSpPr>
        <p:spPr bwMode="auto">
          <a:xfrm>
            <a:off x="5486400" y="42672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8765" name="Oval 46"/>
          <p:cNvSpPr>
            <a:spLocks noChangeArrowheads="1"/>
          </p:cNvSpPr>
          <p:nvPr/>
        </p:nvSpPr>
        <p:spPr bwMode="auto">
          <a:xfrm>
            <a:off x="4876800" y="4038600"/>
            <a:ext cx="838200" cy="533400"/>
          </a:xfrm>
          <a:prstGeom prst="ellipse">
            <a:avLst/>
          </a:prstGeom>
          <a:noFill/>
          <a:ln w="6350" algn="ctr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cxnSp>
        <p:nvCxnSpPr>
          <p:cNvPr id="158766" name="AutoShape 47"/>
          <p:cNvCxnSpPr>
            <a:cxnSpLocks noChangeShapeType="1"/>
            <a:stCxn id="158765" idx="4"/>
            <a:endCxn id="158757" idx="1"/>
          </p:cNvCxnSpPr>
          <p:nvPr/>
        </p:nvCxnSpPr>
        <p:spPr bwMode="auto">
          <a:xfrm flipH="1">
            <a:off x="4953000" y="4572000"/>
            <a:ext cx="342900" cy="533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58767" name="AutoShape 48"/>
          <p:cNvSpPr>
            <a:spLocks noChangeArrowheads="1"/>
          </p:cNvSpPr>
          <p:nvPr/>
        </p:nvSpPr>
        <p:spPr bwMode="auto">
          <a:xfrm>
            <a:off x="6858000" y="5105400"/>
            <a:ext cx="457200" cy="838200"/>
          </a:xfrm>
          <a:prstGeom prst="can">
            <a:avLst>
              <a:gd name="adj" fmla="val 46003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微软雅黑"/>
              </a:rPr>
              <a:t>S</a:t>
            </a:r>
          </a:p>
        </p:txBody>
      </p:sp>
      <p:sp>
        <p:nvSpPr>
          <p:cNvPr id="158768" name="AutoShape 49"/>
          <p:cNvSpPr>
            <a:spLocks noChangeArrowheads="1"/>
          </p:cNvSpPr>
          <p:nvPr/>
        </p:nvSpPr>
        <p:spPr bwMode="auto">
          <a:xfrm>
            <a:off x="6172200" y="5105400"/>
            <a:ext cx="457200" cy="838200"/>
          </a:xfrm>
          <a:prstGeom prst="can">
            <a:avLst>
              <a:gd name="adj" fmla="val 46003"/>
            </a:avLst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微软雅黑"/>
              </a:rPr>
              <a:t>M</a:t>
            </a:r>
          </a:p>
        </p:txBody>
      </p:sp>
      <p:cxnSp>
        <p:nvCxnSpPr>
          <p:cNvPr id="158769" name="AutoShape 50"/>
          <p:cNvCxnSpPr>
            <a:cxnSpLocks noChangeShapeType="1"/>
            <a:stCxn id="158768" idx="4"/>
            <a:endCxn id="158767" idx="2"/>
          </p:cNvCxnSpPr>
          <p:nvPr/>
        </p:nvCxnSpPr>
        <p:spPr bwMode="auto">
          <a:xfrm>
            <a:off x="6629400" y="5524500"/>
            <a:ext cx="228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</p:cxnSp>
      <p:sp>
        <p:nvSpPr>
          <p:cNvPr id="158770" name="Oval 51"/>
          <p:cNvSpPr>
            <a:spLocks noChangeArrowheads="1"/>
          </p:cNvSpPr>
          <p:nvPr/>
        </p:nvSpPr>
        <p:spPr bwMode="auto">
          <a:xfrm>
            <a:off x="6553200" y="43434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8771" name="Oval 52"/>
          <p:cNvSpPr>
            <a:spLocks noChangeArrowheads="1"/>
          </p:cNvSpPr>
          <p:nvPr/>
        </p:nvSpPr>
        <p:spPr bwMode="auto">
          <a:xfrm>
            <a:off x="6858000" y="41148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8772" name="Oval 53"/>
          <p:cNvSpPr>
            <a:spLocks noChangeArrowheads="1"/>
          </p:cNvSpPr>
          <p:nvPr/>
        </p:nvSpPr>
        <p:spPr bwMode="auto">
          <a:xfrm>
            <a:off x="6781800" y="43434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8773" name="Oval 54"/>
          <p:cNvSpPr>
            <a:spLocks noChangeArrowheads="1"/>
          </p:cNvSpPr>
          <p:nvPr/>
        </p:nvSpPr>
        <p:spPr bwMode="auto">
          <a:xfrm>
            <a:off x="6629400" y="41910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8774" name="Oval 55"/>
          <p:cNvSpPr>
            <a:spLocks noChangeArrowheads="1"/>
          </p:cNvSpPr>
          <p:nvPr/>
        </p:nvSpPr>
        <p:spPr bwMode="auto">
          <a:xfrm>
            <a:off x="6400800" y="41910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8775" name="Oval 56"/>
          <p:cNvSpPr>
            <a:spLocks noChangeArrowheads="1"/>
          </p:cNvSpPr>
          <p:nvPr/>
        </p:nvSpPr>
        <p:spPr bwMode="auto">
          <a:xfrm>
            <a:off x="6934200" y="42672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8776" name="Oval 57"/>
          <p:cNvSpPr>
            <a:spLocks noChangeArrowheads="1"/>
          </p:cNvSpPr>
          <p:nvPr/>
        </p:nvSpPr>
        <p:spPr bwMode="auto">
          <a:xfrm>
            <a:off x="6324600" y="4038600"/>
            <a:ext cx="838200" cy="533400"/>
          </a:xfrm>
          <a:prstGeom prst="ellipse">
            <a:avLst/>
          </a:prstGeom>
          <a:noFill/>
          <a:ln w="6350" algn="ctr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cxnSp>
        <p:nvCxnSpPr>
          <p:cNvPr id="158777" name="AutoShape 58"/>
          <p:cNvCxnSpPr>
            <a:cxnSpLocks noChangeShapeType="1"/>
            <a:stCxn id="158776" idx="4"/>
            <a:endCxn id="158768" idx="1"/>
          </p:cNvCxnSpPr>
          <p:nvPr/>
        </p:nvCxnSpPr>
        <p:spPr bwMode="auto">
          <a:xfrm flipH="1">
            <a:off x="6400800" y="4572000"/>
            <a:ext cx="342900" cy="533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58778" name="AutoShape 59"/>
          <p:cNvSpPr>
            <a:spLocks noChangeArrowheads="1"/>
          </p:cNvSpPr>
          <p:nvPr/>
        </p:nvSpPr>
        <p:spPr bwMode="auto">
          <a:xfrm>
            <a:off x="8305800" y="5105400"/>
            <a:ext cx="457200" cy="838200"/>
          </a:xfrm>
          <a:prstGeom prst="can">
            <a:avLst>
              <a:gd name="adj" fmla="val 46003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微软雅黑"/>
              </a:rPr>
              <a:t>S</a:t>
            </a:r>
          </a:p>
        </p:txBody>
      </p:sp>
      <p:sp>
        <p:nvSpPr>
          <p:cNvPr id="158779" name="AutoShape 60"/>
          <p:cNvSpPr>
            <a:spLocks noChangeArrowheads="1"/>
          </p:cNvSpPr>
          <p:nvPr/>
        </p:nvSpPr>
        <p:spPr bwMode="auto">
          <a:xfrm>
            <a:off x="7620000" y="5105400"/>
            <a:ext cx="457200" cy="838200"/>
          </a:xfrm>
          <a:prstGeom prst="can">
            <a:avLst>
              <a:gd name="adj" fmla="val 46003"/>
            </a:avLst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微软雅黑"/>
              </a:rPr>
              <a:t>M</a:t>
            </a:r>
          </a:p>
        </p:txBody>
      </p:sp>
      <p:cxnSp>
        <p:nvCxnSpPr>
          <p:cNvPr id="158780" name="AutoShape 61"/>
          <p:cNvCxnSpPr>
            <a:cxnSpLocks noChangeShapeType="1"/>
            <a:stCxn id="158779" idx="4"/>
            <a:endCxn id="158778" idx="2"/>
          </p:cNvCxnSpPr>
          <p:nvPr/>
        </p:nvCxnSpPr>
        <p:spPr bwMode="auto">
          <a:xfrm>
            <a:off x="8077200" y="5524500"/>
            <a:ext cx="228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</p:cxnSp>
      <p:sp>
        <p:nvSpPr>
          <p:cNvPr id="158781" name="Oval 62"/>
          <p:cNvSpPr>
            <a:spLocks noChangeArrowheads="1"/>
          </p:cNvSpPr>
          <p:nvPr/>
        </p:nvSpPr>
        <p:spPr bwMode="auto">
          <a:xfrm>
            <a:off x="8001000" y="43434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8782" name="Oval 63"/>
          <p:cNvSpPr>
            <a:spLocks noChangeArrowheads="1"/>
          </p:cNvSpPr>
          <p:nvPr/>
        </p:nvSpPr>
        <p:spPr bwMode="auto">
          <a:xfrm>
            <a:off x="8305800" y="41148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8783" name="Oval 64"/>
          <p:cNvSpPr>
            <a:spLocks noChangeArrowheads="1"/>
          </p:cNvSpPr>
          <p:nvPr/>
        </p:nvSpPr>
        <p:spPr bwMode="auto">
          <a:xfrm>
            <a:off x="8229600" y="43434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8784" name="Oval 65"/>
          <p:cNvSpPr>
            <a:spLocks noChangeArrowheads="1"/>
          </p:cNvSpPr>
          <p:nvPr/>
        </p:nvSpPr>
        <p:spPr bwMode="auto">
          <a:xfrm>
            <a:off x="8077200" y="41910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8785" name="Oval 66"/>
          <p:cNvSpPr>
            <a:spLocks noChangeArrowheads="1"/>
          </p:cNvSpPr>
          <p:nvPr/>
        </p:nvSpPr>
        <p:spPr bwMode="auto">
          <a:xfrm>
            <a:off x="7848600" y="41910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8786" name="Oval 67"/>
          <p:cNvSpPr>
            <a:spLocks noChangeArrowheads="1"/>
          </p:cNvSpPr>
          <p:nvPr/>
        </p:nvSpPr>
        <p:spPr bwMode="auto">
          <a:xfrm>
            <a:off x="8382000" y="42672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8787" name="Oval 68"/>
          <p:cNvSpPr>
            <a:spLocks noChangeArrowheads="1"/>
          </p:cNvSpPr>
          <p:nvPr/>
        </p:nvSpPr>
        <p:spPr bwMode="auto">
          <a:xfrm>
            <a:off x="7772400" y="4038600"/>
            <a:ext cx="838200" cy="533400"/>
          </a:xfrm>
          <a:prstGeom prst="ellipse">
            <a:avLst/>
          </a:prstGeom>
          <a:noFill/>
          <a:ln w="6350" algn="ctr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cxnSp>
        <p:nvCxnSpPr>
          <p:cNvPr id="158788" name="AutoShape 69"/>
          <p:cNvCxnSpPr>
            <a:cxnSpLocks noChangeShapeType="1"/>
            <a:stCxn id="158787" idx="4"/>
            <a:endCxn id="158779" idx="1"/>
          </p:cNvCxnSpPr>
          <p:nvPr/>
        </p:nvCxnSpPr>
        <p:spPr bwMode="auto">
          <a:xfrm flipH="1">
            <a:off x="7848600" y="4572000"/>
            <a:ext cx="342900" cy="533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58789" name="Rectangle 70"/>
          <p:cNvSpPr>
            <a:spLocks noChangeArrowheads="1"/>
          </p:cNvSpPr>
          <p:nvPr/>
        </p:nvSpPr>
        <p:spPr bwMode="auto">
          <a:xfrm>
            <a:off x="4876800" y="2438400"/>
            <a:ext cx="38100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400" b="1">
                <a:latin typeface="微软雅黑"/>
              </a:rPr>
              <a:t>HA Pool</a:t>
            </a:r>
          </a:p>
        </p:txBody>
      </p:sp>
      <p:sp>
        <p:nvSpPr>
          <p:cNvPr id="158790" name="Rectangle 71"/>
          <p:cNvSpPr>
            <a:spLocks noChangeArrowheads="1"/>
          </p:cNvSpPr>
          <p:nvPr/>
        </p:nvSpPr>
        <p:spPr bwMode="auto">
          <a:xfrm>
            <a:off x="4876800" y="2819400"/>
            <a:ext cx="38100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/>
              <a:t>MySQL Protocol Adapter</a:t>
            </a:r>
          </a:p>
        </p:txBody>
      </p:sp>
      <p:sp>
        <p:nvSpPr>
          <p:cNvPr id="158791" name="Rectangle 72"/>
          <p:cNvSpPr>
            <a:spLocks noChangeArrowheads="1"/>
          </p:cNvSpPr>
          <p:nvPr/>
        </p:nvSpPr>
        <p:spPr bwMode="auto">
          <a:xfrm>
            <a:off x="4876800" y="2057400"/>
            <a:ext cx="38100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itchFamily="18" charset="0"/>
                <a:ea typeface="宋体" charset="-122"/>
              </a:rPr>
              <a:t>Data Node</a:t>
            </a:r>
          </a:p>
        </p:txBody>
      </p:sp>
      <p:sp>
        <p:nvSpPr>
          <p:cNvPr id="158792" name="Text Box 73"/>
          <p:cNvSpPr txBox="1">
            <a:spLocks noChangeArrowheads="1"/>
          </p:cNvSpPr>
          <p:nvPr/>
        </p:nvSpPr>
        <p:spPr bwMode="auto">
          <a:xfrm>
            <a:off x="533400" y="4662488"/>
            <a:ext cx="45720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>
                <a:solidFill>
                  <a:srgbClr val="FF0000"/>
                </a:solidFill>
                <a:latin typeface="微软雅黑"/>
              </a:rPr>
              <a:t>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ea typeface="微软雅黑"/>
                <a:cs typeface="微软雅黑"/>
              </a:rPr>
              <a:t>后台数据访问逻辑层次</a:t>
            </a:r>
          </a:p>
        </p:txBody>
      </p:sp>
      <p:sp>
        <p:nvSpPr>
          <p:cNvPr id="159746" name="AutoShape 3"/>
          <p:cNvSpPr>
            <a:spLocks noChangeArrowheads="1"/>
          </p:cNvSpPr>
          <p:nvPr/>
        </p:nvSpPr>
        <p:spPr bwMode="auto">
          <a:xfrm>
            <a:off x="1066800" y="5105400"/>
            <a:ext cx="457200" cy="838200"/>
          </a:xfrm>
          <a:prstGeom prst="can">
            <a:avLst>
              <a:gd name="adj" fmla="val 46003"/>
            </a:avLst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微软雅黑"/>
              </a:rPr>
              <a:t>S</a:t>
            </a:r>
          </a:p>
        </p:txBody>
      </p:sp>
      <p:sp>
        <p:nvSpPr>
          <p:cNvPr id="159747" name="AutoShape 4"/>
          <p:cNvSpPr>
            <a:spLocks noChangeArrowheads="1"/>
          </p:cNvSpPr>
          <p:nvPr/>
        </p:nvSpPr>
        <p:spPr bwMode="auto">
          <a:xfrm>
            <a:off x="381000" y="5105400"/>
            <a:ext cx="457200" cy="838200"/>
          </a:xfrm>
          <a:prstGeom prst="can">
            <a:avLst>
              <a:gd name="adj" fmla="val 46003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微软雅黑"/>
              </a:rPr>
              <a:t>M</a:t>
            </a:r>
          </a:p>
        </p:txBody>
      </p:sp>
      <p:cxnSp>
        <p:nvCxnSpPr>
          <p:cNvPr id="159748" name="AutoShape 5"/>
          <p:cNvCxnSpPr>
            <a:cxnSpLocks noChangeShapeType="1"/>
            <a:stCxn id="159747" idx="4"/>
            <a:endCxn id="159746" idx="2"/>
          </p:cNvCxnSpPr>
          <p:nvPr/>
        </p:nvCxnSpPr>
        <p:spPr bwMode="auto">
          <a:xfrm>
            <a:off x="838200" y="5524500"/>
            <a:ext cx="228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</p:cxnSp>
      <p:sp>
        <p:nvSpPr>
          <p:cNvPr id="159749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343400"/>
          </a:xfrm>
        </p:spPr>
        <p:txBody>
          <a:bodyPr/>
          <a:lstStyle/>
          <a:p>
            <a:pPr eaLnBrk="1" hangingPunct="1"/>
            <a:r>
              <a:rPr lang="zh-CN" altLang="en-US" smtClean="0">
                <a:ea typeface="微软雅黑"/>
                <a:cs typeface="微软雅黑"/>
              </a:rPr>
              <a:t>心跳检测后端连接</a:t>
            </a:r>
          </a:p>
          <a:p>
            <a:pPr eaLnBrk="1" hangingPunct="1"/>
            <a:r>
              <a:rPr lang="zh-CN" altLang="en-US" smtClean="0"/>
              <a:t>主库失效自动切换</a:t>
            </a:r>
            <a:br>
              <a:rPr lang="zh-CN" altLang="en-US" smtClean="0"/>
            </a:br>
            <a:r>
              <a:rPr lang="zh-CN" altLang="en-US" smtClean="0"/>
              <a:t>至备库</a:t>
            </a:r>
          </a:p>
          <a:p>
            <a:pPr eaLnBrk="1" hangingPunct="1"/>
            <a:r>
              <a:rPr lang="zh-CN" altLang="en-US" smtClean="0"/>
              <a:t>重置池中连接</a:t>
            </a:r>
          </a:p>
        </p:txBody>
      </p:sp>
      <p:sp>
        <p:nvSpPr>
          <p:cNvPr id="159750" name="Oval 7"/>
          <p:cNvSpPr>
            <a:spLocks noChangeArrowheads="1"/>
          </p:cNvSpPr>
          <p:nvPr/>
        </p:nvSpPr>
        <p:spPr bwMode="auto">
          <a:xfrm>
            <a:off x="533400" y="4038600"/>
            <a:ext cx="838200" cy="533400"/>
          </a:xfrm>
          <a:prstGeom prst="ellipse">
            <a:avLst/>
          </a:prstGeom>
          <a:noFill/>
          <a:ln w="6350" algn="ctr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cxnSp>
        <p:nvCxnSpPr>
          <p:cNvPr id="159751" name="AutoShape 8"/>
          <p:cNvCxnSpPr>
            <a:cxnSpLocks noChangeShapeType="1"/>
            <a:stCxn id="159750" idx="4"/>
            <a:endCxn id="159746" idx="1"/>
          </p:cNvCxnSpPr>
          <p:nvPr/>
        </p:nvCxnSpPr>
        <p:spPr bwMode="auto">
          <a:xfrm>
            <a:off x="952500" y="4572000"/>
            <a:ext cx="342900" cy="533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59752" name="AutoShape 9"/>
          <p:cNvSpPr>
            <a:spLocks noChangeArrowheads="1"/>
          </p:cNvSpPr>
          <p:nvPr/>
        </p:nvSpPr>
        <p:spPr bwMode="auto">
          <a:xfrm>
            <a:off x="2514600" y="5105400"/>
            <a:ext cx="457200" cy="838200"/>
          </a:xfrm>
          <a:prstGeom prst="can">
            <a:avLst>
              <a:gd name="adj" fmla="val 46003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微软雅黑"/>
              </a:rPr>
              <a:t>S</a:t>
            </a:r>
          </a:p>
        </p:txBody>
      </p:sp>
      <p:sp>
        <p:nvSpPr>
          <p:cNvPr id="159753" name="AutoShape 10"/>
          <p:cNvSpPr>
            <a:spLocks noChangeArrowheads="1"/>
          </p:cNvSpPr>
          <p:nvPr/>
        </p:nvSpPr>
        <p:spPr bwMode="auto">
          <a:xfrm>
            <a:off x="1828800" y="5105400"/>
            <a:ext cx="457200" cy="838200"/>
          </a:xfrm>
          <a:prstGeom prst="can">
            <a:avLst>
              <a:gd name="adj" fmla="val 46003"/>
            </a:avLst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微软雅黑"/>
              </a:rPr>
              <a:t>M</a:t>
            </a:r>
          </a:p>
        </p:txBody>
      </p:sp>
      <p:cxnSp>
        <p:nvCxnSpPr>
          <p:cNvPr id="159754" name="AutoShape 11"/>
          <p:cNvCxnSpPr>
            <a:cxnSpLocks noChangeShapeType="1"/>
            <a:stCxn id="159753" idx="4"/>
            <a:endCxn id="159752" idx="2"/>
          </p:cNvCxnSpPr>
          <p:nvPr/>
        </p:nvCxnSpPr>
        <p:spPr bwMode="auto">
          <a:xfrm>
            <a:off x="2286000" y="5524500"/>
            <a:ext cx="228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</p:cxnSp>
      <p:sp>
        <p:nvSpPr>
          <p:cNvPr id="159755" name="Oval 12"/>
          <p:cNvSpPr>
            <a:spLocks noChangeArrowheads="1"/>
          </p:cNvSpPr>
          <p:nvPr/>
        </p:nvSpPr>
        <p:spPr bwMode="auto">
          <a:xfrm>
            <a:off x="2209800" y="43434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9756" name="Oval 13"/>
          <p:cNvSpPr>
            <a:spLocks noChangeArrowheads="1"/>
          </p:cNvSpPr>
          <p:nvPr/>
        </p:nvSpPr>
        <p:spPr bwMode="auto">
          <a:xfrm>
            <a:off x="2514600" y="41148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9757" name="Oval 14"/>
          <p:cNvSpPr>
            <a:spLocks noChangeArrowheads="1"/>
          </p:cNvSpPr>
          <p:nvPr/>
        </p:nvSpPr>
        <p:spPr bwMode="auto">
          <a:xfrm>
            <a:off x="2438400" y="43434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9758" name="Oval 15"/>
          <p:cNvSpPr>
            <a:spLocks noChangeArrowheads="1"/>
          </p:cNvSpPr>
          <p:nvPr/>
        </p:nvSpPr>
        <p:spPr bwMode="auto">
          <a:xfrm>
            <a:off x="2286000" y="41910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9759" name="Oval 16"/>
          <p:cNvSpPr>
            <a:spLocks noChangeArrowheads="1"/>
          </p:cNvSpPr>
          <p:nvPr/>
        </p:nvSpPr>
        <p:spPr bwMode="auto">
          <a:xfrm>
            <a:off x="2057400" y="41910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9760" name="Oval 17"/>
          <p:cNvSpPr>
            <a:spLocks noChangeArrowheads="1"/>
          </p:cNvSpPr>
          <p:nvPr/>
        </p:nvSpPr>
        <p:spPr bwMode="auto">
          <a:xfrm>
            <a:off x="2590800" y="42672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9761" name="Oval 18"/>
          <p:cNvSpPr>
            <a:spLocks noChangeArrowheads="1"/>
          </p:cNvSpPr>
          <p:nvPr/>
        </p:nvSpPr>
        <p:spPr bwMode="auto">
          <a:xfrm>
            <a:off x="1981200" y="4038600"/>
            <a:ext cx="838200" cy="533400"/>
          </a:xfrm>
          <a:prstGeom prst="ellipse">
            <a:avLst/>
          </a:prstGeom>
          <a:noFill/>
          <a:ln w="6350" algn="ctr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cxnSp>
        <p:nvCxnSpPr>
          <p:cNvPr id="159762" name="AutoShape 19"/>
          <p:cNvCxnSpPr>
            <a:cxnSpLocks noChangeShapeType="1"/>
            <a:stCxn id="159761" idx="4"/>
            <a:endCxn id="159753" idx="1"/>
          </p:cNvCxnSpPr>
          <p:nvPr/>
        </p:nvCxnSpPr>
        <p:spPr bwMode="auto">
          <a:xfrm flipH="1">
            <a:off x="2057400" y="4572000"/>
            <a:ext cx="342900" cy="533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59763" name="AutoShape 20"/>
          <p:cNvSpPr>
            <a:spLocks noChangeArrowheads="1"/>
          </p:cNvSpPr>
          <p:nvPr/>
        </p:nvSpPr>
        <p:spPr bwMode="auto">
          <a:xfrm>
            <a:off x="3962400" y="5105400"/>
            <a:ext cx="457200" cy="838200"/>
          </a:xfrm>
          <a:prstGeom prst="can">
            <a:avLst>
              <a:gd name="adj" fmla="val 46003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微软雅黑"/>
              </a:rPr>
              <a:t>S</a:t>
            </a:r>
          </a:p>
        </p:txBody>
      </p:sp>
      <p:sp>
        <p:nvSpPr>
          <p:cNvPr id="159764" name="AutoShape 21"/>
          <p:cNvSpPr>
            <a:spLocks noChangeArrowheads="1"/>
          </p:cNvSpPr>
          <p:nvPr/>
        </p:nvSpPr>
        <p:spPr bwMode="auto">
          <a:xfrm>
            <a:off x="3276600" y="5105400"/>
            <a:ext cx="457200" cy="838200"/>
          </a:xfrm>
          <a:prstGeom prst="can">
            <a:avLst>
              <a:gd name="adj" fmla="val 46003"/>
            </a:avLst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微软雅黑"/>
              </a:rPr>
              <a:t>M</a:t>
            </a:r>
          </a:p>
        </p:txBody>
      </p:sp>
      <p:cxnSp>
        <p:nvCxnSpPr>
          <p:cNvPr id="159765" name="AutoShape 22"/>
          <p:cNvCxnSpPr>
            <a:cxnSpLocks noChangeShapeType="1"/>
            <a:stCxn id="159764" idx="4"/>
            <a:endCxn id="159763" idx="2"/>
          </p:cNvCxnSpPr>
          <p:nvPr/>
        </p:nvCxnSpPr>
        <p:spPr bwMode="auto">
          <a:xfrm>
            <a:off x="3733800" y="5524500"/>
            <a:ext cx="228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</p:cxnSp>
      <p:sp>
        <p:nvSpPr>
          <p:cNvPr id="159766" name="Oval 23"/>
          <p:cNvSpPr>
            <a:spLocks noChangeArrowheads="1"/>
          </p:cNvSpPr>
          <p:nvPr/>
        </p:nvSpPr>
        <p:spPr bwMode="auto">
          <a:xfrm>
            <a:off x="3657600" y="43434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9767" name="Oval 24"/>
          <p:cNvSpPr>
            <a:spLocks noChangeArrowheads="1"/>
          </p:cNvSpPr>
          <p:nvPr/>
        </p:nvSpPr>
        <p:spPr bwMode="auto">
          <a:xfrm>
            <a:off x="3962400" y="41148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9768" name="Oval 25"/>
          <p:cNvSpPr>
            <a:spLocks noChangeArrowheads="1"/>
          </p:cNvSpPr>
          <p:nvPr/>
        </p:nvSpPr>
        <p:spPr bwMode="auto">
          <a:xfrm>
            <a:off x="3886200" y="43434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9769" name="Oval 26"/>
          <p:cNvSpPr>
            <a:spLocks noChangeArrowheads="1"/>
          </p:cNvSpPr>
          <p:nvPr/>
        </p:nvSpPr>
        <p:spPr bwMode="auto">
          <a:xfrm>
            <a:off x="3733800" y="41910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9770" name="Oval 27"/>
          <p:cNvSpPr>
            <a:spLocks noChangeArrowheads="1"/>
          </p:cNvSpPr>
          <p:nvPr/>
        </p:nvSpPr>
        <p:spPr bwMode="auto">
          <a:xfrm>
            <a:off x="3505200" y="41910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9771" name="Oval 28"/>
          <p:cNvSpPr>
            <a:spLocks noChangeArrowheads="1"/>
          </p:cNvSpPr>
          <p:nvPr/>
        </p:nvSpPr>
        <p:spPr bwMode="auto">
          <a:xfrm>
            <a:off x="4038600" y="42672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9772" name="Oval 29"/>
          <p:cNvSpPr>
            <a:spLocks noChangeArrowheads="1"/>
          </p:cNvSpPr>
          <p:nvPr/>
        </p:nvSpPr>
        <p:spPr bwMode="auto">
          <a:xfrm>
            <a:off x="3429000" y="4038600"/>
            <a:ext cx="838200" cy="533400"/>
          </a:xfrm>
          <a:prstGeom prst="ellipse">
            <a:avLst/>
          </a:prstGeom>
          <a:noFill/>
          <a:ln w="6350" algn="ctr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cxnSp>
        <p:nvCxnSpPr>
          <p:cNvPr id="159773" name="AutoShape 30"/>
          <p:cNvCxnSpPr>
            <a:cxnSpLocks noChangeShapeType="1"/>
            <a:stCxn id="159772" idx="4"/>
            <a:endCxn id="159764" idx="1"/>
          </p:cNvCxnSpPr>
          <p:nvPr/>
        </p:nvCxnSpPr>
        <p:spPr bwMode="auto">
          <a:xfrm flipH="1">
            <a:off x="3505200" y="4572000"/>
            <a:ext cx="342900" cy="533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59774" name="AutoShape 31"/>
          <p:cNvSpPr>
            <a:spLocks noChangeArrowheads="1"/>
          </p:cNvSpPr>
          <p:nvPr/>
        </p:nvSpPr>
        <p:spPr bwMode="auto">
          <a:xfrm>
            <a:off x="5410200" y="5105400"/>
            <a:ext cx="457200" cy="838200"/>
          </a:xfrm>
          <a:prstGeom prst="can">
            <a:avLst>
              <a:gd name="adj" fmla="val 46003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微软雅黑"/>
              </a:rPr>
              <a:t>S</a:t>
            </a:r>
          </a:p>
        </p:txBody>
      </p:sp>
      <p:sp>
        <p:nvSpPr>
          <p:cNvPr id="159775" name="AutoShape 32"/>
          <p:cNvSpPr>
            <a:spLocks noChangeArrowheads="1"/>
          </p:cNvSpPr>
          <p:nvPr/>
        </p:nvSpPr>
        <p:spPr bwMode="auto">
          <a:xfrm>
            <a:off x="4724400" y="5105400"/>
            <a:ext cx="457200" cy="838200"/>
          </a:xfrm>
          <a:prstGeom prst="can">
            <a:avLst>
              <a:gd name="adj" fmla="val 46003"/>
            </a:avLst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微软雅黑"/>
              </a:rPr>
              <a:t>M</a:t>
            </a:r>
          </a:p>
        </p:txBody>
      </p:sp>
      <p:cxnSp>
        <p:nvCxnSpPr>
          <p:cNvPr id="159776" name="AutoShape 33"/>
          <p:cNvCxnSpPr>
            <a:cxnSpLocks noChangeShapeType="1"/>
            <a:stCxn id="159775" idx="4"/>
            <a:endCxn id="159774" idx="2"/>
          </p:cNvCxnSpPr>
          <p:nvPr/>
        </p:nvCxnSpPr>
        <p:spPr bwMode="auto">
          <a:xfrm>
            <a:off x="5181600" y="5524500"/>
            <a:ext cx="228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</p:cxnSp>
      <p:sp>
        <p:nvSpPr>
          <p:cNvPr id="159777" name="Oval 34"/>
          <p:cNvSpPr>
            <a:spLocks noChangeArrowheads="1"/>
          </p:cNvSpPr>
          <p:nvPr/>
        </p:nvSpPr>
        <p:spPr bwMode="auto">
          <a:xfrm>
            <a:off x="5105400" y="43434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9778" name="Oval 35"/>
          <p:cNvSpPr>
            <a:spLocks noChangeArrowheads="1"/>
          </p:cNvSpPr>
          <p:nvPr/>
        </p:nvSpPr>
        <p:spPr bwMode="auto">
          <a:xfrm>
            <a:off x="5410200" y="41148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9779" name="Oval 36"/>
          <p:cNvSpPr>
            <a:spLocks noChangeArrowheads="1"/>
          </p:cNvSpPr>
          <p:nvPr/>
        </p:nvSpPr>
        <p:spPr bwMode="auto">
          <a:xfrm>
            <a:off x="5334000" y="43434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9780" name="Oval 37"/>
          <p:cNvSpPr>
            <a:spLocks noChangeArrowheads="1"/>
          </p:cNvSpPr>
          <p:nvPr/>
        </p:nvSpPr>
        <p:spPr bwMode="auto">
          <a:xfrm>
            <a:off x="5181600" y="41910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9781" name="Oval 38"/>
          <p:cNvSpPr>
            <a:spLocks noChangeArrowheads="1"/>
          </p:cNvSpPr>
          <p:nvPr/>
        </p:nvSpPr>
        <p:spPr bwMode="auto">
          <a:xfrm>
            <a:off x="4953000" y="41910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9782" name="Oval 39"/>
          <p:cNvSpPr>
            <a:spLocks noChangeArrowheads="1"/>
          </p:cNvSpPr>
          <p:nvPr/>
        </p:nvSpPr>
        <p:spPr bwMode="auto">
          <a:xfrm>
            <a:off x="5486400" y="42672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9783" name="Oval 40"/>
          <p:cNvSpPr>
            <a:spLocks noChangeArrowheads="1"/>
          </p:cNvSpPr>
          <p:nvPr/>
        </p:nvSpPr>
        <p:spPr bwMode="auto">
          <a:xfrm>
            <a:off x="4876800" y="4038600"/>
            <a:ext cx="838200" cy="533400"/>
          </a:xfrm>
          <a:prstGeom prst="ellipse">
            <a:avLst/>
          </a:prstGeom>
          <a:noFill/>
          <a:ln w="6350" algn="ctr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cxnSp>
        <p:nvCxnSpPr>
          <p:cNvPr id="159784" name="AutoShape 41"/>
          <p:cNvCxnSpPr>
            <a:cxnSpLocks noChangeShapeType="1"/>
            <a:stCxn id="159783" idx="4"/>
            <a:endCxn id="159775" idx="1"/>
          </p:cNvCxnSpPr>
          <p:nvPr/>
        </p:nvCxnSpPr>
        <p:spPr bwMode="auto">
          <a:xfrm flipH="1">
            <a:off x="4953000" y="4572000"/>
            <a:ext cx="342900" cy="533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59785" name="AutoShape 42"/>
          <p:cNvSpPr>
            <a:spLocks noChangeArrowheads="1"/>
          </p:cNvSpPr>
          <p:nvPr/>
        </p:nvSpPr>
        <p:spPr bwMode="auto">
          <a:xfrm>
            <a:off x="6858000" y="5105400"/>
            <a:ext cx="457200" cy="838200"/>
          </a:xfrm>
          <a:prstGeom prst="can">
            <a:avLst>
              <a:gd name="adj" fmla="val 46003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微软雅黑"/>
              </a:rPr>
              <a:t>S</a:t>
            </a:r>
          </a:p>
        </p:txBody>
      </p:sp>
      <p:sp>
        <p:nvSpPr>
          <p:cNvPr id="159786" name="AutoShape 43"/>
          <p:cNvSpPr>
            <a:spLocks noChangeArrowheads="1"/>
          </p:cNvSpPr>
          <p:nvPr/>
        </p:nvSpPr>
        <p:spPr bwMode="auto">
          <a:xfrm>
            <a:off x="6172200" y="5105400"/>
            <a:ext cx="457200" cy="838200"/>
          </a:xfrm>
          <a:prstGeom prst="can">
            <a:avLst>
              <a:gd name="adj" fmla="val 46003"/>
            </a:avLst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微软雅黑"/>
              </a:rPr>
              <a:t>M</a:t>
            </a:r>
          </a:p>
        </p:txBody>
      </p:sp>
      <p:cxnSp>
        <p:nvCxnSpPr>
          <p:cNvPr id="159787" name="AutoShape 44"/>
          <p:cNvCxnSpPr>
            <a:cxnSpLocks noChangeShapeType="1"/>
            <a:stCxn id="159786" idx="4"/>
            <a:endCxn id="159785" idx="2"/>
          </p:cNvCxnSpPr>
          <p:nvPr/>
        </p:nvCxnSpPr>
        <p:spPr bwMode="auto">
          <a:xfrm>
            <a:off x="6629400" y="5524500"/>
            <a:ext cx="228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</p:cxnSp>
      <p:sp>
        <p:nvSpPr>
          <p:cNvPr id="159788" name="Oval 45"/>
          <p:cNvSpPr>
            <a:spLocks noChangeArrowheads="1"/>
          </p:cNvSpPr>
          <p:nvPr/>
        </p:nvSpPr>
        <p:spPr bwMode="auto">
          <a:xfrm>
            <a:off x="6553200" y="43434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9789" name="Oval 46"/>
          <p:cNvSpPr>
            <a:spLocks noChangeArrowheads="1"/>
          </p:cNvSpPr>
          <p:nvPr/>
        </p:nvSpPr>
        <p:spPr bwMode="auto">
          <a:xfrm>
            <a:off x="6858000" y="41148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9790" name="Oval 47"/>
          <p:cNvSpPr>
            <a:spLocks noChangeArrowheads="1"/>
          </p:cNvSpPr>
          <p:nvPr/>
        </p:nvSpPr>
        <p:spPr bwMode="auto">
          <a:xfrm>
            <a:off x="6781800" y="43434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9791" name="Oval 48"/>
          <p:cNvSpPr>
            <a:spLocks noChangeArrowheads="1"/>
          </p:cNvSpPr>
          <p:nvPr/>
        </p:nvSpPr>
        <p:spPr bwMode="auto">
          <a:xfrm>
            <a:off x="6629400" y="41910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9792" name="Oval 49"/>
          <p:cNvSpPr>
            <a:spLocks noChangeArrowheads="1"/>
          </p:cNvSpPr>
          <p:nvPr/>
        </p:nvSpPr>
        <p:spPr bwMode="auto">
          <a:xfrm>
            <a:off x="6400800" y="41910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9793" name="Oval 50"/>
          <p:cNvSpPr>
            <a:spLocks noChangeArrowheads="1"/>
          </p:cNvSpPr>
          <p:nvPr/>
        </p:nvSpPr>
        <p:spPr bwMode="auto">
          <a:xfrm>
            <a:off x="6934200" y="42672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9794" name="Oval 51"/>
          <p:cNvSpPr>
            <a:spLocks noChangeArrowheads="1"/>
          </p:cNvSpPr>
          <p:nvPr/>
        </p:nvSpPr>
        <p:spPr bwMode="auto">
          <a:xfrm>
            <a:off x="6324600" y="4038600"/>
            <a:ext cx="838200" cy="533400"/>
          </a:xfrm>
          <a:prstGeom prst="ellipse">
            <a:avLst/>
          </a:prstGeom>
          <a:noFill/>
          <a:ln w="6350" algn="ctr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cxnSp>
        <p:nvCxnSpPr>
          <p:cNvPr id="159795" name="AutoShape 52"/>
          <p:cNvCxnSpPr>
            <a:cxnSpLocks noChangeShapeType="1"/>
            <a:stCxn id="159794" idx="4"/>
            <a:endCxn id="159786" idx="1"/>
          </p:cNvCxnSpPr>
          <p:nvPr/>
        </p:nvCxnSpPr>
        <p:spPr bwMode="auto">
          <a:xfrm flipH="1">
            <a:off x="6400800" y="4572000"/>
            <a:ext cx="342900" cy="533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59796" name="AutoShape 53"/>
          <p:cNvSpPr>
            <a:spLocks noChangeArrowheads="1"/>
          </p:cNvSpPr>
          <p:nvPr/>
        </p:nvSpPr>
        <p:spPr bwMode="auto">
          <a:xfrm>
            <a:off x="8305800" y="5105400"/>
            <a:ext cx="457200" cy="838200"/>
          </a:xfrm>
          <a:prstGeom prst="can">
            <a:avLst>
              <a:gd name="adj" fmla="val 46003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微软雅黑"/>
              </a:rPr>
              <a:t>S</a:t>
            </a:r>
          </a:p>
        </p:txBody>
      </p:sp>
      <p:sp>
        <p:nvSpPr>
          <p:cNvPr id="159797" name="AutoShape 54"/>
          <p:cNvSpPr>
            <a:spLocks noChangeArrowheads="1"/>
          </p:cNvSpPr>
          <p:nvPr/>
        </p:nvSpPr>
        <p:spPr bwMode="auto">
          <a:xfrm>
            <a:off x="7620000" y="5105400"/>
            <a:ext cx="457200" cy="838200"/>
          </a:xfrm>
          <a:prstGeom prst="can">
            <a:avLst>
              <a:gd name="adj" fmla="val 46003"/>
            </a:avLst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微软雅黑"/>
              </a:rPr>
              <a:t>M</a:t>
            </a:r>
          </a:p>
        </p:txBody>
      </p:sp>
      <p:cxnSp>
        <p:nvCxnSpPr>
          <p:cNvPr id="159798" name="AutoShape 55"/>
          <p:cNvCxnSpPr>
            <a:cxnSpLocks noChangeShapeType="1"/>
            <a:stCxn id="159797" idx="4"/>
            <a:endCxn id="159796" idx="2"/>
          </p:cNvCxnSpPr>
          <p:nvPr/>
        </p:nvCxnSpPr>
        <p:spPr bwMode="auto">
          <a:xfrm>
            <a:off x="8077200" y="5524500"/>
            <a:ext cx="228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</p:cxnSp>
      <p:sp>
        <p:nvSpPr>
          <p:cNvPr id="159799" name="Oval 56"/>
          <p:cNvSpPr>
            <a:spLocks noChangeArrowheads="1"/>
          </p:cNvSpPr>
          <p:nvPr/>
        </p:nvSpPr>
        <p:spPr bwMode="auto">
          <a:xfrm>
            <a:off x="8001000" y="43434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9800" name="Oval 57"/>
          <p:cNvSpPr>
            <a:spLocks noChangeArrowheads="1"/>
          </p:cNvSpPr>
          <p:nvPr/>
        </p:nvSpPr>
        <p:spPr bwMode="auto">
          <a:xfrm>
            <a:off x="8305800" y="41148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9801" name="Oval 58"/>
          <p:cNvSpPr>
            <a:spLocks noChangeArrowheads="1"/>
          </p:cNvSpPr>
          <p:nvPr/>
        </p:nvSpPr>
        <p:spPr bwMode="auto">
          <a:xfrm>
            <a:off x="8229600" y="43434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9802" name="Oval 59"/>
          <p:cNvSpPr>
            <a:spLocks noChangeArrowheads="1"/>
          </p:cNvSpPr>
          <p:nvPr/>
        </p:nvSpPr>
        <p:spPr bwMode="auto">
          <a:xfrm>
            <a:off x="8077200" y="41910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9803" name="Oval 60"/>
          <p:cNvSpPr>
            <a:spLocks noChangeArrowheads="1"/>
          </p:cNvSpPr>
          <p:nvPr/>
        </p:nvSpPr>
        <p:spPr bwMode="auto">
          <a:xfrm>
            <a:off x="7848600" y="41910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9804" name="Oval 61"/>
          <p:cNvSpPr>
            <a:spLocks noChangeArrowheads="1"/>
          </p:cNvSpPr>
          <p:nvPr/>
        </p:nvSpPr>
        <p:spPr bwMode="auto">
          <a:xfrm>
            <a:off x="8382000" y="42672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59805" name="Oval 62"/>
          <p:cNvSpPr>
            <a:spLocks noChangeArrowheads="1"/>
          </p:cNvSpPr>
          <p:nvPr/>
        </p:nvSpPr>
        <p:spPr bwMode="auto">
          <a:xfrm>
            <a:off x="7772400" y="4038600"/>
            <a:ext cx="838200" cy="533400"/>
          </a:xfrm>
          <a:prstGeom prst="ellipse">
            <a:avLst/>
          </a:prstGeom>
          <a:noFill/>
          <a:ln w="6350" algn="ctr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cxnSp>
        <p:nvCxnSpPr>
          <p:cNvPr id="159806" name="AutoShape 63"/>
          <p:cNvCxnSpPr>
            <a:cxnSpLocks noChangeShapeType="1"/>
            <a:stCxn id="159805" idx="4"/>
            <a:endCxn id="159797" idx="1"/>
          </p:cNvCxnSpPr>
          <p:nvPr/>
        </p:nvCxnSpPr>
        <p:spPr bwMode="auto">
          <a:xfrm flipH="1">
            <a:off x="7848600" y="4572000"/>
            <a:ext cx="342900" cy="533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59807" name="Rectangle 64"/>
          <p:cNvSpPr>
            <a:spLocks noChangeArrowheads="1"/>
          </p:cNvSpPr>
          <p:nvPr/>
        </p:nvSpPr>
        <p:spPr bwMode="auto">
          <a:xfrm>
            <a:off x="4876800" y="2438400"/>
            <a:ext cx="38100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400" b="1">
                <a:latin typeface="微软雅黑"/>
              </a:rPr>
              <a:t>HA Pool</a:t>
            </a:r>
          </a:p>
        </p:txBody>
      </p:sp>
      <p:sp>
        <p:nvSpPr>
          <p:cNvPr id="159808" name="Rectangle 65"/>
          <p:cNvSpPr>
            <a:spLocks noChangeArrowheads="1"/>
          </p:cNvSpPr>
          <p:nvPr/>
        </p:nvSpPr>
        <p:spPr bwMode="auto">
          <a:xfrm>
            <a:off x="4876800" y="2819400"/>
            <a:ext cx="38100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/>
              <a:t>MySQL Protocol Adapter</a:t>
            </a:r>
          </a:p>
        </p:txBody>
      </p:sp>
      <p:sp>
        <p:nvSpPr>
          <p:cNvPr id="159809" name="Rectangle 66"/>
          <p:cNvSpPr>
            <a:spLocks noChangeArrowheads="1"/>
          </p:cNvSpPr>
          <p:nvPr/>
        </p:nvSpPr>
        <p:spPr bwMode="auto">
          <a:xfrm>
            <a:off x="4876800" y="2057400"/>
            <a:ext cx="38100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itchFamily="18" charset="0"/>
                <a:ea typeface="宋体" charset="-122"/>
              </a:rPr>
              <a:t>Data Node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69" name="Rectangle 2"/>
          <p:cNvSpPr>
            <a:spLocks noChangeArrowheads="1"/>
          </p:cNvSpPr>
          <p:nvPr/>
        </p:nvSpPr>
        <p:spPr bwMode="auto">
          <a:xfrm>
            <a:off x="1676400" y="3581400"/>
            <a:ext cx="1447800" cy="2514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pPr algn="ctr"/>
            <a:r>
              <a:rPr lang="zh-CN" altLang="en-US" b="1">
                <a:solidFill>
                  <a:srgbClr val="FF0000"/>
                </a:solidFill>
              </a:rPr>
              <a:t>分库</a:t>
            </a:r>
            <a:r>
              <a:rPr lang="en-US" altLang="zh-CN" b="1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60770" name="Rectangle 3"/>
          <p:cNvSpPr>
            <a:spLocks noChangeArrowheads="1"/>
          </p:cNvSpPr>
          <p:nvPr/>
        </p:nvSpPr>
        <p:spPr bwMode="auto">
          <a:xfrm>
            <a:off x="3124200" y="3581400"/>
            <a:ext cx="1447800" cy="2514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pPr algn="ctr"/>
            <a:r>
              <a:rPr lang="zh-CN" altLang="en-US" b="1">
                <a:solidFill>
                  <a:srgbClr val="FF0000"/>
                </a:solidFill>
              </a:rPr>
              <a:t>分库</a:t>
            </a:r>
            <a:r>
              <a:rPr lang="en-US" altLang="zh-CN" b="1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60771" name="Rectangle 4"/>
          <p:cNvSpPr>
            <a:spLocks noChangeArrowheads="1"/>
          </p:cNvSpPr>
          <p:nvPr/>
        </p:nvSpPr>
        <p:spPr bwMode="auto">
          <a:xfrm>
            <a:off x="4572000" y="3581400"/>
            <a:ext cx="1447800" cy="2514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pPr algn="ctr"/>
            <a:r>
              <a:rPr lang="zh-CN" altLang="en-US" b="1">
                <a:solidFill>
                  <a:srgbClr val="FF0000"/>
                </a:solidFill>
              </a:rPr>
              <a:t>分库</a:t>
            </a:r>
            <a:r>
              <a:rPr lang="en-US" altLang="zh-CN" b="1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60772" name="Rectangle 5"/>
          <p:cNvSpPr>
            <a:spLocks noChangeArrowheads="1"/>
          </p:cNvSpPr>
          <p:nvPr/>
        </p:nvSpPr>
        <p:spPr bwMode="auto">
          <a:xfrm>
            <a:off x="6019800" y="3581400"/>
            <a:ext cx="1447800" cy="2514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pPr algn="ctr"/>
            <a:r>
              <a:rPr lang="zh-CN" altLang="en-US" b="1">
                <a:solidFill>
                  <a:srgbClr val="FF0000"/>
                </a:solidFill>
              </a:rPr>
              <a:t>分库</a:t>
            </a:r>
            <a:r>
              <a:rPr lang="en-US" altLang="zh-CN" b="1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160773" name="Rectangle 6"/>
          <p:cNvSpPr>
            <a:spLocks noChangeArrowheads="1"/>
          </p:cNvSpPr>
          <p:nvPr/>
        </p:nvSpPr>
        <p:spPr bwMode="auto">
          <a:xfrm>
            <a:off x="7467600" y="3581400"/>
            <a:ext cx="1447800" cy="2514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pPr algn="ctr"/>
            <a:r>
              <a:rPr lang="zh-CN" altLang="en-US" b="1">
                <a:solidFill>
                  <a:srgbClr val="FF0000"/>
                </a:solidFill>
              </a:rPr>
              <a:t>分库</a:t>
            </a:r>
            <a:r>
              <a:rPr lang="en-US" altLang="zh-CN" b="1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60774" name="Rectangle 7"/>
          <p:cNvSpPr>
            <a:spLocks noChangeArrowheads="1"/>
          </p:cNvSpPr>
          <p:nvPr/>
        </p:nvSpPr>
        <p:spPr bwMode="auto">
          <a:xfrm>
            <a:off x="228600" y="3581400"/>
            <a:ext cx="1447800" cy="2514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pPr algn="ctr"/>
            <a:r>
              <a:rPr lang="zh-CN" altLang="en-US" b="1">
                <a:solidFill>
                  <a:srgbClr val="FF0000"/>
                </a:solidFill>
              </a:rPr>
              <a:t>分库</a:t>
            </a:r>
            <a:r>
              <a:rPr lang="en-US" altLang="zh-CN" b="1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60775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ea typeface="微软雅黑"/>
                <a:cs typeface="微软雅黑"/>
              </a:rPr>
              <a:t>后台数据访问逻辑层次</a:t>
            </a:r>
          </a:p>
        </p:txBody>
      </p:sp>
      <p:sp>
        <p:nvSpPr>
          <p:cNvPr id="160776" name="AutoShape 9"/>
          <p:cNvSpPr>
            <a:spLocks noChangeArrowheads="1"/>
          </p:cNvSpPr>
          <p:nvPr/>
        </p:nvSpPr>
        <p:spPr bwMode="auto">
          <a:xfrm>
            <a:off x="1066800" y="5105400"/>
            <a:ext cx="457200" cy="838200"/>
          </a:xfrm>
          <a:prstGeom prst="can">
            <a:avLst>
              <a:gd name="adj" fmla="val 46003"/>
            </a:avLst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微软雅黑"/>
              </a:rPr>
              <a:t>S</a:t>
            </a:r>
          </a:p>
        </p:txBody>
      </p:sp>
      <p:sp>
        <p:nvSpPr>
          <p:cNvPr id="160777" name="AutoShape 10"/>
          <p:cNvSpPr>
            <a:spLocks noChangeArrowheads="1"/>
          </p:cNvSpPr>
          <p:nvPr/>
        </p:nvSpPr>
        <p:spPr bwMode="auto">
          <a:xfrm>
            <a:off x="381000" y="5105400"/>
            <a:ext cx="457200" cy="838200"/>
          </a:xfrm>
          <a:prstGeom prst="can">
            <a:avLst>
              <a:gd name="adj" fmla="val 46003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微软雅黑"/>
              </a:rPr>
              <a:t>M</a:t>
            </a:r>
          </a:p>
        </p:txBody>
      </p:sp>
      <p:cxnSp>
        <p:nvCxnSpPr>
          <p:cNvPr id="160778" name="AutoShape 11"/>
          <p:cNvCxnSpPr>
            <a:cxnSpLocks noChangeShapeType="1"/>
            <a:stCxn id="160777" idx="4"/>
            <a:endCxn id="160776" idx="2"/>
          </p:cNvCxnSpPr>
          <p:nvPr/>
        </p:nvCxnSpPr>
        <p:spPr bwMode="auto">
          <a:xfrm>
            <a:off x="838200" y="5524500"/>
            <a:ext cx="228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</p:cxnSp>
      <p:sp>
        <p:nvSpPr>
          <p:cNvPr id="160779" name="Rectangle 12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343400"/>
          </a:xfrm>
        </p:spPr>
        <p:txBody>
          <a:bodyPr/>
          <a:lstStyle/>
          <a:p>
            <a:pPr eaLnBrk="1" hangingPunct="1"/>
            <a:r>
              <a:rPr lang="zh-CN" altLang="en-US" smtClean="0">
                <a:ea typeface="微软雅黑"/>
                <a:cs typeface="微软雅黑"/>
              </a:rPr>
              <a:t>水平拆分的分库</a:t>
            </a:r>
          </a:p>
        </p:txBody>
      </p:sp>
      <p:sp>
        <p:nvSpPr>
          <p:cNvPr id="160780" name="Oval 13"/>
          <p:cNvSpPr>
            <a:spLocks noChangeArrowheads="1"/>
          </p:cNvSpPr>
          <p:nvPr/>
        </p:nvSpPr>
        <p:spPr bwMode="auto">
          <a:xfrm>
            <a:off x="533400" y="4038600"/>
            <a:ext cx="838200" cy="533400"/>
          </a:xfrm>
          <a:prstGeom prst="ellipse">
            <a:avLst/>
          </a:prstGeom>
          <a:noFill/>
          <a:ln w="6350" algn="ctr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cxnSp>
        <p:nvCxnSpPr>
          <p:cNvPr id="160781" name="AutoShape 14"/>
          <p:cNvCxnSpPr>
            <a:cxnSpLocks noChangeShapeType="1"/>
            <a:stCxn id="160780" idx="4"/>
            <a:endCxn id="160776" idx="1"/>
          </p:cNvCxnSpPr>
          <p:nvPr/>
        </p:nvCxnSpPr>
        <p:spPr bwMode="auto">
          <a:xfrm>
            <a:off x="952500" y="4572000"/>
            <a:ext cx="342900" cy="533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60782" name="AutoShape 15"/>
          <p:cNvSpPr>
            <a:spLocks noChangeArrowheads="1"/>
          </p:cNvSpPr>
          <p:nvPr/>
        </p:nvSpPr>
        <p:spPr bwMode="auto">
          <a:xfrm>
            <a:off x="2514600" y="5105400"/>
            <a:ext cx="457200" cy="838200"/>
          </a:xfrm>
          <a:prstGeom prst="can">
            <a:avLst>
              <a:gd name="adj" fmla="val 46003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微软雅黑"/>
              </a:rPr>
              <a:t>S</a:t>
            </a:r>
          </a:p>
        </p:txBody>
      </p:sp>
      <p:sp>
        <p:nvSpPr>
          <p:cNvPr id="160783" name="AutoShape 16"/>
          <p:cNvSpPr>
            <a:spLocks noChangeArrowheads="1"/>
          </p:cNvSpPr>
          <p:nvPr/>
        </p:nvSpPr>
        <p:spPr bwMode="auto">
          <a:xfrm>
            <a:off x="1828800" y="5105400"/>
            <a:ext cx="457200" cy="838200"/>
          </a:xfrm>
          <a:prstGeom prst="can">
            <a:avLst>
              <a:gd name="adj" fmla="val 46003"/>
            </a:avLst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微软雅黑"/>
              </a:rPr>
              <a:t>M</a:t>
            </a:r>
          </a:p>
        </p:txBody>
      </p:sp>
      <p:cxnSp>
        <p:nvCxnSpPr>
          <p:cNvPr id="160784" name="AutoShape 17"/>
          <p:cNvCxnSpPr>
            <a:cxnSpLocks noChangeShapeType="1"/>
            <a:stCxn id="160783" idx="4"/>
            <a:endCxn id="160782" idx="2"/>
          </p:cNvCxnSpPr>
          <p:nvPr/>
        </p:nvCxnSpPr>
        <p:spPr bwMode="auto">
          <a:xfrm>
            <a:off x="2286000" y="5524500"/>
            <a:ext cx="228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</p:cxnSp>
      <p:sp>
        <p:nvSpPr>
          <p:cNvPr id="160785" name="Oval 18"/>
          <p:cNvSpPr>
            <a:spLocks noChangeArrowheads="1"/>
          </p:cNvSpPr>
          <p:nvPr/>
        </p:nvSpPr>
        <p:spPr bwMode="auto">
          <a:xfrm>
            <a:off x="2209800" y="43434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0786" name="Oval 19"/>
          <p:cNvSpPr>
            <a:spLocks noChangeArrowheads="1"/>
          </p:cNvSpPr>
          <p:nvPr/>
        </p:nvSpPr>
        <p:spPr bwMode="auto">
          <a:xfrm>
            <a:off x="2514600" y="41148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0787" name="Oval 20"/>
          <p:cNvSpPr>
            <a:spLocks noChangeArrowheads="1"/>
          </p:cNvSpPr>
          <p:nvPr/>
        </p:nvSpPr>
        <p:spPr bwMode="auto">
          <a:xfrm>
            <a:off x="2438400" y="43434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0788" name="Oval 21"/>
          <p:cNvSpPr>
            <a:spLocks noChangeArrowheads="1"/>
          </p:cNvSpPr>
          <p:nvPr/>
        </p:nvSpPr>
        <p:spPr bwMode="auto">
          <a:xfrm>
            <a:off x="2286000" y="41910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0789" name="Oval 22"/>
          <p:cNvSpPr>
            <a:spLocks noChangeArrowheads="1"/>
          </p:cNvSpPr>
          <p:nvPr/>
        </p:nvSpPr>
        <p:spPr bwMode="auto">
          <a:xfrm>
            <a:off x="2057400" y="41910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0790" name="Oval 23"/>
          <p:cNvSpPr>
            <a:spLocks noChangeArrowheads="1"/>
          </p:cNvSpPr>
          <p:nvPr/>
        </p:nvSpPr>
        <p:spPr bwMode="auto">
          <a:xfrm>
            <a:off x="2590800" y="42672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0791" name="Oval 24"/>
          <p:cNvSpPr>
            <a:spLocks noChangeArrowheads="1"/>
          </p:cNvSpPr>
          <p:nvPr/>
        </p:nvSpPr>
        <p:spPr bwMode="auto">
          <a:xfrm>
            <a:off x="1981200" y="4038600"/>
            <a:ext cx="838200" cy="533400"/>
          </a:xfrm>
          <a:prstGeom prst="ellipse">
            <a:avLst/>
          </a:prstGeom>
          <a:noFill/>
          <a:ln w="6350" algn="ctr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cxnSp>
        <p:nvCxnSpPr>
          <p:cNvPr id="160792" name="AutoShape 25"/>
          <p:cNvCxnSpPr>
            <a:cxnSpLocks noChangeShapeType="1"/>
            <a:stCxn id="160791" idx="4"/>
            <a:endCxn id="160783" idx="1"/>
          </p:cNvCxnSpPr>
          <p:nvPr/>
        </p:nvCxnSpPr>
        <p:spPr bwMode="auto">
          <a:xfrm flipH="1">
            <a:off x="2057400" y="4572000"/>
            <a:ext cx="342900" cy="533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60793" name="AutoShape 26"/>
          <p:cNvSpPr>
            <a:spLocks noChangeArrowheads="1"/>
          </p:cNvSpPr>
          <p:nvPr/>
        </p:nvSpPr>
        <p:spPr bwMode="auto">
          <a:xfrm>
            <a:off x="3962400" y="5105400"/>
            <a:ext cx="457200" cy="838200"/>
          </a:xfrm>
          <a:prstGeom prst="can">
            <a:avLst>
              <a:gd name="adj" fmla="val 46003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微软雅黑"/>
              </a:rPr>
              <a:t>S</a:t>
            </a:r>
          </a:p>
        </p:txBody>
      </p:sp>
      <p:sp>
        <p:nvSpPr>
          <p:cNvPr id="160794" name="AutoShape 27"/>
          <p:cNvSpPr>
            <a:spLocks noChangeArrowheads="1"/>
          </p:cNvSpPr>
          <p:nvPr/>
        </p:nvSpPr>
        <p:spPr bwMode="auto">
          <a:xfrm>
            <a:off x="3276600" y="5105400"/>
            <a:ext cx="457200" cy="838200"/>
          </a:xfrm>
          <a:prstGeom prst="can">
            <a:avLst>
              <a:gd name="adj" fmla="val 46003"/>
            </a:avLst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微软雅黑"/>
              </a:rPr>
              <a:t>M</a:t>
            </a:r>
          </a:p>
        </p:txBody>
      </p:sp>
      <p:cxnSp>
        <p:nvCxnSpPr>
          <p:cNvPr id="160795" name="AutoShape 28"/>
          <p:cNvCxnSpPr>
            <a:cxnSpLocks noChangeShapeType="1"/>
            <a:stCxn id="160794" idx="4"/>
            <a:endCxn id="160793" idx="2"/>
          </p:cNvCxnSpPr>
          <p:nvPr/>
        </p:nvCxnSpPr>
        <p:spPr bwMode="auto">
          <a:xfrm>
            <a:off x="3733800" y="5524500"/>
            <a:ext cx="228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</p:cxnSp>
      <p:sp>
        <p:nvSpPr>
          <p:cNvPr id="160796" name="Oval 29"/>
          <p:cNvSpPr>
            <a:spLocks noChangeArrowheads="1"/>
          </p:cNvSpPr>
          <p:nvPr/>
        </p:nvSpPr>
        <p:spPr bwMode="auto">
          <a:xfrm>
            <a:off x="3657600" y="43434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0797" name="Oval 30"/>
          <p:cNvSpPr>
            <a:spLocks noChangeArrowheads="1"/>
          </p:cNvSpPr>
          <p:nvPr/>
        </p:nvSpPr>
        <p:spPr bwMode="auto">
          <a:xfrm>
            <a:off x="3962400" y="41148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0798" name="Oval 31"/>
          <p:cNvSpPr>
            <a:spLocks noChangeArrowheads="1"/>
          </p:cNvSpPr>
          <p:nvPr/>
        </p:nvSpPr>
        <p:spPr bwMode="auto">
          <a:xfrm>
            <a:off x="3886200" y="43434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0799" name="Oval 32"/>
          <p:cNvSpPr>
            <a:spLocks noChangeArrowheads="1"/>
          </p:cNvSpPr>
          <p:nvPr/>
        </p:nvSpPr>
        <p:spPr bwMode="auto">
          <a:xfrm>
            <a:off x="3733800" y="41910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0800" name="Oval 33"/>
          <p:cNvSpPr>
            <a:spLocks noChangeArrowheads="1"/>
          </p:cNvSpPr>
          <p:nvPr/>
        </p:nvSpPr>
        <p:spPr bwMode="auto">
          <a:xfrm>
            <a:off x="3505200" y="41910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0801" name="Oval 34"/>
          <p:cNvSpPr>
            <a:spLocks noChangeArrowheads="1"/>
          </p:cNvSpPr>
          <p:nvPr/>
        </p:nvSpPr>
        <p:spPr bwMode="auto">
          <a:xfrm>
            <a:off x="4038600" y="42672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0802" name="Oval 35"/>
          <p:cNvSpPr>
            <a:spLocks noChangeArrowheads="1"/>
          </p:cNvSpPr>
          <p:nvPr/>
        </p:nvSpPr>
        <p:spPr bwMode="auto">
          <a:xfrm>
            <a:off x="3429000" y="4038600"/>
            <a:ext cx="838200" cy="533400"/>
          </a:xfrm>
          <a:prstGeom prst="ellipse">
            <a:avLst/>
          </a:prstGeom>
          <a:noFill/>
          <a:ln w="6350" algn="ctr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cxnSp>
        <p:nvCxnSpPr>
          <p:cNvPr id="160803" name="AutoShape 36"/>
          <p:cNvCxnSpPr>
            <a:cxnSpLocks noChangeShapeType="1"/>
            <a:stCxn id="160802" idx="4"/>
            <a:endCxn id="160794" idx="1"/>
          </p:cNvCxnSpPr>
          <p:nvPr/>
        </p:nvCxnSpPr>
        <p:spPr bwMode="auto">
          <a:xfrm flipH="1">
            <a:off x="3505200" y="4572000"/>
            <a:ext cx="342900" cy="533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60804" name="AutoShape 37"/>
          <p:cNvSpPr>
            <a:spLocks noChangeArrowheads="1"/>
          </p:cNvSpPr>
          <p:nvPr/>
        </p:nvSpPr>
        <p:spPr bwMode="auto">
          <a:xfrm>
            <a:off x="5410200" y="5105400"/>
            <a:ext cx="457200" cy="838200"/>
          </a:xfrm>
          <a:prstGeom prst="can">
            <a:avLst>
              <a:gd name="adj" fmla="val 46003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微软雅黑"/>
              </a:rPr>
              <a:t>S</a:t>
            </a:r>
          </a:p>
        </p:txBody>
      </p:sp>
      <p:sp>
        <p:nvSpPr>
          <p:cNvPr id="160805" name="AutoShape 38"/>
          <p:cNvSpPr>
            <a:spLocks noChangeArrowheads="1"/>
          </p:cNvSpPr>
          <p:nvPr/>
        </p:nvSpPr>
        <p:spPr bwMode="auto">
          <a:xfrm>
            <a:off x="4724400" y="5105400"/>
            <a:ext cx="457200" cy="838200"/>
          </a:xfrm>
          <a:prstGeom prst="can">
            <a:avLst>
              <a:gd name="adj" fmla="val 46003"/>
            </a:avLst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微软雅黑"/>
              </a:rPr>
              <a:t>M</a:t>
            </a:r>
          </a:p>
        </p:txBody>
      </p:sp>
      <p:cxnSp>
        <p:nvCxnSpPr>
          <p:cNvPr id="160806" name="AutoShape 39"/>
          <p:cNvCxnSpPr>
            <a:cxnSpLocks noChangeShapeType="1"/>
            <a:stCxn id="160805" idx="4"/>
            <a:endCxn id="160804" idx="2"/>
          </p:cNvCxnSpPr>
          <p:nvPr/>
        </p:nvCxnSpPr>
        <p:spPr bwMode="auto">
          <a:xfrm>
            <a:off x="5181600" y="5524500"/>
            <a:ext cx="228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</p:cxnSp>
      <p:sp>
        <p:nvSpPr>
          <p:cNvPr id="160807" name="Oval 40"/>
          <p:cNvSpPr>
            <a:spLocks noChangeArrowheads="1"/>
          </p:cNvSpPr>
          <p:nvPr/>
        </p:nvSpPr>
        <p:spPr bwMode="auto">
          <a:xfrm>
            <a:off x="5105400" y="43434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0808" name="Oval 41"/>
          <p:cNvSpPr>
            <a:spLocks noChangeArrowheads="1"/>
          </p:cNvSpPr>
          <p:nvPr/>
        </p:nvSpPr>
        <p:spPr bwMode="auto">
          <a:xfrm>
            <a:off x="5410200" y="41148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0809" name="Oval 42"/>
          <p:cNvSpPr>
            <a:spLocks noChangeArrowheads="1"/>
          </p:cNvSpPr>
          <p:nvPr/>
        </p:nvSpPr>
        <p:spPr bwMode="auto">
          <a:xfrm>
            <a:off x="5334000" y="43434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0810" name="Oval 43"/>
          <p:cNvSpPr>
            <a:spLocks noChangeArrowheads="1"/>
          </p:cNvSpPr>
          <p:nvPr/>
        </p:nvSpPr>
        <p:spPr bwMode="auto">
          <a:xfrm>
            <a:off x="5181600" y="41910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0811" name="Oval 44"/>
          <p:cNvSpPr>
            <a:spLocks noChangeArrowheads="1"/>
          </p:cNvSpPr>
          <p:nvPr/>
        </p:nvSpPr>
        <p:spPr bwMode="auto">
          <a:xfrm>
            <a:off x="4953000" y="41910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0812" name="Oval 45"/>
          <p:cNvSpPr>
            <a:spLocks noChangeArrowheads="1"/>
          </p:cNvSpPr>
          <p:nvPr/>
        </p:nvSpPr>
        <p:spPr bwMode="auto">
          <a:xfrm>
            <a:off x="5486400" y="42672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0813" name="Oval 46"/>
          <p:cNvSpPr>
            <a:spLocks noChangeArrowheads="1"/>
          </p:cNvSpPr>
          <p:nvPr/>
        </p:nvSpPr>
        <p:spPr bwMode="auto">
          <a:xfrm>
            <a:off x="4876800" y="4038600"/>
            <a:ext cx="838200" cy="533400"/>
          </a:xfrm>
          <a:prstGeom prst="ellipse">
            <a:avLst/>
          </a:prstGeom>
          <a:noFill/>
          <a:ln w="6350" algn="ctr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cxnSp>
        <p:nvCxnSpPr>
          <p:cNvPr id="160814" name="AutoShape 47"/>
          <p:cNvCxnSpPr>
            <a:cxnSpLocks noChangeShapeType="1"/>
            <a:stCxn id="160813" idx="4"/>
            <a:endCxn id="160805" idx="1"/>
          </p:cNvCxnSpPr>
          <p:nvPr/>
        </p:nvCxnSpPr>
        <p:spPr bwMode="auto">
          <a:xfrm flipH="1">
            <a:off x="4953000" y="4572000"/>
            <a:ext cx="342900" cy="533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60815" name="AutoShape 48"/>
          <p:cNvSpPr>
            <a:spLocks noChangeArrowheads="1"/>
          </p:cNvSpPr>
          <p:nvPr/>
        </p:nvSpPr>
        <p:spPr bwMode="auto">
          <a:xfrm>
            <a:off x="6858000" y="5105400"/>
            <a:ext cx="457200" cy="838200"/>
          </a:xfrm>
          <a:prstGeom prst="can">
            <a:avLst>
              <a:gd name="adj" fmla="val 46003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微软雅黑"/>
              </a:rPr>
              <a:t>S</a:t>
            </a:r>
          </a:p>
        </p:txBody>
      </p:sp>
      <p:sp>
        <p:nvSpPr>
          <p:cNvPr id="160816" name="AutoShape 49"/>
          <p:cNvSpPr>
            <a:spLocks noChangeArrowheads="1"/>
          </p:cNvSpPr>
          <p:nvPr/>
        </p:nvSpPr>
        <p:spPr bwMode="auto">
          <a:xfrm>
            <a:off x="6172200" y="5105400"/>
            <a:ext cx="457200" cy="838200"/>
          </a:xfrm>
          <a:prstGeom prst="can">
            <a:avLst>
              <a:gd name="adj" fmla="val 46003"/>
            </a:avLst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微软雅黑"/>
              </a:rPr>
              <a:t>M</a:t>
            </a:r>
          </a:p>
        </p:txBody>
      </p:sp>
      <p:cxnSp>
        <p:nvCxnSpPr>
          <p:cNvPr id="160817" name="AutoShape 50"/>
          <p:cNvCxnSpPr>
            <a:cxnSpLocks noChangeShapeType="1"/>
            <a:stCxn id="160816" idx="4"/>
            <a:endCxn id="160815" idx="2"/>
          </p:cNvCxnSpPr>
          <p:nvPr/>
        </p:nvCxnSpPr>
        <p:spPr bwMode="auto">
          <a:xfrm>
            <a:off x="6629400" y="5524500"/>
            <a:ext cx="228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</p:cxnSp>
      <p:sp>
        <p:nvSpPr>
          <p:cNvPr id="160818" name="Oval 51"/>
          <p:cNvSpPr>
            <a:spLocks noChangeArrowheads="1"/>
          </p:cNvSpPr>
          <p:nvPr/>
        </p:nvSpPr>
        <p:spPr bwMode="auto">
          <a:xfrm>
            <a:off x="6553200" y="43434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0819" name="Oval 52"/>
          <p:cNvSpPr>
            <a:spLocks noChangeArrowheads="1"/>
          </p:cNvSpPr>
          <p:nvPr/>
        </p:nvSpPr>
        <p:spPr bwMode="auto">
          <a:xfrm>
            <a:off x="6858000" y="41148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0820" name="Oval 53"/>
          <p:cNvSpPr>
            <a:spLocks noChangeArrowheads="1"/>
          </p:cNvSpPr>
          <p:nvPr/>
        </p:nvSpPr>
        <p:spPr bwMode="auto">
          <a:xfrm>
            <a:off x="6781800" y="43434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0821" name="Oval 54"/>
          <p:cNvSpPr>
            <a:spLocks noChangeArrowheads="1"/>
          </p:cNvSpPr>
          <p:nvPr/>
        </p:nvSpPr>
        <p:spPr bwMode="auto">
          <a:xfrm>
            <a:off x="6629400" y="41910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0822" name="Oval 55"/>
          <p:cNvSpPr>
            <a:spLocks noChangeArrowheads="1"/>
          </p:cNvSpPr>
          <p:nvPr/>
        </p:nvSpPr>
        <p:spPr bwMode="auto">
          <a:xfrm>
            <a:off x="6400800" y="41910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0823" name="Oval 56"/>
          <p:cNvSpPr>
            <a:spLocks noChangeArrowheads="1"/>
          </p:cNvSpPr>
          <p:nvPr/>
        </p:nvSpPr>
        <p:spPr bwMode="auto">
          <a:xfrm>
            <a:off x="6934200" y="42672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0824" name="Oval 57"/>
          <p:cNvSpPr>
            <a:spLocks noChangeArrowheads="1"/>
          </p:cNvSpPr>
          <p:nvPr/>
        </p:nvSpPr>
        <p:spPr bwMode="auto">
          <a:xfrm>
            <a:off x="6324600" y="4038600"/>
            <a:ext cx="838200" cy="533400"/>
          </a:xfrm>
          <a:prstGeom prst="ellipse">
            <a:avLst/>
          </a:prstGeom>
          <a:noFill/>
          <a:ln w="6350" algn="ctr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cxnSp>
        <p:nvCxnSpPr>
          <p:cNvPr id="160825" name="AutoShape 58"/>
          <p:cNvCxnSpPr>
            <a:cxnSpLocks noChangeShapeType="1"/>
            <a:stCxn id="160824" idx="4"/>
            <a:endCxn id="160816" idx="1"/>
          </p:cNvCxnSpPr>
          <p:nvPr/>
        </p:nvCxnSpPr>
        <p:spPr bwMode="auto">
          <a:xfrm flipH="1">
            <a:off x="6400800" y="4572000"/>
            <a:ext cx="342900" cy="533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60826" name="AutoShape 59"/>
          <p:cNvSpPr>
            <a:spLocks noChangeArrowheads="1"/>
          </p:cNvSpPr>
          <p:nvPr/>
        </p:nvSpPr>
        <p:spPr bwMode="auto">
          <a:xfrm>
            <a:off x="8305800" y="5105400"/>
            <a:ext cx="457200" cy="838200"/>
          </a:xfrm>
          <a:prstGeom prst="can">
            <a:avLst>
              <a:gd name="adj" fmla="val 46003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微软雅黑"/>
              </a:rPr>
              <a:t>S</a:t>
            </a:r>
          </a:p>
        </p:txBody>
      </p:sp>
      <p:sp>
        <p:nvSpPr>
          <p:cNvPr id="160827" name="AutoShape 60"/>
          <p:cNvSpPr>
            <a:spLocks noChangeArrowheads="1"/>
          </p:cNvSpPr>
          <p:nvPr/>
        </p:nvSpPr>
        <p:spPr bwMode="auto">
          <a:xfrm>
            <a:off x="7620000" y="5105400"/>
            <a:ext cx="457200" cy="838200"/>
          </a:xfrm>
          <a:prstGeom prst="can">
            <a:avLst>
              <a:gd name="adj" fmla="val 46003"/>
            </a:avLst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微软雅黑"/>
              </a:rPr>
              <a:t>M</a:t>
            </a:r>
          </a:p>
        </p:txBody>
      </p:sp>
      <p:cxnSp>
        <p:nvCxnSpPr>
          <p:cNvPr id="160828" name="AutoShape 61"/>
          <p:cNvCxnSpPr>
            <a:cxnSpLocks noChangeShapeType="1"/>
            <a:stCxn id="160827" idx="4"/>
            <a:endCxn id="160826" idx="2"/>
          </p:cNvCxnSpPr>
          <p:nvPr/>
        </p:nvCxnSpPr>
        <p:spPr bwMode="auto">
          <a:xfrm>
            <a:off x="8077200" y="5524500"/>
            <a:ext cx="228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</p:cxnSp>
      <p:sp>
        <p:nvSpPr>
          <p:cNvPr id="160829" name="Oval 62"/>
          <p:cNvSpPr>
            <a:spLocks noChangeArrowheads="1"/>
          </p:cNvSpPr>
          <p:nvPr/>
        </p:nvSpPr>
        <p:spPr bwMode="auto">
          <a:xfrm>
            <a:off x="8001000" y="43434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0830" name="Oval 63"/>
          <p:cNvSpPr>
            <a:spLocks noChangeArrowheads="1"/>
          </p:cNvSpPr>
          <p:nvPr/>
        </p:nvSpPr>
        <p:spPr bwMode="auto">
          <a:xfrm>
            <a:off x="8305800" y="41148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0831" name="Oval 64"/>
          <p:cNvSpPr>
            <a:spLocks noChangeArrowheads="1"/>
          </p:cNvSpPr>
          <p:nvPr/>
        </p:nvSpPr>
        <p:spPr bwMode="auto">
          <a:xfrm>
            <a:off x="8229600" y="43434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0832" name="Oval 65"/>
          <p:cNvSpPr>
            <a:spLocks noChangeArrowheads="1"/>
          </p:cNvSpPr>
          <p:nvPr/>
        </p:nvSpPr>
        <p:spPr bwMode="auto">
          <a:xfrm>
            <a:off x="8077200" y="41910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0833" name="Oval 66"/>
          <p:cNvSpPr>
            <a:spLocks noChangeArrowheads="1"/>
          </p:cNvSpPr>
          <p:nvPr/>
        </p:nvSpPr>
        <p:spPr bwMode="auto">
          <a:xfrm>
            <a:off x="7848600" y="41910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0834" name="Oval 67"/>
          <p:cNvSpPr>
            <a:spLocks noChangeArrowheads="1"/>
          </p:cNvSpPr>
          <p:nvPr/>
        </p:nvSpPr>
        <p:spPr bwMode="auto">
          <a:xfrm>
            <a:off x="8382000" y="42672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0835" name="Oval 68"/>
          <p:cNvSpPr>
            <a:spLocks noChangeArrowheads="1"/>
          </p:cNvSpPr>
          <p:nvPr/>
        </p:nvSpPr>
        <p:spPr bwMode="auto">
          <a:xfrm>
            <a:off x="7772400" y="4038600"/>
            <a:ext cx="838200" cy="533400"/>
          </a:xfrm>
          <a:prstGeom prst="ellipse">
            <a:avLst/>
          </a:prstGeom>
          <a:noFill/>
          <a:ln w="6350" algn="ctr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cxnSp>
        <p:nvCxnSpPr>
          <p:cNvPr id="160836" name="AutoShape 69"/>
          <p:cNvCxnSpPr>
            <a:cxnSpLocks noChangeShapeType="1"/>
            <a:stCxn id="160835" idx="4"/>
            <a:endCxn id="160827" idx="1"/>
          </p:cNvCxnSpPr>
          <p:nvPr/>
        </p:nvCxnSpPr>
        <p:spPr bwMode="auto">
          <a:xfrm flipH="1">
            <a:off x="7848600" y="4572000"/>
            <a:ext cx="342900" cy="533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60837" name="Rectangle 70"/>
          <p:cNvSpPr>
            <a:spLocks noChangeArrowheads="1"/>
          </p:cNvSpPr>
          <p:nvPr/>
        </p:nvSpPr>
        <p:spPr bwMode="auto">
          <a:xfrm>
            <a:off x="4876800" y="2438400"/>
            <a:ext cx="38100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Times New Roman" pitchFamily="18" charset="0"/>
              </a:rPr>
              <a:t>HA Pool</a:t>
            </a:r>
          </a:p>
        </p:txBody>
      </p:sp>
      <p:sp>
        <p:nvSpPr>
          <p:cNvPr id="160838" name="Rectangle 71"/>
          <p:cNvSpPr>
            <a:spLocks noChangeArrowheads="1"/>
          </p:cNvSpPr>
          <p:nvPr/>
        </p:nvSpPr>
        <p:spPr bwMode="auto">
          <a:xfrm>
            <a:off x="4876800" y="2819400"/>
            <a:ext cx="38100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宋体" charset="-122"/>
                <a:ea typeface="宋体" charset="-122"/>
              </a:rPr>
              <a:t>MySQL Protocol Adapter</a:t>
            </a:r>
          </a:p>
        </p:txBody>
      </p:sp>
      <p:sp>
        <p:nvSpPr>
          <p:cNvPr id="160839" name="Rectangle 72"/>
          <p:cNvSpPr>
            <a:spLocks noChangeArrowheads="1"/>
          </p:cNvSpPr>
          <p:nvPr/>
        </p:nvSpPr>
        <p:spPr bwMode="auto">
          <a:xfrm>
            <a:off x="4876800" y="2057400"/>
            <a:ext cx="38100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400" b="1">
                <a:latin typeface="微软雅黑"/>
              </a:rPr>
              <a:t>Data Node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3" name="Rectangle 2"/>
          <p:cNvSpPr>
            <a:spLocks noChangeArrowheads="1"/>
          </p:cNvSpPr>
          <p:nvPr/>
        </p:nvSpPr>
        <p:spPr bwMode="auto">
          <a:xfrm>
            <a:off x="1676400" y="1981200"/>
            <a:ext cx="1447800" cy="2514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pPr algn="ctr"/>
            <a:r>
              <a:rPr lang="zh-CN" altLang="en-US" b="1">
                <a:solidFill>
                  <a:srgbClr val="FF0000"/>
                </a:solidFill>
              </a:rPr>
              <a:t>分库</a:t>
            </a:r>
            <a:r>
              <a:rPr lang="en-US" altLang="zh-CN" b="1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61794" name="Rectangle 3"/>
          <p:cNvSpPr>
            <a:spLocks noChangeArrowheads="1"/>
          </p:cNvSpPr>
          <p:nvPr/>
        </p:nvSpPr>
        <p:spPr bwMode="auto">
          <a:xfrm>
            <a:off x="3124200" y="1981200"/>
            <a:ext cx="1447800" cy="2514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pPr algn="ctr"/>
            <a:r>
              <a:rPr lang="zh-CN" altLang="en-US" b="1">
                <a:solidFill>
                  <a:srgbClr val="FF0000"/>
                </a:solidFill>
              </a:rPr>
              <a:t>分库</a:t>
            </a:r>
            <a:r>
              <a:rPr lang="en-US" altLang="zh-CN" b="1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61795" name="Rectangle 4"/>
          <p:cNvSpPr>
            <a:spLocks noChangeArrowheads="1"/>
          </p:cNvSpPr>
          <p:nvPr/>
        </p:nvSpPr>
        <p:spPr bwMode="auto">
          <a:xfrm>
            <a:off x="4572000" y="1981200"/>
            <a:ext cx="1447800" cy="2514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pPr algn="ctr"/>
            <a:r>
              <a:rPr lang="zh-CN" altLang="en-US" b="1">
                <a:solidFill>
                  <a:srgbClr val="FF0000"/>
                </a:solidFill>
              </a:rPr>
              <a:t>分库</a:t>
            </a:r>
            <a:r>
              <a:rPr lang="en-US" altLang="zh-CN" b="1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61796" name="Rectangle 5"/>
          <p:cNvSpPr>
            <a:spLocks noChangeArrowheads="1"/>
          </p:cNvSpPr>
          <p:nvPr/>
        </p:nvSpPr>
        <p:spPr bwMode="auto">
          <a:xfrm>
            <a:off x="6019800" y="1981200"/>
            <a:ext cx="1447800" cy="2514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pPr algn="ctr"/>
            <a:r>
              <a:rPr lang="zh-CN" altLang="en-US" b="1">
                <a:solidFill>
                  <a:srgbClr val="FF0000"/>
                </a:solidFill>
              </a:rPr>
              <a:t>分库</a:t>
            </a:r>
            <a:r>
              <a:rPr lang="en-US" altLang="zh-CN" b="1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161797" name="Rectangle 6"/>
          <p:cNvSpPr>
            <a:spLocks noChangeArrowheads="1"/>
          </p:cNvSpPr>
          <p:nvPr/>
        </p:nvSpPr>
        <p:spPr bwMode="auto">
          <a:xfrm>
            <a:off x="7467600" y="1981200"/>
            <a:ext cx="1447800" cy="2514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pPr algn="ctr"/>
            <a:r>
              <a:rPr lang="zh-CN" altLang="en-US" b="1">
                <a:solidFill>
                  <a:srgbClr val="FF0000"/>
                </a:solidFill>
              </a:rPr>
              <a:t>分库</a:t>
            </a:r>
            <a:r>
              <a:rPr lang="en-US" altLang="zh-CN" b="1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61798" name="Rectangle 7"/>
          <p:cNvSpPr>
            <a:spLocks noChangeArrowheads="1"/>
          </p:cNvSpPr>
          <p:nvPr/>
        </p:nvSpPr>
        <p:spPr bwMode="auto">
          <a:xfrm>
            <a:off x="228600" y="1981200"/>
            <a:ext cx="1447800" cy="2514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pPr algn="ctr"/>
            <a:r>
              <a:rPr lang="zh-CN" altLang="en-US" b="1">
                <a:solidFill>
                  <a:srgbClr val="FF0000"/>
                </a:solidFill>
              </a:rPr>
              <a:t>分库</a:t>
            </a:r>
            <a:r>
              <a:rPr lang="en-US" altLang="zh-CN" b="1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61799" name="Rectangle 8"/>
          <p:cNvSpPr>
            <a:spLocks noChangeArrowheads="1"/>
          </p:cNvSpPr>
          <p:nvPr/>
        </p:nvSpPr>
        <p:spPr bwMode="auto">
          <a:xfrm>
            <a:off x="304800" y="5334000"/>
            <a:ext cx="1295400" cy="990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/>
              <a:t>物理机</a:t>
            </a:r>
          </a:p>
        </p:txBody>
      </p:sp>
      <p:sp>
        <p:nvSpPr>
          <p:cNvPr id="161800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ea typeface="微软雅黑"/>
                <a:cs typeface="微软雅黑"/>
              </a:rPr>
              <a:t>灵活的层间对应关系</a:t>
            </a:r>
          </a:p>
        </p:txBody>
      </p:sp>
      <p:sp>
        <p:nvSpPr>
          <p:cNvPr id="161801" name="AutoShape 10"/>
          <p:cNvSpPr>
            <a:spLocks noChangeArrowheads="1"/>
          </p:cNvSpPr>
          <p:nvPr/>
        </p:nvSpPr>
        <p:spPr bwMode="auto">
          <a:xfrm>
            <a:off x="2514600" y="3505200"/>
            <a:ext cx="457200" cy="838200"/>
          </a:xfrm>
          <a:prstGeom prst="can">
            <a:avLst>
              <a:gd name="adj" fmla="val 46003"/>
            </a:avLst>
          </a:prstGeom>
          <a:solidFill>
            <a:schemeClr val="bg1"/>
          </a:solidFill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微软雅黑"/>
              </a:rPr>
              <a:t>S</a:t>
            </a:r>
          </a:p>
        </p:txBody>
      </p:sp>
      <p:sp>
        <p:nvSpPr>
          <p:cNvPr id="161802" name="AutoShape 11"/>
          <p:cNvSpPr>
            <a:spLocks noChangeArrowheads="1"/>
          </p:cNvSpPr>
          <p:nvPr/>
        </p:nvSpPr>
        <p:spPr bwMode="auto">
          <a:xfrm>
            <a:off x="1828800" y="3505200"/>
            <a:ext cx="457200" cy="838200"/>
          </a:xfrm>
          <a:prstGeom prst="can">
            <a:avLst>
              <a:gd name="adj" fmla="val 46003"/>
            </a:avLst>
          </a:prstGeom>
          <a:solidFill>
            <a:srgbClr val="FFCC99"/>
          </a:solidFill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微软雅黑"/>
              </a:rPr>
              <a:t>M</a:t>
            </a:r>
          </a:p>
        </p:txBody>
      </p:sp>
      <p:cxnSp>
        <p:nvCxnSpPr>
          <p:cNvPr id="161803" name="AutoShape 12"/>
          <p:cNvCxnSpPr>
            <a:cxnSpLocks noChangeShapeType="1"/>
            <a:stCxn id="161802" idx="4"/>
            <a:endCxn id="161801" idx="2"/>
          </p:cNvCxnSpPr>
          <p:nvPr/>
        </p:nvCxnSpPr>
        <p:spPr bwMode="auto">
          <a:xfrm>
            <a:off x="2286000" y="3924300"/>
            <a:ext cx="228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</p:cxnSp>
      <p:sp>
        <p:nvSpPr>
          <p:cNvPr id="161804" name="Oval 13"/>
          <p:cNvSpPr>
            <a:spLocks noChangeArrowheads="1"/>
          </p:cNvSpPr>
          <p:nvPr/>
        </p:nvSpPr>
        <p:spPr bwMode="auto">
          <a:xfrm>
            <a:off x="2209800" y="27432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1805" name="Oval 14"/>
          <p:cNvSpPr>
            <a:spLocks noChangeArrowheads="1"/>
          </p:cNvSpPr>
          <p:nvPr/>
        </p:nvSpPr>
        <p:spPr bwMode="auto">
          <a:xfrm>
            <a:off x="2514600" y="25146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1806" name="Oval 15"/>
          <p:cNvSpPr>
            <a:spLocks noChangeArrowheads="1"/>
          </p:cNvSpPr>
          <p:nvPr/>
        </p:nvSpPr>
        <p:spPr bwMode="auto">
          <a:xfrm>
            <a:off x="2438400" y="27432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1807" name="Oval 16"/>
          <p:cNvSpPr>
            <a:spLocks noChangeArrowheads="1"/>
          </p:cNvSpPr>
          <p:nvPr/>
        </p:nvSpPr>
        <p:spPr bwMode="auto">
          <a:xfrm>
            <a:off x="2286000" y="25908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1808" name="Oval 17"/>
          <p:cNvSpPr>
            <a:spLocks noChangeArrowheads="1"/>
          </p:cNvSpPr>
          <p:nvPr/>
        </p:nvSpPr>
        <p:spPr bwMode="auto">
          <a:xfrm>
            <a:off x="2057400" y="25908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1809" name="Oval 18"/>
          <p:cNvSpPr>
            <a:spLocks noChangeArrowheads="1"/>
          </p:cNvSpPr>
          <p:nvPr/>
        </p:nvSpPr>
        <p:spPr bwMode="auto">
          <a:xfrm>
            <a:off x="2590800" y="26670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1810" name="Oval 19"/>
          <p:cNvSpPr>
            <a:spLocks noChangeArrowheads="1"/>
          </p:cNvSpPr>
          <p:nvPr/>
        </p:nvSpPr>
        <p:spPr bwMode="auto">
          <a:xfrm>
            <a:off x="1981200" y="2438400"/>
            <a:ext cx="838200" cy="533400"/>
          </a:xfrm>
          <a:prstGeom prst="ellipse">
            <a:avLst/>
          </a:prstGeom>
          <a:noFill/>
          <a:ln w="6350" algn="ctr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cxnSp>
        <p:nvCxnSpPr>
          <p:cNvPr id="161811" name="AutoShape 20"/>
          <p:cNvCxnSpPr>
            <a:cxnSpLocks noChangeShapeType="1"/>
            <a:stCxn id="161810" idx="4"/>
            <a:endCxn id="161802" idx="1"/>
          </p:cNvCxnSpPr>
          <p:nvPr/>
        </p:nvCxnSpPr>
        <p:spPr bwMode="auto">
          <a:xfrm flipH="1">
            <a:off x="2057400" y="2971800"/>
            <a:ext cx="342900" cy="533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61812" name="AutoShape 21"/>
          <p:cNvSpPr>
            <a:spLocks noChangeArrowheads="1"/>
          </p:cNvSpPr>
          <p:nvPr/>
        </p:nvSpPr>
        <p:spPr bwMode="auto">
          <a:xfrm>
            <a:off x="3962400" y="3505200"/>
            <a:ext cx="457200" cy="838200"/>
          </a:xfrm>
          <a:prstGeom prst="can">
            <a:avLst>
              <a:gd name="adj" fmla="val 46003"/>
            </a:avLst>
          </a:prstGeom>
          <a:solidFill>
            <a:schemeClr val="bg1"/>
          </a:solidFill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微软雅黑"/>
              </a:rPr>
              <a:t>S</a:t>
            </a:r>
          </a:p>
        </p:txBody>
      </p:sp>
      <p:sp>
        <p:nvSpPr>
          <p:cNvPr id="161813" name="AutoShape 22"/>
          <p:cNvSpPr>
            <a:spLocks noChangeArrowheads="1"/>
          </p:cNvSpPr>
          <p:nvPr/>
        </p:nvSpPr>
        <p:spPr bwMode="auto">
          <a:xfrm>
            <a:off x="3276600" y="3505200"/>
            <a:ext cx="457200" cy="838200"/>
          </a:xfrm>
          <a:prstGeom prst="can">
            <a:avLst>
              <a:gd name="adj" fmla="val 46003"/>
            </a:avLst>
          </a:prstGeom>
          <a:solidFill>
            <a:srgbClr val="FFCC99"/>
          </a:solidFill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微软雅黑"/>
              </a:rPr>
              <a:t>M</a:t>
            </a:r>
          </a:p>
        </p:txBody>
      </p:sp>
      <p:cxnSp>
        <p:nvCxnSpPr>
          <p:cNvPr id="161814" name="AutoShape 23"/>
          <p:cNvCxnSpPr>
            <a:cxnSpLocks noChangeShapeType="1"/>
            <a:stCxn id="161813" idx="4"/>
            <a:endCxn id="161812" idx="2"/>
          </p:cNvCxnSpPr>
          <p:nvPr/>
        </p:nvCxnSpPr>
        <p:spPr bwMode="auto">
          <a:xfrm>
            <a:off x="3733800" y="3924300"/>
            <a:ext cx="228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</p:cxnSp>
      <p:sp>
        <p:nvSpPr>
          <p:cNvPr id="161815" name="Oval 24"/>
          <p:cNvSpPr>
            <a:spLocks noChangeArrowheads="1"/>
          </p:cNvSpPr>
          <p:nvPr/>
        </p:nvSpPr>
        <p:spPr bwMode="auto">
          <a:xfrm>
            <a:off x="3657600" y="27432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1816" name="Oval 25"/>
          <p:cNvSpPr>
            <a:spLocks noChangeArrowheads="1"/>
          </p:cNvSpPr>
          <p:nvPr/>
        </p:nvSpPr>
        <p:spPr bwMode="auto">
          <a:xfrm>
            <a:off x="3962400" y="25146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1817" name="Oval 26"/>
          <p:cNvSpPr>
            <a:spLocks noChangeArrowheads="1"/>
          </p:cNvSpPr>
          <p:nvPr/>
        </p:nvSpPr>
        <p:spPr bwMode="auto">
          <a:xfrm>
            <a:off x="3886200" y="27432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1818" name="Oval 27"/>
          <p:cNvSpPr>
            <a:spLocks noChangeArrowheads="1"/>
          </p:cNvSpPr>
          <p:nvPr/>
        </p:nvSpPr>
        <p:spPr bwMode="auto">
          <a:xfrm>
            <a:off x="3733800" y="25908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1819" name="Oval 28"/>
          <p:cNvSpPr>
            <a:spLocks noChangeArrowheads="1"/>
          </p:cNvSpPr>
          <p:nvPr/>
        </p:nvSpPr>
        <p:spPr bwMode="auto">
          <a:xfrm>
            <a:off x="3505200" y="25908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1820" name="Oval 29"/>
          <p:cNvSpPr>
            <a:spLocks noChangeArrowheads="1"/>
          </p:cNvSpPr>
          <p:nvPr/>
        </p:nvSpPr>
        <p:spPr bwMode="auto">
          <a:xfrm>
            <a:off x="4038600" y="26670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1821" name="Oval 30"/>
          <p:cNvSpPr>
            <a:spLocks noChangeArrowheads="1"/>
          </p:cNvSpPr>
          <p:nvPr/>
        </p:nvSpPr>
        <p:spPr bwMode="auto">
          <a:xfrm>
            <a:off x="3429000" y="2438400"/>
            <a:ext cx="838200" cy="533400"/>
          </a:xfrm>
          <a:prstGeom prst="ellipse">
            <a:avLst/>
          </a:prstGeom>
          <a:noFill/>
          <a:ln w="6350" algn="ctr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cxnSp>
        <p:nvCxnSpPr>
          <p:cNvPr id="161822" name="AutoShape 31"/>
          <p:cNvCxnSpPr>
            <a:cxnSpLocks noChangeShapeType="1"/>
            <a:stCxn id="161821" idx="4"/>
            <a:endCxn id="161813" idx="1"/>
          </p:cNvCxnSpPr>
          <p:nvPr/>
        </p:nvCxnSpPr>
        <p:spPr bwMode="auto">
          <a:xfrm flipH="1">
            <a:off x="3505200" y="2971800"/>
            <a:ext cx="342900" cy="533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61823" name="AutoShape 32"/>
          <p:cNvSpPr>
            <a:spLocks noChangeArrowheads="1"/>
          </p:cNvSpPr>
          <p:nvPr/>
        </p:nvSpPr>
        <p:spPr bwMode="auto">
          <a:xfrm>
            <a:off x="5410200" y="3505200"/>
            <a:ext cx="457200" cy="838200"/>
          </a:xfrm>
          <a:prstGeom prst="can">
            <a:avLst>
              <a:gd name="adj" fmla="val 46003"/>
            </a:avLst>
          </a:prstGeom>
          <a:solidFill>
            <a:schemeClr val="bg1"/>
          </a:solidFill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微软雅黑"/>
              </a:rPr>
              <a:t>S</a:t>
            </a:r>
          </a:p>
        </p:txBody>
      </p:sp>
      <p:sp>
        <p:nvSpPr>
          <p:cNvPr id="161824" name="AutoShape 33"/>
          <p:cNvSpPr>
            <a:spLocks noChangeArrowheads="1"/>
          </p:cNvSpPr>
          <p:nvPr/>
        </p:nvSpPr>
        <p:spPr bwMode="auto">
          <a:xfrm>
            <a:off x="4724400" y="3505200"/>
            <a:ext cx="457200" cy="838200"/>
          </a:xfrm>
          <a:prstGeom prst="can">
            <a:avLst>
              <a:gd name="adj" fmla="val 46003"/>
            </a:avLst>
          </a:prstGeom>
          <a:solidFill>
            <a:srgbClr val="FFCC99"/>
          </a:solidFill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微软雅黑"/>
              </a:rPr>
              <a:t>M</a:t>
            </a:r>
          </a:p>
        </p:txBody>
      </p:sp>
      <p:cxnSp>
        <p:nvCxnSpPr>
          <p:cNvPr id="161825" name="AutoShape 34"/>
          <p:cNvCxnSpPr>
            <a:cxnSpLocks noChangeShapeType="1"/>
            <a:stCxn id="161824" idx="4"/>
            <a:endCxn id="161823" idx="2"/>
          </p:cNvCxnSpPr>
          <p:nvPr/>
        </p:nvCxnSpPr>
        <p:spPr bwMode="auto">
          <a:xfrm>
            <a:off x="5181600" y="3924300"/>
            <a:ext cx="228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</p:cxnSp>
      <p:sp>
        <p:nvSpPr>
          <p:cNvPr id="161826" name="Oval 35"/>
          <p:cNvSpPr>
            <a:spLocks noChangeArrowheads="1"/>
          </p:cNvSpPr>
          <p:nvPr/>
        </p:nvSpPr>
        <p:spPr bwMode="auto">
          <a:xfrm>
            <a:off x="5105400" y="27432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1827" name="Oval 36"/>
          <p:cNvSpPr>
            <a:spLocks noChangeArrowheads="1"/>
          </p:cNvSpPr>
          <p:nvPr/>
        </p:nvSpPr>
        <p:spPr bwMode="auto">
          <a:xfrm>
            <a:off x="5410200" y="25146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1828" name="Oval 37"/>
          <p:cNvSpPr>
            <a:spLocks noChangeArrowheads="1"/>
          </p:cNvSpPr>
          <p:nvPr/>
        </p:nvSpPr>
        <p:spPr bwMode="auto">
          <a:xfrm>
            <a:off x="5334000" y="27432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1829" name="Oval 38"/>
          <p:cNvSpPr>
            <a:spLocks noChangeArrowheads="1"/>
          </p:cNvSpPr>
          <p:nvPr/>
        </p:nvSpPr>
        <p:spPr bwMode="auto">
          <a:xfrm>
            <a:off x="5181600" y="25908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1830" name="Oval 39"/>
          <p:cNvSpPr>
            <a:spLocks noChangeArrowheads="1"/>
          </p:cNvSpPr>
          <p:nvPr/>
        </p:nvSpPr>
        <p:spPr bwMode="auto">
          <a:xfrm>
            <a:off x="4953000" y="25908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1831" name="Oval 40"/>
          <p:cNvSpPr>
            <a:spLocks noChangeArrowheads="1"/>
          </p:cNvSpPr>
          <p:nvPr/>
        </p:nvSpPr>
        <p:spPr bwMode="auto">
          <a:xfrm>
            <a:off x="5486400" y="26670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1832" name="Oval 41"/>
          <p:cNvSpPr>
            <a:spLocks noChangeArrowheads="1"/>
          </p:cNvSpPr>
          <p:nvPr/>
        </p:nvSpPr>
        <p:spPr bwMode="auto">
          <a:xfrm>
            <a:off x="4876800" y="2438400"/>
            <a:ext cx="838200" cy="533400"/>
          </a:xfrm>
          <a:prstGeom prst="ellipse">
            <a:avLst/>
          </a:prstGeom>
          <a:noFill/>
          <a:ln w="6350" algn="ctr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cxnSp>
        <p:nvCxnSpPr>
          <p:cNvPr id="161833" name="AutoShape 42"/>
          <p:cNvCxnSpPr>
            <a:cxnSpLocks noChangeShapeType="1"/>
            <a:stCxn id="161832" idx="4"/>
            <a:endCxn id="161824" idx="1"/>
          </p:cNvCxnSpPr>
          <p:nvPr/>
        </p:nvCxnSpPr>
        <p:spPr bwMode="auto">
          <a:xfrm flipH="1">
            <a:off x="4953000" y="2971800"/>
            <a:ext cx="342900" cy="533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61834" name="AutoShape 43"/>
          <p:cNvSpPr>
            <a:spLocks noChangeArrowheads="1"/>
          </p:cNvSpPr>
          <p:nvPr/>
        </p:nvSpPr>
        <p:spPr bwMode="auto">
          <a:xfrm>
            <a:off x="6858000" y="3505200"/>
            <a:ext cx="457200" cy="838200"/>
          </a:xfrm>
          <a:prstGeom prst="can">
            <a:avLst>
              <a:gd name="adj" fmla="val 46003"/>
            </a:avLst>
          </a:prstGeom>
          <a:solidFill>
            <a:schemeClr val="bg1"/>
          </a:solidFill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微软雅黑"/>
              </a:rPr>
              <a:t>S</a:t>
            </a:r>
          </a:p>
        </p:txBody>
      </p:sp>
      <p:sp>
        <p:nvSpPr>
          <p:cNvPr id="161835" name="AutoShape 44"/>
          <p:cNvSpPr>
            <a:spLocks noChangeArrowheads="1"/>
          </p:cNvSpPr>
          <p:nvPr/>
        </p:nvSpPr>
        <p:spPr bwMode="auto">
          <a:xfrm>
            <a:off x="6172200" y="3505200"/>
            <a:ext cx="457200" cy="838200"/>
          </a:xfrm>
          <a:prstGeom prst="can">
            <a:avLst>
              <a:gd name="adj" fmla="val 46003"/>
            </a:avLst>
          </a:prstGeom>
          <a:solidFill>
            <a:srgbClr val="FFCC99"/>
          </a:solidFill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微软雅黑"/>
              </a:rPr>
              <a:t>M</a:t>
            </a:r>
          </a:p>
        </p:txBody>
      </p:sp>
      <p:cxnSp>
        <p:nvCxnSpPr>
          <p:cNvPr id="161836" name="AutoShape 45"/>
          <p:cNvCxnSpPr>
            <a:cxnSpLocks noChangeShapeType="1"/>
            <a:stCxn id="161835" idx="4"/>
            <a:endCxn id="161834" idx="2"/>
          </p:cNvCxnSpPr>
          <p:nvPr/>
        </p:nvCxnSpPr>
        <p:spPr bwMode="auto">
          <a:xfrm>
            <a:off x="6629400" y="3924300"/>
            <a:ext cx="228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</p:cxnSp>
      <p:sp>
        <p:nvSpPr>
          <p:cNvPr id="161837" name="Oval 46"/>
          <p:cNvSpPr>
            <a:spLocks noChangeArrowheads="1"/>
          </p:cNvSpPr>
          <p:nvPr/>
        </p:nvSpPr>
        <p:spPr bwMode="auto">
          <a:xfrm>
            <a:off x="6553200" y="27432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1838" name="Oval 47"/>
          <p:cNvSpPr>
            <a:spLocks noChangeArrowheads="1"/>
          </p:cNvSpPr>
          <p:nvPr/>
        </p:nvSpPr>
        <p:spPr bwMode="auto">
          <a:xfrm>
            <a:off x="6858000" y="25146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1839" name="Oval 48"/>
          <p:cNvSpPr>
            <a:spLocks noChangeArrowheads="1"/>
          </p:cNvSpPr>
          <p:nvPr/>
        </p:nvSpPr>
        <p:spPr bwMode="auto">
          <a:xfrm>
            <a:off x="6781800" y="27432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1840" name="Oval 49"/>
          <p:cNvSpPr>
            <a:spLocks noChangeArrowheads="1"/>
          </p:cNvSpPr>
          <p:nvPr/>
        </p:nvSpPr>
        <p:spPr bwMode="auto">
          <a:xfrm>
            <a:off x="6629400" y="25908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1841" name="Oval 50"/>
          <p:cNvSpPr>
            <a:spLocks noChangeArrowheads="1"/>
          </p:cNvSpPr>
          <p:nvPr/>
        </p:nvSpPr>
        <p:spPr bwMode="auto">
          <a:xfrm>
            <a:off x="6400800" y="25908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1842" name="Oval 51"/>
          <p:cNvSpPr>
            <a:spLocks noChangeArrowheads="1"/>
          </p:cNvSpPr>
          <p:nvPr/>
        </p:nvSpPr>
        <p:spPr bwMode="auto">
          <a:xfrm>
            <a:off x="6934200" y="26670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1843" name="Oval 52"/>
          <p:cNvSpPr>
            <a:spLocks noChangeArrowheads="1"/>
          </p:cNvSpPr>
          <p:nvPr/>
        </p:nvSpPr>
        <p:spPr bwMode="auto">
          <a:xfrm>
            <a:off x="6324600" y="2438400"/>
            <a:ext cx="838200" cy="533400"/>
          </a:xfrm>
          <a:prstGeom prst="ellipse">
            <a:avLst/>
          </a:prstGeom>
          <a:noFill/>
          <a:ln w="6350" algn="ctr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cxnSp>
        <p:nvCxnSpPr>
          <p:cNvPr id="161844" name="AutoShape 53"/>
          <p:cNvCxnSpPr>
            <a:cxnSpLocks noChangeShapeType="1"/>
            <a:stCxn id="161843" idx="4"/>
            <a:endCxn id="161835" idx="1"/>
          </p:cNvCxnSpPr>
          <p:nvPr/>
        </p:nvCxnSpPr>
        <p:spPr bwMode="auto">
          <a:xfrm flipH="1">
            <a:off x="6400800" y="2971800"/>
            <a:ext cx="342900" cy="533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61845" name="AutoShape 54"/>
          <p:cNvSpPr>
            <a:spLocks noChangeArrowheads="1"/>
          </p:cNvSpPr>
          <p:nvPr/>
        </p:nvSpPr>
        <p:spPr bwMode="auto">
          <a:xfrm>
            <a:off x="8305800" y="3505200"/>
            <a:ext cx="457200" cy="838200"/>
          </a:xfrm>
          <a:prstGeom prst="can">
            <a:avLst>
              <a:gd name="adj" fmla="val 46003"/>
            </a:avLst>
          </a:prstGeom>
          <a:solidFill>
            <a:schemeClr val="bg1"/>
          </a:solidFill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微软雅黑"/>
              </a:rPr>
              <a:t>S</a:t>
            </a:r>
          </a:p>
        </p:txBody>
      </p:sp>
      <p:sp>
        <p:nvSpPr>
          <p:cNvPr id="161846" name="AutoShape 55"/>
          <p:cNvSpPr>
            <a:spLocks noChangeArrowheads="1"/>
          </p:cNvSpPr>
          <p:nvPr/>
        </p:nvSpPr>
        <p:spPr bwMode="auto">
          <a:xfrm>
            <a:off x="7620000" y="3505200"/>
            <a:ext cx="457200" cy="838200"/>
          </a:xfrm>
          <a:prstGeom prst="can">
            <a:avLst>
              <a:gd name="adj" fmla="val 46003"/>
            </a:avLst>
          </a:prstGeom>
          <a:solidFill>
            <a:srgbClr val="FFCC99"/>
          </a:solidFill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微软雅黑"/>
              </a:rPr>
              <a:t>M</a:t>
            </a:r>
          </a:p>
        </p:txBody>
      </p:sp>
      <p:cxnSp>
        <p:nvCxnSpPr>
          <p:cNvPr id="161847" name="AutoShape 56"/>
          <p:cNvCxnSpPr>
            <a:cxnSpLocks noChangeShapeType="1"/>
            <a:stCxn id="161846" idx="4"/>
            <a:endCxn id="161845" idx="2"/>
          </p:cNvCxnSpPr>
          <p:nvPr/>
        </p:nvCxnSpPr>
        <p:spPr bwMode="auto">
          <a:xfrm>
            <a:off x="8077200" y="3924300"/>
            <a:ext cx="228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</p:cxnSp>
      <p:sp>
        <p:nvSpPr>
          <p:cNvPr id="161848" name="Oval 57"/>
          <p:cNvSpPr>
            <a:spLocks noChangeArrowheads="1"/>
          </p:cNvSpPr>
          <p:nvPr/>
        </p:nvSpPr>
        <p:spPr bwMode="auto">
          <a:xfrm>
            <a:off x="8001000" y="27432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1849" name="Oval 58"/>
          <p:cNvSpPr>
            <a:spLocks noChangeArrowheads="1"/>
          </p:cNvSpPr>
          <p:nvPr/>
        </p:nvSpPr>
        <p:spPr bwMode="auto">
          <a:xfrm>
            <a:off x="8305800" y="25146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1850" name="Oval 59"/>
          <p:cNvSpPr>
            <a:spLocks noChangeArrowheads="1"/>
          </p:cNvSpPr>
          <p:nvPr/>
        </p:nvSpPr>
        <p:spPr bwMode="auto">
          <a:xfrm>
            <a:off x="8229600" y="27432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1851" name="Oval 60"/>
          <p:cNvSpPr>
            <a:spLocks noChangeArrowheads="1"/>
          </p:cNvSpPr>
          <p:nvPr/>
        </p:nvSpPr>
        <p:spPr bwMode="auto">
          <a:xfrm>
            <a:off x="8077200" y="25908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1852" name="Oval 61"/>
          <p:cNvSpPr>
            <a:spLocks noChangeArrowheads="1"/>
          </p:cNvSpPr>
          <p:nvPr/>
        </p:nvSpPr>
        <p:spPr bwMode="auto">
          <a:xfrm>
            <a:off x="7848600" y="25908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1853" name="Oval 62"/>
          <p:cNvSpPr>
            <a:spLocks noChangeArrowheads="1"/>
          </p:cNvSpPr>
          <p:nvPr/>
        </p:nvSpPr>
        <p:spPr bwMode="auto">
          <a:xfrm>
            <a:off x="8382000" y="26670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1854" name="Oval 63"/>
          <p:cNvSpPr>
            <a:spLocks noChangeArrowheads="1"/>
          </p:cNvSpPr>
          <p:nvPr/>
        </p:nvSpPr>
        <p:spPr bwMode="auto">
          <a:xfrm>
            <a:off x="7772400" y="2438400"/>
            <a:ext cx="838200" cy="533400"/>
          </a:xfrm>
          <a:prstGeom prst="ellipse">
            <a:avLst/>
          </a:prstGeom>
          <a:noFill/>
          <a:ln w="6350" algn="ctr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cxnSp>
        <p:nvCxnSpPr>
          <p:cNvPr id="161855" name="AutoShape 64"/>
          <p:cNvCxnSpPr>
            <a:cxnSpLocks noChangeShapeType="1"/>
            <a:stCxn id="161854" idx="4"/>
            <a:endCxn id="161846" idx="1"/>
          </p:cNvCxnSpPr>
          <p:nvPr/>
        </p:nvCxnSpPr>
        <p:spPr bwMode="auto">
          <a:xfrm flipH="1">
            <a:off x="7848600" y="2971800"/>
            <a:ext cx="342900" cy="533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61856" name="AutoShape 65"/>
          <p:cNvSpPr>
            <a:spLocks noChangeArrowheads="1"/>
          </p:cNvSpPr>
          <p:nvPr/>
        </p:nvSpPr>
        <p:spPr bwMode="auto">
          <a:xfrm>
            <a:off x="1066800" y="3505200"/>
            <a:ext cx="457200" cy="838200"/>
          </a:xfrm>
          <a:prstGeom prst="can">
            <a:avLst>
              <a:gd name="adj" fmla="val 46003"/>
            </a:avLst>
          </a:prstGeom>
          <a:solidFill>
            <a:schemeClr val="bg1"/>
          </a:solidFill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微软雅黑"/>
              </a:rPr>
              <a:t>S</a:t>
            </a:r>
          </a:p>
        </p:txBody>
      </p:sp>
      <p:sp>
        <p:nvSpPr>
          <p:cNvPr id="161857" name="AutoShape 66"/>
          <p:cNvSpPr>
            <a:spLocks noChangeArrowheads="1"/>
          </p:cNvSpPr>
          <p:nvPr/>
        </p:nvSpPr>
        <p:spPr bwMode="auto">
          <a:xfrm>
            <a:off x="381000" y="3505200"/>
            <a:ext cx="457200" cy="838200"/>
          </a:xfrm>
          <a:prstGeom prst="can">
            <a:avLst>
              <a:gd name="adj" fmla="val 46003"/>
            </a:avLst>
          </a:prstGeom>
          <a:solidFill>
            <a:srgbClr val="FFCC99"/>
          </a:solidFill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2000">
                <a:latin typeface="微软雅黑"/>
              </a:rPr>
              <a:t>M</a:t>
            </a:r>
          </a:p>
        </p:txBody>
      </p:sp>
      <p:cxnSp>
        <p:nvCxnSpPr>
          <p:cNvPr id="161858" name="AutoShape 67"/>
          <p:cNvCxnSpPr>
            <a:cxnSpLocks noChangeShapeType="1"/>
            <a:stCxn id="161857" idx="4"/>
            <a:endCxn id="161856" idx="2"/>
          </p:cNvCxnSpPr>
          <p:nvPr/>
        </p:nvCxnSpPr>
        <p:spPr bwMode="auto">
          <a:xfrm>
            <a:off x="838200" y="3924300"/>
            <a:ext cx="228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</p:cxnSp>
      <p:sp>
        <p:nvSpPr>
          <p:cNvPr id="161859" name="Oval 68"/>
          <p:cNvSpPr>
            <a:spLocks noChangeArrowheads="1"/>
          </p:cNvSpPr>
          <p:nvPr/>
        </p:nvSpPr>
        <p:spPr bwMode="auto">
          <a:xfrm>
            <a:off x="762000" y="27432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1860" name="Oval 69"/>
          <p:cNvSpPr>
            <a:spLocks noChangeArrowheads="1"/>
          </p:cNvSpPr>
          <p:nvPr/>
        </p:nvSpPr>
        <p:spPr bwMode="auto">
          <a:xfrm>
            <a:off x="1066800" y="25146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1861" name="Oval 70"/>
          <p:cNvSpPr>
            <a:spLocks noChangeArrowheads="1"/>
          </p:cNvSpPr>
          <p:nvPr/>
        </p:nvSpPr>
        <p:spPr bwMode="auto">
          <a:xfrm>
            <a:off x="990600" y="27432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1862" name="Oval 71"/>
          <p:cNvSpPr>
            <a:spLocks noChangeArrowheads="1"/>
          </p:cNvSpPr>
          <p:nvPr/>
        </p:nvSpPr>
        <p:spPr bwMode="auto">
          <a:xfrm>
            <a:off x="838200" y="25908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1863" name="Oval 72"/>
          <p:cNvSpPr>
            <a:spLocks noChangeArrowheads="1"/>
          </p:cNvSpPr>
          <p:nvPr/>
        </p:nvSpPr>
        <p:spPr bwMode="auto">
          <a:xfrm>
            <a:off x="609600" y="25908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1864" name="Oval 73"/>
          <p:cNvSpPr>
            <a:spLocks noChangeArrowheads="1"/>
          </p:cNvSpPr>
          <p:nvPr/>
        </p:nvSpPr>
        <p:spPr bwMode="auto">
          <a:xfrm>
            <a:off x="1143000" y="2667000"/>
            <a:ext cx="152400" cy="1524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1865" name="Oval 74"/>
          <p:cNvSpPr>
            <a:spLocks noChangeArrowheads="1"/>
          </p:cNvSpPr>
          <p:nvPr/>
        </p:nvSpPr>
        <p:spPr bwMode="auto">
          <a:xfrm>
            <a:off x="533400" y="2438400"/>
            <a:ext cx="838200" cy="533400"/>
          </a:xfrm>
          <a:prstGeom prst="ellipse">
            <a:avLst/>
          </a:prstGeom>
          <a:noFill/>
          <a:ln w="6350" algn="ctr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cxnSp>
        <p:nvCxnSpPr>
          <p:cNvPr id="161866" name="AutoShape 75"/>
          <p:cNvCxnSpPr>
            <a:cxnSpLocks noChangeShapeType="1"/>
            <a:stCxn id="161865" idx="4"/>
            <a:endCxn id="161857" idx="1"/>
          </p:cNvCxnSpPr>
          <p:nvPr/>
        </p:nvCxnSpPr>
        <p:spPr bwMode="auto">
          <a:xfrm flipH="1">
            <a:off x="609600" y="2971800"/>
            <a:ext cx="342900" cy="533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61867" name="Rectangle 76"/>
          <p:cNvSpPr>
            <a:spLocks noChangeArrowheads="1"/>
          </p:cNvSpPr>
          <p:nvPr/>
        </p:nvSpPr>
        <p:spPr bwMode="auto">
          <a:xfrm>
            <a:off x="1752600" y="5334000"/>
            <a:ext cx="1295400" cy="990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/>
              <a:t>物理机</a:t>
            </a:r>
          </a:p>
        </p:txBody>
      </p:sp>
      <p:sp>
        <p:nvSpPr>
          <p:cNvPr id="161868" name="Rectangle 77"/>
          <p:cNvSpPr>
            <a:spLocks noChangeArrowheads="1"/>
          </p:cNvSpPr>
          <p:nvPr/>
        </p:nvSpPr>
        <p:spPr bwMode="auto">
          <a:xfrm>
            <a:off x="3200400" y="5334000"/>
            <a:ext cx="1295400" cy="990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/>
              <a:t>物理机</a:t>
            </a:r>
          </a:p>
        </p:txBody>
      </p:sp>
      <p:sp>
        <p:nvSpPr>
          <p:cNvPr id="161869" name="Rectangle 78"/>
          <p:cNvSpPr>
            <a:spLocks noChangeArrowheads="1"/>
          </p:cNvSpPr>
          <p:nvPr/>
        </p:nvSpPr>
        <p:spPr bwMode="auto">
          <a:xfrm>
            <a:off x="4648200" y="5334000"/>
            <a:ext cx="1295400" cy="990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/>
              <a:t>物理机</a:t>
            </a:r>
          </a:p>
        </p:txBody>
      </p:sp>
      <p:sp>
        <p:nvSpPr>
          <p:cNvPr id="161870" name="Rectangle 79"/>
          <p:cNvSpPr>
            <a:spLocks noChangeArrowheads="1"/>
          </p:cNvSpPr>
          <p:nvPr/>
        </p:nvSpPr>
        <p:spPr bwMode="auto">
          <a:xfrm>
            <a:off x="6096000" y="5334000"/>
            <a:ext cx="1295400" cy="990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/>
              <a:t>物理机</a:t>
            </a:r>
          </a:p>
        </p:txBody>
      </p:sp>
      <p:sp>
        <p:nvSpPr>
          <p:cNvPr id="161871" name="Rectangle 80"/>
          <p:cNvSpPr>
            <a:spLocks noChangeArrowheads="1"/>
          </p:cNvSpPr>
          <p:nvPr/>
        </p:nvSpPr>
        <p:spPr bwMode="auto">
          <a:xfrm>
            <a:off x="7543800" y="5334000"/>
            <a:ext cx="1295400" cy="9906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/>
              <a:t>物理机</a:t>
            </a:r>
          </a:p>
        </p:txBody>
      </p:sp>
      <p:cxnSp>
        <p:nvCxnSpPr>
          <p:cNvPr id="161872" name="AutoShape 81"/>
          <p:cNvCxnSpPr>
            <a:cxnSpLocks noChangeShapeType="1"/>
            <a:stCxn id="161856" idx="3"/>
            <a:endCxn id="161799" idx="0"/>
          </p:cNvCxnSpPr>
          <p:nvPr/>
        </p:nvCxnSpPr>
        <p:spPr bwMode="auto">
          <a:xfrm flipH="1">
            <a:off x="952500" y="4343400"/>
            <a:ext cx="342900" cy="990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61873" name="AutoShape 82"/>
          <p:cNvCxnSpPr>
            <a:cxnSpLocks noChangeShapeType="1"/>
            <a:stCxn id="161802" idx="3"/>
            <a:endCxn id="161799" idx="0"/>
          </p:cNvCxnSpPr>
          <p:nvPr/>
        </p:nvCxnSpPr>
        <p:spPr bwMode="auto">
          <a:xfrm flipH="1">
            <a:off x="952500" y="4343400"/>
            <a:ext cx="1104900" cy="990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61874" name="AutoShape 83"/>
          <p:cNvCxnSpPr>
            <a:cxnSpLocks noChangeShapeType="1"/>
            <a:stCxn id="161801" idx="3"/>
            <a:endCxn id="161867" idx="0"/>
          </p:cNvCxnSpPr>
          <p:nvPr/>
        </p:nvCxnSpPr>
        <p:spPr bwMode="auto">
          <a:xfrm flipH="1">
            <a:off x="2400300" y="4343400"/>
            <a:ext cx="342900" cy="990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61875" name="AutoShape 84"/>
          <p:cNvCxnSpPr>
            <a:cxnSpLocks noChangeShapeType="1"/>
            <a:stCxn id="161813" idx="3"/>
            <a:endCxn id="161867" idx="0"/>
          </p:cNvCxnSpPr>
          <p:nvPr/>
        </p:nvCxnSpPr>
        <p:spPr bwMode="auto">
          <a:xfrm flipH="1">
            <a:off x="2400300" y="4343400"/>
            <a:ext cx="1104900" cy="990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61876" name="AutoShape 85"/>
          <p:cNvCxnSpPr>
            <a:cxnSpLocks noChangeShapeType="1"/>
            <a:stCxn id="161812" idx="3"/>
            <a:endCxn id="161868" idx="0"/>
          </p:cNvCxnSpPr>
          <p:nvPr/>
        </p:nvCxnSpPr>
        <p:spPr bwMode="auto">
          <a:xfrm flipH="1">
            <a:off x="3848100" y="4343400"/>
            <a:ext cx="342900" cy="990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61877" name="AutoShape 86"/>
          <p:cNvCxnSpPr>
            <a:cxnSpLocks noChangeShapeType="1"/>
            <a:stCxn id="161824" idx="3"/>
            <a:endCxn id="161868" idx="0"/>
          </p:cNvCxnSpPr>
          <p:nvPr/>
        </p:nvCxnSpPr>
        <p:spPr bwMode="auto">
          <a:xfrm flipH="1">
            <a:off x="3848100" y="4343400"/>
            <a:ext cx="1104900" cy="990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61878" name="AutoShape 87"/>
          <p:cNvCxnSpPr>
            <a:cxnSpLocks noChangeShapeType="1"/>
            <a:stCxn id="161823" idx="3"/>
            <a:endCxn id="161869" idx="0"/>
          </p:cNvCxnSpPr>
          <p:nvPr/>
        </p:nvCxnSpPr>
        <p:spPr bwMode="auto">
          <a:xfrm flipH="1">
            <a:off x="5295900" y="4343400"/>
            <a:ext cx="342900" cy="990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61879" name="AutoShape 88"/>
          <p:cNvCxnSpPr>
            <a:cxnSpLocks noChangeShapeType="1"/>
            <a:stCxn id="161835" idx="3"/>
            <a:endCxn id="161869" idx="0"/>
          </p:cNvCxnSpPr>
          <p:nvPr/>
        </p:nvCxnSpPr>
        <p:spPr bwMode="auto">
          <a:xfrm flipH="1">
            <a:off x="5295900" y="4343400"/>
            <a:ext cx="1104900" cy="990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61880" name="AutoShape 89"/>
          <p:cNvCxnSpPr>
            <a:cxnSpLocks noChangeShapeType="1"/>
            <a:stCxn id="161834" idx="3"/>
            <a:endCxn id="161870" idx="0"/>
          </p:cNvCxnSpPr>
          <p:nvPr/>
        </p:nvCxnSpPr>
        <p:spPr bwMode="auto">
          <a:xfrm flipH="1">
            <a:off x="6743700" y="4343400"/>
            <a:ext cx="342900" cy="990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61881" name="AutoShape 90"/>
          <p:cNvCxnSpPr>
            <a:cxnSpLocks noChangeShapeType="1"/>
            <a:stCxn id="161846" idx="3"/>
            <a:endCxn id="161870" idx="0"/>
          </p:cNvCxnSpPr>
          <p:nvPr/>
        </p:nvCxnSpPr>
        <p:spPr bwMode="auto">
          <a:xfrm flipH="1">
            <a:off x="6743700" y="4343400"/>
            <a:ext cx="1104900" cy="990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61882" name="AutoShape 91"/>
          <p:cNvCxnSpPr>
            <a:cxnSpLocks noChangeShapeType="1"/>
            <a:stCxn id="161845" idx="3"/>
            <a:endCxn id="161871" idx="0"/>
          </p:cNvCxnSpPr>
          <p:nvPr/>
        </p:nvCxnSpPr>
        <p:spPr bwMode="auto">
          <a:xfrm flipH="1">
            <a:off x="8191500" y="4343400"/>
            <a:ext cx="342900" cy="990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61883" name="AutoShape 92"/>
          <p:cNvCxnSpPr>
            <a:cxnSpLocks noChangeShapeType="1"/>
            <a:stCxn id="161857" idx="3"/>
            <a:endCxn id="161871" idx="0"/>
          </p:cNvCxnSpPr>
          <p:nvPr/>
        </p:nvCxnSpPr>
        <p:spPr bwMode="auto">
          <a:xfrm>
            <a:off x="609600" y="4343400"/>
            <a:ext cx="7581900" cy="990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817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2818" name="Rectangle 3"/>
          <p:cNvSpPr>
            <a:spLocks noGrp="1" noChangeArrowheads="1"/>
          </p:cNvSpPr>
          <p:nvPr>
            <p:ph type="title"/>
          </p:nvPr>
        </p:nvSpPr>
        <p:spPr>
          <a:xfrm>
            <a:off x="1447800" y="76200"/>
            <a:ext cx="7696200" cy="1066800"/>
          </a:xfrm>
        </p:spPr>
        <p:txBody>
          <a:bodyPr/>
          <a:lstStyle/>
          <a:p>
            <a:pPr algn="l" eaLnBrk="1" hangingPunct="1"/>
            <a:r>
              <a:rPr lang="zh-CN" altLang="en-US" sz="4000" b="1" smtClean="0">
                <a:solidFill>
                  <a:schemeClr val="bg1"/>
                </a:solidFill>
                <a:ea typeface="微软雅黑"/>
                <a:cs typeface="微软雅黑"/>
              </a:rPr>
              <a:t>大纲</a:t>
            </a:r>
          </a:p>
        </p:txBody>
      </p:sp>
      <p:sp>
        <p:nvSpPr>
          <p:cNvPr id="162819" name="TextBox 7"/>
          <p:cNvSpPr txBox="1">
            <a:spLocks noChangeArrowheads="1"/>
          </p:cNvSpPr>
          <p:nvPr/>
        </p:nvSpPr>
        <p:spPr bwMode="auto">
          <a:xfrm>
            <a:off x="533400" y="1447800"/>
            <a:ext cx="7772400" cy="3990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>
              <a:buFont typeface="Wingdings" pitchFamily="2" charset="2"/>
              <a:buChar char="n"/>
            </a:pPr>
            <a:r>
              <a:rPr lang="zh-CN" altLang="en-US" sz="3200">
                <a:solidFill>
                  <a:schemeClr val="tx2"/>
                </a:solidFill>
                <a:latin typeface="微软雅黑"/>
                <a:sym typeface="Helvetica Neue"/>
              </a:rPr>
              <a:t>中间件引入</a:t>
            </a:r>
          </a:p>
          <a:p>
            <a:pPr marL="457200" indent="-457200">
              <a:buFont typeface="Wingdings" pitchFamily="2" charset="2"/>
              <a:buChar char="n"/>
            </a:pPr>
            <a:endParaRPr lang="zh-CN" altLang="en-US" sz="3200">
              <a:solidFill>
                <a:schemeClr val="tx2"/>
              </a:solidFill>
              <a:latin typeface="微软雅黑"/>
              <a:sym typeface="Helvetica Neue"/>
            </a:endParaRPr>
          </a:p>
          <a:p>
            <a:pPr marL="457200" indent="-457200">
              <a:buFont typeface="Wingdings" pitchFamily="2" charset="2"/>
              <a:buChar char="n"/>
            </a:pPr>
            <a:r>
              <a:rPr lang="en-US" altLang="zh-CN" sz="3200">
                <a:latin typeface="微软雅黑"/>
                <a:sym typeface="Helvetica Neue"/>
              </a:rPr>
              <a:t>Cobar</a:t>
            </a:r>
            <a:r>
              <a:rPr lang="zh-CN" altLang="en-US" sz="3200">
                <a:latin typeface="微软雅黑"/>
                <a:sym typeface="Helvetica Neue"/>
              </a:rPr>
              <a:t>策略</a:t>
            </a:r>
          </a:p>
          <a:p>
            <a:pPr marL="457200" indent="-457200">
              <a:buFont typeface="Wingdings" pitchFamily="2" charset="2"/>
              <a:buChar char="n"/>
            </a:pPr>
            <a:endParaRPr lang="zh-CN" altLang="en-US" sz="3200">
              <a:solidFill>
                <a:schemeClr val="tx2"/>
              </a:solidFill>
              <a:latin typeface="微软雅黑"/>
              <a:sym typeface="Helvetica Neue"/>
            </a:endParaRPr>
          </a:p>
          <a:p>
            <a:pPr marL="457200" indent="-457200">
              <a:buFont typeface="Wingdings" pitchFamily="2" charset="2"/>
              <a:buChar char="n"/>
            </a:pPr>
            <a:r>
              <a:rPr lang="zh-CN" altLang="en-US" sz="3200">
                <a:solidFill>
                  <a:schemeClr val="tx2"/>
                </a:solidFill>
                <a:latin typeface="微软雅黑"/>
                <a:sym typeface="Helvetica Neue"/>
              </a:rPr>
              <a:t>系统实现</a:t>
            </a:r>
          </a:p>
          <a:p>
            <a:pPr marL="914400" lvl="1" indent="-457200">
              <a:buFont typeface="Wingdings" pitchFamily="2" charset="2"/>
              <a:buChar char="n"/>
            </a:pPr>
            <a:r>
              <a:rPr lang="en-US" altLang="zh-CN" sz="3200">
                <a:solidFill>
                  <a:schemeClr val="tx2"/>
                </a:solidFill>
                <a:latin typeface="宋体" charset="-122"/>
                <a:ea typeface="宋体" charset="-122"/>
                <a:sym typeface="Helvetica Neue"/>
              </a:rPr>
              <a:t>MySQL</a:t>
            </a:r>
            <a:r>
              <a:rPr lang="zh-CN" altLang="en-US" sz="3200">
                <a:solidFill>
                  <a:schemeClr val="tx2"/>
                </a:solidFill>
                <a:latin typeface="宋体" charset="-122"/>
                <a:ea typeface="宋体" charset="-122"/>
                <a:sym typeface="Helvetica Neue"/>
              </a:rPr>
              <a:t>协议 通信 解析 后端连接</a:t>
            </a:r>
          </a:p>
          <a:p>
            <a:pPr marL="457200" indent="-457200">
              <a:buFont typeface="Wingdings" pitchFamily="2" charset="2"/>
              <a:buChar char="n"/>
            </a:pPr>
            <a:endParaRPr lang="zh-CN" altLang="en-US" sz="3200">
              <a:solidFill>
                <a:schemeClr val="tx2"/>
              </a:solidFill>
              <a:latin typeface="宋体" charset="-122"/>
              <a:ea typeface="宋体" charset="-122"/>
              <a:sym typeface="Helvetica Neue"/>
            </a:endParaRPr>
          </a:p>
          <a:p>
            <a:pPr marL="457200" indent="-457200">
              <a:buFont typeface="Wingdings" pitchFamily="2" charset="2"/>
              <a:buChar char="n"/>
            </a:pPr>
            <a:r>
              <a:rPr lang="zh-CN" altLang="en-US" sz="3200">
                <a:solidFill>
                  <a:srgbClr val="FF0000"/>
                </a:solidFill>
                <a:latin typeface="微软雅黑"/>
                <a:sym typeface="Helvetica Neue"/>
              </a:rPr>
              <a:t>实施应用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ea typeface="微软雅黑"/>
                <a:cs typeface="微软雅黑"/>
              </a:rPr>
              <a:t>数据迁移</a:t>
            </a:r>
          </a:p>
        </p:txBody>
      </p:sp>
      <p:sp>
        <p:nvSpPr>
          <p:cNvPr id="16384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latin typeface="微软雅黑"/>
                <a:ea typeface="微软雅黑"/>
                <a:cs typeface="微软雅黑"/>
              </a:rPr>
              <a:t>场景</a:t>
            </a:r>
          </a:p>
          <a:p>
            <a:pPr lvl="1" eaLnBrk="1" hangingPunct="1"/>
            <a:r>
              <a:rPr lang="en-US" altLang="zh-CN" smtClean="0">
                <a:latin typeface="宋体" charset="-122"/>
              </a:rPr>
              <a:t>MySQL</a:t>
            </a:r>
            <a:r>
              <a:rPr lang="zh-CN" altLang="en-US" smtClean="0">
                <a:latin typeface="宋体" charset="-122"/>
              </a:rPr>
              <a:t>数据库节点扩容</a:t>
            </a:r>
          </a:p>
          <a:p>
            <a:pPr lvl="1" eaLnBrk="1" hangingPunct="1"/>
            <a:r>
              <a:rPr lang="zh-CN" altLang="en-US" smtClean="0">
                <a:latin typeface="宋体" charset="-122"/>
              </a:rPr>
              <a:t>拆分规则更改</a:t>
            </a:r>
          </a:p>
          <a:p>
            <a:pPr eaLnBrk="1" hangingPunct="1"/>
            <a:r>
              <a:rPr lang="zh-CN" altLang="en-US" smtClean="0">
                <a:latin typeface="微软雅黑"/>
                <a:ea typeface="微软雅黑"/>
                <a:cs typeface="微软雅黑"/>
              </a:rPr>
              <a:t>目标</a:t>
            </a:r>
          </a:p>
          <a:p>
            <a:pPr lvl="1" eaLnBrk="1" hangingPunct="1"/>
            <a:r>
              <a:rPr lang="zh-CN" altLang="en-US" smtClean="0">
                <a:latin typeface="宋体" charset="-122"/>
              </a:rPr>
              <a:t>迁移过程中应用保持可用</a:t>
            </a:r>
          </a:p>
          <a:p>
            <a:pPr lvl="1" eaLnBrk="1" hangingPunct="1"/>
            <a:r>
              <a:rPr lang="zh-CN" altLang="en-US" smtClean="0">
                <a:latin typeface="宋体" charset="-122"/>
              </a:rPr>
              <a:t>数据不能丢失、多余或者不一致</a:t>
            </a:r>
          </a:p>
          <a:p>
            <a:pPr eaLnBrk="1" hangingPunct="1"/>
            <a:endParaRPr lang="en-US" altLang="zh-CN" smtClean="0">
              <a:latin typeface="宋体" charset="-122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ea typeface="微软雅黑"/>
                <a:cs typeface="微软雅黑"/>
              </a:rPr>
              <a:t>迁移步骤</a:t>
            </a:r>
          </a:p>
        </p:txBody>
      </p:sp>
      <p:sp>
        <p:nvSpPr>
          <p:cNvPr id="164866" name="Rectangle 2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latin typeface="微软雅黑"/>
                <a:ea typeface="微软雅黑"/>
                <a:cs typeface="微软雅黑"/>
              </a:rPr>
              <a:t>数据的全量</a:t>
            </a:r>
            <a:r>
              <a:rPr lang="en-US" altLang="zh-CN" smtClean="0">
                <a:latin typeface="微软雅黑"/>
                <a:ea typeface="微软雅黑"/>
                <a:cs typeface="微软雅黑"/>
              </a:rPr>
              <a:t>dump</a:t>
            </a:r>
          </a:p>
          <a:p>
            <a:pPr eaLnBrk="1" hangingPunct="1"/>
            <a:r>
              <a:rPr lang="zh-CN" altLang="en-US" smtClean="0">
                <a:latin typeface="微软雅黑"/>
                <a:ea typeface="微软雅黑"/>
                <a:cs typeface="微软雅黑"/>
              </a:rPr>
              <a:t>变更数据的增量</a:t>
            </a:r>
            <a:r>
              <a:rPr lang="en-US" altLang="zh-CN" smtClean="0">
                <a:latin typeface="微软雅黑"/>
                <a:ea typeface="微软雅黑"/>
                <a:cs typeface="微软雅黑"/>
              </a:rPr>
              <a:t>dump</a:t>
            </a:r>
          </a:p>
          <a:p>
            <a:pPr eaLnBrk="1" hangingPunct="1"/>
            <a:r>
              <a:rPr lang="zh-CN" altLang="en-US" smtClean="0">
                <a:latin typeface="微软雅黑"/>
                <a:ea typeface="微软雅黑"/>
                <a:cs typeface="微软雅黑"/>
              </a:rPr>
              <a:t>路由规则切换</a:t>
            </a:r>
          </a:p>
          <a:p>
            <a:pPr eaLnBrk="1" hangingPunct="1"/>
            <a:r>
              <a:rPr lang="zh-CN" altLang="en-US" smtClean="0">
                <a:latin typeface="微软雅黑"/>
                <a:ea typeface="微软雅黑"/>
                <a:cs typeface="微软雅黑"/>
              </a:rPr>
              <a:t>清理</a:t>
            </a:r>
          </a:p>
          <a:p>
            <a:pPr eaLnBrk="1" hangingPunct="1"/>
            <a:endParaRPr lang="en-US" altLang="zh-CN" smtClean="0">
              <a:latin typeface="微软雅黑"/>
              <a:ea typeface="微软雅黑"/>
              <a:cs typeface="微软雅黑"/>
            </a:endParaRPr>
          </a:p>
        </p:txBody>
      </p:sp>
      <p:sp>
        <p:nvSpPr>
          <p:cNvPr id="164867" name="Rectangle 27"/>
          <p:cNvSpPr>
            <a:spLocks/>
          </p:cNvSpPr>
          <p:nvPr/>
        </p:nvSpPr>
        <p:spPr bwMode="auto">
          <a:xfrm>
            <a:off x="3733800" y="4419600"/>
            <a:ext cx="1828800" cy="609600"/>
          </a:xfrm>
          <a:prstGeom prst="rect">
            <a:avLst/>
          </a:prstGeom>
          <a:solidFill>
            <a:srgbClr val="FFCC99"/>
          </a:solidFill>
          <a:ln w="25400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4868" name="Rectangle 28"/>
          <p:cNvSpPr>
            <a:spLocks/>
          </p:cNvSpPr>
          <p:nvPr/>
        </p:nvSpPr>
        <p:spPr bwMode="auto">
          <a:xfrm>
            <a:off x="7391400" y="4419600"/>
            <a:ext cx="1219200" cy="609600"/>
          </a:xfrm>
          <a:prstGeom prst="rect">
            <a:avLst/>
          </a:prstGeom>
          <a:solidFill>
            <a:schemeClr val="accent1"/>
          </a:solidFill>
          <a:ln w="25400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4869" name="Rectangle 29"/>
          <p:cNvSpPr>
            <a:spLocks/>
          </p:cNvSpPr>
          <p:nvPr/>
        </p:nvSpPr>
        <p:spPr bwMode="auto">
          <a:xfrm>
            <a:off x="6172200" y="4419600"/>
            <a:ext cx="1219200" cy="609600"/>
          </a:xfrm>
          <a:prstGeom prst="rect">
            <a:avLst/>
          </a:prstGeom>
          <a:solidFill>
            <a:srgbClr val="CC99FF">
              <a:alpha val="61176"/>
            </a:srgbClr>
          </a:solidFill>
          <a:ln w="25400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4870" name="Rectangle 30"/>
          <p:cNvSpPr>
            <a:spLocks/>
          </p:cNvSpPr>
          <p:nvPr/>
        </p:nvSpPr>
        <p:spPr bwMode="auto">
          <a:xfrm>
            <a:off x="5562600" y="4419600"/>
            <a:ext cx="609600" cy="609600"/>
          </a:xfrm>
          <a:prstGeom prst="rect">
            <a:avLst/>
          </a:prstGeom>
          <a:solidFill>
            <a:srgbClr val="00FF00">
              <a:alpha val="61176"/>
            </a:srgbClr>
          </a:solidFill>
          <a:ln w="25400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4871" name="AutoShape 31"/>
          <p:cNvSpPr>
            <a:spLocks/>
          </p:cNvSpPr>
          <p:nvPr/>
        </p:nvSpPr>
        <p:spPr bwMode="auto">
          <a:xfrm>
            <a:off x="3733800" y="3352800"/>
            <a:ext cx="2438400" cy="762000"/>
          </a:xfrm>
          <a:prstGeom prst="flowChartMagneticDisk">
            <a:avLst/>
          </a:prstGeom>
          <a:solidFill>
            <a:srgbClr val="C0C0C0"/>
          </a:solidFill>
          <a:ln w="31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/>
              <a:t>分库</a:t>
            </a:r>
            <a:r>
              <a:rPr lang="en-US" altLang="zh-CN"/>
              <a:t>1</a:t>
            </a:r>
          </a:p>
        </p:txBody>
      </p:sp>
      <p:sp>
        <p:nvSpPr>
          <p:cNvPr id="164872" name="AutoShape 32"/>
          <p:cNvSpPr>
            <a:spLocks/>
          </p:cNvSpPr>
          <p:nvPr/>
        </p:nvSpPr>
        <p:spPr bwMode="auto">
          <a:xfrm>
            <a:off x="6172200" y="3352800"/>
            <a:ext cx="2438400" cy="762000"/>
          </a:xfrm>
          <a:prstGeom prst="flowChartMagneticDisk">
            <a:avLst/>
          </a:prstGeom>
          <a:solidFill>
            <a:srgbClr val="C0C0C0"/>
          </a:solidFill>
          <a:ln w="31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/>
              <a:t>分库</a:t>
            </a:r>
            <a:r>
              <a:rPr lang="en-US" altLang="zh-CN"/>
              <a:t>2</a:t>
            </a:r>
          </a:p>
        </p:txBody>
      </p:sp>
      <p:sp>
        <p:nvSpPr>
          <p:cNvPr id="164873" name="AutoShape 33"/>
          <p:cNvSpPr>
            <a:spLocks/>
          </p:cNvSpPr>
          <p:nvPr/>
        </p:nvSpPr>
        <p:spPr bwMode="auto">
          <a:xfrm>
            <a:off x="3733800" y="5334000"/>
            <a:ext cx="1828800" cy="762000"/>
          </a:xfrm>
          <a:prstGeom prst="flowChartMagneticDisk">
            <a:avLst/>
          </a:prstGeom>
          <a:solidFill>
            <a:srgbClr val="C0C0C0"/>
          </a:solidFill>
          <a:ln w="31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/>
              <a:t>分库</a:t>
            </a:r>
            <a:r>
              <a:rPr lang="en-US" altLang="zh-CN"/>
              <a:t>1</a:t>
            </a:r>
          </a:p>
        </p:txBody>
      </p:sp>
      <p:sp>
        <p:nvSpPr>
          <p:cNvPr id="164874" name="AutoShape 34"/>
          <p:cNvSpPr>
            <a:spLocks/>
          </p:cNvSpPr>
          <p:nvPr/>
        </p:nvSpPr>
        <p:spPr bwMode="auto">
          <a:xfrm>
            <a:off x="5562600" y="5334000"/>
            <a:ext cx="1828800" cy="762000"/>
          </a:xfrm>
          <a:prstGeom prst="flowChartMagneticDisk">
            <a:avLst/>
          </a:prstGeom>
          <a:solidFill>
            <a:srgbClr val="C0C0C0"/>
          </a:solidFill>
          <a:ln w="31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/>
              <a:t>分库</a:t>
            </a:r>
            <a:r>
              <a:rPr lang="en-US" altLang="zh-CN"/>
              <a:t>2</a:t>
            </a:r>
          </a:p>
        </p:txBody>
      </p:sp>
      <p:sp>
        <p:nvSpPr>
          <p:cNvPr id="164875" name="AutoShape 35"/>
          <p:cNvSpPr>
            <a:spLocks/>
          </p:cNvSpPr>
          <p:nvPr/>
        </p:nvSpPr>
        <p:spPr bwMode="auto">
          <a:xfrm>
            <a:off x="7391400" y="5334000"/>
            <a:ext cx="1219200" cy="762000"/>
          </a:xfrm>
          <a:prstGeom prst="flowChartMagneticDisk">
            <a:avLst/>
          </a:prstGeom>
          <a:solidFill>
            <a:srgbClr val="C0C0C0"/>
          </a:solidFill>
          <a:ln w="31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/>
              <a:t>分库</a:t>
            </a:r>
            <a:r>
              <a:rPr lang="en-US" altLang="zh-CN"/>
              <a:t>3</a:t>
            </a:r>
          </a:p>
        </p:txBody>
      </p:sp>
      <p:sp>
        <p:nvSpPr>
          <p:cNvPr id="164876" name="AutoShape 36"/>
          <p:cNvSpPr>
            <a:spLocks/>
          </p:cNvSpPr>
          <p:nvPr/>
        </p:nvSpPr>
        <p:spPr bwMode="auto">
          <a:xfrm rot="-5400000">
            <a:off x="4800600" y="3048000"/>
            <a:ext cx="304800" cy="2438400"/>
          </a:xfrm>
          <a:prstGeom prst="rightBrace">
            <a:avLst>
              <a:gd name="adj1" fmla="val 66667"/>
              <a:gd name="adj2" fmla="val 50000"/>
            </a:avLst>
          </a:prstGeom>
          <a:noFill/>
          <a:ln w="63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4877" name="AutoShape 37"/>
          <p:cNvSpPr>
            <a:spLocks/>
          </p:cNvSpPr>
          <p:nvPr/>
        </p:nvSpPr>
        <p:spPr bwMode="auto">
          <a:xfrm rot="-5400000">
            <a:off x="7239000" y="3048000"/>
            <a:ext cx="304800" cy="2438400"/>
          </a:xfrm>
          <a:prstGeom prst="rightBrace">
            <a:avLst>
              <a:gd name="adj1" fmla="val 66667"/>
              <a:gd name="adj2" fmla="val 50000"/>
            </a:avLst>
          </a:prstGeom>
          <a:noFill/>
          <a:ln w="63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4878" name="AutoShape 38"/>
          <p:cNvSpPr>
            <a:spLocks/>
          </p:cNvSpPr>
          <p:nvPr/>
        </p:nvSpPr>
        <p:spPr bwMode="auto">
          <a:xfrm rot="5400000">
            <a:off x="7848600" y="4572000"/>
            <a:ext cx="304800" cy="1219200"/>
          </a:xfrm>
          <a:prstGeom prst="rightBrace">
            <a:avLst>
              <a:gd name="adj1" fmla="val 33333"/>
              <a:gd name="adj2" fmla="val 50000"/>
            </a:avLst>
          </a:prstGeom>
          <a:noFill/>
          <a:ln w="63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4879" name="AutoShape 39"/>
          <p:cNvSpPr>
            <a:spLocks/>
          </p:cNvSpPr>
          <p:nvPr/>
        </p:nvSpPr>
        <p:spPr bwMode="auto">
          <a:xfrm rot="5400000">
            <a:off x="6324600" y="4267200"/>
            <a:ext cx="304800" cy="1828800"/>
          </a:xfrm>
          <a:prstGeom prst="rightBrace">
            <a:avLst>
              <a:gd name="adj1" fmla="val 50000"/>
              <a:gd name="adj2" fmla="val 50000"/>
            </a:avLst>
          </a:prstGeom>
          <a:noFill/>
          <a:ln w="63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4880" name="AutoShape 40"/>
          <p:cNvSpPr>
            <a:spLocks/>
          </p:cNvSpPr>
          <p:nvPr/>
        </p:nvSpPr>
        <p:spPr bwMode="auto">
          <a:xfrm rot="5400000">
            <a:off x="4495800" y="4267200"/>
            <a:ext cx="304800" cy="1828800"/>
          </a:xfrm>
          <a:prstGeom prst="rightBrace">
            <a:avLst>
              <a:gd name="adj1" fmla="val 50000"/>
              <a:gd name="adj2" fmla="val 50000"/>
            </a:avLst>
          </a:prstGeom>
          <a:noFill/>
          <a:ln w="63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4881" name="AutoShape 41"/>
          <p:cNvSpPr>
            <a:spLocks/>
          </p:cNvSpPr>
          <p:nvPr/>
        </p:nvSpPr>
        <p:spPr bwMode="auto">
          <a:xfrm rot="5400000">
            <a:off x="1638300" y="4229100"/>
            <a:ext cx="2667000" cy="1219200"/>
          </a:xfrm>
          <a:prstGeom prst="curvedUpArrow">
            <a:avLst>
              <a:gd name="adj1" fmla="val 33663"/>
              <a:gd name="adj2" fmla="val 71398"/>
              <a:gd name="adj3" fmla="val 51042"/>
            </a:avLst>
          </a:prstGeom>
          <a:solidFill>
            <a:schemeClr val="accent1"/>
          </a:solidFill>
          <a:ln w="6350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4882" name="Text Box 42"/>
          <p:cNvSpPr txBox="1">
            <a:spLocks noChangeArrowheads="1"/>
          </p:cNvSpPr>
          <p:nvPr/>
        </p:nvSpPr>
        <p:spPr bwMode="auto">
          <a:xfrm>
            <a:off x="914400" y="4267200"/>
            <a:ext cx="27432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3200"/>
              <a:t>数据分片</a:t>
            </a:r>
            <a:br>
              <a:rPr lang="zh-CN" altLang="en-US" sz="3200"/>
            </a:br>
            <a:r>
              <a:rPr lang="zh-CN" altLang="en-US" sz="3200"/>
              <a:t>数量变更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89" name="AutoShape 19"/>
          <p:cNvSpPr>
            <a:spLocks/>
          </p:cNvSpPr>
          <p:nvPr/>
        </p:nvSpPr>
        <p:spPr bwMode="auto">
          <a:xfrm>
            <a:off x="3505200" y="3810000"/>
            <a:ext cx="2438400" cy="2362200"/>
          </a:xfrm>
          <a:prstGeom prst="can">
            <a:avLst>
              <a:gd name="adj" fmla="val 13333"/>
            </a:avLst>
          </a:prstGeom>
          <a:solidFill>
            <a:srgbClr val="C0C0C0"/>
          </a:solidFill>
          <a:ln w="6350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pPr algn="ctr"/>
            <a:r>
              <a:rPr lang="zh-CN" altLang="en-US"/>
              <a:t>分库</a:t>
            </a:r>
            <a:r>
              <a:rPr lang="en-US" altLang="zh-CN"/>
              <a:t>2</a:t>
            </a:r>
          </a:p>
        </p:txBody>
      </p:sp>
      <p:sp>
        <p:nvSpPr>
          <p:cNvPr id="165890" name="AutoShape 18"/>
          <p:cNvSpPr>
            <a:spLocks/>
          </p:cNvSpPr>
          <p:nvPr/>
        </p:nvSpPr>
        <p:spPr bwMode="auto">
          <a:xfrm>
            <a:off x="914400" y="3810000"/>
            <a:ext cx="2438400" cy="2362200"/>
          </a:xfrm>
          <a:prstGeom prst="can">
            <a:avLst>
              <a:gd name="adj" fmla="val 13333"/>
            </a:avLst>
          </a:prstGeom>
          <a:solidFill>
            <a:srgbClr val="C0C0C0"/>
          </a:solidFill>
          <a:ln w="6350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pPr algn="ctr"/>
            <a:r>
              <a:rPr lang="zh-CN" altLang="en-US"/>
              <a:t>分库</a:t>
            </a:r>
            <a:r>
              <a:rPr lang="en-US" altLang="zh-CN"/>
              <a:t>1</a:t>
            </a:r>
          </a:p>
        </p:txBody>
      </p:sp>
      <p:sp>
        <p:nvSpPr>
          <p:cNvPr id="1658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latin typeface="微软雅黑"/>
                <a:ea typeface="微软雅黑"/>
                <a:cs typeface="微软雅黑"/>
              </a:rPr>
              <a:t>全量</a:t>
            </a:r>
            <a:r>
              <a:rPr lang="en-US" altLang="zh-CN" smtClean="0">
                <a:latin typeface="微软雅黑"/>
                <a:ea typeface="微软雅黑"/>
                <a:cs typeface="微软雅黑"/>
              </a:rPr>
              <a:t>dump</a:t>
            </a:r>
          </a:p>
        </p:txBody>
      </p:sp>
      <p:sp>
        <p:nvSpPr>
          <p:cNvPr id="165892" name="Rectangle 4"/>
          <p:cNvSpPr>
            <a:spLocks/>
          </p:cNvSpPr>
          <p:nvPr/>
        </p:nvSpPr>
        <p:spPr bwMode="auto">
          <a:xfrm>
            <a:off x="914400" y="4495800"/>
            <a:ext cx="1828800" cy="609600"/>
          </a:xfrm>
          <a:prstGeom prst="rect">
            <a:avLst/>
          </a:prstGeom>
          <a:solidFill>
            <a:srgbClr val="FFCC99"/>
          </a:solidFill>
          <a:ln w="25400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5893" name="Rectangle 5"/>
          <p:cNvSpPr>
            <a:spLocks/>
          </p:cNvSpPr>
          <p:nvPr/>
        </p:nvSpPr>
        <p:spPr bwMode="auto">
          <a:xfrm>
            <a:off x="4724400" y="4495800"/>
            <a:ext cx="1219200" cy="609600"/>
          </a:xfrm>
          <a:prstGeom prst="rect">
            <a:avLst/>
          </a:prstGeom>
          <a:solidFill>
            <a:schemeClr val="accent1"/>
          </a:solidFill>
          <a:ln w="25400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5894" name="Rectangle 6"/>
          <p:cNvSpPr>
            <a:spLocks/>
          </p:cNvSpPr>
          <p:nvPr/>
        </p:nvSpPr>
        <p:spPr bwMode="auto">
          <a:xfrm>
            <a:off x="3505200" y="4495800"/>
            <a:ext cx="1219200" cy="609600"/>
          </a:xfrm>
          <a:prstGeom prst="rect">
            <a:avLst/>
          </a:prstGeom>
          <a:solidFill>
            <a:srgbClr val="CC99FF"/>
          </a:solidFill>
          <a:ln w="25400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5895" name="Rectangle 7"/>
          <p:cNvSpPr>
            <a:spLocks/>
          </p:cNvSpPr>
          <p:nvPr/>
        </p:nvSpPr>
        <p:spPr bwMode="auto">
          <a:xfrm>
            <a:off x="2743200" y="4495800"/>
            <a:ext cx="609600" cy="609600"/>
          </a:xfrm>
          <a:prstGeom prst="rect">
            <a:avLst/>
          </a:prstGeom>
          <a:solidFill>
            <a:srgbClr val="00FF00"/>
          </a:solidFill>
          <a:ln w="25400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5896" name="AutoShape 20"/>
          <p:cNvSpPr>
            <a:spLocks/>
          </p:cNvSpPr>
          <p:nvPr/>
        </p:nvSpPr>
        <p:spPr bwMode="auto">
          <a:xfrm>
            <a:off x="6096000" y="3810000"/>
            <a:ext cx="2438400" cy="2362200"/>
          </a:xfrm>
          <a:prstGeom prst="can">
            <a:avLst>
              <a:gd name="adj" fmla="val 13333"/>
            </a:avLst>
          </a:prstGeom>
          <a:solidFill>
            <a:srgbClr val="C0C0C0"/>
          </a:solidFill>
          <a:ln w="6350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pPr algn="ctr"/>
            <a:r>
              <a:rPr lang="zh-CN" altLang="en-US"/>
              <a:t>分库</a:t>
            </a:r>
            <a:r>
              <a:rPr lang="en-US" altLang="zh-CN"/>
              <a:t>3</a:t>
            </a:r>
          </a:p>
        </p:txBody>
      </p:sp>
      <p:sp>
        <p:nvSpPr>
          <p:cNvPr id="165897" name="Rectangle 21"/>
          <p:cNvSpPr>
            <a:spLocks/>
          </p:cNvSpPr>
          <p:nvPr/>
        </p:nvSpPr>
        <p:spPr bwMode="auto">
          <a:xfrm>
            <a:off x="3886200" y="1447800"/>
            <a:ext cx="1828800" cy="609600"/>
          </a:xfrm>
          <a:prstGeom prst="rect">
            <a:avLst/>
          </a:prstGeom>
          <a:solidFill>
            <a:srgbClr val="FFCC99"/>
          </a:solidFill>
          <a:ln w="25400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5898" name="Rectangle 22"/>
          <p:cNvSpPr>
            <a:spLocks/>
          </p:cNvSpPr>
          <p:nvPr/>
        </p:nvSpPr>
        <p:spPr bwMode="auto">
          <a:xfrm>
            <a:off x="7543800" y="1447800"/>
            <a:ext cx="1219200" cy="609600"/>
          </a:xfrm>
          <a:prstGeom prst="rect">
            <a:avLst/>
          </a:prstGeom>
          <a:solidFill>
            <a:schemeClr val="accent1"/>
          </a:solidFill>
          <a:ln w="25400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5899" name="Rectangle 23"/>
          <p:cNvSpPr>
            <a:spLocks/>
          </p:cNvSpPr>
          <p:nvPr/>
        </p:nvSpPr>
        <p:spPr bwMode="auto">
          <a:xfrm>
            <a:off x="6324600" y="1447800"/>
            <a:ext cx="1219200" cy="609600"/>
          </a:xfrm>
          <a:prstGeom prst="rect">
            <a:avLst/>
          </a:prstGeom>
          <a:solidFill>
            <a:srgbClr val="CC99FF">
              <a:alpha val="61176"/>
            </a:srgbClr>
          </a:solidFill>
          <a:ln w="25400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5900" name="Rectangle 24"/>
          <p:cNvSpPr>
            <a:spLocks/>
          </p:cNvSpPr>
          <p:nvPr/>
        </p:nvSpPr>
        <p:spPr bwMode="auto">
          <a:xfrm>
            <a:off x="5715000" y="1447800"/>
            <a:ext cx="609600" cy="609600"/>
          </a:xfrm>
          <a:prstGeom prst="rect">
            <a:avLst/>
          </a:prstGeom>
          <a:solidFill>
            <a:srgbClr val="00FF00">
              <a:alpha val="61176"/>
            </a:srgbClr>
          </a:solidFill>
          <a:ln w="25400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5901" name="AutoShape 25"/>
          <p:cNvSpPr>
            <a:spLocks/>
          </p:cNvSpPr>
          <p:nvPr/>
        </p:nvSpPr>
        <p:spPr bwMode="auto">
          <a:xfrm>
            <a:off x="3886200" y="2362200"/>
            <a:ext cx="1828800" cy="762000"/>
          </a:xfrm>
          <a:prstGeom prst="flowChartMagneticDisk">
            <a:avLst/>
          </a:prstGeom>
          <a:solidFill>
            <a:srgbClr val="C0C0C0"/>
          </a:solidFill>
          <a:ln w="31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/>
              <a:t>分库</a:t>
            </a:r>
            <a:r>
              <a:rPr lang="en-US" altLang="zh-CN"/>
              <a:t>1</a:t>
            </a:r>
          </a:p>
        </p:txBody>
      </p:sp>
      <p:sp>
        <p:nvSpPr>
          <p:cNvPr id="165902" name="AutoShape 26"/>
          <p:cNvSpPr>
            <a:spLocks/>
          </p:cNvSpPr>
          <p:nvPr/>
        </p:nvSpPr>
        <p:spPr bwMode="auto">
          <a:xfrm>
            <a:off x="5715000" y="2362200"/>
            <a:ext cx="1828800" cy="762000"/>
          </a:xfrm>
          <a:prstGeom prst="flowChartMagneticDisk">
            <a:avLst/>
          </a:prstGeom>
          <a:solidFill>
            <a:srgbClr val="C0C0C0"/>
          </a:solidFill>
          <a:ln w="31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/>
              <a:t>分库</a:t>
            </a:r>
            <a:r>
              <a:rPr lang="en-US" altLang="zh-CN"/>
              <a:t>2</a:t>
            </a:r>
          </a:p>
        </p:txBody>
      </p:sp>
      <p:sp>
        <p:nvSpPr>
          <p:cNvPr id="165903" name="AutoShape 27"/>
          <p:cNvSpPr>
            <a:spLocks/>
          </p:cNvSpPr>
          <p:nvPr/>
        </p:nvSpPr>
        <p:spPr bwMode="auto">
          <a:xfrm>
            <a:off x="7543800" y="2362200"/>
            <a:ext cx="1219200" cy="762000"/>
          </a:xfrm>
          <a:prstGeom prst="flowChartMagneticDisk">
            <a:avLst/>
          </a:prstGeom>
          <a:solidFill>
            <a:srgbClr val="C0C0C0"/>
          </a:solidFill>
          <a:ln w="31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/>
              <a:t>分库</a:t>
            </a:r>
            <a:r>
              <a:rPr lang="en-US" altLang="zh-CN"/>
              <a:t>3</a:t>
            </a:r>
          </a:p>
        </p:txBody>
      </p:sp>
      <p:sp>
        <p:nvSpPr>
          <p:cNvPr id="165904" name="AutoShape 28"/>
          <p:cNvSpPr>
            <a:spLocks/>
          </p:cNvSpPr>
          <p:nvPr/>
        </p:nvSpPr>
        <p:spPr bwMode="auto">
          <a:xfrm rot="5400000">
            <a:off x="8001000" y="1600200"/>
            <a:ext cx="304800" cy="1219200"/>
          </a:xfrm>
          <a:prstGeom prst="rightBrace">
            <a:avLst>
              <a:gd name="adj1" fmla="val 33333"/>
              <a:gd name="adj2" fmla="val 50000"/>
            </a:avLst>
          </a:prstGeom>
          <a:noFill/>
          <a:ln w="63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5905" name="AutoShape 29"/>
          <p:cNvSpPr>
            <a:spLocks/>
          </p:cNvSpPr>
          <p:nvPr/>
        </p:nvSpPr>
        <p:spPr bwMode="auto">
          <a:xfrm rot="5400000">
            <a:off x="6477000" y="1295400"/>
            <a:ext cx="304800" cy="1828800"/>
          </a:xfrm>
          <a:prstGeom prst="rightBrace">
            <a:avLst>
              <a:gd name="adj1" fmla="val 50000"/>
              <a:gd name="adj2" fmla="val 50000"/>
            </a:avLst>
          </a:prstGeom>
          <a:noFill/>
          <a:ln w="63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5906" name="AutoShape 30"/>
          <p:cNvSpPr>
            <a:spLocks/>
          </p:cNvSpPr>
          <p:nvPr/>
        </p:nvSpPr>
        <p:spPr bwMode="auto">
          <a:xfrm rot="5400000">
            <a:off x="4648200" y="1295400"/>
            <a:ext cx="304800" cy="1828800"/>
          </a:xfrm>
          <a:prstGeom prst="rightBrace">
            <a:avLst>
              <a:gd name="adj1" fmla="val 50000"/>
              <a:gd name="adj2" fmla="val 50000"/>
            </a:avLst>
          </a:prstGeom>
          <a:noFill/>
          <a:ln w="63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3" name="AutoShape 2"/>
          <p:cNvSpPr>
            <a:spLocks/>
          </p:cNvSpPr>
          <p:nvPr/>
        </p:nvSpPr>
        <p:spPr bwMode="auto">
          <a:xfrm>
            <a:off x="3505200" y="3810000"/>
            <a:ext cx="2438400" cy="2209800"/>
          </a:xfrm>
          <a:prstGeom prst="can">
            <a:avLst>
              <a:gd name="adj" fmla="val 13333"/>
            </a:avLst>
          </a:prstGeom>
          <a:solidFill>
            <a:srgbClr val="C0C0C0"/>
          </a:solidFill>
          <a:ln w="6350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pPr algn="ctr"/>
            <a:r>
              <a:rPr lang="zh-CN" altLang="en-US"/>
              <a:t>分库</a:t>
            </a:r>
            <a:r>
              <a:rPr lang="en-US" altLang="zh-CN"/>
              <a:t>2</a:t>
            </a:r>
          </a:p>
        </p:txBody>
      </p:sp>
      <p:sp>
        <p:nvSpPr>
          <p:cNvPr id="166914" name="AutoShape 3"/>
          <p:cNvSpPr>
            <a:spLocks/>
          </p:cNvSpPr>
          <p:nvPr/>
        </p:nvSpPr>
        <p:spPr bwMode="auto">
          <a:xfrm>
            <a:off x="914400" y="3810000"/>
            <a:ext cx="2438400" cy="2209800"/>
          </a:xfrm>
          <a:prstGeom prst="can">
            <a:avLst>
              <a:gd name="adj" fmla="val 13333"/>
            </a:avLst>
          </a:prstGeom>
          <a:solidFill>
            <a:srgbClr val="C0C0C0"/>
          </a:solidFill>
          <a:ln w="6350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pPr algn="ctr"/>
            <a:r>
              <a:rPr lang="zh-CN" altLang="en-US"/>
              <a:t>分库</a:t>
            </a:r>
            <a:r>
              <a:rPr lang="en-US" altLang="zh-CN"/>
              <a:t>1</a:t>
            </a:r>
          </a:p>
        </p:txBody>
      </p:sp>
      <p:sp>
        <p:nvSpPr>
          <p:cNvPr id="166915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latin typeface="微软雅黑"/>
                <a:ea typeface="微软雅黑"/>
                <a:cs typeface="微软雅黑"/>
              </a:rPr>
              <a:t>全量</a:t>
            </a:r>
            <a:r>
              <a:rPr lang="en-US" altLang="zh-CN" smtClean="0">
                <a:latin typeface="微软雅黑"/>
                <a:ea typeface="微软雅黑"/>
                <a:cs typeface="微软雅黑"/>
              </a:rPr>
              <a:t>dump</a:t>
            </a:r>
          </a:p>
        </p:txBody>
      </p:sp>
      <p:sp>
        <p:nvSpPr>
          <p:cNvPr id="166916" name="Rectangle 5"/>
          <p:cNvSpPr>
            <a:spLocks/>
          </p:cNvSpPr>
          <p:nvPr/>
        </p:nvSpPr>
        <p:spPr bwMode="auto">
          <a:xfrm>
            <a:off x="914400" y="4495800"/>
            <a:ext cx="1828800" cy="609600"/>
          </a:xfrm>
          <a:prstGeom prst="rect">
            <a:avLst/>
          </a:prstGeom>
          <a:solidFill>
            <a:srgbClr val="FFCC99"/>
          </a:solidFill>
          <a:ln w="25400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6917" name="Rectangle 6"/>
          <p:cNvSpPr>
            <a:spLocks/>
          </p:cNvSpPr>
          <p:nvPr/>
        </p:nvSpPr>
        <p:spPr bwMode="auto">
          <a:xfrm>
            <a:off x="4724400" y="4495800"/>
            <a:ext cx="1219200" cy="609600"/>
          </a:xfrm>
          <a:prstGeom prst="rect">
            <a:avLst/>
          </a:prstGeom>
          <a:solidFill>
            <a:schemeClr val="accent1"/>
          </a:solidFill>
          <a:ln w="25400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6918" name="Rectangle 7"/>
          <p:cNvSpPr>
            <a:spLocks/>
          </p:cNvSpPr>
          <p:nvPr/>
        </p:nvSpPr>
        <p:spPr bwMode="auto">
          <a:xfrm>
            <a:off x="3505200" y="4495800"/>
            <a:ext cx="1219200" cy="609600"/>
          </a:xfrm>
          <a:prstGeom prst="rect">
            <a:avLst/>
          </a:prstGeom>
          <a:solidFill>
            <a:srgbClr val="CC99FF"/>
          </a:solidFill>
          <a:ln w="25400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6919" name="Rectangle 8"/>
          <p:cNvSpPr>
            <a:spLocks/>
          </p:cNvSpPr>
          <p:nvPr/>
        </p:nvSpPr>
        <p:spPr bwMode="auto">
          <a:xfrm>
            <a:off x="2743200" y="4495800"/>
            <a:ext cx="609600" cy="609600"/>
          </a:xfrm>
          <a:prstGeom prst="rect">
            <a:avLst/>
          </a:prstGeom>
          <a:solidFill>
            <a:srgbClr val="00FF00"/>
          </a:solidFill>
          <a:ln w="25400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6920" name="AutoShape 9"/>
          <p:cNvSpPr>
            <a:spLocks/>
          </p:cNvSpPr>
          <p:nvPr/>
        </p:nvSpPr>
        <p:spPr bwMode="auto">
          <a:xfrm>
            <a:off x="6096000" y="3810000"/>
            <a:ext cx="2438400" cy="2209800"/>
          </a:xfrm>
          <a:prstGeom prst="can">
            <a:avLst>
              <a:gd name="adj" fmla="val 13333"/>
            </a:avLst>
          </a:prstGeom>
          <a:solidFill>
            <a:srgbClr val="C0C0C0"/>
          </a:solidFill>
          <a:ln w="6350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pPr algn="ctr"/>
            <a:r>
              <a:rPr lang="zh-CN" altLang="en-US"/>
              <a:t>分库</a:t>
            </a:r>
            <a:r>
              <a:rPr lang="en-US" altLang="zh-CN"/>
              <a:t>3</a:t>
            </a:r>
          </a:p>
        </p:txBody>
      </p:sp>
      <p:sp>
        <p:nvSpPr>
          <p:cNvPr id="166921" name="Rectangle 10"/>
          <p:cNvSpPr>
            <a:spLocks/>
          </p:cNvSpPr>
          <p:nvPr/>
        </p:nvSpPr>
        <p:spPr bwMode="auto">
          <a:xfrm>
            <a:off x="3886200" y="1447800"/>
            <a:ext cx="1828800" cy="609600"/>
          </a:xfrm>
          <a:prstGeom prst="rect">
            <a:avLst/>
          </a:prstGeom>
          <a:solidFill>
            <a:srgbClr val="FFCC99"/>
          </a:solidFill>
          <a:ln w="25400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6922" name="Rectangle 11"/>
          <p:cNvSpPr>
            <a:spLocks/>
          </p:cNvSpPr>
          <p:nvPr/>
        </p:nvSpPr>
        <p:spPr bwMode="auto">
          <a:xfrm>
            <a:off x="7543800" y="1447800"/>
            <a:ext cx="1219200" cy="609600"/>
          </a:xfrm>
          <a:prstGeom prst="rect">
            <a:avLst/>
          </a:prstGeom>
          <a:solidFill>
            <a:schemeClr val="accent1"/>
          </a:solidFill>
          <a:ln w="25400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6923" name="Rectangle 12"/>
          <p:cNvSpPr>
            <a:spLocks/>
          </p:cNvSpPr>
          <p:nvPr/>
        </p:nvSpPr>
        <p:spPr bwMode="auto">
          <a:xfrm>
            <a:off x="6324600" y="1447800"/>
            <a:ext cx="1219200" cy="609600"/>
          </a:xfrm>
          <a:prstGeom prst="rect">
            <a:avLst/>
          </a:prstGeom>
          <a:solidFill>
            <a:srgbClr val="CC99FF">
              <a:alpha val="61176"/>
            </a:srgbClr>
          </a:solidFill>
          <a:ln w="25400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6924" name="Rectangle 13"/>
          <p:cNvSpPr>
            <a:spLocks/>
          </p:cNvSpPr>
          <p:nvPr/>
        </p:nvSpPr>
        <p:spPr bwMode="auto">
          <a:xfrm>
            <a:off x="5715000" y="1447800"/>
            <a:ext cx="609600" cy="609600"/>
          </a:xfrm>
          <a:prstGeom prst="rect">
            <a:avLst/>
          </a:prstGeom>
          <a:solidFill>
            <a:srgbClr val="00FF00">
              <a:alpha val="61176"/>
            </a:srgbClr>
          </a:solidFill>
          <a:ln w="25400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6925" name="AutoShape 14"/>
          <p:cNvSpPr>
            <a:spLocks/>
          </p:cNvSpPr>
          <p:nvPr/>
        </p:nvSpPr>
        <p:spPr bwMode="auto">
          <a:xfrm>
            <a:off x="3886200" y="2362200"/>
            <a:ext cx="1828800" cy="762000"/>
          </a:xfrm>
          <a:prstGeom prst="flowChartMagneticDisk">
            <a:avLst/>
          </a:prstGeom>
          <a:solidFill>
            <a:srgbClr val="C0C0C0"/>
          </a:solidFill>
          <a:ln w="31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/>
              <a:t>分库</a:t>
            </a:r>
            <a:r>
              <a:rPr lang="en-US" altLang="zh-CN"/>
              <a:t>1</a:t>
            </a:r>
          </a:p>
        </p:txBody>
      </p:sp>
      <p:sp>
        <p:nvSpPr>
          <p:cNvPr id="166926" name="AutoShape 15"/>
          <p:cNvSpPr>
            <a:spLocks/>
          </p:cNvSpPr>
          <p:nvPr/>
        </p:nvSpPr>
        <p:spPr bwMode="auto">
          <a:xfrm>
            <a:off x="5715000" y="2362200"/>
            <a:ext cx="1828800" cy="762000"/>
          </a:xfrm>
          <a:prstGeom prst="flowChartMagneticDisk">
            <a:avLst/>
          </a:prstGeom>
          <a:solidFill>
            <a:srgbClr val="C0C0C0"/>
          </a:solidFill>
          <a:ln w="31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/>
              <a:t>分库</a:t>
            </a:r>
            <a:r>
              <a:rPr lang="en-US" altLang="zh-CN"/>
              <a:t>2</a:t>
            </a:r>
          </a:p>
        </p:txBody>
      </p:sp>
      <p:sp>
        <p:nvSpPr>
          <p:cNvPr id="166927" name="AutoShape 16"/>
          <p:cNvSpPr>
            <a:spLocks/>
          </p:cNvSpPr>
          <p:nvPr/>
        </p:nvSpPr>
        <p:spPr bwMode="auto">
          <a:xfrm>
            <a:off x="7543800" y="2362200"/>
            <a:ext cx="1219200" cy="762000"/>
          </a:xfrm>
          <a:prstGeom prst="flowChartMagneticDisk">
            <a:avLst/>
          </a:prstGeom>
          <a:solidFill>
            <a:srgbClr val="C0C0C0"/>
          </a:solidFill>
          <a:ln w="31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/>
              <a:t>分库</a:t>
            </a:r>
            <a:r>
              <a:rPr lang="en-US" altLang="zh-CN"/>
              <a:t>3</a:t>
            </a:r>
          </a:p>
        </p:txBody>
      </p:sp>
      <p:sp>
        <p:nvSpPr>
          <p:cNvPr id="166928" name="AutoShape 17"/>
          <p:cNvSpPr>
            <a:spLocks/>
          </p:cNvSpPr>
          <p:nvPr/>
        </p:nvSpPr>
        <p:spPr bwMode="auto">
          <a:xfrm rot="5400000">
            <a:off x="8001000" y="1600200"/>
            <a:ext cx="304800" cy="1219200"/>
          </a:xfrm>
          <a:prstGeom prst="rightBrace">
            <a:avLst>
              <a:gd name="adj1" fmla="val 33333"/>
              <a:gd name="adj2" fmla="val 50000"/>
            </a:avLst>
          </a:prstGeom>
          <a:noFill/>
          <a:ln w="63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6929" name="AutoShape 18"/>
          <p:cNvSpPr>
            <a:spLocks/>
          </p:cNvSpPr>
          <p:nvPr/>
        </p:nvSpPr>
        <p:spPr bwMode="auto">
          <a:xfrm rot="5400000">
            <a:off x="6477000" y="1295400"/>
            <a:ext cx="304800" cy="1828800"/>
          </a:xfrm>
          <a:prstGeom prst="rightBrace">
            <a:avLst>
              <a:gd name="adj1" fmla="val 50000"/>
              <a:gd name="adj2" fmla="val 50000"/>
            </a:avLst>
          </a:prstGeom>
          <a:noFill/>
          <a:ln w="63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6930" name="AutoShape 19"/>
          <p:cNvSpPr>
            <a:spLocks/>
          </p:cNvSpPr>
          <p:nvPr/>
        </p:nvSpPr>
        <p:spPr bwMode="auto">
          <a:xfrm rot="5400000">
            <a:off x="4648200" y="1295400"/>
            <a:ext cx="304800" cy="1828800"/>
          </a:xfrm>
          <a:prstGeom prst="rightBrace">
            <a:avLst>
              <a:gd name="adj1" fmla="val 50000"/>
              <a:gd name="adj2" fmla="val 50000"/>
            </a:avLst>
          </a:prstGeom>
          <a:noFill/>
          <a:ln w="63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6931" name="Rectangle 20"/>
          <p:cNvSpPr>
            <a:spLocks/>
          </p:cNvSpPr>
          <p:nvPr/>
        </p:nvSpPr>
        <p:spPr bwMode="auto">
          <a:xfrm>
            <a:off x="4114800" y="5257800"/>
            <a:ext cx="609600" cy="609600"/>
          </a:xfrm>
          <a:prstGeom prst="rect">
            <a:avLst/>
          </a:prstGeom>
          <a:solidFill>
            <a:srgbClr val="00FF00"/>
          </a:solidFill>
          <a:ln w="25400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6932" name="Rectangle 21"/>
          <p:cNvSpPr>
            <a:spLocks/>
          </p:cNvSpPr>
          <p:nvPr/>
        </p:nvSpPr>
        <p:spPr bwMode="auto">
          <a:xfrm>
            <a:off x="6248400" y="5257800"/>
            <a:ext cx="1219200" cy="609600"/>
          </a:xfrm>
          <a:prstGeom prst="rect">
            <a:avLst/>
          </a:prstGeom>
          <a:solidFill>
            <a:schemeClr val="accent1"/>
          </a:solidFill>
          <a:ln w="25400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cxnSp>
        <p:nvCxnSpPr>
          <p:cNvPr id="166933" name="AutoShape 24"/>
          <p:cNvCxnSpPr>
            <a:cxnSpLocks noChangeShapeType="1"/>
            <a:stCxn id="166919" idx="2"/>
            <a:endCxn id="166931" idx="1"/>
          </p:cNvCxnSpPr>
          <p:nvPr/>
        </p:nvCxnSpPr>
        <p:spPr bwMode="auto">
          <a:xfrm rot="16200000" flipH="1">
            <a:off x="3352800" y="4800600"/>
            <a:ext cx="457200" cy="1066800"/>
          </a:xfrm>
          <a:prstGeom prst="bentConnector2">
            <a:avLst/>
          </a:prstGeom>
          <a:noFill/>
          <a:ln w="25400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166934" name="AutoShape 25"/>
          <p:cNvCxnSpPr>
            <a:cxnSpLocks noChangeShapeType="1"/>
            <a:stCxn id="166917" idx="2"/>
            <a:endCxn id="166932" idx="1"/>
          </p:cNvCxnSpPr>
          <p:nvPr/>
        </p:nvCxnSpPr>
        <p:spPr bwMode="auto">
          <a:xfrm rot="16200000" flipH="1">
            <a:off x="5562600" y="4876800"/>
            <a:ext cx="457200" cy="914400"/>
          </a:xfrm>
          <a:prstGeom prst="bentConnector2">
            <a:avLst/>
          </a:prstGeom>
          <a:noFill/>
          <a:ln w="25400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166935" name="Rectangle 26"/>
          <p:cNvSpPr>
            <a:spLocks/>
          </p:cNvSpPr>
          <p:nvPr/>
        </p:nvSpPr>
        <p:spPr bwMode="auto">
          <a:xfrm>
            <a:off x="2209800" y="5105400"/>
            <a:ext cx="990600" cy="366713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>
                <a:latin typeface="微软雅黑"/>
              </a:rPr>
              <a:t>dump</a:t>
            </a:r>
          </a:p>
        </p:txBody>
      </p:sp>
      <p:sp>
        <p:nvSpPr>
          <p:cNvPr id="166936" name="Rectangle 27"/>
          <p:cNvSpPr>
            <a:spLocks/>
          </p:cNvSpPr>
          <p:nvPr/>
        </p:nvSpPr>
        <p:spPr bwMode="auto">
          <a:xfrm>
            <a:off x="4724400" y="5105400"/>
            <a:ext cx="990600" cy="366713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>
                <a:latin typeface="微软雅黑"/>
              </a:rPr>
              <a:t>dump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7" name="Rectangle 2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此时仍使用两份分库的拆分规则</a:t>
            </a:r>
          </a:p>
          <a:p>
            <a:pPr eaLnBrk="1" hangingPunct="1"/>
            <a:endParaRPr lang="en-US" altLang="zh-CN" smtClean="0">
              <a:latin typeface="宋体" charset="-122"/>
            </a:endParaRPr>
          </a:p>
        </p:txBody>
      </p:sp>
      <p:sp>
        <p:nvSpPr>
          <p:cNvPr id="167938" name="AutoShape 2"/>
          <p:cNvSpPr>
            <a:spLocks/>
          </p:cNvSpPr>
          <p:nvPr/>
        </p:nvSpPr>
        <p:spPr bwMode="auto">
          <a:xfrm>
            <a:off x="3505200" y="3810000"/>
            <a:ext cx="2438400" cy="2209800"/>
          </a:xfrm>
          <a:prstGeom prst="can">
            <a:avLst>
              <a:gd name="adj" fmla="val 13333"/>
            </a:avLst>
          </a:prstGeom>
          <a:solidFill>
            <a:srgbClr val="C0C0C0"/>
          </a:solidFill>
          <a:ln w="6350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pPr algn="ctr"/>
            <a:r>
              <a:rPr lang="zh-CN" altLang="en-US"/>
              <a:t>分库</a:t>
            </a:r>
            <a:r>
              <a:rPr lang="en-US" altLang="zh-CN"/>
              <a:t>2</a:t>
            </a:r>
          </a:p>
        </p:txBody>
      </p:sp>
      <p:sp>
        <p:nvSpPr>
          <p:cNvPr id="167939" name="AutoShape 3"/>
          <p:cNvSpPr>
            <a:spLocks/>
          </p:cNvSpPr>
          <p:nvPr/>
        </p:nvSpPr>
        <p:spPr bwMode="auto">
          <a:xfrm>
            <a:off x="914400" y="3810000"/>
            <a:ext cx="2438400" cy="2209800"/>
          </a:xfrm>
          <a:prstGeom prst="can">
            <a:avLst>
              <a:gd name="adj" fmla="val 13333"/>
            </a:avLst>
          </a:prstGeom>
          <a:solidFill>
            <a:srgbClr val="C0C0C0"/>
          </a:solidFill>
          <a:ln w="6350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pPr algn="ctr"/>
            <a:r>
              <a:rPr lang="zh-CN" altLang="en-US"/>
              <a:t>分库</a:t>
            </a:r>
            <a:r>
              <a:rPr lang="en-US" altLang="zh-CN"/>
              <a:t>1</a:t>
            </a:r>
          </a:p>
        </p:txBody>
      </p:sp>
      <p:sp>
        <p:nvSpPr>
          <p:cNvPr id="16794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latin typeface="微软雅黑"/>
                <a:ea typeface="微软雅黑"/>
                <a:cs typeface="微软雅黑"/>
              </a:rPr>
              <a:t>全量</a:t>
            </a:r>
            <a:r>
              <a:rPr lang="en-US" altLang="zh-CN" smtClean="0">
                <a:latin typeface="微软雅黑"/>
                <a:ea typeface="微软雅黑"/>
                <a:cs typeface="微软雅黑"/>
              </a:rPr>
              <a:t>dump</a:t>
            </a:r>
          </a:p>
        </p:txBody>
      </p:sp>
      <p:sp>
        <p:nvSpPr>
          <p:cNvPr id="167941" name="Rectangle 5"/>
          <p:cNvSpPr>
            <a:spLocks/>
          </p:cNvSpPr>
          <p:nvPr/>
        </p:nvSpPr>
        <p:spPr bwMode="auto">
          <a:xfrm>
            <a:off x="914400" y="4495800"/>
            <a:ext cx="1828800" cy="609600"/>
          </a:xfrm>
          <a:prstGeom prst="rect">
            <a:avLst/>
          </a:prstGeom>
          <a:solidFill>
            <a:srgbClr val="FFCC99"/>
          </a:solidFill>
          <a:ln w="25400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7942" name="Rectangle 6"/>
          <p:cNvSpPr>
            <a:spLocks/>
          </p:cNvSpPr>
          <p:nvPr/>
        </p:nvSpPr>
        <p:spPr bwMode="auto">
          <a:xfrm>
            <a:off x="4724400" y="4495800"/>
            <a:ext cx="1219200" cy="609600"/>
          </a:xfrm>
          <a:prstGeom prst="rect">
            <a:avLst/>
          </a:prstGeom>
          <a:solidFill>
            <a:schemeClr val="accent1"/>
          </a:solidFill>
          <a:ln w="25400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7943" name="Rectangle 7"/>
          <p:cNvSpPr>
            <a:spLocks/>
          </p:cNvSpPr>
          <p:nvPr/>
        </p:nvSpPr>
        <p:spPr bwMode="auto">
          <a:xfrm>
            <a:off x="3505200" y="4495800"/>
            <a:ext cx="1219200" cy="609600"/>
          </a:xfrm>
          <a:prstGeom prst="rect">
            <a:avLst/>
          </a:prstGeom>
          <a:solidFill>
            <a:srgbClr val="CC99FF"/>
          </a:solidFill>
          <a:ln w="25400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7944" name="Rectangle 8"/>
          <p:cNvSpPr>
            <a:spLocks/>
          </p:cNvSpPr>
          <p:nvPr/>
        </p:nvSpPr>
        <p:spPr bwMode="auto">
          <a:xfrm>
            <a:off x="2743200" y="4495800"/>
            <a:ext cx="609600" cy="609600"/>
          </a:xfrm>
          <a:prstGeom prst="rect">
            <a:avLst/>
          </a:prstGeom>
          <a:solidFill>
            <a:srgbClr val="00FF00"/>
          </a:solidFill>
          <a:ln w="25400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167945" name="AutoShape 9"/>
          <p:cNvSpPr>
            <a:spLocks/>
          </p:cNvSpPr>
          <p:nvPr/>
        </p:nvSpPr>
        <p:spPr bwMode="auto">
          <a:xfrm>
            <a:off x="6096000" y="3810000"/>
            <a:ext cx="2438400" cy="2209800"/>
          </a:xfrm>
          <a:prstGeom prst="can">
            <a:avLst>
              <a:gd name="adj" fmla="val 13333"/>
            </a:avLst>
          </a:prstGeom>
          <a:solidFill>
            <a:srgbClr val="C0C0C0"/>
          </a:solidFill>
          <a:ln w="6350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pPr algn="ctr"/>
            <a:r>
              <a:rPr lang="zh-CN" altLang="en-US"/>
              <a:t>分库</a:t>
            </a:r>
            <a:r>
              <a:rPr lang="en-US" altLang="zh-CN"/>
              <a:t>3</a:t>
            </a:r>
          </a:p>
        </p:txBody>
      </p:sp>
      <p:sp>
        <p:nvSpPr>
          <p:cNvPr id="167946" name="Rectangle 20"/>
          <p:cNvSpPr>
            <a:spLocks/>
          </p:cNvSpPr>
          <p:nvPr/>
        </p:nvSpPr>
        <p:spPr bwMode="auto">
          <a:xfrm>
            <a:off x="4114800" y="5257800"/>
            <a:ext cx="609600" cy="609600"/>
          </a:xfrm>
          <a:prstGeom prst="rect">
            <a:avLst/>
          </a:prstGeom>
          <a:solidFill>
            <a:srgbClr val="00FF00"/>
          </a:solidFill>
          <a:ln w="25400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200">
                <a:latin typeface="Times New Roman" pitchFamily="18" charset="0"/>
              </a:rPr>
              <a:t>invisible</a:t>
            </a:r>
          </a:p>
        </p:txBody>
      </p:sp>
      <p:sp>
        <p:nvSpPr>
          <p:cNvPr id="167947" name="Rectangle 21"/>
          <p:cNvSpPr>
            <a:spLocks/>
          </p:cNvSpPr>
          <p:nvPr/>
        </p:nvSpPr>
        <p:spPr bwMode="auto">
          <a:xfrm>
            <a:off x="6248400" y="5257800"/>
            <a:ext cx="1219200" cy="609600"/>
          </a:xfrm>
          <a:prstGeom prst="rect">
            <a:avLst/>
          </a:prstGeom>
          <a:solidFill>
            <a:schemeClr val="accent1"/>
          </a:solidFill>
          <a:ln w="25400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/>
              <a:t>invisible</a:t>
            </a:r>
          </a:p>
        </p:txBody>
      </p:sp>
      <p:sp>
        <p:nvSpPr>
          <p:cNvPr id="167948" name="Line 24"/>
          <p:cNvSpPr>
            <a:spLocks noChangeShapeType="1"/>
          </p:cNvSpPr>
          <p:nvPr/>
        </p:nvSpPr>
        <p:spPr bwMode="auto">
          <a:xfrm>
            <a:off x="4648200" y="2743200"/>
            <a:ext cx="0" cy="106680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7949" name="Rectangle 25"/>
          <p:cNvSpPr>
            <a:spLocks/>
          </p:cNvSpPr>
          <p:nvPr/>
        </p:nvSpPr>
        <p:spPr bwMode="auto">
          <a:xfrm>
            <a:off x="2286000" y="2833688"/>
            <a:ext cx="4572000" cy="366712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/>
              <a:t>让绿色数据对</a:t>
            </a:r>
            <a:r>
              <a:rPr lang="en-US" altLang="zh-CN"/>
              <a:t>SQL</a:t>
            </a:r>
            <a:r>
              <a:rPr lang="zh-CN" altLang="en-US"/>
              <a:t>语句不可见</a:t>
            </a:r>
          </a:p>
        </p:txBody>
      </p:sp>
      <p:sp>
        <p:nvSpPr>
          <p:cNvPr id="167950" name="Rectangle 27"/>
          <p:cNvSpPr>
            <a:spLocks/>
          </p:cNvSpPr>
          <p:nvPr/>
        </p:nvSpPr>
        <p:spPr bwMode="auto">
          <a:xfrm>
            <a:off x="2514600" y="3290888"/>
            <a:ext cx="4572000" cy="336550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600">
                <a:latin typeface="Courier New" pitchFamily="49" charset="0"/>
              </a:rPr>
              <a:t>… WHERE </a:t>
            </a:r>
            <a:r>
              <a:rPr lang="en-US" altLang="zh-CN" sz="1600" b="1">
                <a:latin typeface="Courier New" pitchFamily="49" charset="0"/>
              </a:rPr>
              <a:t>(</a:t>
            </a:r>
            <a:r>
              <a:rPr lang="en-US" altLang="zh-CN" sz="1600">
                <a:latin typeface="Courier New" pitchFamily="49" charset="0"/>
              </a:rPr>
              <a:t> … </a:t>
            </a:r>
            <a:r>
              <a:rPr lang="en-US" altLang="zh-CN" sz="1600" b="1">
                <a:latin typeface="Courier New" pitchFamily="49" charset="0"/>
              </a:rPr>
              <a:t>)</a:t>
            </a:r>
            <a:r>
              <a:rPr lang="en-US" altLang="zh-CN" sz="1600">
                <a:latin typeface="Courier New" pitchFamily="49" charset="0"/>
              </a:rPr>
              <a:t> </a:t>
            </a:r>
            <a:r>
              <a:rPr lang="en-US" altLang="zh-CN" sz="1600" b="1">
                <a:latin typeface="Courier New" pitchFamily="49" charset="0"/>
              </a:rPr>
              <a:t>AND </a:t>
            </a:r>
            <a:r>
              <a:rPr lang="zh-CN" altLang="en-US" sz="1600" b="1">
                <a:latin typeface="Courier New" pitchFamily="49" charset="0"/>
              </a:rPr>
              <a:t>非绿色数据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1447800"/>
          </a:xfrm>
        </p:spPr>
        <p:txBody>
          <a:bodyPr/>
          <a:lstStyle/>
          <a:p>
            <a:pPr eaLnBrk="1" hangingPunct="1"/>
            <a:r>
              <a:rPr lang="zh-CN" altLang="en-US" smtClean="0"/>
              <a:t>全量</a:t>
            </a:r>
            <a:r>
              <a:rPr lang="en-US" altLang="zh-CN" smtClean="0"/>
              <a:t>dump</a:t>
            </a:r>
            <a:r>
              <a:rPr lang="zh-CN" altLang="en-US" smtClean="0"/>
              <a:t>过程中，数据会持续变更</a:t>
            </a:r>
          </a:p>
          <a:p>
            <a:pPr eaLnBrk="1" hangingPunct="1"/>
            <a:r>
              <a:rPr lang="zh-CN" altLang="en-US" smtClean="0"/>
              <a:t>将</a:t>
            </a:r>
            <a:r>
              <a:rPr lang="en-US" altLang="zh-CN" smtClean="0"/>
              <a:t>binlog</a:t>
            </a:r>
            <a:r>
              <a:rPr lang="zh-CN" altLang="en-US" smtClean="0"/>
              <a:t>同步到新库中</a:t>
            </a:r>
          </a:p>
          <a:p>
            <a:pPr eaLnBrk="1" hangingPunct="1"/>
            <a:endParaRPr lang="en-US" altLang="zh-CN" smtClean="0">
              <a:latin typeface="宋体" charset="-122"/>
            </a:endParaRPr>
          </a:p>
        </p:txBody>
      </p:sp>
      <p:sp>
        <p:nvSpPr>
          <p:cNvPr id="168962" name="AutoShape 3"/>
          <p:cNvSpPr>
            <a:spLocks/>
          </p:cNvSpPr>
          <p:nvPr/>
        </p:nvSpPr>
        <p:spPr bwMode="auto">
          <a:xfrm>
            <a:off x="3505200" y="3048000"/>
            <a:ext cx="2438400" cy="2209800"/>
          </a:xfrm>
          <a:prstGeom prst="can">
            <a:avLst>
              <a:gd name="adj" fmla="val 13333"/>
            </a:avLst>
          </a:prstGeom>
          <a:solidFill>
            <a:srgbClr val="C0C0C0"/>
          </a:solidFill>
          <a:ln w="6350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pPr algn="ctr"/>
            <a:r>
              <a:rPr lang="zh-CN" altLang="en-US"/>
              <a:t>分库</a:t>
            </a:r>
            <a:r>
              <a:rPr lang="en-US" altLang="zh-CN"/>
              <a:t>2</a:t>
            </a:r>
          </a:p>
        </p:txBody>
      </p:sp>
      <p:sp>
        <p:nvSpPr>
          <p:cNvPr id="168963" name="AutoShape 4"/>
          <p:cNvSpPr>
            <a:spLocks/>
          </p:cNvSpPr>
          <p:nvPr/>
        </p:nvSpPr>
        <p:spPr bwMode="auto">
          <a:xfrm>
            <a:off x="914400" y="3048000"/>
            <a:ext cx="2438400" cy="2209800"/>
          </a:xfrm>
          <a:prstGeom prst="can">
            <a:avLst>
              <a:gd name="adj" fmla="val 13333"/>
            </a:avLst>
          </a:prstGeom>
          <a:solidFill>
            <a:srgbClr val="C0C0C0"/>
          </a:solidFill>
          <a:ln w="6350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pPr algn="ctr"/>
            <a:r>
              <a:rPr lang="zh-CN" altLang="en-US"/>
              <a:t>分库</a:t>
            </a:r>
            <a:r>
              <a:rPr lang="en-US" altLang="zh-CN"/>
              <a:t>1</a:t>
            </a:r>
          </a:p>
        </p:txBody>
      </p:sp>
      <p:sp>
        <p:nvSpPr>
          <p:cNvPr id="168964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latin typeface="微软雅黑"/>
                <a:ea typeface="微软雅黑"/>
                <a:cs typeface="微软雅黑"/>
              </a:rPr>
              <a:t>增量</a:t>
            </a:r>
            <a:r>
              <a:rPr lang="en-US" altLang="zh-CN" smtClean="0">
                <a:latin typeface="微软雅黑"/>
                <a:ea typeface="微软雅黑"/>
                <a:cs typeface="微软雅黑"/>
              </a:rPr>
              <a:t>dump</a:t>
            </a:r>
          </a:p>
        </p:txBody>
      </p:sp>
      <p:sp>
        <p:nvSpPr>
          <p:cNvPr id="168965" name="Rectangle 6"/>
          <p:cNvSpPr>
            <a:spLocks/>
          </p:cNvSpPr>
          <p:nvPr/>
        </p:nvSpPr>
        <p:spPr bwMode="auto">
          <a:xfrm>
            <a:off x="914400" y="3733800"/>
            <a:ext cx="1828800" cy="609600"/>
          </a:xfrm>
          <a:prstGeom prst="rect">
            <a:avLst/>
          </a:prstGeom>
          <a:solidFill>
            <a:srgbClr val="FFCC99"/>
          </a:solidFill>
          <a:ln w="25400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8966" name="Rectangle 7"/>
          <p:cNvSpPr>
            <a:spLocks/>
          </p:cNvSpPr>
          <p:nvPr/>
        </p:nvSpPr>
        <p:spPr bwMode="auto">
          <a:xfrm>
            <a:off x="4724400" y="3733800"/>
            <a:ext cx="1219200" cy="609600"/>
          </a:xfrm>
          <a:prstGeom prst="rect">
            <a:avLst/>
          </a:prstGeom>
          <a:solidFill>
            <a:schemeClr val="accent1"/>
          </a:solidFill>
          <a:ln w="25400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8967" name="Rectangle 8"/>
          <p:cNvSpPr>
            <a:spLocks/>
          </p:cNvSpPr>
          <p:nvPr/>
        </p:nvSpPr>
        <p:spPr bwMode="auto">
          <a:xfrm>
            <a:off x="3505200" y="3733800"/>
            <a:ext cx="1219200" cy="609600"/>
          </a:xfrm>
          <a:prstGeom prst="rect">
            <a:avLst/>
          </a:prstGeom>
          <a:solidFill>
            <a:srgbClr val="CC99FF"/>
          </a:solidFill>
          <a:ln w="25400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8968" name="Rectangle 9"/>
          <p:cNvSpPr>
            <a:spLocks/>
          </p:cNvSpPr>
          <p:nvPr/>
        </p:nvSpPr>
        <p:spPr bwMode="auto">
          <a:xfrm>
            <a:off x="2743200" y="3733800"/>
            <a:ext cx="609600" cy="609600"/>
          </a:xfrm>
          <a:prstGeom prst="rect">
            <a:avLst/>
          </a:prstGeom>
          <a:solidFill>
            <a:srgbClr val="00FF00"/>
          </a:solidFill>
          <a:ln w="25400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168969" name="AutoShape 10"/>
          <p:cNvSpPr>
            <a:spLocks/>
          </p:cNvSpPr>
          <p:nvPr/>
        </p:nvSpPr>
        <p:spPr bwMode="auto">
          <a:xfrm>
            <a:off x="6096000" y="3048000"/>
            <a:ext cx="2438400" cy="2209800"/>
          </a:xfrm>
          <a:prstGeom prst="can">
            <a:avLst>
              <a:gd name="adj" fmla="val 13333"/>
            </a:avLst>
          </a:prstGeom>
          <a:solidFill>
            <a:srgbClr val="C0C0C0"/>
          </a:solidFill>
          <a:ln w="6350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pPr algn="ctr"/>
            <a:r>
              <a:rPr lang="zh-CN" altLang="en-US"/>
              <a:t>分库</a:t>
            </a:r>
            <a:r>
              <a:rPr lang="en-US" altLang="zh-CN"/>
              <a:t>3</a:t>
            </a:r>
          </a:p>
        </p:txBody>
      </p:sp>
      <p:sp>
        <p:nvSpPr>
          <p:cNvPr id="168970" name="Rectangle 11"/>
          <p:cNvSpPr>
            <a:spLocks/>
          </p:cNvSpPr>
          <p:nvPr/>
        </p:nvSpPr>
        <p:spPr bwMode="auto">
          <a:xfrm>
            <a:off x="4114800" y="4495800"/>
            <a:ext cx="609600" cy="609600"/>
          </a:xfrm>
          <a:prstGeom prst="rect">
            <a:avLst/>
          </a:prstGeom>
          <a:solidFill>
            <a:srgbClr val="00FF00"/>
          </a:solidFill>
          <a:ln w="25400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200">
                <a:latin typeface="Times New Roman" pitchFamily="18" charset="0"/>
              </a:rPr>
              <a:t>invisible</a:t>
            </a:r>
          </a:p>
        </p:txBody>
      </p:sp>
      <p:sp>
        <p:nvSpPr>
          <p:cNvPr id="168971" name="Rectangle 12"/>
          <p:cNvSpPr>
            <a:spLocks/>
          </p:cNvSpPr>
          <p:nvPr/>
        </p:nvSpPr>
        <p:spPr bwMode="auto">
          <a:xfrm>
            <a:off x="6248400" y="4495800"/>
            <a:ext cx="1219200" cy="609600"/>
          </a:xfrm>
          <a:prstGeom prst="rect">
            <a:avLst/>
          </a:prstGeom>
          <a:solidFill>
            <a:schemeClr val="accent1"/>
          </a:solidFill>
          <a:ln w="25400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/>
              <a:t>invisible</a:t>
            </a:r>
          </a:p>
        </p:txBody>
      </p:sp>
      <p:sp>
        <p:nvSpPr>
          <p:cNvPr id="168972" name="AutoShape 17"/>
          <p:cNvSpPr>
            <a:spLocks/>
          </p:cNvSpPr>
          <p:nvPr/>
        </p:nvSpPr>
        <p:spPr bwMode="auto">
          <a:xfrm>
            <a:off x="2743200" y="5638800"/>
            <a:ext cx="609600" cy="838200"/>
          </a:xfrm>
          <a:prstGeom prst="foldedCorner">
            <a:avLst>
              <a:gd name="adj" fmla="val 12500"/>
            </a:avLst>
          </a:prstGeom>
          <a:solidFill>
            <a:schemeClr val="accent1"/>
          </a:solidFill>
          <a:ln w="63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/>
              <a:t>binlog</a:t>
            </a:r>
          </a:p>
        </p:txBody>
      </p:sp>
      <p:cxnSp>
        <p:nvCxnSpPr>
          <p:cNvPr id="168973" name="AutoShape 18"/>
          <p:cNvCxnSpPr>
            <a:cxnSpLocks noChangeShapeType="1"/>
            <a:stCxn id="168968" idx="2"/>
            <a:endCxn id="168972" idx="0"/>
          </p:cNvCxnSpPr>
          <p:nvPr/>
        </p:nvCxnSpPr>
        <p:spPr bwMode="auto">
          <a:xfrm>
            <a:off x="3048000" y="4343400"/>
            <a:ext cx="0" cy="1295400"/>
          </a:xfrm>
          <a:prstGeom prst="straightConnector1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68974" name="AutoShape 19"/>
          <p:cNvSpPr>
            <a:spLocks/>
          </p:cNvSpPr>
          <p:nvPr/>
        </p:nvSpPr>
        <p:spPr bwMode="auto">
          <a:xfrm>
            <a:off x="4876800" y="5638800"/>
            <a:ext cx="914400" cy="838200"/>
          </a:xfrm>
          <a:prstGeom prst="foldedCorner">
            <a:avLst>
              <a:gd name="adj" fmla="val 12500"/>
            </a:avLst>
          </a:prstGeom>
          <a:solidFill>
            <a:schemeClr val="accent1"/>
          </a:solidFill>
          <a:ln w="63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/>
              <a:t>binlog</a:t>
            </a:r>
          </a:p>
        </p:txBody>
      </p:sp>
      <p:cxnSp>
        <p:nvCxnSpPr>
          <p:cNvPr id="168975" name="AutoShape 20"/>
          <p:cNvCxnSpPr>
            <a:cxnSpLocks noChangeShapeType="1"/>
            <a:stCxn id="168966" idx="2"/>
            <a:endCxn id="168974" idx="0"/>
          </p:cNvCxnSpPr>
          <p:nvPr/>
        </p:nvCxnSpPr>
        <p:spPr bwMode="auto">
          <a:xfrm>
            <a:off x="5334000" y="4343400"/>
            <a:ext cx="0" cy="1295400"/>
          </a:xfrm>
          <a:prstGeom prst="straightConnector1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68976" name="AutoShape 21"/>
          <p:cNvCxnSpPr>
            <a:cxnSpLocks noChangeShapeType="1"/>
            <a:stCxn id="168972" idx="3"/>
            <a:endCxn id="168970" idx="2"/>
          </p:cNvCxnSpPr>
          <p:nvPr/>
        </p:nvCxnSpPr>
        <p:spPr bwMode="auto">
          <a:xfrm flipV="1">
            <a:off x="3352800" y="5105400"/>
            <a:ext cx="1066800" cy="952500"/>
          </a:xfrm>
          <a:prstGeom prst="bentConnector2">
            <a:avLst/>
          </a:prstGeom>
          <a:noFill/>
          <a:ln w="6350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168977" name="AutoShape 22"/>
          <p:cNvCxnSpPr>
            <a:cxnSpLocks noChangeShapeType="1"/>
            <a:stCxn id="168974" idx="3"/>
            <a:endCxn id="168971" idx="2"/>
          </p:cNvCxnSpPr>
          <p:nvPr/>
        </p:nvCxnSpPr>
        <p:spPr bwMode="auto">
          <a:xfrm flipV="1">
            <a:off x="5791200" y="5105400"/>
            <a:ext cx="1066800" cy="952500"/>
          </a:xfrm>
          <a:prstGeom prst="bentConnector2">
            <a:avLst/>
          </a:prstGeom>
          <a:noFill/>
          <a:ln w="6350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168978" name="Rectangle 23"/>
          <p:cNvSpPr>
            <a:spLocks/>
          </p:cNvSpPr>
          <p:nvPr/>
        </p:nvSpPr>
        <p:spPr bwMode="auto">
          <a:xfrm>
            <a:off x="3429000" y="5729288"/>
            <a:ext cx="1143000" cy="366712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/>
              <a:t>Apply</a:t>
            </a:r>
          </a:p>
        </p:txBody>
      </p:sp>
      <p:sp>
        <p:nvSpPr>
          <p:cNvPr id="168979" name="Rectangle 24"/>
          <p:cNvSpPr>
            <a:spLocks/>
          </p:cNvSpPr>
          <p:nvPr/>
        </p:nvSpPr>
        <p:spPr bwMode="auto">
          <a:xfrm>
            <a:off x="5943600" y="5729288"/>
            <a:ext cx="1143000" cy="366712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/>
              <a:t>Apply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1447800"/>
          </a:xfrm>
        </p:spPr>
        <p:txBody>
          <a:bodyPr/>
          <a:lstStyle/>
          <a:p>
            <a:pPr eaLnBrk="1" hangingPunct="1"/>
            <a:r>
              <a:rPr lang="zh-CN" altLang="en-US" smtClean="0">
                <a:latin typeface="宋体" charset="-122"/>
              </a:rPr>
              <a:t>暂停写入，等待</a:t>
            </a:r>
            <a:r>
              <a:rPr lang="en-US" altLang="zh-CN" smtClean="0">
                <a:latin typeface="宋体" charset="-122"/>
              </a:rPr>
              <a:t>binlog</a:t>
            </a:r>
            <a:r>
              <a:rPr lang="zh-CN" altLang="en-US" smtClean="0">
                <a:latin typeface="宋体" charset="-122"/>
              </a:rPr>
              <a:t>全部同步到新库</a:t>
            </a:r>
          </a:p>
          <a:p>
            <a:pPr eaLnBrk="1" hangingPunct="1"/>
            <a:r>
              <a:rPr lang="zh-CN" altLang="en-US" smtClean="0">
                <a:latin typeface="宋体" charset="-122"/>
              </a:rPr>
              <a:t>将路由规则更新为三个分库</a:t>
            </a:r>
          </a:p>
          <a:p>
            <a:pPr eaLnBrk="1" hangingPunct="1"/>
            <a:endParaRPr lang="en-US" altLang="zh-CN" smtClean="0">
              <a:latin typeface="宋体" charset="-122"/>
            </a:endParaRPr>
          </a:p>
        </p:txBody>
      </p:sp>
      <p:sp>
        <p:nvSpPr>
          <p:cNvPr id="169986" name="AutoShape 3"/>
          <p:cNvSpPr>
            <a:spLocks/>
          </p:cNvSpPr>
          <p:nvPr/>
        </p:nvSpPr>
        <p:spPr bwMode="auto">
          <a:xfrm>
            <a:off x="3505200" y="3429000"/>
            <a:ext cx="2438400" cy="2209800"/>
          </a:xfrm>
          <a:prstGeom prst="can">
            <a:avLst>
              <a:gd name="adj" fmla="val 13333"/>
            </a:avLst>
          </a:prstGeom>
          <a:solidFill>
            <a:srgbClr val="C0C0C0"/>
          </a:solidFill>
          <a:ln w="6350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pPr algn="ctr"/>
            <a:r>
              <a:rPr lang="zh-CN" altLang="en-US"/>
              <a:t>分库</a:t>
            </a:r>
            <a:r>
              <a:rPr lang="en-US" altLang="zh-CN"/>
              <a:t>2</a:t>
            </a:r>
          </a:p>
        </p:txBody>
      </p:sp>
      <p:sp>
        <p:nvSpPr>
          <p:cNvPr id="169987" name="AutoShape 4"/>
          <p:cNvSpPr>
            <a:spLocks/>
          </p:cNvSpPr>
          <p:nvPr/>
        </p:nvSpPr>
        <p:spPr bwMode="auto">
          <a:xfrm>
            <a:off x="914400" y="3429000"/>
            <a:ext cx="2438400" cy="2209800"/>
          </a:xfrm>
          <a:prstGeom prst="can">
            <a:avLst>
              <a:gd name="adj" fmla="val 13333"/>
            </a:avLst>
          </a:prstGeom>
          <a:solidFill>
            <a:srgbClr val="C0C0C0"/>
          </a:solidFill>
          <a:ln w="6350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pPr algn="ctr"/>
            <a:r>
              <a:rPr lang="zh-CN" altLang="en-US"/>
              <a:t>分库</a:t>
            </a:r>
            <a:r>
              <a:rPr lang="en-US" altLang="zh-CN"/>
              <a:t>1</a:t>
            </a:r>
          </a:p>
        </p:txBody>
      </p:sp>
      <p:sp>
        <p:nvSpPr>
          <p:cNvPr id="169988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latin typeface="微软雅黑"/>
                <a:ea typeface="微软雅黑"/>
                <a:cs typeface="微软雅黑"/>
              </a:rPr>
              <a:t>路由规则切换</a:t>
            </a:r>
          </a:p>
        </p:txBody>
      </p:sp>
      <p:sp>
        <p:nvSpPr>
          <p:cNvPr id="169989" name="Rectangle 6"/>
          <p:cNvSpPr>
            <a:spLocks/>
          </p:cNvSpPr>
          <p:nvPr/>
        </p:nvSpPr>
        <p:spPr bwMode="auto">
          <a:xfrm>
            <a:off x="914400" y="4114800"/>
            <a:ext cx="1828800" cy="609600"/>
          </a:xfrm>
          <a:prstGeom prst="rect">
            <a:avLst/>
          </a:prstGeom>
          <a:solidFill>
            <a:srgbClr val="FFCC99"/>
          </a:solidFill>
          <a:ln w="25400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9990" name="Rectangle 8"/>
          <p:cNvSpPr>
            <a:spLocks/>
          </p:cNvSpPr>
          <p:nvPr/>
        </p:nvSpPr>
        <p:spPr bwMode="auto">
          <a:xfrm>
            <a:off x="3505200" y="4114800"/>
            <a:ext cx="1219200" cy="609600"/>
          </a:xfrm>
          <a:prstGeom prst="rect">
            <a:avLst/>
          </a:prstGeom>
          <a:solidFill>
            <a:srgbClr val="CC99FF"/>
          </a:solidFill>
          <a:ln w="25400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9991" name="Rectangle 9"/>
          <p:cNvSpPr>
            <a:spLocks/>
          </p:cNvSpPr>
          <p:nvPr/>
        </p:nvSpPr>
        <p:spPr bwMode="auto">
          <a:xfrm>
            <a:off x="4114800" y="4876800"/>
            <a:ext cx="609600" cy="609600"/>
          </a:xfrm>
          <a:prstGeom prst="rect">
            <a:avLst/>
          </a:prstGeom>
          <a:solidFill>
            <a:srgbClr val="00FF00"/>
          </a:solidFill>
          <a:ln w="25400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169992" name="AutoShape 10"/>
          <p:cNvSpPr>
            <a:spLocks/>
          </p:cNvSpPr>
          <p:nvPr/>
        </p:nvSpPr>
        <p:spPr bwMode="auto">
          <a:xfrm>
            <a:off x="6096000" y="3429000"/>
            <a:ext cx="2438400" cy="2209800"/>
          </a:xfrm>
          <a:prstGeom prst="can">
            <a:avLst>
              <a:gd name="adj" fmla="val 13333"/>
            </a:avLst>
          </a:prstGeom>
          <a:solidFill>
            <a:srgbClr val="C0C0C0"/>
          </a:solidFill>
          <a:ln w="6350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pPr algn="ctr"/>
            <a:r>
              <a:rPr lang="zh-CN" altLang="en-US"/>
              <a:t>分库</a:t>
            </a:r>
            <a:r>
              <a:rPr lang="en-US" altLang="zh-CN"/>
              <a:t>3</a:t>
            </a:r>
          </a:p>
        </p:txBody>
      </p:sp>
      <p:sp>
        <p:nvSpPr>
          <p:cNvPr id="169993" name="Rectangle 11"/>
          <p:cNvSpPr>
            <a:spLocks/>
          </p:cNvSpPr>
          <p:nvPr/>
        </p:nvSpPr>
        <p:spPr bwMode="auto">
          <a:xfrm>
            <a:off x="2743200" y="4114800"/>
            <a:ext cx="609600" cy="609600"/>
          </a:xfrm>
          <a:prstGeom prst="rect">
            <a:avLst/>
          </a:prstGeom>
          <a:solidFill>
            <a:srgbClr val="00FF00"/>
          </a:solidFill>
          <a:ln w="25400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200">
                <a:latin typeface="Times New Roman" pitchFamily="18" charset="0"/>
              </a:rPr>
              <a:t>invisible</a:t>
            </a:r>
          </a:p>
        </p:txBody>
      </p:sp>
      <p:sp>
        <p:nvSpPr>
          <p:cNvPr id="169994" name="Rectangle 12"/>
          <p:cNvSpPr>
            <a:spLocks/>
          </p:cNvSpPr>
          <p:nvPr/>
        </p:nvSpPr>
        <p:spPr bwMode="auto">
          <a:xfrm>
            <a:off x="4724400" y="4114800"/>
            <a:ext cx="1219200" cy="609600"/>
          </a:xfrm>
          <a:prstGeom prst="rect">
            <a:avLst/>
          </a:prstGeom>
          <a:solidFill>
            <a:schemeClr val="accent1"/>
          </a:solidFill>
          <a:ln w="25400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/>
              <a:t>invisible</a:t>
            </a:r>
          </a:p>
        </p:txBody>
      </p:sp>
      <p:sp>
        <p:nvSpPr>
          <p:cNvPr id="169995" name="Rectangle 7"/>
          <p:cNvSpPr>
            <a:spLocks/>
          </p:cNvSpPr>
          <p:nvPr/>
        </p:nvSpPr>
        <p:spPr bwMode="auto">
          <a:xfrm>
            <a:off x="6324600" y="4876800"/>
            <a:ext cx="1219200" cy="609600"/>
          </a:xfrm>
          <a:prstGeom prst="rect">
            <a:avLst/>
          </a:prstGeom>
          <a:solidFill>
            <a:schemeClr val="accent1"/>
          </a:solidFill>
          <a:ln w="25400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69996" name="AutoShape 21"/>
          <p:cNvSpPr>
            <a:spLocks/>
          </p:cNvSpPr>
          <p:nvPr/>
        </p:nvSpPr>
        <p:spPr bwMode="auto">
          <a:xfrm>
            <a:off x="2743200" y="6019800"/>
            <a:ext cx="609600" cy="457200"/>
          </a:xfrm>
          <a:prstGeom prst="foldedCorner">
            <a:avLst>
              <a:gd name="adj" fmla="val 12500"/>
            </a:avLst>
          </a:prstGeom>
          <a:solidFill>
            <a:schemeClr val="accent1"/>
          </a:solidFill>
          <a:ln w="63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/>
              <a:t>binlog</a:t>
            </a:r>
          </a:p>
        </p:txBody>
      </p:sp>
      <p:sp>
        <p:nvSpPr>
          <p:cNvPr id="169997" name="AutoShape 22"/>
          <p:cNvSpPr>
            <a:spLocks/>
          </p:cNvSpPr>
          <p:nvPr/>
        </p:nvSpPr>
        <p:spPr bwMode="auto">
          <a:xfrm>
            <a:off x="4876800" y="6019800"/>
            <a:ext cx="914400" cy="457200"/>
          </a:xfrm>
          <a:prstGeom prst="foldedCorner">
            <a:avLst>
              <a:gd name="adj" fmla="val 12500"/>
            </a:avLst>
          </a:prstGeom>
          <a:solidFill>
            <a:schemeClr val="accent1"/>
          </a:solidFill>
          <a:ln w="63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/>
              <a:t>binlog</a:t>
            </a:r>
          </a:p>
        </p:txBody>
      </p:sp>
      <p:cxnSp>
        <p:nvCxnSpPr>
          <p:cNvPr id="169998" name="AutoShape 23"/>
          <p:cNvCxnSpPr>
            <a:cxnSpLocks noChangeShapeType="1"/>
            <a:stCxn id="169996" idx="3"/>
            <a:endCxn id="169991" idx="2"/>
          </p:cNvCxnSpPr>
          <p:nvPr/>
        </p:nvCxnSpPr>
        <p:spPr bwMode="auto">
          <a:xfrm flipV="1">
            <a:off x="3352800" y="5486400"/>
            <a:ext cx="1066800" cy="762000"/>
          </a:xfrm>
          <a:prstGeom prst="bentConnector2">
            <a:avLst/>
          </a:prstGeom>
          <a:noFill/>
          <a:ln w="6350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169999" name="AutoShape 24"/>
          <p:cNvCxnSpPr>
            <a:cxnSpLocks noChangeShapeType="1"/>
            <a:stCxn id="169997" idx="3"/>
            <a:endCxn id="169995" idx="2"/>
          </p:cNvCxnSpPr>
          <p:nvPr/>
        </p:nvCxnSpPr>
        <p:spPr bwMode="auto">
          <a:xfrm flipV="1">
            <a:off x="5791200" y="5486400"/>
            <a:ext cx="1143000" cy="762000"/>
          </a:xfrm>
          <a:prstGeom prst="bentConnector2">
            <a:avLst/>
          </a:prstGeom>
          <a:noFill/>
          <a:ln w="6350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170000" name="Rectangle 25"/>
          <p:cNvSpPr>
            <a:spLocks/>
          </p:cNvSpPr>
          <p:nvPr/>
        </p:nvSpPr>
        <p:spPr bwMode="auto">
          <a:xfrm>
            <a:off x="3429000" y="5881688"/>
            <a:ext cx="1143000" cy="366712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/>
              <a:t>Apply</a:t>
            </a:r>
          </a:p>
        </p:txBody>
      </p:sp>
      <p:sp>
        <p:nvSpPr>
          <p:cNvPr id="170001" name="Rectangle 26"/>
          <p:cNvSpPr>
            <a:spLocks/>
          </p:cNvSpPr>
          <p:nvPr/>
        </p:nvSpPr>
        <p:spPr bwMode="auto">
          <a:xfrm>
            <a:off x="5943600" y="5881688"/>
            <a:ext cx="1143000" cy="366712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/>
              <a:t>Apply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0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1447800"/>
          </a:xfrm>
        </p:spPr>
        <p:txBody>
          <a:bodyPr/>
          <a:lstStyle/>
          <a:p>
            <a:pPr eaLnBrk="1" hangingPunct="1"/>
            <a:r>
              <a:rPr lang="zh-CN" altLang="en-US" smtClean="0">
                <a:latin typeface="宋体" charset="-122"/>
              </a:rPr>
              <a:t>删除老数据</a:t>
            </a:r>
          </a:p>
          <a:p>
            <a:pPr eaLnBrk="1" hangingPunct="1"/>
            <a:endParaRPr lang="en-US" altLang="zh-CN" smtClean="0">
              <a:latin typeface="宋体" charset="-122"/>
            </a:endParaRPr>
          </a:p>
        </p:txBody>
      </p:sp>
      <p:sp>
        <p:nvSpPr>
          <p:cNvPr id="171010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latin typeface="微软雅黑"/>
                <a:ea typeface="微软雅黑"/>
                <a:cs typeface="微软雅黑"/>
              </a:rPr>
              <a:t>清理</a:t>
            </a:r>
          </a:p>
        </p:txBody>
      </p:sp>
      <p:sp>
        <p:nvSpPr>
          <p:cNvPr id="171011" name="AutoShape 23"/>
          <p:cNvSpPr>
            <a:spLocks/>
          </p:cNvSpPr>
          <p:nvPr/>
        </p:nvSpPr>
        <p:spPr bwMode="auto">
          <a:xfrm>
            <a:off x="3505200" y="3429000"/>
            <a:ext cx="2438400" cy="2209800"/>
          </a:xfrm>
          <a:prstGeom prst="can">
            <a:avLst>
              <a:gd name="adj" fmla="val 13333"/>
            </a:avLst>
          </a:prstGeom>
          <a:solidFill>
            <a:srgbClr val="C0C0C0"/>
          </a:solidFill>
          <a:ln w="6350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pPr algn="ctr"/>
            <a:r>
              <a:rPr lang="zh-CN" altLang="en-US"/>
              <a:t>分库</a:t>
            </a:r>
            <a:r>
              <a:rPr lang="en-US" altLang="zh-CN"/>
              <a:t>2</a:t>
            </a:r>
          </a:p>
        </p:txBody>
      </p:sp>
      <p:sp>
        <p:nvSpPr>
          <p:cNvPr id="171012" name="AutoShape 24"/>
          <p:cNvSpPr>
            <a:spLocks/>
          </p:cNvSpPr>
          <p:nvPr/>
        </p:nvSpPr>
        <p:spPr bwMode="auto">
          <a:xfrm>
            <a:off x="914400" y="3429000"/>
            <a:ext cx="2438400" cy="2209800"/>
          </a:xfrm>
          <a:prstGeom prst="can">
            <a:avLst>
              <a:gd name="adj" fmla="val 13333"/>
            </a:avLst>
          </a:prstGeom>
          <a:solidFill>
            <a:srgbClr val="C0C0C0"/>
          </a:solidFill>
          <a:ln w="6350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pPr algn="ctr"/>
            <a:r>
              <a:rPr lang="zh-CN" altLang="en-US"/>
              <a:t>分库</a:t>
            </a:r>
            <a:r>
              <a:rPr lang="en-US" altLang="zh-CN"/>
              <a:t>1</a:t>
            </a:r>
          </a:p>
        </p:txBody>
      </p:sp>
      <p:sp>
        <p:nvSpPr>
          <p:cNvPr id="171013" name="Rectangle 25"/>
          <p:cNvSpPr>
            <a:spLocks/>
          </p:cNvSpPr>
          <p:nvPr/>
        </p:nvSpPr>
        <p:spPr bwMode="auto">
          <a:xfrm>
            <a:off x="914400" y="4114800"/>
            <a:ext cx="1828800" cy="609600"/>
          </a:xfrm>
          <a:prstGeom prst="rect">
            <a:avLst/>
          </a:prstGeom>
          <a:solidFill>
            <a:srgbClr val="FFCC99"/>
          </a:solidFill>
          <a:ln w="25400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71014" name="Rectangle 26"/>
          <p:cNvSpPr>
            <a:spLocks/>
          </p:cNvSpPr>
          <p:nvPr/>
        </p:nvSpPr>
        <p:spPr bwMode="auto">
          <a:xfrm>
            <a:off x="3505200" y="4114800"/>
            <a:ext cx="1219200" cy="609600"/>
          </a:xfrm>
          <a:prstGeom prst="rect">
            <a:avLst/>
          </a:prstGeom>
          <a:solidFill>
            <a:srgbClr val="CC99FF"/>
          </a:solidFill>
          <a:ln w="25400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71015" name="Rectangle 27"/>
          <p:cNvSpPr>
            <a:spLocks/>
          </p:cNvSpPr>
          <p:nvPr/>
        </p:nvSpPr>
        <p:spPr bwMode="auto">
          <a:xfrm>
            <a:off x="4114800" y="4876800"/>
            <a:ext cx="609600" cy="609600"/>
          </a:xfrm>
          <a:prstGeom prst="rect">
            <a:avLst/>
          </a:prstGeom>
          <a:solidFill>
            <a:srgbClr val="00FF00"/>
          </a:solidFill>
          <a:ln w="25400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171016" name="AutoShape 28"/>
          <p:cNvSpPr>
            <a:spLocks/>
          </p:cNvSpPr>
          <p:nvPr/>
        </p:nvSpPr>
        <p:spPr bwMode="auto">
          <a:xfrm>
            <a:off x="6096000" y="3429000"/>
            <a:ext cx="2438400" cy="2209800"/>
          </a:xfrm>
          <a:prstGeom prst="can">
            <a:avLst>
              <a:gd name="adj" fmla="val 13333"/>
            </a:avLst>
          </a:prstGeom>
          <a:solidFill>
            <a:srgbClr val="C0C0C0"/>
          </a:solidFill>
          <a:ln w="6350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pPr algn="ctr"/>
            <a:r>
              <a:rPr lang="zh-CN" altLang="en-US"/>
              <a:t>分库</a:t>
            </a:r>
            <a:r>
              <a:rPr lang="en-US" altLang="zh-CN"/>
              <a:t>3</a:t>
            </a:r>
          </a:p>
        </p:txBody>
      </p:sp>
      <p:sp>
        <p:nvSpPr>
          <p:cNvPr id="171017" name="Rectangle 31"/>
          <p:cNvSpPr>
            <a:spLocks/>
          </p:cNvSpPr>
          <p:nvPr/>
        </p:nvSpPr>
        <p:spPr bwMode="auto">
          <a:xfrm>
            <a:off x="6324600" y="4876800"/>
            <a:ext cx="1219200" cy="609600"/>
          </a:xfrm>
          <a:prstGeom prst="rect">
            <a:avLst/>
          </a:prstGeom>
          <a:solidFill>
            <a:schemeClr val="accent1"/>
          </a:solidFill>
          <a:ln w="25400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03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2034" name="Rectangle 3"/>
          <p:cNvSpPr>
            <a:spLocks noGrp="1" noChangeArrowheads="1"/>
          </p:cNvSpPr>
          <p:nvPr>
            <p:ph type="title"/>
          </p:nvPr>
        </p:nvSpPr>
        <p:spPr>
          <a:xfrm>
            <a:off x="1447800" y="76200"/>
            <a:ext cx="7696200" cy="1066800"/>
          </a:xfrm>
        </p:spPr>
        <p:txBody>
          <a:bodyPr/>
          <a:lstStyle/>
          <a:p>
            <a:pPr algn="l" eaLnBrk="1" hangingPunct="1"/>
            <a:r>
              <a:rPr lang="zh-CN" altLang="en-US" sz="4000" b="1" smtClean="0">
                <a:solidFill>
                  <a:schemeClr val="bg1"/>
                </a:solidFill>
                <a:ea typeface="微软雅黑"/>
                <a:cs typeface="微软雅黑"/>
              </a:rPr>
              <a:t>大纲</a:t>
            </a:r>
          </a:p>
        </p:txBody>
      </p:sp>
      <p:sp>
        <p:nvSpPr>
          <p:cNvPr id="172035" name="TextBox 7"/>
          <p:cNvSpPr txBox="1">
            <a:spLocks noChangeArrowheads="1"/>
          </p:cNvSpPr>
          <p:nvPr/>
        </p:nvSpPr>
        <p:spPr bwMode="auto">
          <a:xfrm>
            <a:off x="533400" y="1447800"/>
            <a:ext cx="7772400" cy="4478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>
              <a:buFont typeface="Wingdings" pitchFamily="2" charset="2"/>
              <a:buChar char="n"/>
            </a:pPr>
            <a:r>
              <a:rPr lang="zh-CN" altLang="en-US" sz="3200">
                <a:solidFill>
                  <a:schemeClr val="tx2"/>
                </a:solidFill>
                <a:latin typeface="微软雅黑"/>
                <a:sym typeface="Helvetica Neue"/>
              </a:rPr>
              <a:t>中间件引入</a:t>
            </a:r>
          </a:p>
          <a:p>
            <a:pPr marL="457200" indent="-457200">
              <a:buFont typeface="Wingdings" pitchFamily="2" charset="2"/>
              <a:buChar char="n"/>
            </a:pPr>
            <a:endParaRPr lang="zh-CN" altLang="en-US" sz="3200">
              <a:solidFill>
                <a:schemeClr val="tx2"/>
              </a:solidFill>
              <a:latin typeface="微软雅黑"/>
              <a:sym typeface="Helvetica Neue"/>
            </a:endParaRPr>
          </a:p>
          <a:p>
            <a:pPr marL="457200" indent="-457200">
              <a:buFont typeface="Wingdings" pitchFamily="2" charset="2"/>
              <a:buChar char="n"/>
            </a:pPr>
            <a:r>
              <a:rPr lang="en-US" altLang="zh-CN" sz="3200">
                <a:latin typeface="微软雅黑"/>
                <a:sym typeface="Helvetica Neue"/>
              </a:rPr>
              <a:t>Cobar</a:t>
            </a:r>
            <a:r>
              <a:rPr lang="zh-CN" altLang="en-US" sz="3200">
                <a:latin typeface="微软雅黑"/>
                <a:sym typeface="Helvetica Neue"/>
              </a:rPr>
              <a:t>策略</a:t>
            </a:r>
          </a:p>
          <a:p>
            <a:pPr marL="457200" indent="-457200">
              <a:buFont typeface="Wingdings" pitchFamily="2" charset="2"/>
              <a:buChar char="n"/>
            </a:pPr>
            <a:endParaRPr lang="zh-CN" altLang="en-US" sz="3200">
              <a:solidFill>
                <a:schemeClr val="tx2"/>
              </a:solidFill>
              <a:latin typeface="微软雅黑"/>
              <a:sym typeface="Helvetica Neue"/>
            </a:endParaRPr>
          </a:p>
          <a:p>
            <a:pPr marL="457200" indent="-457200">
              <a:buFont typeface="Wingdings" pitchFamily="2" charset="2"/>
              <a:buChar char="n"/>
            </a:pPr>
            <a:r>
              <a:rPr lang="zh-CN" altLang="en-US" sz="3200">
                <a:solidFill>
                  <a:schemeClr val="tx2"/>
                </a:solidFill>
                <a:latin typeface="微软雅黑"/>
                <a:sym typeface="Helvetica Neue"/>
              </a:rPr>
              <a:t>系统实现</a:t>
            </a:r>
          </a:p>
          <a:p>
            <a:pPr marL="457200" indent="-457200">
              <a:buFont typeface="Wingdings" pitchFamily="2" charset="2"/>
              <a:buChar char="n"/>
            </a:pPr>
            <a:endParaRPr lang="zh-CN" altLang="en-US" sz="3200">
              <a:solidFill>
                <a:schemeClr val="tx2"/>
              </a:solidFill>
              <a:latin typeface="宋体" charset="-122"/>
              <a:ea typeface="宋体" charset="-122"/>
              <a:sym typeface="Helvetica Neue"/>
            </a:endParaRPr>
          </a:p>
          <a:p>
            <a:pPr marL="457200" indent="-457200">
              <a:buFont typeface="Wingdings" pitchFamily="2" charset="2"/>
              <a:buChar char="n"/>
            </a:pPr>
            <a:r>
              <a:rPr lang="zh-CN" altLang="en-US" sz="3200">
                <a:latin typeface="微软雅黑"/>
                <a:sym typeface="Helvetica Neue"/>
              </a:rPr>
              <a:t>实施应用</a:t>
            </a:r>
          </a:p>
          <a:p>
            <a:pPr marL="914400" lvl="1" indent="-457200">
              <a:buFont typeface="Wingdings" pitchFamily="2" charset="2"/>
              <a:buChar char="n"/>
            </a:pPr>
            <a:r>
              <a:rPr lang="zh-CN" altLang="en-US" sz="3200">
                <a:latin typeface="宋体" charset="-122"/>
                <a:ea typeface="宋体" charset="-122"/>
                <a:sym typeface="Helvetica Neue"/>
              </a:rPr>
              <a:t>数据迁移</a:t>
            </a:r>
          </a:p>
          <a:p>
            <a:pPr marL="914400" lvl="1" indent="-457200">
              <a:buFont typeface="Wingdings" pitchFamily="2" charset="2"/>
              <a:buChar char="n"/>
            </a:pPr>
            <a:r>
              <a:rPr lang="zh-CN" altLang="en-US" sz="3200">
                <a:solidFill>
                  <a:srgbClr val="FF0000"/>
                </a:solidFill>
                <a:latin typeface="微软雅黑"/>
                <a:sym typeface="Helvetica Neue"/>
              </a:rPr>
              <a:t>部署运维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7" name="标题 1"/>
          <p:cNvSpPr>
            <a:spLocks noGrp="1"/>
          </p:cNvSpPr>
          <p:nvPr>
            <p:ph type="title" idx="4294967295"/>
          </p:nvPr>
        </p:nvSpPr>
        <p:spPr>
          <a:xfrm>
            <a:off x="179388" y="115888"/>
            <a:ext cx="8229600" cy="811212"/>
          </a:xfrm>
        </p:spPr>
        <p:txBody>
          <a:bodyPr/>
          <a:lstStyle/>
          <a:p>
            <a:pPr algn="l" eaLnBrk="1" hangingPunct="1"/>
            <a:r>
              <a:rPr lang="en-US" altLang="zh-CN" sz="3600" smtClean="0"/>
              <a:t>Cobar  </a:t>
            </a:r>
            <a:r>
              <a:rPr lang="zh-CN" altLang="en-US" sz="3600" smtClean="0"/>
              <a:t>典型的部署方式</a:t>
            </a:r>
          </a:p>
        </p:txBody>
      </p:sp>
      <p:pic>
        <p:nvPicPr>
          <p:cNvPr id="173058" name="图片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24075" y="1243013"/>
            <a:ext cx="5400675" cy="4951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1" name="标题 1"/>
          <p:cNvSpPr>
            <a:spLocks noGrp="1"/>
          </p:cNvSpPr>
          <p:nvPr>
            <p:ph type="title" idx="4294967295"/>
          </p:nvPr>
        </p:nvSpPr>
        <p:spPr>
          <a:xfrm>
            <a:off x="179388" y="115888"/>
            <a:ext cx="8229600" cy="811212"/>
          </a:xfrm>
        </p:spPr>
        <p:txBody>
          <a:bodyPr/>
          <a:lstStyle/>
          <a:p>
            <a:pPr algn="l" eaLnBrk="1" hangingPunct="1"/>
            <a:r>
              <a:rPr lang="en-US" altLang="zh-CN" sz="3600" smtClean="0"/>
              <a:t>Cobar-1.0.x </a:t>
            </a:r>
            <a:r>
              <a:rPr lang="zh-CN" altLang="en-US" sz="3600" smtClean="0"/>
              <a:t>部署方式</a:t>
            </a:r>
          </a:p>
        </p:txBody>
      </p:sp>
      <p:sp>
        <p:nvSpPr>
          <p:cNvPr id="174082" name="Line 18"/>
          <p:cNvSpPr>
            <a:spLocks noChangeShapeType="1"/>
          </p:cNvSpPr>
          <p:nvPr/>
        </p:nvSpPr>
        <p:spPr bwMode="auto">
          <a:xfrm>
            <a:off x="493713" y="2349500"/>
            <a:ext cx="8229600" cy="0"/>
          </a:xfrm>
          <a:prstGeom prst="line">
            <a:avLst/>
          </a:prstGeom>
          <a:noFill/>
          <a:ln w="317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4083" name="Line 18"/>
          <p:cNvSpPr>
            <a:spLocks noChangeShapeType="1"/>
          </p:cNvSpPr>
          <p:nvPr/>
        </p:nvSpPr>
        <p:spPr bwMode="auto">
          <a:xfrm>
            <a:off x="4500563" y="1628775"/>
            <a:ext cx="0" cy="4679950"/>
          </a:xfrm>
          <a:prstGeom prst="line">
            <a:avLst/>
          </a:prstGeom>
          <a:noFill/>
          <a:ln w="317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4084" name="Line 18"/>
          <p:cNvSpPr>
            <a:spLocks noChangeShapeType="1"/>
          </p:cNvSpPr>
          <p:nvPr/>
        </p:nvSpPr>
        <p:spPr bwMode="auto">
          <a:xfrm>
            <a:off x="493713" y="4868863"/>
            <a:ext cx="8229600" cy="0"/>
          </a:xfrm>
          <a:prstGeom prst="line">
            <a:avLst/>
          </a:prstGeom>
          <a:noFill/>
          <a:ln w="317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174085" name="组合 23"/>
          <p:cNvGrpSpPr>
            <a:grpSpLocks/>
          </p:cNvGrpSpPr>
          <p:nvPr/>
        </p:nvGrpSpPr>
        <p:grpSpPr bwMode="auto">
          <a:xfrm>
            <a:off x="938213" y="1622425"/>
            <a:ext cx="6864350" cy="4054475"/>
            <a:chOff x="938721" y="1633071"/>
            <a:chExt cx="6863209" cy="4053686"/>
          </a:xfrm>
        </p:grpSpPr>
        <p:sp>
          <p:nvSpPr>
            <p:cNvPr id="3" name="TextBox 2"/>
            <p:cNvSpPr txBox="1"/>
            <p:nvPr/>
          </p:nvSpPr>
          <p:spPr>
            <a:xfrm>
              <a:off x="2378344" y="1633071"/>
              <a:ext cx="763461" cy="369816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txBody>
            <a:bodyPr wrap="none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dirty="0">
                  <a:latin typeface="+mn-lt"/>
                  <a:ea typeface="+mn-ea"/>
                  <a:cs typeface="+mn-cs"/>
                </a:rPr>
                <a:t>机房</a:t>
              </a:r>
              <a:r>
                <a:rPr lang="en-US" altLang="zh-CN" dirty="0">
                  <a:latin typeface="+mn-lt"/>
                  <a:ea typeface="+mn-ea"/>
                  <a:cs typeface="+mn-cs"/>
                </a:rPr>
                <a:t>1</a:t>
              </a:r>
              <a:endParaRPr lang="zh-CN" altLang="en-US" dirty="0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762331" y="1633071"/>
              <a:ext cx="763461" cy="369816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txBody>
            <a:bodyPr wrap="none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dirty="0">
                  <a:latin typeface="+mn-lt"/>
                  <a:ea typeface="+mn-ea"/>
                  <a:cs typeface="+mn-cs"/>
                </a:rPr>
                <a:t>机房</a:t>
              </a:r>
              <a:r>
                <a:rPr lang="en-US" altLang="zh-CN" dirty="0">
                  <a:latin typeface="+mn-lt"/>
                  <a:ea typeface="+mn-ea"/>
                  <a:cs typeface="+mn-cs"/>
                </a:rPr>
                <a:t>2</a:t>
              </a:r>
              <a:endParaRPr lang="zh-CN" altLang="en-US" dirty="0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957768" y="2493329"/>
              <a:ext cx="763460" cy="368228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txBody>
            <a:bodyPr wrap="none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dirty="0">
                  <a:latin typeface="+mn-lt"/>
                  <a:ea typeface="+mn-ea"/>
                  <a:cs typeface="+mn-cs"/>
                </a:rPr>
                <a:t>应用</a:t>
              </a:r>
              <a:r>
                <a:rPr lang="en-US" altLang="zh-CN" dirty="0">
                  <a:latin typeface="+mn-lt"/>
                  <a:ea typeface="+mn-ea"/>
                  <a:cs typeface="+mn-cs"/>
                </a:rPr>
                <a:t>1</a:t>
              </a:r>
              <a:endParaRPr lang="zh-CN" altLang="en-US" dirty="0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957768" y="3469452"/>
              <a:ext cx="763460" cy="369815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txBody>
            <a:bodyPr wrap="none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dirty="0">
                  <a:latin typeface="+mn-lt"/>
                  <a:ea typeface="+mn-ea"/>
                  <a:cs typeface="+mn-cs"/>
                </a:rPr>
                <a:t>应用</a:t>
              </a:r>
              <a:r>
                <a:rPr lang="en-US" altLang="zh-CN" dirty="0">
                  <a:latin typeface="+mn-lt"/>
                  <a:ea typeface="+mn-ea"/>
                  <a:cs typeface="+mn-cs"/>
                </a:rPr>
                <a:t>3</a:t>
              </a:r>
              <a:endParaRPr lang="zh-CN" altLang="en-US" dirty="0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957768" y="4199559"/>
              <a:ext cx="763460" cy="369815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txBody>
            <a:bodyPr wrap="none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dirty="0">
                  <a:latin typeface="+mn-lt"/>
                  <a:ea typeface="+mn-ea"/>
                  <a:cs typeface="+mn-cs"/>
                </a:rPr>
                <a:t>应用</a:t>
              </a:r>
              <a:r>
                <a:rPr lang="en-US" altLang="zh-CN" dirty="0">
                  <a:latin typeface="+mn-lt"/>
                  <a:ea typeface="+mn-ea"/>
                  <a:cs typeface="+mn-cs"/>
                </a:rPr>
                <a:t>4</a:t>
              </a:r>
              <a:endParaRPr lang="zh-CN" altLang="en-US" dirty="0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643413" y="2750454"/>
              <a:ext cx="1322167" cy="368228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txBody>
            <a:bodyPr wrap="none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dirty="0" err="1">
                  <a:latin typeface="+mn-lt"/>
                  <a:ea typeface="+mn-ea"/>
                  <a:cs typeface="+mn-cs"/>
                </a:rPr>
                <a:t>Cobar</a:t>
              </a:r>
              <a:r>
                <a:rPr lang="zh-CN" altLang="en-US" dirty="0">
                  <a:latin typeface="+mn-lt"/>
                  <a:ea typeface="+mn-ea"/>
                  <a:cs typeface="+mn-cs"/>
                </a:rPr>
                <a:t>集群</a:t>
              </a:r>
              <a:r>
                <a:rPr lang="en-US" altLang="zh-CN" dirty="0">
                  <a:latin typeface="+mn-lt"/>
                  <a:ea typeface="+mn-ea"/>
                  <a:cs typeface="+mn-cs"/>
                </a:rPr>
                <a:t>1</a:t>
              </a:r>
              <a:endParaRPr lang="zh-CN" altLang="en-US" dirty="0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965539" y="2750454"/>
              <a:ext cx="1320580" cy="368228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txBody>
            <a:bodyPr wrap="none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dirty="0" err="1">
                  <a:latin typeface="+mn-lt"/>
                  <a:ea typeface="+mn-ea"/>
                  <a:cs typeface="+mn-cs"/>
                </a:rPr>
                <a:t>Cobar</a:t>
              </a:r>
              <a:r>
                <a:rPr lang="zh-CN" altLang="en-US" dirty="0">
                  <a:latin typeface="+mn-lt"/>
                  <a:ea typeface="+mn-ea"/>
                  <a:cs typeface="+mn-cs"/>
                </a:rPr>
                <a:t>集群</a:t>
              </a:r>
              <a:r>
                <a:rPr lang="en-US" altLang="zh-CN" dirty="0">
                  <a:latin typeface="+mn-lt"/>
                  <a:ea typeface="+mn-ea"/>
                  <a:cs typeface="+mn-cs"/>
                </a:rPr>
                <a:t>1</a:t>
              </a:r>
              <a:endParaRPr lang="zh-CN" altLang="en-US" dirty="0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2643413" y="3475800"/>
              <a:ext cx="1322167" cy="368228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txBody>
            <a:bodyPr wrap="none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dirty="0" err="1">
                  <a:latin typeface="+mn-lt"/>
                  <a:ea typeface="+mn-ea"/>
                  <a:cs typeface="+mn-cs"/>
                </a:rPr>
                <a:t>Cobar</a:t>
              </a:r>
              <a:r>
                <a:rPr lang="zh-CN" altLang="en-US" dirty="0">
                  <a:latin typeface="+mn-lt"/>
                  <a:ea typeface="+mn-ea"/>
                  <a:cs typeface="+mn-cs"/>
                </a:rPr>
                <a:t>集群</a:t>
              </a:r>
              <a:r>
                <a:rPr lang="en-US" altLang="zh-CN" dirty="0">
                  <a:latin typeface="+mn-lt"/>
                  <a:ea typeface="+mn-ea"/>
                  <a:cs typeface="+mn-cs"/>
                </a:rPr>
                <a:t>2</a:t>
              </a:r>
              <a:endParaRPr lang="zh-CN" altLang="en-US" dirty="0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2643413" y="4199559"/>
              <a:ext cx="1322167" cy="369815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txBody>
            <a:bodyPr wrap="none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dirty="0" err="1">
                  <a:latin typeface="+mn-lt"/>
                  <a:ea typeface="+mn-ea"/>
                  <a:cs typeface="+mn-cs"/>
                </a:rPr>
                <a:t>Cobar</a:t>
              </a:r>
              <a:r>
                <a:rPr lang="zh-CN" altLang="en-US" dirty="0">
                  <a:latin typeface="+mn-lt"/>
                  <a:ea typeface="+mn-ea"/>
                  <a:cs typeface="+mn-cs"/>
                </a:rPr>
                <a:t>集群</a:t>
              </a:r>
              <a:r>
                <a:rPr lang="en-US" altLang="zh-CN" dirty="0">
                  <a:latin typeface="+mn-lt"/>
                  <a:ea typeface="+mn-ea"/>
                  <a:cs typeface="+mn-cs"/>
                </a:rPr>
                <a:t>3</a:t>
              </a:r>
              <a:endParaRPr lang="zh-CN" altLang="en-US" dirty="0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4965539" y="3493259"/>
              <a:ext cx="1320580" cy="369816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txBody>
            <a:bodyPr wrap="none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dirty="0" err="1">
                  <a:latin typeface="+mn-lt"/>
                  <a:ea typeface="+mn-ea"/>
                  <a:cs typeface="+mn-cs"/>
                </a:rPr>
                <a:t>Cobar</a:t>
              </a:r>
              <a:r>
                <a:rPr lang="zh-CN" altLang="en-US" dirty="0">
                  <a:latin typeface="+mn-lt"/>
                  <a:ea typeface="+mn-ea"/>
                  <a:cs typeface="+mn-cs"/>
                </a:rPr>
                <a:t>集群</a:t>
              </a:r>
              <a:r>
                <a:rPr lang="en-US" altLang="zh-CN" dirty="0">
                  <a:latin typeface="+mn-lt"/>
                  <a:ea typeface="+mn-ea"/>
                  <a:cs typeface="+mn-cs"/>
                </a:rPr>
                <a:t>2</a:t>
              </a:r>
              <a:endParaRPr lang="zh-CN" altLang="en-US" dirty="0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4965539" y="4212257"/>
              <a:ext cx="1320580" cy="368228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txBody>
            <a:bodyPr wrap="none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dirty="0" err="1">
                  <a:latin typeface="+mn-lt"/>
                  <a:ea typeface="+mn-ea"/>
                  <a:cs typeface="+mn-cs"/>
                </a:rPr>
                <a:t>Cobar</a:t>
              </a:r>
              <a:r>
                <a:rPr lang="zh-CN" altLang="en-US" dirty="0">
                  <a:latin typeface="+mn-lt"/>
                  <a:ea typeface="+mn-ea"/>
                  <a:cs typeface="+mn-cs"/>
                </a:rPr>
                <a:t>集群</a:t>
              </a:r>
              <a:r>
                <a:rPr lang="en-US" altLang="zh-CN" dirty="0">
                  <a:latin typeface="+mn-lt"/>
                  <a:ea typeface="+mn-ea"/>
                  <a:cs typeface="+mn-cs"/>
                </a:rPr>
                <a:t>3</a:t>
              </a:r>
              <a:endParaRPr lang="zh-CN" altLang="en-US" dirty="0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7038469" y="2493329"/>
              <a:ext cx="763461" cy="368228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txBody>
            <a:bodyPr wrap="none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dirty="0">
                  <a:latin typeface="+mn-lt"/>
                  <a:ea typeface="+mn-ea"/>
                  <a:cs typeface="+mn-cs"/>
                </a:rPr>
                <a:t>应用</a:t>
              </a:r>
              <a:r>
                <a:rPr lang="en-US" altLang="zh-CN" dirty="0">
                  <a:latin typeface="+mn-lt"/>
                  <a:ea typeface="+mn-ea"/>
                  <a:cs typeface="+mn-cs"/>
                </a:rPr>
                <a:t>1</a:t>
              </a:r>
              <a:endParaRPr lang="zh-CN" altLang="en-US" dirty="0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7038469" y="3501195"/>
              <a:ext cx="763461" cy="369815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txBody>
            <a:bodyPr wrap="none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dirty="0">
                  <a:latin typeface="+mn-lt"/>
                  <a:ea typeface="+mn-ea"/>
                  <a:cs typeface="+mn-cs"/>
                </a:rPr>
                <a:t>应用</a:t>
              </a:r>
              <a:r>
                <a:rPr lang="en-US" altLang="zh-CN" dirty="0">
                  <a:latin typeface="+mn-lt"/>
                  <a:ea typeface="+mn-ea"/>
                  <a:cs typeface="+mn-cs"/>
                </a:rPr>
                <a:t>3</a:t>
              </a:r>
              <a:endParaRPr lang="zh-CN" altLang="en-US" dirty="0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7038469" y="4221780"/>
              <a:ext cx="763461" cy="368228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txBody>
            <a:bodyPr wrap="none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dirty="0">
                  <a:latin typeface="+mn-lt"/>
                  <a:ea typeface="+mn-ea"/>
                  <a:cs typeface="+mn-cs"/>
                </a:rPr>
                <a:t>应用</a:t>
              </a:r>
              <a:r>
                <a:rPr lang="en-US" altLang="zh-CN" dirty="0">
                  <a:latin typeface="+mn-lt"/>
                  <a:ea typeface="+mn-ea"/>
                  <a:cs typeface="+mn-cs"/>
                </a:rPr>
                <a:t>4</a:t>
              </a:r>
              <a:endParaRPr lang="zh-CN" altLang="en-US" dirty="0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938721" y="5316942"/>
              <a:ext cx="1244393" cy="369815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dirty="0" err="1">
                  <a:latin typeface="+mn-lt"/>
                  <a:ea typeface="+mn-ea"/>
                  <a:cs typeface="+mn-cs"/>
                </a:rPr>
                <a:t>mysql</a:t>
              </a:r>
              <a:r>
                <a:rPr lang="zh-CN" altLang="en-US" dirty="0">
                  <a:latin typeface="+mn-lt"/>
                  <a:ea typeface="+mn-ea"/>
                  <a:cs typeface="+mn-cs"/>
                </a:rPr>
                <a:t>集群</a:t>
              </a:r>
            </a:p>
          </p:txBody>
        </p:sp>
        <p:cxnSp>
          <p:nvCxnSpPr>
            <p:cNvPr id="9" name="直接连接符 8"/>
            <p:cNvCxnSpPr>
              <a:stCxn id="27" idx="3"/>
              <a:endCxn id="33" idx="1"/>
            </p:cNvCxnSpPr>
            <p:nvPr/>
          </p:nvCxnSpPr>
          <p:spPr>
            <a:xfrm>
              <a:off x="1721228" y="2677443"/>
              <a:ext cx="922185" cy="25712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>
              <a:stCxn id="31" idx="3"/>
              <a:endCxn id="35" idx="1"/>
            </p:cNvCxnSpPr>
            <p:nvPr/>
          </p:nvCxnSpPr>
          <p:spPr>
            <a:xfrm>
              <a:off x="1721228" y="3655152"/>
              <a:ext cx="922185" cy="47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>
              <a:stCxn id="32" idx="3"/>
              <a:endCxn id="36" idx="1"/>
            </p:cNvCxnSpPr>
            <p:nvPr/>
          </p:nvCxnSpPr>
          <p:spPr>
            <a:xfrm>
              <a:off x="1721228" y="4383674"/>
              <a:ext cx="92218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>
              <a:stCxn id="34" idx="3"/>
              <a:endCxn id="39" idx="1"/>
            </p:cNvCxnSpPr>
            <p:nvPr/>
          </p:nvCxnSpPr>
          <p:spPr>
            <a:xfrm flipV="1">
              <a:off x="6286119" y="2677443"/>
              <a:ext cx="752350" cy="25712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>
              <a:stCxn id="37" idx="3"/>
              <a:endCxn id="40" idx="1"/>
            </p:cNvCxnSpPr>
            <p:nvPr/>
          </p:nvCxnSpPr>
          <p:spPr>
            <a:xfrm>
              <a:off x="6286119" y="3677373"/>
              <a:ext cx="752350" cy="793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>
              <a:stCxn id="38" idx="3"/>
              <a:endCxn id="41" idx="1"/>
            </p:cNvCxnSpPr>
            <p:nvPr/>
          </p:nvCxnSpPr>
          <p:spPr>
            <a:xfrm>
              <a:off x="6286119" y="4396371"/>
              <a:ext cx="752350" cy="952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TextBox 29"/>
          <p:cNvSpPr txBox="1"/>
          <p:nvPr/>
        </p:nvSpPr>
        <p:spPr>
          <a:xfrm>
            <a:off x="957263" y="2932113"/>
            <a:ext cx="763587" cy="36988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>
                <a:latin typeface="+mn-lt"/>
                <a:ea typeface="+mn-ea"/>
                <a:cs typeface="+mn-cs"/>
              </a:rPr>
              <a:t>应用</a:t>
            </a:r>
            <a:r>
              <a:rPr lang="en-US" altLang="zh-CN" dirty="0">
                <a:latin typeface="+mn-lt"/>
                <a:ea typeface="+mn-ea"/>
                <a:cs typeface="+mn-cs"/>
              </a:rPr>
              <a:t>2</a:t>
            </a:r>
            <a:endParaRPr lang="zh-CN" altLang="en-US" dirty="0">
              <a:latin typeface="+mn-lt"/>
              <a:ea typeface="+mn-ea"/>
              <a:cs typeface="+mn-cs"/>
            </a:endParaRPr>
          </a:p>
        </p:txBody>
      </p:sp>
      <p:cxnSp>
        <p:nvCxnSpPr>
          <p:cNvPr id="47" name="直接连接符 46"/>
          <p:cNvCxnSpPr>
            <a:stCxn id="30" idx="3"/>
            <a:endCxn id="33" idx="1"/>
          </p:cNvCxnSpPr>
          <p:nvPr/>
        </p:nvCxnSpPr>
        <p:spPr>
          <a:xfrm flipV="1">
            <a:off x="1720850" y="2924175"/>
            <a:ext cx="923925" cy="1936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7038975" y="2932113"/>
            <a:ext cx="763588" cy="36988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>
                <a:latin typeface="+mn-lt"/>
                <a:ea typeface="+mn-ea"/>
                <a:cs typeface="+mn-cs"/>
              </a:rPr>
              <a:t>应用</a:t>
            </a:r>
            <a:r>
              <a:rPr lang="en-US" altLang="zh-CN" dirty="0">
                <a:latin typeface="+mn-lt"/>
                <a:ea typeface="+mn-ea"/>
                <a:cs typeface="+mn-cs"/>
              </a:rPr>
              <a:t>2</a:t>
            </a:r>
            <a:endParaRPr lang="zh-CN" altLang="en-US" dirty="0">
              <a:latin typeface="+mn-lt"/>
              <a:ea typeface="+mn-ea"/>
              <a:cs typeface="+mn-cs"/>
            </a:endParaRPr>
          </a:p>
        </p:txBody>
      </p:sp>
      <p:cxnSp>
        <p:nvCxnSpPr>
          <p:cNvPr id="49" name="直接连接符 48"/>
          <p:cNvCxnSpPr>
            <a:stCxn id="34" idx="3"/>
            <a:endCxn id="48" idx="1"/>
          </p:cNvCxnSpPr>
          <p:nvPr/>
        </p:nvCxnSpPr>
        <p:spPr>
          <a:xfrm>
            <a:off x="6286500" y="2924175"/>
            <a:ext cx="752475" cy="1936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2720975" y="5307013"/>
            <a:ext cx="1244600" cy="36988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 err="1">
                <a:latin typeface="+mn-lt"/>
                <a:ea typeface="+mn-ea"/>
                <a:cs typeface="+mn-cs"/>
              </a:rPr>
              <a:t>mysql</a:t>
            </a:r>
            <a:r>
              <a:rPr lang="zh-CN" altLang="en-US" dirty="0">
                <a:latin typeface="+mn-lt"/>
                <a:ea typeface="+mn-ea"/>
                <a:cs typeface="+mn-cs"/>
              </a:rPr>
              <a:t>集群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57963" y="5307013"/>
            <a:ext cx="1244600" cy="36988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 err="1">
                <a:latin typeface="+mn-lt"/>
                <a:ea typeface="+mn-ea"/>
                <a:cs typeface="+mn-cs"/>
              </a:rPr>
              <a:t>mysql</a:t>
            </a:r>
            <a:r>
              <a:rPr lang="zh-CN" altLang="en-US" dirty="0">
                <a:latin typeface="+mn-lt"/>
                <a:ea typeface="+mn-ea"/>
                <a:cs typeface="+mn-cs"/>
              </a:rPr>
              <a:t>集群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65700" y="5322888"/>
            <a:ext cx="1243013" cy="3683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 err="1">
                <a:latin typeface="+mn-lt"/>
                <a:ea typeface="+mn-ea"/>
                <a:cs typeface="+mn-cs"/>
              </a:rPr>
              <a:t>mysql</a:t>
            </a:r>
            <a:r>
              <a:rPr lang="zh-CN" altLang="en-US" dirty="0">
                <a:latin typeface="+mn-lt"/>
                <a:ea typeface="+mn-ea"/>
                <a:cs typeface="+mn-cs"/>
              </a:rPr>
              <a:t>集群</a:t>
            </a:r>
          </a:p>
        </p:txBody>
      </p:sp>
      <p:cxnSp>
        <p:nvCxnSpPr>
          <p:cNvPr id="43" name="直接连接符 42"/>
          <p:cNvCxnSpPr/>
          <p:nvPr/>
        </p:nvCxnSpPr>
        <p:spPr>
          <a:xfrm flipV="1">
            <a:off x="1873250" y="4724400"/>
            <a:ext cx="887413" cy="433388"/>
          </a:xfrm>
          <a:prstGeom prst="line">
            <a:avLst/>
          </a:prstGeom>
          <a:ln w="158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 flipV="1">
            <a:off x="3305175" y="4724400"/>
            <a:ext cx="0" cy="433388"/>
          </a:xfrm>
          <a:prstGeom prst="line">
            <a:avLst/>
          </a:prstGeom>
          <a:ln w="158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/>
        </p:nvCxnSpPr>
        <p:spPr>
          <a:xfrm flipV="1">
            <a:off x="5876925" y="4724400"/>
            <a:ext cx="887413" cy="433388"/>
          </a:xfrm>
          <a:prstGeom prst="line">
            <a:avLst/>
          </a:prstGeom>
          <a:ln w="158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 flipV="1">
            <a:off x="7308850" y="4724400"/>
            <a:ext cx="0" cy="433388"/>
          </a:xfrm>
          <a:prstGeom prst="line">
            <a:avLst/>
          </a:prstGeom>
          <a:ln w="158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5" name="标题 1"/>
          <p:cNvSpPr>
            <a:spLocks noGrp="1"/>
          </p:cNvSpPr>
          <p:nvPr>
            <p:ph type="title" idx="4294967295"/>
          </p:nvPr>
        </p:nvSpPr>
        <p:spPr>
          <a:xfrm>
            <a:off x="120650" y="0"/>
            <a:ext cx="8229600" cy="993775"/>
          </a:xfrm>
        </p:spPr>
        <p:txBody>
          <a:bodyPr/>
          <a:lstStyle/>
          <a:p>
            <a:pPr algn="l" eaLnBrk="1" hangingPunct="1"/>
            <a:r>
              <a:rPr lang="en-US" altLang="zh-CN" sz="3600" smtClean="0"/>
              <a:t>Cobar-1.0.x </a:t>
            </a:r>
            <a:r>
              <a:rPr lang="zh-CN" altLang="en-US" sz="3600" smtClean="0"/>
              <a:t>使用</a:t>
            </a:r>
          </a:p>
        </p:txBody>
      </p:sp>
      <p:sp>
        <p:nvSpPr>
          <p:cNvPr id="175106" name="矩形 27"/>
          <p:cNvSpPr>
            <a:spLocks noChangeArrowheads="1"/>
          </p:cNvSpPr>
          <p:nvPr/>
        </p:nvSpPr>
        <p:spPr bwMode="auto">
          <a:xfrm>
            <a:off x="328613" y="981075"/>
            <a:ext cx="7521575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  <a:cs typeface="Courier New" pitchFamily="49" charset="0"/>
              </a:rPr>
              <a:t>jdbc:mysql://cobarIp:8066/</a:t>
            </a:r>
            <a:r>
              <a:rPr lang="en-US" altLang="zh-CN" b="1">
                <a:solidFill>
                  <a:srgbClr val="FF000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s1</a:t>
            </a:r>
            <a:r>
              <a:rPr lang="en-US" altLang="zh-CN">
                <a:latin typeface="Courier New" pitchFamily="49" charset="0"/>
                <a:ea typeface="宋体" charset="-122"/>
                <a:cs typeface="Courier New" pitchFamily="49" charset="0"/>
              </a:rPr>
              <a:t>?user=foo&amp;password=bar</a:t>
            </a:r>
          </a:p>
          <a:p>
            <a:pPr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  <a:cs typeface="Courier New" pitchFamily="49" charset="0"/>
              </a:rPr>
              <a:t>jdbc:mysql://cobarIp:8066/</a:t>
            </a:r>
            <a:r>
              <a:rPr lang="en-US" altLang="zh-CN" b="1">
                <a:solidFill>
                  <a:srgbClr val="FF000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s2</a:t>
            </a:r>
            <a:r>
              <a:rPr lang="en-US" altLang="zh-CN">
                <a:latin typeface="Courier New" pitchFamily="49" charset="0"/>
                <a:ea typeface="宋体" charset="-122"/>
                <a:cs typeface="Courier New" pitchFamily="49" charset="0"/>
              </a:rPr>
              <a:t>?user=foo&amp;password=bar</a:t>
            </a:r>
            <a:r>
              <a:rPr lang="en-US" altLang="zh-CN">
                <a:latin typeface="Times New Roman" pitchFamily="18" charset="0"/>
                <a:ea typeface="宋体" charset="-122"/>
                <a:cs typeface="Courier New" pitchFamily="49" charset="0"/>
              </a:rPr>
              <a:t> </a:t>
            </a:r>
          </a:p>
          <a:p>
            <a:pPr>
              <a:spcBef>
                <a:spcPct val="50000"/>
              </a:spcBef>
            </a:pPr>
            <a:r>
              <a:rPr lang="en-US" altLang="zh-CN">
                <a:latin typeface="Times New Roman" pitchFamily="18" charset="0"/>
                <a:ea typeface="宋体" charset="-122"/>
                <a:cs typeface="Courier New" pitchFamily="49" charset="0"/>
              </a:rPr>
              <a:t> </a:t>
            </a:r>
          </a:p>
        </p:txBody>
      </p:sp>
      <p:grpSp>
        <p:nvGrpSpPr>
          <p:cNvPr id="175107" name="组合 47"/>
          <p:cNvGrpSpPr>
            <a:grpSpLocks/>
          </p:cNvGrpSpPr>
          <p:nvPr/>
        </p:nvGrpSpPr>
        <p:grpSpPr bwMode="auto">
          <a:xfrm>
            <a:off x="328613" y="2503488"/>
            <a:ext cx="4792662" cy="3159125"/>
            <a:chOff x="346772" y="2356093"/>
            <a:chExt cx="3643029" cy="2548135"/>
          </a:xfrm>
        </p:grpSpPr>
        <p:sp>
          <p:nvSpPr>
            <p:cNvPr id="49" name="Rectangle 3"/>
            <p:cNvSpPr>
              <a:spLocks noChangeArrowheads="1"/>
            </p:cNvSpPr>
            <p:nvPr/>
          </p:nvSpPr>
          <p:spPr bwMode="auto">
            <a:xfrm>
              <a:off x="2371616" y="3491869"/>
              <a:ext cx="1295997" cy="457128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dirty="0" err="1">
                  <a:latin typeface="+mn-lt"/>
                  <a:ea typeface="宋体" pitchFamily="2" charset="-122"/>
                  <a:cs typeface="+mn-cs"/>
                </a:rPr>
                <a:t>Cobar</a:t>
              </a:r>
              <a:r>
                <a:rPr lang="zh-CN" altLang="en-US" dirty="0">
                  <a:latin typeface="+mn-lt"/>
                  <a:ea typeface="宋体" pitchFamily="2" charset="-122"/>
                  <a:cs typeface="+mn-cs"/>
                </a:rPr>
                <a:t>集群</a:t>
              </a:r>
              <a:r>
                <a:rPr lang="en-US" altLang="zh-CN" dirty="0">
                  <a:latin typeface="+mn-lt"/>
                  <a:ea typeface="宋体" pitchFamily="2" charset="-122"/>
                  <a:cs typeface="+mn-cs"/>
                </a:rPr>
                <a:t>1</a:t>
              </a:r>
              <a:endParaRPr lang="zh-CN" altLang="en-US" dirty="0">
                <a:latin typeface="+mn-lt"/>
                <a:ea typeface="宋体" pitchFamily="2" charset="-122"/>
                <a:cs typeface="+mn-cs"/>
              </a:endParaRPr>
            </a:p>
          </p:txBody>
        </p:sp>
        <p:sp>
          <p:nvSpPr>
            <p:cNvPr id="50" name="Rectangle 3"/>
            <p:cNvSpPr>
              <a:spLocks noChangeArrowheads="1"/>
            </p:cNvSpPr>
            <p:nvPr/>
          </p:nvSpPr>
          <p:spPr bwMode="auto">
            <a:xfrm>
              <a:off x="2184577" y="2356093"/>
              <a:ext cx="666099" cy="457127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dirty="0">
                  <a:latin typeface="+mn-lt"/>
                  <a:ea typeface="宋体" pitchFamily="2" charset="-122"/>
                  <a:cs typeface="+mn-cs"/>
                </a:rPr>
                <a:t> </a:t>
              </a:r>
              <a:r>
                <a:rPr lang="zh-CN" altLang="en-US" dirty="0">
                  <a:latin typeface="+mn-lt"/>
                  <a:ea typeface="宋体" pitchFamily="2" charset="-122"/>
                  <a:cs typeface="+mn-cs"/>
                </a:rPr>
                <a:t>应用</a:t>
              </a:r>
              <a:r>
                <a:rPr lang="en-US" altLang="zh-CN" dirty="0">
                  <a:latin typeface="+mn-lt"/>
                  <a:ea typeface="宋体" pitchFamily="2" charset="-122"/>
                  <a:cs typeface="+mn-cs"/>
                </a:rPr>
                <a:t>1</a:t>
              </a:r>
              <a:endParaRPr lang="zh-CN" altLang="en-US" dirty="0">
                <a:latin typeface="+mn-lt"/>
                <a:ea typeface="宋体" pitchFamily="2" charset="-122"/>
                <a:cs typeface="+mn-cs"/>
              </a:endParaRPr>
            </a:p>
          </p:txBody>
        </p:sp>
        <p:sp>
          <p:nvSpPr>
            <p:cNvPr id="51" name="Rectangle 3"/>
            <p:cNvSpPr>
              <a:spLocks noChangeArrowheads="1"/>
            </p:cNvSpPr>
            <p:nvPr/>
          </p:nvSpPr>
          <p:spPr bwMode="auto">
            <a:xfrm>
              <a:off x="2370409" y="4447100"/>
              <a:ext cx="1295997" cy="457128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dirty="0" err="1">
                  <a:latin typeface="+mn-lt"/>
                  <a:ea typeface="宋体" pitchFamily="2" charset="-122"/>
                  <a:cs typeface="+mn-cs"/>
                </a:rPr>
                <a:t>mysql</a:t>
              </a:r>
              <a:r>
                <a:rPr lang="zh-CN" altLang="en-US" dirty="0">
                  <a:latin typeface="+mn-lt"/>
                  <a:ea typeface="宋体" pitchFamily="2" charset="-122"/>
                  <a:cs typeface="+mn-cs"/>
                </a:rPr>
                <a:t>集群</a:t>
              </a:r>
            </a:p>
          </p:txBody>
        </p:sp>
        <p:sp>
          <p:nvSpPr>
            <p:cNvPr id="52" name="Rectangle 3"/>
            <p:cNvSpPr>
              <a:spLocks noChangeArrowheads="1"/>
            </p:cNvSpPr>
            <p:nvPr/>
          </p:nvSpPr>
          <p:spPr bwMode="auto">
            <a:xfrm>
              <a:off x="3341803" y="2367617"/>
              <a:ext cx="647998" cy="46737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dirty="0">
                  <a:latin typeface="+mn-lt"/>
                  <a:ea typeface="宋体" pitchFamily="2" charset="-122"/>
                  <a:cs typeface="+mn-cs"/>
                </a:rPr>
                <a:t>应用</a:t>
              </a:r>
              <a:r>
                <a:rPr lang="en-US" altLang="zh-CN" dirty="0">
                  <a:latin typeface="+mn-lt"/>
                  <a:ea typeface="宋体" pitchFamily="2" charset="-122"/>
                  <a:cs typeface="+mn-cs"/>
                </a:rPr>
                <a:t>2</a:t>
              </a:r>
              <a:endParaRPr lang="zh-CN" altLang="en-US" dirty="0">
                <a:latin typeface="+mn-lt"/>
                <a:ea typeface="宋体" pitchFamily="2" charset="-122"/>
                <a:cs typeface="+mn-cs"/>
              </a:endParaRPr>
            </a:p>
          </p:txBody>
        </p:sp>
        <p:cxnSp>
          <p:nvCxnSpPr>
            <p:cNvPr id="53" name="直接箭头连接符 52"/>
            <p:cNvCxnSpPr>
              <a:stCxn id="50" idx="2"/>
            </p:cNvCxnSpPr>
            <p:nvPr/>
          </p:nvCxnSpPr>
          <p:spPr>
            <a:xfrm>
              <a:off x="2517626" y="2813220"/>
              <a:ext cx="200312" cy="667125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箭头连接符 53"/>
            <p:cNvCxnSpPr>
              <a:stCxn id="52" idx="2"/>
            </p:cNvCxnSpPr>
            <p:nvPr/>
          </p:nvCxnSpPr>
          <p:spPr>
            <a:xfrm flipH="1">
              <a:off x="3349043" y="2834989"/>
              <a:ext cx="317362" cy="632552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箭头连接符 54"/>
            <p:cNvCxnSpPr>
              <a:stCxn id="49" idx="2"/>
              <a:endCxn id="51" idx="0"/>
            </p:cNvCxnSpPr>
            <p:nvPr/>
          </p:nvCxnSpPr>
          <p:spPr>
            <a:xfrm flipH="1">
              <a:off x="3018407" y="3948997"/>
              <a:ext cx="1206" cy="498102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Rectangle 3"/>
            <p:cNvSpPr>
              <a:spLocks noChangeArrowheads="1"/>
            </p:cNvSpPr>
            <p:nvPr/>
          </p:nvSpPr>
          <p:spPr bwMode="auto">
            <a:xfrm>
              <a:off x="346772" y="2923341"/>
              <a:ext cx="1446834" cy="457128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>
                  <a:latin typeface="Calibri" pitchFamily="34" charset="0"/>
                  <a:ea typeface="宋体" pitchFamily="2" charset="-122"/>
                  <a:cs typeface="+mn-cs"/>
                </a:rPr>
                <a:t>Cobar-manager</a:t>
              </a:r>
            </a:p>
          </p:txBody>
        </p:sp>
        <p:cxnSp>
          <p:nvCxnSpPr>
            <p:cNvPr id="57" name="直接箭头连接符 56"/>
            <p:cNvCxnSpPr>
              <a:stCxn id="56" idx="2"/>
              <a:endCxn id="49" idx="1"/>
            </p:cNvCxnSpPr>
            <p:nvPr/>
          </p:nvCxnSpPr>
          <p:spPr>
            <a:xfrm>
              <a:off x="1070792" y="3380469"/>
              <a:ext cx="1300823" cy="340605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内容占位符 2"/>
          <p:cNvSpPr>
            <a:spLocks noGrp="1"/>
          </p:cNvSpPr>
          <p:nvPr>
            <p:ph idx="4294967295"/>
          </p:nvPr>
        </p:nvSpPr>
        <p:spPr>
          <a:xfrm>
            <a:off x="5003800" y="3419475"/>
            <a:ext cx="4140200" cy="1368425"/>
          </a:xfrm>
        </p:spPr>
        <p:txBody>
          <a:bodyPr/>
          <a:lstStyle/>
          <a:p>
            <a:pPr marL="342900" lvl="1" indent="-342900" eaLnBrk="1" hangingPunct="1">
              <a:buFont typeface="Arial" charset="0"/>
              <a:buChar char="•"/>
            </a:pPr>
            <a:r>
              <a:rPr lang="zh-CN" altLang="en-US" sz="2000" smtClean="0"/>
              <a:t>无</a:t>
            </a:r>
            <a:r>
              <a:rPr lang="en-US" altLang="zh-CN" sz="2000" smtClean="0"/>
              <a:t>schema</a:t>
            </a:r>
            <a:r>
              <a:rPr lang="zh-CN" altLang="en-US" sz="2000" smtClean="0"/>
              <a:t>概念 </a:t>
            </a:r>
          </a:p>
          <a:p>
            <a:pPr marL="342900" lvl="1" indent="-342900" eaLnBrk="1" hangingPunct="1"/>
            <a:r>
              <a:rPr lang="zh-CN" altLang="en-US" sz="1800" smtClean="0"/>
              <a:t>不能有相同的表名配置</a:t>
            </a:r>
          </a:p>
          <a:p>
            <a:pPr marL="342900" lvl="1" indent="-342900" eaLnBrk="1" hangingPunct="1"/>
            <a:r>
              <a:rPr lang="zh-CN" altLang="en-US" sz="1800" smtClean="0"/>
              <a:t>每个应用看到的配置都是一样的</a:t>
            </a:r>
          </a:p>
        </p:txBody>
      </p:sp>
      <p:sp>
        <p:nvSpPr>
          <p:cNvPr id="175109" name="TextBox 14"/>
          <p:cNvSpPr txBox="1">
            <a:spLocks noChangeArrowheads="1"/>
          </p:cNvSpPr>
          <p:nvPr/>
        </p:nvSpPr>
        <p:spPr bwMode="auto">
          <a:xfrm>
            <a:off x="3208338" y="3536950"/>
            <a:ext cx="4603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>
                <a:latin typeface="Calibri" pitchFamily="34" charset="0"/>
                <a:ea typeface="宋体" charset="-122"/>
              </a:rPr>
              <a:t> </a:t>
            </a:r>
            <a:r>
              <a:rPr lang="en-US" altLang="zh-CN">
                <a:solidFill>
                  <a:srgbClr val="FF0000"/>
                </a:solidFill>
                <a:latin typeface="Calibri" pitchFamily="34" charset="0"/>
                <a:ea typeface="宋体" charset="-122"/>
              </a:rPr>
              <a:t>S1</a:t>
            </a:r>
          </a:p>
        </p:txBody>
      </p:sp>
      <p:sp>
        <p:nvSpPr>
          <p:cNvPr id="175110" name="TextBox 15"/>
          <p:cNvSpPr txBox="1">
            <a:spLocks noChangeArrowheads="1"/>
          </p:cNvSpPr>
          <p:nvPr/>
        </p:nvSpPr>
        <p:spPr bwMode="auto">
          <a:xfrm>
            <a:off x="3976688" y="3536950"/>
            <a:ext cx="4603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  <a:latin typeface="Calibri" pitchFamily="34" charset="0"/>
                <a:ea typeface="宋体" charset="-122"/>
              </a:rPr>
              <a:t> S2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29" name="标题 1"/>
          <p:cNvSpPr>
            <a:spLocks noGrp="1"/>
          </p:cNvSpPr>
          <p:nvPr>
            <p:ph type="title" idx="4294967295"/>
          </p:nvPr>
        </p:nvSpPr>
        <p:spPr>
          <a:xfrm>
            <a:off x="120650" y="0"/>
            <a:ext cx="8229600" cy="993775"/>
          </a:xfrm>
        </p:spPr>
        <p:txBody>
          <a:bodyPr/>
          <a:lstStyle/>
          <a:p>
            <a:pPr algn="l" eaLnBrk="1" hangingPunct="1"/>
            <a:r>
              <a:rPr lang="en-US" altLang="zh-CN" sz="3600" smtClean="0"/>
              <a:t>Cobar-1.0.x </a:t>
            </a:r>
            <a:r>
              <a:rPr lang="zh-CN" altLang="en-US" sz="3600" smtClean="0"/>
              <a:t>使用</a:t>
            </a:r>
          </a:p>
        </p:txBody>
      </p:sp>
      <p:grpSp>
        <p:nvGrpSpPr>
          <p:cNvPr id="176130" name="组合 47"/>
          <p:cNvGrpSpPr>
            <a:grpSpLocks/>
          </p:cNvGrpSpPr>
          <p:nvPr/>
        </p:nvGrpSpPr>
        <p:grpSpPr bwMode="auto">
          <a:xfrm>
            <a:off x="350838" y="1773238"/>
            <a:ext cx="5084762" cy="3455987"/>
            <a:chOff x="346772" y="2356093"/>
            <a:chExt cx="3643029" cy="2548135"/>
          </a:xfrm>
        </p:grpSpPr>
        <p:sp>
          <p:nvSpPr>
            <p:cNvPr id="49" name="Rectangle 3"/>
            <p:cNvSpPr>
              <a:spLocks noChangeArrowheads="1"/>
            </p:cNvSpPr>
            <p:nvPr/>
          </p:nvSpPr>
          <p:spPr bwMode="auto">
            <a:xfrm>
              <a:off x="2371309" y="3492629"/>
              <a:ext cx="1295476" cy="456487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dirty="0" err="1">
                  <a:latin typeface="+mn-lt"/>
                  <a:ea typeface="宋体" pitchFamily="2" charset="-122"/>
                  <a:cs typeface="+mn-cs"/>
                </a:rPr>
                <a:t>Cobar</a:t>
              </a:r>
              <a:r>
                <a:rPr lang="zh-CN" altLang="en-US" dirty="0">
                  <a:latin typeface="+mn-lt"/>
                  <a:ea typeface="宋体" pitchFamily="2" charset="-122"/>
                  <a:cs typeface="+mn-cs"/>
                </a:rPr>
                <a:t>集群</a:t>
              </a:r>
              <a:r>
                <a:rPr lang="en-US" altLang="zh-CN" dirty="0">
                  <a:latin typeface="+mn-lt"/>
                  <a:ea typeface="宋体" pitchFamily="2" charset="-122"/>
                  <a:cs typeface="+mn-cs"/>
                </a:rPr>
                <a:t>1</a:t>
              </a:r>
              <a:endParaRPr lang="zh-CN" altLang="en-US" dirty="0">
                <a:latin typeface="+mn-lt"/>
                <a:ea typeface="宋体" pitchFamily="2" charset="-122"/>
                <a:cs typeface="+mn-cs"/>
              </a:endParaRPr>
            </a:p>
          </p:txBody>
        </p:sp>
        <p:sp>
          <p:nvSpPr>
            <p:cNvPr id="50" name="Rectangle 3"/>
            <p:cNvSpPr>
              <a:spLocks noChangeArrowheads="1"/>
            </p:cNvSpPr>
            <p:nvPr/>
          </p:nvSpPr>
          <p:spPr bwMode="auto">
            <a:xfrm>
              <a:off x="2184779" y="2356093"/>
              <a:ext cx="665367" cy="457657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dirty="0">
                  <a:latin typeface="+mn-lt"/>
                  <a:ea typeface="宋体" pitchFamily="2" charset="-122"/>
                  <a:cs typeface="+mn-cs"/>
                </a:rPr>
                <a:t> </a:t>
              </a:r>
              <a:r>
                <a:rPr lang="zh-CN" altLang="en-US" dirty="0">
                  <a:latin typeface="+mn-lt"/>
                  <a:ea typeface="宋体" pitchFamily="2" charset="-122"/>
                  <a:cs typeface="+mn-cs"/>
                </a:rPr>
                <a:t>应用</a:t>
              </a:r>
              <a:r>
                <a:rPr lang="en-US" altLang="zh-CN" dirty="0">
                  <a:latin typeface="+mn-lt"/>
                  <a:ea typeface="宋体" pitchFamily="2" charset="-122"/>
                  <a:cs typeface="+mn-cs"/>
                </a:rPr>
                <a:t>1</a:t>
              </a:r>
              <a:endParaRPr lang="zh-CN" altLang="en-US" dirty="0">
                <a:latin typeface="+mn-lt"/>
                <a:ea typeface="宋体" pitchFamily="2" charset="-122"/>
                <a:cs typeface="+mn-cs"/>
              </a:endParaRPr>
            </a:p>
          </p:txBody>
        </p:sp>
        <p:sp>
          <p:nvSpPr>
            <p:cNvPr id="51" name="Rectangle 3"/>
            <p:cNvSpPr>
              <a:spLocks noChangeArrowheads="1"/>
            </p:cNvSpPr>
            <p:nvPr/>
          </p:nvSpPr>
          <p:spPr bwMode="auto">
            <a:xfrm>
              <a:off x="2370171" y="4446571"/>
              <a:ext cx="1295477" cy="457657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dirty="0" err="1">
                  <a:latin typeface="+mn-lt"/>
                  <a:ea typeface="宋体" pitchFamily="2" charset="-122"/>
                  <a:cs typeface="+mn-cs"/>
                </a:rPr>
                <a:t>mysql</a:t>
              </a:r>
              <a:r>
                <a:rPr lang="zh-CN" altLang="en-US" dirty="0">
                  <a:latin typeface="+mn-lt"/>
                  <a:ea typeface="宋体" pitchFamily="2" charset="-122"/>
                  <a:cs typeface="+mn-cs"/>
                </a:rPr>
                <a:t>集群</a:t>
              </a:r>
            </a:p>
          </p:txBody>
        </p:sp>
        <p:sp>
          <p:nvSpPr>
            <p:cNvPr id="52" name="Rectangle 3"/>
            <p:cNvSpPr>
              <a:spLocks noChangeArrowheads="1"/>
            </p:cNvSpPr>
            <p:nvPr/>
          </p:nvSpPr>
          <p:spPr bwMode="auto">
            <a:xfrm>
              <a:off x="3342632" y="2367798"/>
              <a:ext cx="647169" cy="467021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dirty="0">
                  <a:latin typeface="+mn-lt"/>
                  <a:ea typeface="宋体" pitchFamily="2" charset="-122"/>
                  <a:cs typeface="+mn-cs"/>
                </a:rPr>
                <a:t>应用</a:t>
              </a:r>
              <a:r>
                <a:rPr lang="en-US" altLang="zh-CN" dirty="0">
                  <a:latin typeface="+mn-lt"/>
                  <a:ea typeface="宋体" pitchFamily="2" charset="-122"/>
                  <a:cs typeface="+mn-cs"/>
                </a:rPr>
                <a:t>2</a:t>
              </a:r>
              <a:endParaRPr lang="zh-CN" altLang="en-US" dirty="0">
                <a:latin typeface="+mn-lt"/>
                <a:ea typeface="宋体" pitchFamily="2" charset="-122"/>
                <a:cs typeface="+mn-cs"/>
              </a:endParaRPr>
            </a:p>
          </p:txBody>
        </p:sp>
        <p:cxnSp>
          <p:nvCxnSpPr>
            <p:cNvPr id="53" name="直接箭头连接符 52"/>
            <p:cNvCxnSpPr>
              <a:stCxn id="50" idx="2"/>
            </p:cNvCxnSpPr>
            <p:nvPr/>
          </p:nvCxnSpPr>
          <p:spPr>
            <a:xfrm>
              <a:off x="2518031" y="2813750"/>
              <a:ext cx="200179" cy="666004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箭头连接符 53"/>
            <p:cNvCxnSpPr>
              <a:stCxn id="52" idx="2"/>
            </p:cNvCxnSpPr>
            <p:nvPr/>
          </p:nvCxnSpPr>
          <p:spPr>
            <a:xfrm flipH="1">
              <a:off x="3349456" y="2834819"/>
              <a:ext cx="316192" cy="633230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箭头连接符 54"/>
            <p:cNvCxnSpPr>
              <a:stCxn id="49" idx="2"/>
              <a:endCxn id="51" idx="0"/>
            </p:cNvCxnSpPr>
            <p:nvPr/>
          </p:nvCxnSpPr>
          <p:spPr>
            <a:xfrm flipH="1">
              <a:off x="3018478" y="3949116"/>
              <a:ext cx="1138" cy="497454"/>
            </a:xfrm>
            <a:prstGeom prst="straightConnector1">
              <a:avLst/>
            </a:prstGeom>
            <a:ln w="25400" cmpd="sng">
              <a:solidFill>
                <a:srgbClr val="FF0000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Rectangle 3"/>
            <p:cNvSpPr>
              <a:spLocks noChangeArrowheads="1"/>
            </p:cNvSpPr>
            <p:nvPr/>
          </p:nvSpPr>
          <p:spPr bwMode="auto">
            <a:xfrm>
              <a:off x="346772" y="2922605"/>
              <a:ext cx="1446748" cy="457657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>
                  <a:latin typeface="Calibri" pitchFamily="34" charset="0"/>
                  <a:ea typeface="宋体" pitchFamily="2" charset="-122"/>
                  <a:cs typeface="+mn-cs"/>
                </a:rPr>
                <a:t>Cobar-manager</a:t>
              </a:r>
            </a:p>
          </p:txBody>
        </p:sp>
        <p:cxnSp>
          <p:nvCxnSpPr>
            <p:cNvPr id="57" name="直接箭头连接符 56"/>
            <p:cNvCxnSpPr>
              <a:stCxn id="56" idx="2"/>
              <a:endCxn id="49" idx="1"/>
            </p:cNvCxnSpPr>
            <p:nvPr/>
          </p:nvCxnSpPr>
          <p:spPr>
            <a:xfrm>
              <a:off x="1070146" y="3380263"/>
              <a:ext cx="1301163" cy="340610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3" name="标题 1"/>
          <p:cNvSpPr>
            <a:spLocks noGrp="1"/>
          </p:cNvSpPr>
          <p:nvPr>
            <p:ph type="title" idx="4294967295"/>
          </p:nvPr>
        </p:nvSpPr>
        <p:spPr>
          <a:xfrm>
            <a:off x="120650" y="0"/>
            <a:ext cx="8229600" cy="993775"/>
          </a:xfrm>
        </p:spPr>
        <p:txBody>
          <a:bodyPr/>
          <a:lstStyle/>
          <a:p>
            <a:pPr algn="l" eaLnBrk="1" hangingPunct="1"/>
            <a:r>
              <a:rPr lang="en-US" altLang="zh-CN" sz="3600" smtClean="0"/>
              <a:t>Cobar-1.0.x </a:t>
            </a:r>
            <a:r>
              <a:rPr lang="zh-CN" altLang="en-US" sz="3600" smtClean="0"/>
              <a:t>使用</a:t>
            </a:r>
          </a:p>
        </p:txBody>
      </p:sp>
      <p:grpSp>
        <p:nvGrpSpPr>
          <p:cNvPr id="177154" name="组合 47"/>
          <p:cNvGrpSpPr>
            <a:grpSpLocks/>
          </p:cNvGrpSpPr>
          <p:nvPr/>
        </p:nvGrpSpPr>
        <p:grpSpPr bwMode="auto">
          <a:xfrm>
            <a:off x="350838" y="1773238"/>
            <a:ext cx="5084762" cy="3455987"/>
            <a:chOff x="346772" y="2356093"/>
            <a:chExt cx="3643029" cy="2548135"/>
          </a:xfrm>
        </p:grpSpPr>
        <p:sp>
          <p:nvSpPr>
            <p:cNvPr id="49" name="Rectangle 3"/>
            <p:cNvSpPr>
              <a:spLocks noChangeArrowheads="1"/>
            </p:cNvSpPr>
            <p:nvPr/>
          </p:nvSpPr>
          <p:spPr bwMode="auto">
            <a:xfrm>
              <a:off x="2371309" y="3492629"/>
              <a:ext cx="1295476" cy="456487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9050">
              <a:solidFill>
                <a:srgbClr val="FF0000"/>
              </a:solidFill>
              <a:prstDash val="sysDot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dirty="0" err="1">
                  <a:latin typeface="+mn-lt"/>
                  <a:ea typeface="宋体" pitchFamily="2" charset="-122"/>
                  <a:cs typeface="+mn-cs"/>
                </a:rPr>
                <a:t>Cobar</a:t>
              </a:r>
              <a:r>
                <a:rPr lang="zh-CN" altLang="en-US" dirty="0">
                  <a:latin typeface="+mn-lt"/>
                  <a:ea typeface="宋体" pitchFamily="2" charset="-122"/>
                  <a:cs typeface="+mn-cs"/>
                </a:rPr>
                <a:t>集群</a:t>
              </a:r>
              <a:r>
                <a:rPr lang="en-US" altLang="zh-CN" dirty="0">
                  <a:latin typeface="+mn-lt"/>
                  <a:ea typeface="宋体" pitchFamily="2" charset="-122"/>
                  <a:cs typeface="+mn-cs"/>
                </a:rPr>
                <a:t>1</a:t>
              </a:r>
              <a:endParaRPr lang="zh-CN" altLang="en-US" dirty="0">
                <a:latin typeface="+mn-lt"/>
                <a:ea typeface="宋体" pitchFamily="2" charset="-122"/>
                <a:cs typeface="+mn-cs"/>
              </a:endParaRPr>
            </a:p>
          </p:txBody>
        </p:sp>
        <p:sp>
          <p:nvSpPr>
            <p:cNvPr id="50" name="Rectangle 3"/>
            <p:cNvSpPr>
              <a:spLocks noChangeArrowheads="1"/>
            </p:cNvSpPr>
            <p:nvPr/>
          </p:nvSpPr>
          <p:spPr bwMode="auto">
            <a:xfrm>
              <a:off x="2184779" y="2356093"/>
              <a:ext cx="665367" cy="457657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dirty="0">
                  <a:latin typeface="+mn-lt"/>
                  <a:ea typeface="宋体" pitchFamily="2" charset="-122"/>
                  <a:cs typeface="+mn-cs"/>
                </a:rPr>
                <a:t> </a:t>
              </a:r>
              <a:r>
                <a:rPr lang="zh-CN" altLang="en-US" dirty="0">
                  <a:latin typeface="+mn-lt"/>
                  <a:ea typeface="宋体" pitchFamily="2" charset="-122"/>
                  <a:cs typeface="+mn-cs"/>
                </a:rPr>
                <a:t>应用</a:t>
              </a:r>
              <a:r>
                <a:rPr lang="en-US" altLang="zh-CN" dirty="0">
                  <a:latin typeface="+mn-lt"/>
                  <a:ea typeface="宋体" pitchFamily="2" charset="-122"/>
                  <a:cs typeface="+mn-cs"/>
                </a:rPr>
                <a:t>1</a:t>
              </a:r>
              <a:endParaRPr lang="zh-CN" altLang="en-US" dirty="0">
                <a:latin typeface="+mn-lt"/>
                <a:ea typeface="宋体" pitchFamily="2" charset="-122"/>
                <a:cs typeface="+mn-cs"/>
              </a:endParaRPr>
            </a:p>
          </p:txBody>
        </p:sp>
        <p:sp>
          <p:nvSpPr>
            <p:cNvPr id="51" name="Rectangle 3"/>
            <p:cNvSpPr>
              <a:spLocks noChangeArrowheads="1"/>
            </p:cNvSpPr>
            <p:nvPr/>
          </p:nvSpPr>
          <p:spPr bwMode="auto">
            <a:xfrm>
              <a:off x="2370171" y="4446571"/>
              <a:ext cx="1295477" cy="457657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dirty="0" err="1">
                  <a:latin typeface="+mn-lt"/>
                  <a:ea typeface="宋体" pitchFamily="2" charset="-122"/>
                  <a:cs typeface="+mn-cs"/>
                </a:rPr>
                <a:t>mysql</a:t>
              </a:r>
              <a:r>
                <a:rPr lang="zh-CN" altLang="en-US" dirty="0">
                  <a:latin typeface="+mn-lt"/>
                  <a:ea typeface="宋体" pitchFamily="2" charset="-122"/>
                  <a:cs typeface="+mn-cs"/>
                </a:rPr>
                <a:t>集群</a:t>
              </a:r>
            </a:p>
          </p:txBody>
        </p:sp>
        <p:sp>
          <p:nvSpPr>
            <p:cNvPr id="52" name="Rectangle 3"/>
            <p:cNvSpPr>
              <a:spLocks noChangeArrowheads="1"/>
            </p:cNvSpPr>
            <p:nvPr/>
          </p:nvSpPr>
          <p:spPr bwMode="auto">
            <a:xfrm>
              <a:off x="3342632" y="2367798"/>
              <a:ext cx="647169" cy="467021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dirty="0">
                  <a:latin typeface="+mn-lt"/>
                  <a:ea typeface="宋体" pitchFamily="2" charset="-122"/>
                  <a:cs typeface="+mn-cs"/>
                </a:rPr>
                <a:t>应用</a:t>
              </a:r>
              <a:r>
                <a:rPr lang="en-US" altLang="zh-CN" dirty="0">
                  <a:latin typeface="+mn-lt"/>
                  <a:ea typeface="宋体" pitchFamily="2" charset="-122"/>
                  <a:cs typeface="+mn-cs"/>
                </a:rPr>
                <a:t>2</a:t>
              </a:r>
              <a:endParaRPr lang="zh-CN" altLang="en-US" dirty="0">
                <a:latin typeface="+mn-lt"/>
                <a:ea typeface="宋体" pitchFamily="2" charset="-122"/>
                <a:cs typeface="+mn-cs"/>
              </a:endParaRPr>
            </a:p>
          </p:txBody>
        </p:sp>
        <p:cxnSp>
          <p:nvCxnSpPr>
            <p:cNvPr id="53" name="直接箭头连接符 52"/>
            <p:cNvCxnSpPr>
              <a:stCxn id="50" idx="2"/>
            </p:cNvCxnSpPr>
            <p:nvPr/>
          </p:nvCxnSpPr>
          <p:spPr>
            <a:xfrm>
              <a:off x="2518031" y="2813750"/>
              <a:ext cx="200179" cy="666004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箭头连接符 53"/>
            <p:cNvCxnSpPr>
              <a:stCxn id="52" idx="2"/>
            </p:cNvCxnSpPr>
            <p:nvPr/>
          </p:nvCxnSpPr>
          <p:spPr>
            <a:xfrm flipH="1">
              <a:off x="3349456" y="2834819"/>
              <a:ext cx="316192" cy="633230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箭头连接符 54"/>
            <p:cNvCxnSpPr>
              <a:stCxn id="49" idx="2"/>
              <a:endCxn id="51" idx="0"/>
            </p:cNvCxnSpPr>
            <p:nvPr/>
          </p:nvCxnSpPr>
          <p:spPr>
            <a:xfrm flipH="1">
              <a:off x="3018478" y="3949116"/>
              <a:ext cx="1138" cy="497454"/>
            </a:xfrm>
            <a:prstGeom prst="straightConnector1">
              <a:avLst/>
            </a:prstGeom>
            <a:ln w="25400" cmpd="sng">
              <a:solidFill>
                <a:srgbClr val="FF0000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Rectangle 3"/>
            <p:cNvSpPr>
              <a:spLocks noChangeArrowheads="1"/>
            </p:cNvSpPr>
            <p:nvPr/>
          </p:nvSpPr>
          <p:spPr bwMode="auto">
            <a:xfrm>
              <a:off x="346772" y="2922605"/>
              <a:ext cx="1446748" cy="457657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>
                  <a:latin typeface="Calibri" pitchFamily="34" charset="0"/>
                  <a:ea typeface="宋体" pitchFamily="2" charset="-122"/>
                  <a:cs typeface="+mn-cs"/>
                </a:rPr>
                <a:t>Cobar-manager</a:t>
              </a:r>
            </a:p>
          </p:txBody>
        </p:sp>
        <p:cxnSp>
          <p:nvCxnSpPr>
            <p:cNvPr id="57" name="直接箭头连接符 56"/>
            <p:cNvCxnSpPr>
              <a:stCxn id="56" idx="2"/>
              <a:endCxn id="49" idx="1"/>
            </p:cNvCxnSpPr>
            <p:nvPr/>
          </p:nvCxnSpPr>
          <p:spPr>
            <a:xfrm>
              <a:off x="1070146" y="3380263"/>
              <a:ext cx="1301163" cy="340610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7" name="标题 1"/>
          <p:cNvSpPr>
            <a:spLocks noGrp="1"/>
          </p:cNvSpPr>
          <p:nvPr>
            <p:ph type="title" idx="4294967295"/>
          </p:nvPr>
        </p:nvSpPr>
        <p:spPr>
          <a:xfrm>
            <a:off x="179388" y="115888"/>
            <a:ext cx="8229600" cy="811212"/>
          </a:xfrm>
        </p:spPr>
        <p:txBody>
          <a:bodyPr/>
          <a:lstStyle/>
          <a:p>
            <a:pPr algn="l" eaLnBrk="1" hangingPunct="1"/>
            <a:r>
              <a:rPr lang="en-US" altLang="zh-CN" sz="3600" smtClean="0"/>
              <a:t>Cobar-1.2.x </a:t>
            </a:r>
            <a:r>
              <a:rPr lang="zh-CN" altLang="en-US" sz="3600" smtClean="0"/>
              <a:t>部署方式</a:t>
            </a:r>
          </a:p>
        </p:txBody>
      </p:sp>
      <p:sp>
        <p:nvSpPr>
          <p:cNvPr id="178178" name="Line 18"/>
          <p:cNvSpPr>
            <a:spLocks noChangeShapeType="1"/>
          </p:cNvSpPr>
          <p:nvPr/>
        </p:nvSpPr>
        <p:spPr bwMode="auto">
          <a:xfrm>
            <a:off x="493713" y="2781300"/>
            <a:ext cx="8229600" cy="0"/>
          </a:xfrm>
          <a:prstGeom prst="line">
            <a:avLst/>
          </a:prstGeom>
          <a:noFill/>
          <a:ln w="317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8179" name="Line 18"/>
          <p:cNvSpPr>
            <a:spLocks noChangeShapeType="1"/>
          </p:cNvSpPr>
          <p:nvPr/>
        </p:nvSpPr>
        <p:spPr bwMode="auto">
          <a:xfrm>
            <a:off x="4500563" y="1628775"/>
            <a:ext cx="0" cy="4679950"/>
          </a:xfrm>
          <a:prstGeom prst="line">
            <a:avLst/>
          </a:prstGeom>
          <a:noFill/>
          <a:ln w="317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8180" name="Line 18"/>
          <p:cNvSpPr>
            <a:spLocks noChangeShapeType="1"/>
          </p:cNvSpPr>
          <p:nvPr/>
        </p:nvSpPr>
        <p:spPr bwMode="auto">
          <a:xfrm>
            <a:off x="493713" y="5084763"/>
            <a:ext cx="8229600" cy="0"/>
          </a:xfrm>
          <a:prstGeom prst="line">
            <a:avLst/>
          </a:prstGeom>
          <a:noFill/>
          <a:ln w="317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1560513" y="2005013"/>
            <a:ext cx="1857375" cy="3683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>
                <a:latin typeface="+mn-lt"/>
                <a:ea typeface="+mn-ea"/>
                <a:cs typeface="+mn-cs"/>
              </a:rPr>
              <a:t>机房</a:t>
            </a:r>
            <a:r>
              <a:rPr lang="en-US" altLang="zh-CN" dirty="0">
                <a:latin typeface="+mn-lt"/>
                <a:ea typeface="+mn-ea"/>
                <a:cs typeface="+mn-cs"/>
              </a:rPr>
              <a:t>1</a:t>
            </a:r>
            <a:endParaRPr lang="zh-CN" altLang="en-US" dirty="0">
              <a:latin typeface="+mn-lt"/>
              <a:ea typeface="+mn-ea"/>
              <a:cs typeface="+mn-c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508625" y="2005013"/>
            <a:ext cx="1835150" cy="3683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>
                <a:latin typeface="+mn-lt"/>
                <a:ea typeface="+mn-ea"/>
                <a:cs typeface="+mn-cs"/>
              </a:rPr>
              <a:t>机房</a:t>
            </a:r>
            <a:r>
              <a:rPr lang="en-US" altLang="zh-CN" dirty="0">
                <a:latin typeface="+mn-lt"/>
                <a:ea typeface="+mn-ea"/>
                <a:cs typeface="+mn-cs"/>
              </a:rPr>
              <a:t>2</a:t>
            </a:r>
            <a:endParaRPr lang="zh-CN" altLang="en-US" dirty="0">
              <a:latin typeface="+mn-lt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65213" y="3086100"/>
            <a:ext cx="763587" cy="3683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>
                <a:latin typeface="+mn-lt"/>
                <a:ea typeface="+mn-ea"/>
                <a:cs typeface="+mn-cs"/>
              </a:rPr>
              <a:t>应用</a:t>
            </a:r>
            <a:r>
              <a:rPr lang="en-US" altLang="zh-CN" dirty="0">
                <a:latin typeface="+mn-lt"/>
                <a:ea typeface="+mn-ea"/>
                <a:cs typeface="+mn-cs"/>
              </a:rPr>
              <a:t>1</a:t>
            </a:r>
            <a:endParaRPr lang="zh-CN" altLang="en-US" dirty="0">
              <a:latin typeface="+mn-lt"/>
              <a:ea typeface="+mn-ea"/>
              <a:cs typeface="+mn-c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187450" y="4365625"/>
            <a:ext cx="2592388" cy="3683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 err="1">
                <a:latin typeface="+mn-lt"/>
                <a:ea typeface="+mn-ea"/>
                <a:cs typeface="+mn-cs"/>
              </a:rPr>
              <a:t>Cobar</a:t>
            </a:r>
            <a:r>
              <a:rPr lang="zh-CN" altLang="en-US" dirty="0">
                <a:latin typeface="+mn-lt"/>
                <a:ea typeface="+mn-ea"/>
                <a:cs typeface="+mn-cs"/>
              </a:rPr>
              <a:t>集群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8213" y="5332413"/>
            <a:ext cx="1244600" cy="36988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 err="1">
                <a:latin typeface="+mn-lt"/>
                <a:ea typeface="+mn-ea"/>
                <a:cs typeface="+mn-cs"/>
              </a:rPr>
              <a:t>mysql</a:t>
            </a:r>
            <a:r>
              <a:rPr lang="zh-CN" altLang="en-US" dirty="0">
                <a:latin typeface="+mn-lt"/>
                <a:ea typeface="+mn-ea"/>
                <a:cs typeface="+mn-cs"/>
              </a:rPr>
              <a:t>集群</a:t>
            </a:r>
          </a:p>
        </p:txBody>
      </p:sp>
      <p:cxnSp>
        <p:nvCxnSpPr>
          <p:cNvPr id="9" name="直接连接符 8"/>
          <p:cNvCxnSpPr>
            <a:stCxn id="27" idx="2"/>
            <a:endCxn id="33" idx="0"/>
          </p:cNvCxnSpPr>
          <p:nvPr/>
        </p:nvCxnSpPr>
        <p:spPr>
          <a:xfrm>
            <a:off x="1447800" y="3454400"/>
            <a:ext cx="1036638" cy="9112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090738" y="3086100"/>
            <a:ext cx="763587" cy="3683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>
                <a:latin typeface="+mn-lt"/>
                <a:ea typeface="+mn-ea"/>
                <a:cs typeface="+mn-cs"/>
              </a:rPr>
              <a:t>应用</a:t>
            </a:r>
            <a:r>
              <a:rPr lang="en-US" altLang="zh-CN" dirty="0">
                <a:latin typeface="+mn-lt"/>
                <a:ea typeface="+mn-ea"/>
                <a:cs typeface="+mn-cs"/>
              </a:rPr>
              <a:t>2</a:t>
            </a:r>
            <a:endParaRPr lang="zh-CN" altLang="en-US" dirty="0">
              <a:latin typeface="+mn-lt"/>
              <a:ea typeface="+mn-ea"/>
              <a:cs typeface="+mn-cs"/>
            </a:endParaRPr>
          </a:p>
        </p:txBody>
      </p:sp>
      <p:cxnSp>
        <p:nvCxnSpPr>
          <p:cNvPr id="47" name="直接连接符 46"/>
          <p:cNvCxnSpPr>
            <a:stCxn id="30" idx="2"/>
            <a:endCxn id="33" idx="0"/>
          </p:cNvCxnSpPr>
          <p:nvPr/>
        </p:nvCxnSpPr>
        <p:spPr>
          <a:xfrm>
            <a:off x="2473325" y="3454400"/>
            <a:ext cx="11113" cy="9112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2687638" y="5332413"/>
            <a:ext cx="1243012" cy="36988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 err="1">
                <a:latin typeface="+mn-lt"/>
                <a:ea typeface="+mn-ea"/>
                <a:cs typeface="+mn-cs"/>
              </a:rPr>
              <a:t>mysql</a:t>
            </a:r>
            <a:r>
              <a:rPr lang="zh-CN" altLang="en-US" dirty="0">
                <a:latin typeface="+mn-lt"/>
                <a:ea typeface="+mn-ea"/>
                <a:cs typeface="+mn-cs"/>
              </a:rPr>
              <a:t>集群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965700" y="5332413"/>
            <a:ext cx="1243013" cy="36988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 err="1">
                <a:latin typeface="+mn-lt"/>
                <a:ea typeface="+mn-ea"/>
                <a:cs typeface="+mn-cs"/>
              </a:rPr>
              <a:t>mysql</a:t>
            </a:r>
            <a:r>
              <a:rPr lang="zh-CN" altLang="en-US" dirty="0">
                <a:latin typeface="+mn-lt"/>
                <a:ea typeface="+mn-ea"/>
                <a:cs typeface="+mn-cs"/>
              </a:rPr>
              <a:t>集群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57963" y="5332413"/>
            <a:ext cx="1244600" cy="36988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 err="1">
                <a:latin typeface="+mn-lt"/>
                <a:ea typeface="+mn-ea"/>
                <a:cs typeface="+mn-cs"/>
              </a:rPr>
              <a:t>mysql</a:t>
            </a:r>
            <a:r>
              <a:rPr lang="zh-CN" altLang="en-US" dirty="0">
                <a:latin typeface="+mn-lt"/>
                <a:ea typeface="+mn-ea"/>
                <a:cs typeface="+mn-cs"/>
              </a:rPr>
              <a:t>集群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035300" y="3086100"/>
            <a:ext cx="763588" cy="3683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>
                <a:latin typeface="+mn-lt"/>
                <a:ea typeface="+mn-ea"/>
                <a:cs typeface="+mn-cs"/>
              </a:rPr>
              <a:t>应用</a:t>
            </a:r>
            <a:r>
              <a:rPr lang="en-US" altLang="zh-CN" dirty="0">
                <a:latin typeface="+mn-lt"/>
                <a:ea typeface="+mn-ea"/>
                <a:cs typeface="+mn-cs"/>
              </a:rPr>
              <a:t>3</a:t>
            </a:r>
            <a:endParaRPr lang="zh-CN" altLang="en-US" dirty="0">
              <a:latin typeface="+mn-lt"/>
              <a:ea typeface="+mn-ea"/>
              <a:cs typeface="+mn-cs"/>
            </a:endParaRPr>
          </a:p>
        </p:txBody>
      </p:sp>
      <p:cxnSp>
        <p:nvCxnSpPr>
          <p:cNvPr id="57" name="直接连接符 56"/>
          <p:cNvCxnSpPr>
            <a:stCxn id="53" idx="2"/>
            <a:endCxn id="33" idx="0"/>
          </p:cNvCxnSpPr>
          <p:nvPr/>
        </p:nvCxnSpPr>
        <p:spPr>
          <a:xfrm flipH="1">
            <a:off x="2484438" y="3454400"/>
            <a:ext cx="933450" cy="9112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4992688" y="3086100"/>
            <a:ext cx="763587" cy="3683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>
                <a:latin typeface="+mn-lt"/>
                <a:ea typeface="+mn-ea"/>
                <a:cs typeface="+mn-cs"/>
              </a:rPr>
              <a:t>应用</a:t>
            </a:r>
            <a:r>
              <a:rPr lang="en-US" altLang="zh-CN" dirty="0">
                <a:latin typeface="+mn-lt"/>
                <a:ea typeface="+mn-ea"/>
                <a:cs typeface="+mn-cs"/>
              </a:rPr>
              <a:t>1</a:t>
            </a:r>
            <a:endParaRPr lang="zh-CN" altLang="en-US" dirty="0">
              <a:latin typeface="+mn-lt"/>
              <a:ea typeface="+mn-ea"/>
              <a:cs typeface="+mn-cs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5114925" y="4365625"/>
            <a:ext cx="2592388" cy="3683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 err="1">
                <a:latin typeface="+mn-lt"/>
                <a:ea typeface="+mn-ea"/>
                <a:cs typeface="+mn-cs"/>
              </a:rPr>
              <a:t>Cobar</a:t>
            </a:r>
            <a:r>
              <a:rPr lang="zh-CN" altLang="en-US" dirty="0">
                <a:latin typeface="+mn-lt"/>
                <a:ea typeface="+mn-ea"/>
                <a:cs typeface="+mn-cs"/>
              </a:rPr>
              <a:t>集群</a:t>
            </a:r>
          </a:p>
        </p:txBody>
      </p:sp>
      <p:cxnSp>
        <p:nvCxnSpPr>
          <p:cNvPr id="62" name="直接连接符 61"/>
          <p:cNvCxnSpPr>
            <a:stCxn id="60" idx="2"/>
            <a:endCxn id="61" idx="0"/>
          </p:cNvCxnSpPr>
          <p:nvPr/>
        </p:nvCxnSpPr>
        <p:spPr>
          <a:xfrm>
            <a:off x="5375275" y="3454400"/>
            <a:ext cx="1035050" cy="9112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6018213" y="3086100"/>
            <a:ext cx="763587" cy="3683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>
                <a:latin typeface="+mn-lt"/>
                <a:ea typeface="+mn-ea"/>
                <a:cs typeface="+mn-cs"/>
              </a:rPr>
              <a:t>应用</a:t>
            </a:r>
            <a:r>
              <a:rPr lang="en-US" altLang="zh-CN" dirty="0">
                <a:latin typeface="+mn-lt"/>
                <a:ea typeface="+mn-ea"/>
                <a:cs typeface="+mn-cs"/>
              </a:rPr>
              <a:t>2</a:t>
            </a:r>
            <a:endParaRPr lang="zh-CN" altLang="en-US" dirty="0">
              <a:latin typeface="+mn-lt"/>
              <a:ea typeface="+mn-ea"/>
              <a:cs typeface="+mn-cs"/>
            </a:endParaRPr>
          </a:p>
        </p:txBody>
      </p:sp>
      <p:cxnSp>
        <p:nvCxnSpPr>
          <p:cNvPr id="64" name="直接连接符 63"/>
          <p:cNvCxnSpPr>
            <a:stCxn id="63" idx="2"/>
            <a:endCxn id="61" idx="0"/>
          </p:cNvCxnSpPr>
          <p:nvPr/>
        </p:nvCxnSpPr>
        <p:spPr>
          <a:xfrm>
            <a:off x="6400800" y="3454400"/>
            <a:ext cx="9525" cy="9112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6962775" y="3086100"/>
            <a:ext cx="763588" cy="3683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>
                <a:latin typeface="+mn-lt"/>
                <a:ea typeface="+mn-ea"/>
                <a:cs typeface="+mn-cs"/>
              </a:rPr>
              <a:t>应用</a:t>
            </a:r>
            <a:r>
              <a:rPr lang="en-US" altLang="zh-CN" dirty="0">
                <a:latin typeface="+mn-lt"/>
                <a:ea typeface="+mn-ea"/>
                <a:cs typeface="+mn-cs"/>
              </a:rPr>
              <a:t>3</a:t>
            </a:r>
            <a:endParaRPr lang="zh-CN" altLang="en-US" dirty="0">
              <a:latin typeface="+mn-lt"/>
              <a:ea typeface="+mn-ea"/>
              <a:cs typeface="+mn-cs"/>
            </a:endParaRPr>
          </a:p>
        </p:txBody>
      </p:sp>
      <p:cxnSp>
        <p:nvCxnSpPr>
          <p:cNvPr id="66" name="直接连接符 65"/>
          <p:cNvCxnSpPr>
            <a:stCxn id="65" idx="2"/>
            <a:endCxn id="61" idx="0"/>
          </p:cNvCxnSpPr>
          <p:nvPr/>
        </p:nvCxnSpPr>
        <p:spPr>
          <a:xfrm flipH="1">
            <a:off x="6410325" y="3454400"/>
            <a:ext cx="933450" cy="9112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/>
          <p:cNvCxnSpPr>
            <a:stCxn id="42" idx="0"/>
            <a:endCxn id="33" idx="2"/>
          </p:cNvCxnSpPr>
          <p:nvPr/>
        </p:nvCxnSpPr>
        <p:spPr>
          <a:xfrm flipV="1">
            <a:off x="1560513" y="4733925"/>
            <a:ext cx="923925" cy="5984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连接符 70"/>
          <p:cNvCxnSpPr>
            <a:stCxn id="33" idx="2"/>
            <a:endCxn id="50" idx="0"/>
          </p:cNvCxnSpPr>
          <p:nvPr/>
        </p:nvCxnSpPr>
        <p:spPr>
          <a:xfrm>
            <a:off x="2484438" y="4733925"/>
            <a:ext cx="825500" cy="5984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/>
          <p:cNvCxnSpPr/>
          <p:nvPr/>
        </p:nvCxnSpPr>
        <p:spPr>
          <a:xfrm>
            <a:off x="3884613" y="4695825"/>
            <a:ext cx="974725" cy="608013"/>
          </a:xfrm>
          <a:prstGeom prst="line">
            <a:avLst/>
          </a:prstGeom>
          <a:ln w="190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77"/>
          <p:cNvCxnSpPr>
            <a:stCxn id="51" idx="0"/>
            <a:endCxn id="61" idx="2"/>
          </p:cNvCxnSpPr>
          <p:nvPr/>
        </p:nvCxnSpPr>
        <p:spPr>
          <a:xfrm flipV="1">
            <a:off x="5588000" y="4733925"/>
            <a:ext cx="822325" cy="5984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/>
          <p:cNvCxnSpPr>
            <a:stCxn id="61" idx="2"/>
            <a:endCxn id="52" idx="0"/>
          </p:cNvCxnSpPr>
          <p:nvPr/>
        </p:nvCxnSpPr>
        <p:spPr>
          <a:xfrm>
            <a:off x="6410325" y="4733925"/>
            <a:ext cx="769938" cy="5984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1" name="标题 1"/>
          <p:cNvSpPr>
            <a:spLocks noGrp="1"/>
          </p:cNvSpPr>
          <p:nvPr>
            <p:ph type="title" idx="4294967295"/>
          </p:nvPr>
        </p:nvSpPr>
        <p:spPr>
          <a:xfrm>
            <a:off x="92075" y="188913"/>
            <a:ext cx="8229600" cy="706437"/>
          </a:xfrm>
        </p:spPr>
        <p:txBody>
          <a:bodyPr/>
          <a:lstStyle/>
          <a:p>
            <a:pPr algn="l" eaLnBrk="1" hangingPunct="1"/>
            <a:r>
              <a:rPr lang="en-US" altLang="zh-CN" sz="3600" smtClean="0"/>
              <a:t>Cobar-1.2.x </a:t>
            </a:r>
            <a:r>
              <a:rPr lang="zh-CN" altLang="en-US" sz="3600" smtClean="0"/>
              <a:t>使用</a:t>
            </a:r>
          </a:p>
        </p:txBody>
      </p:sp>
      <p:sp>
        <p:nvSpPr>
          <p:cNvPr id="179202" name="矩形 27"/>
          <p:cNvSpPr>
            <a:spLocks noChangeArrowheads="1"/>
          </p:cNvSpPr>
          <p:nvPr/>
        </p:nvSpPr>
        <p:spPr bwMode="auto">
          <a:xfrm>
            <a:off x="447675" y="1052513"/>
            <a:ext cx="7519988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  <a:cs typeface="Courier New" pitchFamily="49" charset="0"/>
              </a:rPr>
              <a:t>jdbc:mysql://cobarIp:8066/</a:t>
            </a:r>
            <a:r>
              <a:rPr lang="en-US" altLang="zh-CN" b="1">
                <a:solidFill>
                  <a:srgbClr val="FF000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s1</a:t>
            </a:r>
            <a:r>
              <a:rPr lang="en-US" altLang="zh-CN">
                <a:latin typeface="Courier New" pitchFamily="49" charset="0"/>
                <a:ea typeface="宋体" charset="-122"/>
                <a:cs typeface="Courier New" pitchFamily="49" charset="0"/>
              </a:rPr>
              <a:t>?user=foo&amp;password=bar</a:t>
            </a:r>
          </a:p>
          <a:p>
            <a:pPr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  <a:cs typeface="Courier New" pitchFamily="49" charset="0"/>
              </a:rPr>
              <a:t>jdbc:mysql://cobarIp:8066/</a:t>
            </a:r>
            <a:r>
              <a:rPr lang="en-US" altLang="zh-CN" b="1">
                <a:solidFill>
                  <a:srgbClr val="FF000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s2</a:t>
            </a:r>
            <a:r>
              <a:rPr lang="en-US" altLang="zh-CN">
                <a:latin typeface="Courier New" pitchFamily="49" charset="0"/>
                <a:ea typeface="宋体" charset="-122"/>
                <a:cs typeface="Courier New" pitchFamily="49" charset="0"/>
              </a:rPr>
              <a:t>?user=foo&amp;password=bar</a:t>
            </a:r>
            <a:r>
              <a:rPr lang="en-US" altLang="zh-CN">
                <a:latin typeface="Times New Roman" pitchFamily="18" charset="0"/>
                <a:ea typeface="宋体" charset="-122"/>
                <a:cs typeface="Courier New" pitchFamily="49" charset="0"/>
              </a:rPr>
              <a:t> </a:t>
            </a:r>
          </a:p>
          <a:p>
            <a:pPr>
              <a:spcBef>
                <a:spcPct val="50000"/>
              </a:spcBef>
            </a:pPr>
            <a:r>
              <a:rPr lang="en-US" altLang="zh-CN">
                <a:latin typeface="Times New Roman" pitchFamily="18" charset="0"/>
                <a:ea typeface="宋体" charset="-122"/>
                <a:cs typeface="Courier New" pitchFamily="49" charset="0"/>
              </a:rPr>
              <a:t> </a:t>
            </a:r>
          </a:p>
        </p:txBody>
      </p:sp>
      <p:grpSp>
        <p:nvGrpSpPr>
          <p:cNvPr id="179203" name="组合 47"/>
          <p:cNvGrpSpPr>
            <a:grpSpLocks/>
          </p:cNvGrpSpPr>
          <p:nvPr/>
        </p:nvGrpSpPr>
        <p:grpSpPr bwMode="auto">
          <a:xfrm>
            <a:off x="198438" y="2778125"/>
            <a:ext cx="4878387" cy="3314700"/>
            <a:chOff x="406569" y="2356093"/>
            <a:chExt cx="3583232" cy="3045904"/>
          </a:xfrm>
        </p:grpSpPr>
        <p:sp>
          <p:nvSpPr>
            <p:cNvPr id="49" name="Rectangle 3"/>
            <p:cNvSpPr>
              <a:spLocks noChangeArrowheads="1"/>
            </p:cNvSpPr>
            <p:nvPr/>
          </p:nvSpPr>
          <p:spPr bwMode="auto">
            <a:xfrm>
              <a:off x="2371341" y="3492472"/>
              <a:ext cx="1295468" cy="456593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dirty="0" err="1">
                  <a:latin typeface="+mn-lt"/>
                  <a:ea typeface="宋体" pitchFamily="2" charset="-122"/>
                  <a:cs typeface="+mn-cs"/>
                </a:rPr>
                <a:t>Cobar</a:t>
              </a:r>
              <a:r>
                <a:rPr lang="zh-CN" altLang="en-US" dirty="0">
                  <a:latin typeface="+mn-lt"/>
                  <a:ea typeface="宋体" pitchFamily="2" charset="-122"/>
                  <a:cs typeface="+mn-cs"/>
                </a:rPr>
                <a:t>集群</a:t>
              </a:r>
              <a:r>
                <a:rPr lang="en-US" altLang="zh-CN" dirty="0">
                  <a:latin typeface="+mn-lt"/>
                  <a:ea typeface="宋体" pitchFamily="2" charset="-122"/>
                  <a:cs typeface="+mn-cs"/>
                </a:rPr>
                <a:t>1</a:t>
              </a:r>
              <a:endParaRPr lang="zh-CN" altLang="en-US" dirty="0">
                <a:latin typeface="+mn-lt"/>
                <a:ea typeface="宋体" pitchFamily="2" charset="-122"/>
                <a:cs typeface="+mn-cs"/>
              </a:endParaRPr>
            </a:p>
          </p:txBody>
        </p:sp>
        <p:sp>
          <p:nvSpPr>
            <p:cNvPr id="50" name="Rectangle 3"/>
            <p:cNvSpPr>
              <a:spLocks noChangeArrowheads="1"/>
            </p:cNvSpPr>
            <p:nvPr/>
          </p:nvSpPr>
          <p:spPr bwMode="auto">
            <a:xfrm>
              <a:off x="2184775" y="2356093"/>
              <a:ext cx="665808" cy="45659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dirty="0">
                  <a:latin typeface="+mn-lt"/>
                  <a:ea typeface="宋体" pitchFamily="2" charset="-122"/>
                  <a:cs typeface="+mn-cs"/>
                </a:rPr>
                <a:t> </a:t>
              </a:r>
              <a:r>
                <a:rPr lang="zh-CN" altLang="en-US" dirty="0">
                  <a:latin typeface="+mn-lt"/>
                  <a:ea typeface="宋体" pitchFamily="2" charset="-122"/>
                  <a:cs typeface="+mn-cs"/>
                </a:rPr>
                <a:t>应用</a:t>
              </a:r>
              <a:r>
                <a:rPr lang="en-US" altLang="zh-CN" dirty="0">
                  <a:latin typeface="+mn-lt"/>
                  <a:ea typeface="宋体" pitchFamily="2" charset="-122"/>
                  <a:cs typeface="+mn-cs"/>
                </a:rPr>
                <a:t>1</a:t>
              </a:r>
              <a:endParaRPr lang="zh-CN" altLang="en-US" dirty="0">
                <a:latin typeface="+mn-lt"/>
                <a:ea typeface="宋体" pitchFamily="2" charset="-122"/>
                <a:cs typeface="+mn-cs"/>
              </a:endParaRPr>
            </a:p>
          </p:txBody>
        </p:sp>
        <p:sp>
          <p:nvSpPr>
            <p:cNvPr id="51" name="Rectangle 3"/>
            <p:cNvSpPr>
              <a:spLocks noChangeArrowheads="1"/>
            </p:cNvSpPr>
            <p:nvPr/>
          </p:nvSpPr>
          <p:spPr bwMode="auto">
            <a:xfrm>
              <a:off x="2371341" y="4945404"/>
              <a:ext cx="1295468" cy="456593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dirty="0" err="1">
                  <a:latin typeface="+mn-lt"/>
                  <a:ea typeface="宋体" pitchFamily="2" charset="-122"/>
                  <a:cs typeface="+mn-cs"/>
                </a:rPr>
                <a:t>mysql</a:t>
              </a:r>
              <a:r>
                <a:rPr lang="zh-CN" altLang="en-US" dirty="0">
                  <a:latin typeface="+mn-lt"/>
                  <a:ea typeface="宋体" pitchFamily="2" charset="-122"/>
                  <a:cs typeface="+mn-cs"/>
                </a:rPr>
                <a:t>集群</a:t>
              </a:r>
            </a:p>
          </p:txBody>
        </p:sp>
        <p:sp>
          <p:nvSpPr>
            <p:cNvPr id="52" name="Rectangle 3"/>
            <p:cNvSpPr>
              <a:spLocks noChangeArrowheads="1"/>
            </p:cNvSpPr>
            <p:nvPr/>
          </p:nvSpPr>
          <p:spPr bwMode="auto">
            <a:xfrm>
              <a:off x="3342651" y="2367763"/>
              <a:ext cx="647150" cy="466805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dirty="0">
                  <a:latin typeface="+mn-lt"/>
                  <a:ea typeface="宋体" pitchFamily="2" charset="-122"/>
                  <a:cs typeface="+mn-cs"/>
                </a:rPr>
                <a:t>应用</a:t>
              </a:r>
              <a:r>
                <a:rPr lang="en-US" altLang="zh-CN" dirty="0">
                  <a:latin typeface="+mn-lt"/>
                  <a:ea typeface="宋体" pitchFamily="2" charset="-122"/>
                  <a:cs typeface="+mn-cs"/>
                </a:rPr>
                <a:t>2</a:t>
              </a:r>
              <a:endParaRPr lang="zh-CN" altLang="en-US" dirty="0">
                <a:latin typeface="+mn-lt"/>
                <a:ea typeface="宋体" pitchFamily="2" charset="-122"/>
                <a:cs typeface="+mn-cs"/>
              </a:endParaRPr>
            </a:p>
          </p:txBody>
        </p:sp>
        <p:cxnSp>
          <p:nvCxnSpPr>
            <p:cNvPr id="53" name="直接箭头连接符 52"/>
            <p:cNvCxnSpPr>
              <a:stCxn id="50" idx="2"/>
            </p:cNvCxnSpPr>
            <p:nvPr/>
          </p:nvCxnSpPr>
          <p:spPr>
            <a:xfrm>
              <a:off x="2517096" y="2812687"/>
              <a:ext cx="200558" cy="666656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箭头连接符 53"/>
            <p:cNvCxnSpPr>
              <a:stCxn id="52" idx="2"/>
            </p:cNvCxnSpPr>
            <p:nvPr/>
          </p:nvCxnSpPr>
          <p:spPr>
            <a:xfrm flipH="1">
              <a:off x="3348481" y="2834568"/>
              <a:ext cx="317162" cy="633105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箭头连接符 54"/>
            <p:cNvCxnSpPr>
              <a:stCxn id="49" idx="2"/>
              <a:endCxn id="51" idx="0"/>
            </p:cNvCxnSpPr>
            <p:nvPr/>
          </p:nvCxnSpPr>
          <p:spPr>
            <a:xfrm>
              <a:off x="3019658" y="3949066"/>
              <a:ext cx="0" cy="996338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Rectangle 3"/>
            <p:cNvSpPr>
              <a:spLocks noChangeArrowheads="1"/>
            </p:cNvSpPr>
            <p:nvPr/>
          </p:nvSpPr>
          <p:spPr bwMode="auto">
            <a:xfrm>
              <a:off x="406569" y="2936682"/>
              <a:ext cx="1619625" cy="45659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>
                  <a:latin typeface="Calibri" pitchFamily="34" charset="0"/>
                  <a:ea typeface="宋体" pitchFamily="2" charset="-122"/>
                  <a:cs typeface="+mn-cs"/>
                </a:rPr>
                <a:t>Cobar-manager</a:t>
              </a:r>
            </a:p>
          </p:txBody>
        </p:sp>
        <p:cxnSp>
          <p:nvCxnSpPr>
            <p:cNvPr id="57" name="直接箭头连接符 56"/>
            <p:cNvCxnSpPr>
              <a:stCxn id="56" idx="2"/>
              <a:endCxn id="49" idx="1"/>
            </p:cNvCxnSpPr>
            <p:nvPr/>
          </p:nvCxnSpPr>
          <p:spPr>
            <a:xfrm>
              <a:off x="1216964" y="3393276"/>
              <a:ext cx="1154377" cy="326764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9204" name="TextBox 3"/>
          <p:cNvSpPr txBox="1">
            <a:spLocks noChangeArrowheads="1"/>
          </p:cNvSpPr>
          <p:nvPr/>
        </p:nvSpPr>
        <p:spPr bwMode="auto">
          <a:xfrm>
            <a:off x="3208338" y="3536950"/>
            <a:ext cx="4603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>
                <a:latin typeface="Calibri" pitchFamily="34" charset="0"/>
                <a:ea typeface="宋体" charset="-122"/>
              </a:rPr>
              <a:t> </a:t>
            </a:r>
            <a:r>
              <a:rPr lang="en-US" altLang="zh-CN">
                <a:solidFill>
                  <a:srgbClr val="FF0000"/>
                </a:solidFill>
                <a:latin typeface="Calibri" pitchFamily="34" charset="0"/>
                <a:ea typeface="宋体" charset="-122"/>
              </a:rPr>
              <a:t>S1</a:t>
            </a:r>
          </a:p>
        </p:txBody>
      </p:sp>
      <p:sp>
        <p:nvSpPr>
          <p:cNvPr id="179205" name="TextBox 17"/>
          <p:cNvSpPr txBox="1">
            <a:spLocks noChangeArrowheads="1"/>
          </p:cNvSpPr>
          <p:nvPr/>
        </p:nvSpPr>
        <p:spPr bwMode="auto">
          <a:xfrm>
            <a:off x="3976688" y="3536950"/>
            <a:ext cx="4603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  <a:latin typeface="Calibri" pitchFamily="34" charset="0"/>
                <a:ea typeface="宋体" charset="-122"/>
              </a:rPr>
              <a:t> S2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5" name="标题 1"/>
          <p:cNvSpPr>
            <a:spLocks noGrp="1"/>
          </p:cNvSpPr>
          <p:nvPr>
            <p:ph type="title" idx="4294967295"/>
          </p:nvPr>
        </p:nvSpPr>
        <p:spPr>
          <a:xfrm>
            <a:off x="457200" y="274638"/>
            <a:ext cx="8229600" cy="993775"/>
          </a:xfrm>
        </p:spPr>
        <p:txBody>
          <a:bodyPr/>
          <a:lstStyle/>
          <a:p>
            <a:pPr eaLnBrk="1" hangingPunct="1"/>
            <a:r>
              <a:rPr lang="en-US" altLang="zh-CN" smtClean="0"/>
              <a:t>Cobar-1.2.x</a:t>
            </a:r>
          </a:p>
        </p:txBody>
      </p:sp>
      <p:sp>
        <p:nvSpPr>
          <p:cNvPr id="180226" name="矩形 27"/>
          <p:cNvSpPr>
            <a:spLocks noChangeArrowheads="1"/>
          </p:cNvSpPr>
          <p:nvPr/>
        </p:nvSpPr>
        <p:spPr bwMode="auto">
          <a:xfrm>
            <a:off x="539750" y="1341438"/>
            <a:ext cx="7521575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  <a:cs typeface="Courier New" pitchFamily="49" charset="0"/>
              </a:rPr>
              <a:t>jdbc:mysql://cobarIp:8066/</a:t>
            </a:r>
            <a:r>
              <a:rPr lang="en-US" altLang="zh-CN" b="1">
                <a:latin typeface="Courier New" pitchFamily="49" charset="0"/>
                <a:ea typeface="宋体" charset="-122"/>
                <a:cs typeface="Courier New" pitchFamily="49" charset="0"/>
              </a:rPr>
              <a:t>s1</a:t>
            </a:r>
            <a:r>
              <a:rPr lang="en-US" altLang="zh-CN">
                <a:latin typeface="Courier New" pitchFamily="49" charset="0"/>
                <a:ea typeface="宋体" charset="-122"/>
                <a:cs typeface="Courier New" pitchFamily="49" charset="0"/>
              </a:rPr>
              <a:t>?user=foo&amp;password=bar</a:t>
            </a:r>
          </a:p>
          <a:p>
            <a:pPr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  <a:cs typeface="Courier New" pitchFamily="49" charset="0"/>
              </a:rPr>
              <a:t>jdbc:mysql://cobarIp:8066/</a:t>
            </a:r>
            <a:r>
              <a:rPr lang="en-US" altLang="zh-CN" b="1">
                <a:latin typeface="Courier New" pitchFamily="49" charset="0"/>
                <a:ea typeface="宋体" charset="-122"/>
                <a:cs typeface="Courier New" pitchFamily="49" charset="0"/>
              </a:rPr>
              <a:t>s2</a:t>
            </a:r>
            <a:r>
              <a:rPr lang="en-US" altLang="zh-CN">
                <a:latin typeface="Courier New" pitchFamily="49" charset="0"/>
                <a:ea typeface="宋体" charset="-122"/>
                <a:cs typeface="Courier New" pitchFamily="49" charset="0"/>
              </a:rPr>
              <a:t>?user=foo&amp;password=bar</a:t>
            </a:r>
            <a:r>
              <a:rPr lang="en-US" altLang="zh-CN">
                <a:latin typeface="Times New Roman" pitchFamily="18" charset="0"/>
                <a:ea typeface="宋体" charset="-122"/>
                <a:cs typeface="Courier New" pitchFamily="49" charset="0"/>
              </a:rPr>
              <a:t> </a:t>
            </a:r>
          </a:p>
          <a:p>
            <a:pPr>
              <a:spcBef>
                <a:spcPct val="50000"/>
              </a:spcBef>
            </a:pPr>
            <a:r>
              <a:rPr lang="en-US" altLang="zh-CN">
                <a:latin typeface="Times New Roman" pitchFamily="18" charset="0"/>
                <a:ea typeface="宋体" charset="-122"/>
                <a:cs typeface="Courier New" pitchFamily="49" charset="0"/>
              </a:rPr>
              <a:t> </a:t>
            </a:r>
          </a:p>
        </p:txBody>
      </p:sp>
      <p:grpSp>
        <p:nvGrpSpPr>
          <p:cNvPr id="180227" name="组合 47"/>
          <p:cNvGrpSpPr>
            <a:grpSpLocks/>
          </p:cNvGrpSpPr>
          <p:nvPr/>
        </p:nvGrpSpPr>
        <p:grpSpPr bwMode="auto">
          <a:xfrm>
            <a:off x="198438" y="2778125"/>
            <a:ext cx="4878387" cy="3314700"/>
            <a:chOff x="406569" y="2356093"/>
            <a:chExt cx="3583232" cy="3045904"/>
          </a:xfrm>
        </p:grpSpPr>
        <p:sp>
          <p:nvSpPr>
            <p:cNvPr id="49" name="Rectangle 3"/>
            <p:cNvSpPr>
              <a:spLocks noChangeArrowheads="1"/>
            </p:cNvSpPr>
            <p:nvPr/>
          </p:nvSpPr>
          <p:spPr bwMode="auto">
            <a:xfrm>
              <a:off x="2371341" y="3492472"/>
              <a:ext cx="1295468" cy="456593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dirty="0" err="1">
                  <a:latin typeface="+mn-lt"/>
                  <a:ea typeface="宋体" pitchFamily="2" charset="-122"/>
                  <a:cs typeface="+mn-cs"/>
                </a:rPr>
                <a:t>Cobar</a:t>
              </a:r>
              <a:r>
                <a:rPr lang="zh-CN" altLang="en-US" dirty="0">
                  <a:latin typeface="+mn-lt"/>
                  <a:ea typeface="宋体" pitchFamily="2" charset="-122"/>
                  <a:cs typeface="+mn-cs"/>
                </a:rPr>
                <a:t>集群</a:t>
              </a:r>
              <a:r>
                <a:rPr lang="en-US" altLang="zh-CN" dirty="0">
                  <a:latin typeface="+mn-lt"/>
                  <a:ea typeface="宋体" pitchFamily="2" charset="-122"/>
                  <a:cs typeface="+mn-cs"/>
                </a:rPr>
                <a:t>1</a:t>
              </a:r>
              <a:endParaRPr lang="zh-CN" altLang="en-US" dirty="0">
                <a:latin typeface="+mn-lt"/>
                <a:ea typeface="宋体" pitchFamily="2" charset="-122"/>
                <a:cs typeface="+mn-cs"/>
              </a:endParaRPr>
            </a:p>
          </p:txBody>
        </p:sp>
        <p:sp>
          <p:nvSpPr>
            <p:cNvPr id="50" name="Rectangle 3"/>
            <p:cNvSpPr>
              <a:spLocks noChangeArrowheads="1"/>
            </p:cNvSpPr>
            <p:nvPr/>
          </p:nvSpPr>
          <p:spPr bwMode="auto">
            <a:xfrm>
              <a:off x="2184775" y="2356093"/>
              <a:ext cx="665808" cy="45659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dirty="0">
                  <a:latin typeface="+mn-lt"/>
                  <a:ea typeface="宋体" pitchFamily="2" charset="-122"/>
                  <a:cs typeface="+mn-cs"/>
                </a:rPr>
                <a:t> </a:t>
              </a:r>
              <a:r>
                <a:rPr lang="zh-CN" altLang="en-US" dirty="0">
                  <a:latin typeface="+mn-lt"/>
                  <a:ea typeface="宋体" pitchFamily="2" charset="-122"/>
                  <a:cs typeface="+mn-cs"/>
                </a:rPr>
                <a:t>应用</a:t>
              </a:r>
              <a:r>
                <a:rPr lang="en-US" altLang="zh-CN" dirty="0">
                  <a:latin typeface="+mn-lt"/>
                  <a:ea typeface="宋体" pitchFamily="2" charset="-122"/>
                  <a:cs typeface="+mn-cs"/>
                </a:rPr>
                <a:t>1</a:t>
              </a:r>
              <a:endParaRPr lang="zh-CN" altLang="en-US" dirty="0">
                <a:latin typeface="+mn-lt"/>
                <a:ea typeface="宋体" pitchFamily="2" charset="-122"/>
                <a:cs typeface="+mn-cs"/>
              </a:endParaRPr>
            </a:p>
          </p:txBody>
        </p:sp>
        <p:sp>
          <p:nvSpPr>
            <p:cNvPr id="51" name="Rectangle 3"/>
            <p:cNvSpPr>
              <a:spLocks noChangeArrowheads="1"/>
            </p:cNvSpPr>
            <p:nvPr/>
          </p:nvSpPr>
          <p:spPr bwMode="auto">
            <a:xfrm>
              <a:off x="2371341" y="4945404"/>
              <a:ext cx="1295468" cy="456593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dirty="0" err="1">
                  <a:latin typeface="+mn-lt"/>
                  <a:ea typeface="宋体" pitchFamily="2" charset="-122"/>
                  <a:cs typeface="+mn-cs"/>
                </a:rPr>
                <a:t>mysql</a:t>
              </a:r>
              <a:r>
                <a:rPr lang="zh-CN" altLang="en-US" dirty="0">
                  <a:latin typeface="+mn-lt"/>
                  <a:ea typeface="宋体" pitchFamily="2" charset="-122"/>
                  <a:cs typeface="+mn-cs"/>
                </a:rPr>
                <a:t>集群</a:t>
              </a:r>
            </a:p>
          </p:txBody>
        </p:sp>
        <p:sp>
          <p:nvSpPr>
            <p:cNvPr id="52" name="Rectangle 3"/>
            <p:cNvSpPr>
              <a:spLocks noChangeArrowheads="1"/>
            </p:cNvSpPr>
            <p:nvPr/>
          </p:nvSpPr>
          <p:spPr bwMode="auto">
            <a:xfrm>
              <a:off x="3342651" y="2367763"/>
              <a:ext cx="647150" cy="466805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dirty="0">
                  <a:latin typeface="+mn-lt"/>
                  <a:ea typeface="宋体" pitchFamily="2" charset="-122"/>
                  <a:cs typeface="+mn-cs"/>
                </a:rPr>
                <a:t>应用</a:t>
              </a:r>
              <a:r>
                <a:rPr lang="en-US" altLang="zh-CN" dirty="0">
                  <a:latin typeface="+mn-lt"/>
                  <a:ea typeface="宋体" pitchFamily="2" charset="-122"/>
                  <a:cs typeface="+mn-cs"/>
                </a:rPr>
                <a:t>2</a:t>
              </a:r>
              <a:endParaRPr lang="zh-CN" altLang="en-US" dirty="0">
                <a:latin typeface="+mn-lt"/>
                <a:ea typeface="宋体" pitchFamily="2" charset="-122"/>
                <a:cs typeface="+mn-cs"/>
              </a:endParaRPr>
            </a:p>
          </p:txBody>
        </p:sp>
        <p:cxnSp>
          <p:nvCxnSpPr>
            <p:cNvPr id="53" name="直接箭头连接符 52"/>
            <p:cNvCxnSpPr>
              <a:stCxn id="50" idx="2"/>
            </p:cNvCxnSpPr>
            <p:nvPr/>
          </p:nvCxnSpPr>
          <p:spPr>
            <a:xfrm>
              <a:off x="2517096" y="2812687"/>
              <a:ext cx="200558" cy="666656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箭头连接符 53"/>
            <p:cNvCxnSpPr>
              <a:stCxn id="52" idx="2"/>
            </p:cNvCxnSpPr>
            <p:nvPr/>
          </p:nvCxnSpPr>
          <p:spPr>
            <a:xfrm flipH="1">
              <a:off x="3348481" y="2834568"/>
              <a:ext cx="317162" cy="633105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箭头连接符 54"/>
            <p:cNvCxnSpPr>
              <a:stCxn id="49" idx="2"/>
              <a:endCxn id="51" idx="0"/>
            </p:cNvCxnSpPr>
            <p:nvPr/>
          </p:nvCxnSpPr>
          <p:spPr>
            <a:xfrm>
              <a:off x="3019658" y="3949066"/>
              <a:ext cx="0" cy="996338"/>
            </a:xfrm>
            <a:prstGeom prst="straightConnector1">
              <a:avLst/>
            </a:prstGeom>
            <a:ln w="19050">
              <a:solidFill>
                <a:srgbClr val="FF0000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Rectangle 3"/>
            <p:cNvSpPr>
              <a:spLocks noChangeArrowheads="1"/>
            </p:cNvSpPr>
            <p:nvPr/>
          </p:nvSpPr>
          <p:spPr bwMode="auto">
            <a:xfrm>
              <a:off x="406569" y="2936682"/>
              <a:ext cx="1619625" cy="45659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>
                  <a:latin typeface="Calibri" pitchFamily="34" charset="0"/>
                  <a:ea typeface="宋体" pitchFamily="2" charset="-122"/>
                  <a:cs typeface="+mn-cs"/>
                </a:rPr>
                <a:t>Cobar-manager</a:t>
              </a:r>
            </a:p>
          </p:txBody>
        </p:sp>
        <p:cxnSp>
          <p:nvCxnSpPr>
            <p:cNvPr id="57" name="直接箭头连接符 56"/>
            <p:cNvCxnSpPr>
              <a:stCxn id="56" idx="2"/>
              <a:endCxn id="49" idx="1"/>
            </p:cNvCxnSpPr>
            <p:nvPr/>
          </p:nvCxnSpPr>
          <p:spPr>
            <a:xfrm>
              <a:off x="1216964" y="3393276"/>
              <a:ext cx="1154377" cy="326764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0228" name="TextBox 16"/>
          <p:cNvSpPr txBox="1">
            <a:spLocks noChangeArrowheads="1"/>
          </p:cNvSpPr>
          <p:nvPr/>
        </p:nvSpPr>
        <p:spPr bwMode="auto">
          <a:xfrm>
            <a:off x="3208338" y="3536950"/>
            <a:ext cx="4603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>
                <a:latin typeface="Calibri" pitchFamily="34" charset="0"/>
                <a:ea typeface="宋体" charset="-122"/>
              </a:rPr>
              <a:t> </a:t>
            </a:r>
            <a:r>
              <a:rPr lang="en-US" altLang="zh-CN">
                <a:solidFill>
                  <a:srgbClr val="FF0000"/>
                </a:solidFill>
                <a:latin typeface="Calibri" pitchFamily="34" charset="0"/>
                <a:ea typeface="宋体" charset="-122"/>
              </a:rPr>
              <a:t>S1</a:t>
            </a:r>
          </a:p>
        </p:txBody>
      </p:sp>
      <p:sp>
        <p:nvSpPr>
          <p:cNvPr id="180229" name="TextBox 17"/>
          <p:cNvSpPr txBox="1">
            <a:spLocks noChangeArrowheads="1"/>
          </p:cNvSpPr>
          <p:nvPr/>
        </p:nvSpPr>
        <p:spPr bwMode="auto">
          <a:xfrm>
            <a:off x="3976688" y="3536950"/>
            <a:ext cx="4603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  <a:latin typeface="Calibri" pitchFamily="34" charset="0"/>
                <a:ea typeface="宋体" charset="-122"/>
              </a:rPr>
              <a:t> S2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49" name="标题 1"/>
          <p:cNvSpPr>
            <a:spLocks noGrp="1"/>
          </p:cNvSpPr>
          <p:nvPr>
            <p:ph type="title" idx="4294967295"/>
          </p:nvPr>
        </p:nvSpPr>
        <p:spPr>
          <a:xfrm>
            <a:off x="457200" y="274638"/>
            <a:ext cx="8229600" cy="993775"/>
          </a:xfrm>
        </p:spPr>
        <p:txBody>
          <a:bodyPr/>
          <a:lstStyle/>
          <a:p>
            <a:pPr eaLnBrk="1" hangingPunct="1"/>
            <a:r>
              <a:rPr lang="en-US" altLang="zh-CN" smtClean="0"/>
              <a:t>Cobar-1.2.x</a:t>
            </a:r>
          </a:p>
        </p:txBody>
      </p:sp>
      <p:sp>
        <p:nvSpPr>
          <p:cNvPr id="181250" name="矩形 27"/>
          <p:cNvSpPr>
            <a:spLocks noChangeArrowheads="1"/>
          </p:cNvSpPr>
          <p:nvPr/>
        </p:nvSpPr>
        <p:spPr bwMode="auto">
          <a:xfrm>
            <a:off x="539750" y="1341438"/>
            <a:ext cx="7521575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  <a:cs typeface="Courier New" pitchFamily="49" charset="0"/>
              </a:rPr>
              <a:t>jdbc:mysql://cobarIp:8066/</a:t>
            </a:r>
            <a:r>
              <a:rPr lang="en-US" altLang="zh-CN" b="1">
                <a:latin typeface="Courier New" pitchFamily="49" charset="0"/>
                <a:ea typeface="宋体" charset="-122"/>
                <a:cs typeface="Courier New" pitchFamily="49" charset="0"/>
              </a:rPr>
              <a:t>s1</a:t>
            </a:r>
            <a:r>
              <a:rPr lang="en-US" altLang="zh-CN">
                <a:latin typeface="Courier New" pitchFamily="49" charset="0"/>
                <a:ea typeface="宋体" charset="-122"/>
                <a:cs typeface="Courier New" pitchFamily="49" charset="0"/>
              </a:rPr>
              <a:t>?user=foo&amp;password=bar</a:t>
            </a:r>
          </a:p>
          <a:p>
            <a:pPr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  <a:cs typeface="Courier New" pitchFamily="49" charset="0"/>
              </a:rPr>
              <a:t>jdbc:mysql://cobarIp:8066/</a:t>
            </a:r>
            <a:r>
              <a:rPr lang="en-US" altLang="zh-CN" b="1">
                <a:latin typeface="Courier New" pitchFamily="49" charset="0"/>
                <a:ea typeface="宋体" charset="-122"/>
                <a:cs typeface="Courier New" pitchFamily="49" charset="0"/>
              </a:rPr>
              <a:t>s2</a:t>
            </a:r>
            <a:r>
              <a:rPr lang="en-US" altLang="zh-CN">
                <a:latin typeface="Courier New" pitchFamily="49" charset="0"/>
                <a:ea typeface="宋体" charset="-122"/>
                <a:cs typeface="Courier New" pitchFamily="49" charset="0"/>
              </a:rPr>
              <a:t>?user=foo&amp;password=bar</a:t>
            </a:r>
            <a:r>
              <a:rPr lang="en-US" altLang="zh-CN">
                <a:latin typeface="Times New Roman" pitchFamily="18" charset="0"/>
                <a:ea typeface="宋体" charset="-122"/>
                <a:cs typeface="Courier New" pitchFamily="49" charset="0"/>
              </a:rPr>
              <a:t> </a:t>
            </a:r>
          </a:p>
          <a:p>
            <a:pPr>
              <a:spcBef>
                <a:spcPct val="50000"/>
              </a:spcBef>
            </a:pPr>
            <a:r>
              <a:rPr lang="en-US" altLang="zh-CN">
                <a:latin typeface="Times New Roman" pitchFamily="18" charset="0"/>
                <a:ea typeface="宋体" charset="-122"/>
                <a:cs typeface="Courier New" pitchFamily="49" charset="0"/>
              </a:rPr>
              <a:t> </a:t>
            </a:r>
          </a:p>
        </p:txBody>
      </p:sp>
      <p:grpSp>
        <p:nvGrpSpPr>
          <p:cNvPr id="181251" name="组合 47"/>
          <p:cNvGrpSpPr>
            <a:grpSpLocks/>
          </p:cNvGrpSpPr>
          <p:nvPr/>
        </p:nvGrpSpPr>
        <p:grpSpPr bwMode="auto">
          <a:xfrm>
            <a:off x="198438" y="2778125"/>
            <a:ext cx="4878387" cy="3314700"/>
            <a:chOff x="406569" y="2356093"/>
            <a:chExt cx="3583232" cy="3045904"/>
          </a:xfrm>
        </p:grpSpPr>
        <p:sp>
          <p:nvSpPr>
            <p:cNvPr id="49" name="Rectangle 3"/>
            <p:cNvSpPr>
              <a:spLocks noChangeArrowheads="1"/>
            </p:cNvSpPr>
            <p:nvPr/>
          </p:nvSpPr>
          <p:spPr bwMode="auto">
            <a:xfrm>
              <a:off x="2371341" y="3492472"/>
              <a:ext cx="1295468" cy="456593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9050">
              <a:solidFill>
                <a:srgbClr val="FF0000"/>
              </a:solidFill>
              <a:prstDash val="sysDash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dirty="0" err="1">
                  <a:latin typeface="+mn-lt"/>
                  <a:ea typeface="宋体" pitchFamily="2" charset="-122"/>
                  <a:cs typeface="+mn-cs"/>
                </a:rPr>
                <a:t>Cobar</a:t>
              </a:r>
              <a:r>
                <a:rPr lang="zh-CN" altLang="en-US" dirty="0">
                  <a:latin typeface="+mn-lt"/>
                  <a:ea typeface="宋体" pitchFamily="2" charset="-122"/>
                  <a:cs typeface="+mn-cs"/>
                </a:rPr>
                <a:t>集群</a:t>
              </a:r>
              <a:r>
                <a:rPr lang="en-US" altLang="zh-CN" dirty="0">
                  <a:latin typeface="+mn-lt"/>
                  <a:ea typeface="宋体" pitchFamily="2" charset="-122"/>
                  <a:cs typeface="+mn-cs"/>
                </a:rPr>
                <a:t>1</a:t>
              </a:r>
              <a:endParaRPr lang="zh-CN" altLang="en-US" dirty="0">
                <a:latin typeface="+mn-lt"/>
                <a:ea typeface="宋体" pitchFamily="2" charset="-122"/>
                <a:cs typeface="+mn-cs"/>
              </a:endParaRPr>
            </a:p>
          </p:txBody>
        </p:sp>
        <p:sp>
          <p:nvSpPr>
            <p:cNvPr id="50" name="Rectangle 3"/>
            <p:cNvSpPr>
              <a:spLocks noChangeArrowheads="1"/>
            </p:cNvSpPr>
            <p:nvPr/>
          </p:nvSpPr>
          <p:spPr bwMode="auto">
            <a:xfrm>
              <a:off x="2184775" y="2356093"/>
              <a:ext cx="665808" cy="45659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dirty="0">
                  <a:latin typeface="+mn-lt"/>
                  <a:ea typeface="宋体" pitchFamily="2" charset="-122"/>
                  <a:cs typeface="+mn-cs"/>
                </a:rPr>
                <a:t> </a:t>
              </a:r>
              <a:r>
                <a:rPr lang="zh-CN" altLang="en-US" dirty="0">
                  <a:latin typeface="+mn-lt"/>
                  <a:ea typeface="宋体" pitchFamily="2" charset="-122"/>
                  <a:cs typeface="+mn-cs"/>
                </a:rPr>
                <a:t>应用</a:t>
              </a:r>
              <a:r>
                <a:rPr lang="en-US" altLang="zh-CN" dirty="0">
                  <a:latin typeface="+mn-lt"/>
                  <a:ea typeface="宋体" pitchFamily="2" charset="-122"/>
                  <a:cs typeface="+mn-cs"/>
                </a:rPr>
                <a:t>1</a:t>
              </a:r>
              <a:endParaRPr lang="zh-CN" altLang="en-US" dirty="0">
                <a:latin typeface="+mn-lt"/>
                <a:ea typeface="宋体" pitchFamily="2" charset="-122"/>
                <a:cs typeface="+mn-cs"/>
              </a:endParaRPr>
            </a:p>
          </p:txBody>
        </p:sp>
        <p:sp>
          <p:nvSpPr>
            <p:cNvPr id="51" name="Rectangle 3"/>
            <p:cNvSpPr>
              <a:spLocks noChangeArrowheads="1"/>
            </p:cNvSpPr>
            <p:nvPr/>
          </p:nvSpPr>
          <p:spPr bwMode="auto">
            <a:xfrm>
              <a:off x="2371341" y="4945404"/>
              <a:ext cx="1295468" cy="456593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dirty="0" err="1">
                  <a:latin typeface="+mn-lt"/>
                  <a:ea typeface="宋体" pitchFamily="2" charset="-122"/>
                  <a:cs typeface="+mn-cs"/>
                </a:rPr>
                <a:t>mysql</a:t>
              </a:r>
              <a:r>
                <a:rPr lang="zh-CN" altLang="en-US" dirty="0">
                  <a:latin typeface="+mn-lt"/>
                  <a:ea typeface="宋体" pitchFamily="2" charset="-122"/>
                  <a:cs typeface="+mn-cs"/>
                </a:rPr>
                <a:t>集群</a:t>
              </a:r>
            </a:p>
          </p:txBody>
        </p:sp>
        <p:sp>
          <p:nvSpPr>
            <p:cNvPr id="52" name="Rectangle 3"/>
            <p:cNvSpPr>
              <a:spLocks noChangeArrowheads="1"/>
            </p:cNvSpPr>
            <p:nvPr/>
          </p:nvSpPr>
          <p:spPr bwMode="auto">
            <a:xfrm>
              <a:off x="3342651" y="2367763"/>
              <a:ext cx="647150" cy="466805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dirty="0">
                  <a:latin typeface="+mn-lt"/>
                  <a:ea typeface="宋体" pitchFamily="2" charset="-122"/>
                  <a:cs typeface="+mn-cs"/>
                </a:rPr>
                <a:t>应用</a:t>
              </a:r>
              <a:r>
                <a:rPr lang="en-US" altLang="zh-CN" dirty="0">
                  <a:latin typeface="+mn-lt"/>
                  <a:ea typeface="宋体" pitchFamily="2" charset="-122"/>
                  <a:cs typeface="+mn-cs"/>
                </a:rPr>
                <a:t>2</a:t>
              </a:r>
              <a:endParaRPr lang="zh-CN" altLang="en-US" dirty="0">
                <a:latin typeface="+mn-lt"/>
                <a:ea typeface="宋体" pitchFamily="2" charset="-122"/>
                <a:cs typeface="+mn-cs"/>
              </a:endParaRPr>
            </a:p>
          </p:txBody>
        </p:sp>
        <p:cxnSp>
          <p:nvCxnSpPr>
            <p:cNvPr id="53" name="直接箭头连接符 52"/>
            <p:cNvCxnSpPr>
              <a:stCxn id="50" idx="2"/>
            </p:cNvCxnSpPr>
            <p:nvPr/>
          </p:nvCxnSpPr>
          <p:spPr>
            <a:xfrm>
              <a:off x="2517096" y="2812687"/>
              <a:ext cx="200558" cy="666656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箭头连接符 53"/>
            <p:cNvCxnSpPr>
              <a:stCxn id="52" idx="2"/>
            </p:cNvCxnSpPr>
            <p:nvPr/>
          </p:nvCxnSpPr>
          <p:spPr>
            <a:xfrm flipH="1">
              <a:off x="3348481" y="2834568"/>
              <a:ext cx="317162" cy="633105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箭头连接符 54"/>
            <p:cNvCxnSpPr>
              <a:stCxn id="49" idx="2"/>
              <a:endCxn id="51" idx="0"/>
            </p:cNvCxnSpPr>
            <p:nvPr/>
          </p:nvCxnSpPr>
          <p:spPr>
            <a:xfrm>
              <a:off x="3019658" y="3949066"/>
              <a:ext cx="0" cy="996338"/>
            </a:xfrm>
            <a:prstGeom prst="straightConnector1">
              <a:avLst/>
            </a:prstGeom>
            <a:ln w="19050">
              <a:solidFill>
                <a:srgbClr val="FF0000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Rectangle 3"/>
            <p:cNvSpPr>
              <a:spLocks noChangeArrowheads="1"/>
            </p:cNvSpPr>
            <p:nvPr/>
          </p:nvSpPr>
          <p:spPr bwMode="auto">
            <a:xfrm>
              <a:off x="406569" y="2936682"/>
              <a:ext cx="1619625" cy="45659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>
                  <a:latin typeface="Calibri" pitchFamily="34" charset="0"/>
                  <a:ea typeface="宋体" pitchFamily="2" charset="-122"/>
                  <a:cs typeface="+mn-cs"/>
                </a:rPr>
                <a:t>Cobar-manager</a:t>
              </a:r>
            </a:p>
          </p:txBody>
        </p:sp>
        <p:cxnSp>
          <p:nvCxnSpPr>
            <p:cNvPr id="57" name="直接箭头连接符 56"/>
            <p:cNvCxnSpPr>
              <a:stCxn id="56" idx="2"/>
              <a:endCxn id="49" idx="1"/>
            </p:cNvCxnSpPr>
            <p:nvPr/>
          </p:nvCxnSpPr>
          <p:spPr>
            <a:xfrm>
              <a:off x="1216964" y="3393276"/>
              <a:ext cx="1154377" cy="326764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1252" name="TextBox 16"/>
          <p:cNvSpPr txBox="1">
            <a:spLocks noChangeArrowheads="1"/>
          </p:cNvSpPr>
          <p:nvPr/>
        </p:nvSpPr>
        <p:spPr bwMode="auto">
          <a:xfrm>
            <a:off x="3208338" y="3536950"/>
            <a:ext cx="4603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>
                <a:latin typeface="Calibri" pitchFamily="34" charset="0"/>
                <a:ea typeface="宋体" charset="-122"/>
              </a:rPr>
              <a:t> </a:t>
            </a:r>
            <a:r>
              <a:rPr lang="en-US" altLang="zh-CN">
                <a:solidFill>
                  <a:srgbClr val="FF0000"/>
                </a:solidFill>
                <a:latin typeface="Calibri" pitchFamily="34" charset="0"/>
                <a:ea typeface="宋体" charset="-122"/>
              </a:rPr>
              <a:t>S1</a:t>
            </a:r>
          </a:p>
        </p:txBody>
      </p:sp>
      <p:sp>
        <p:nvSpPr>
          <p:cNvPr id="181253" name="TextBox 17"/>
          <p:cNvSpPr txBox="1">
            <a:spLocks noChangeArrowheads="1"/>
          </p:cNvSpPr>
          <p:nvPr/>
        </p:nvSpPr>
        <p:spPr bwMode="auto">
          <a:xfrm>
            <a:off x="3976688" y="3536950"/>
            <a:ext cx="4603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  <a:latin typeface="Calibri" pitchFamily="34" charset="0"/>
                <a:ea typeface="宋体" charset="-122"/>
              </a:rPr>
              <a:t> S2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3" name="标题 1"/>
          <p:cNvSpPr>
            <a:spLocks noGrp="1"/>
          </p:cNvSpPr>
          <p:nvPr>
            <p:ph type="title" idx="4294967295"/>
          </p:nvPr>
        </p:nvSpPr>
        <p:spPr>
          <a:xfrm>
            <a:off x="457200" y="274638"/>
            <a:ext cx="8229600" cy="993775"/>
          </a:xfrm>
        </p:spPr>
        <p:txBody>
          <a:bodyPr/>
          <a:lstStyle/>
          <a:p>
            <a:pPr eaLnBrk="1" hangingPunct="1"/>
            <a:r>
              <a:rPr lang="en-US" altLang="zh-CN" smtClean="0"/>
              <a:t>Cobar-1.2.x</a:t>
            </a:r>
          </a:p>
        </p:txBody>
      </p:sp>
      <p:sp>
        <p:nvSpPr>
          <p:cNvPr id="182274" name="矩形 27"/>
          <p:cNvSpPr>
            <a:spLocks noChangeArrowheads="1"/>
          </p:cNvSpPr>
          <p:nvPr/>
        </p:nvSpPr>
        <p:spPr bwMode="auto">
          <a:xfrm>
            <a:off x="539750" y="1341438"/>
            <a:ext cx="7521575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  <a:cs typeface="Courier New" pitchFamily="49" charset="0"/>
              </a:rPr>
              <a:t>jdbc:mysql://cobarIp:8066/</a:t>
            </a:r>
            <a:r>
              <a:rPr lang="en-US" altLang="zh-CN" b="1">
                <a:latin typeface="Courier New" pitchFamily="49" charset="0"/>
                <a:ea typeface="宋体" charset="-122"/>
                <a:cs typeface="Courier New" pitchFamily="49" charset="0"/>
              </a:rPr>
              <a:t>s1</a:t>
            </a:r>
            <a:r>
              <a:rPr lang="en-US" altLang="zh-CN">
                <a:latin typeface="Courier New" pitchFamily="49" charset="0"/>
                <a:ea typeface="宋体" charset="-122"/>
                <a:cs typeface="Courier New" pitchFamily="49" charset="0"/>
              </a:rPr>
              <a:t>?user=foo&amp;password=bar</a:t>
            </a:r>
          </a:p>
          <a:p>
            <a:pPr>
              <a:spcBef>
                <a:spcPct val="50000"/>
              </a:spcBef>
            </a:pPr>
            <a:r>
              <a:rPr lang="en-US" altLang="zh-CN">
                <a:latin typeface="Courier New" pitchFamily="49" charset="0"/>
                <a:ea typeface="宋体" charset="-122"/>
                <a:cs typeface="Courier New" pitchFamily="49" charset="0"/>
              </a:rPr>
              <a:t>jdbc:mysql://cobarIp:8066/</a:t>
            </a:r>
            <a:r>
              <a:rPr lang="en-US" altLang="zh-CN" b="1">
                <a:latin typeface="Courier New" pitchFamily="49" charset="0"/>
                <a:ea typeface="宋体" charset="-122"/>
                <a:cs typeface="Courier New" pitchFamily="49" charset="0"/>
              </a:rPr>
              <a:t>s2</a:t>
            </a:r>
            <a:r>
              <a:rPr lang="en-US" altLang="zh-CN">
                <a:latin typeface="Courier New" pitchFamily="49" charset="0"/>
                <a:ea typeface="宋体" charset="-122"/>
                <a:cs typeface="Courier New" pitchFamily="49" charset="0"/>
              </a:rPr>
              <a:t>?user=foo&amp;password=bar</a:t>
            </a:r>
            <a:r>
              <a:rPr lang="en-US" altLang="zh-CN">
                <a:latin typeface="Times New Roman" pitchFamily="18" charset="0"/>
                <a:ea typeface="宋体" charset="-122"/>
                <a:cs typeface="Courier New" pitchFamily="49" charset="0"/>
              </a:rPr>
              <a:t> </a:t>
            </a:r>
          </a:p>
          <a:p>
            <a:pPr>
              <a:spcBef>
                <a:spcPct val="50000"/>
              </a:spcBef>
            </a:pPr>
            <a:r>
              <a:rPr lang="en-US" altLang="zh-CN">
                <a:latin typeface="Times New Roman" pitchFamily="18" charset="0"/>
                <a:ea typeface="宋体" charset="-122"/>
                <a:cs typeface="Courier New" pitchFamily="49" charset="0"/>
              </a:rPr>
              <a:t> </a:t>
            </a:r>
          </a:p>
        </p:txBody>
      </p:sp>
      <p:grpSp>
        <p:nvGrpSpPr>
          <p:cNvPr id="182275" name="组合 47"/>
          <p:cNvGrpSpPr>
            <a:grpSpLocks/>
          </p:cNvGrpSpPr>
          <p:nvPr/>
        </p:nvGrpSpPr>
        <p:grpSpPr bwMode="auto">
          <a:xfrm>
            <a:off x="198438" y="2778125"/>
            <a:ext cx="4878387" cy="3314700"/>
            <a:chOff x="406569" y="2356093"/>
            <a:chExt cx="3583232" cy="3045904"/>
          </a:xfrm>
        </p:grpSpPr>
        <p:sp>
          <p:nvSpPr>
            <p:cNvPr id="49" name="Rectangle 3"/>
            <p:cNvSpPr>
              <a:spLocks noChangeArrowheads="1"/>
            </p:cNvSpPr>
            <p:nvPr/>
          </p:nvSpPr>
          <p:spPr bwMode="auto">
            <a:xfrm>
              <a:off x="2371341" y="3492472"/>
              <a:ext cx="1295468" cy="456593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9050">
              <a:solidFill>
                <a:srgbClr val="FF0000"/>
              </a:solidFill>
              <a:prstDash val="sysDash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dirty="0" err="1">
                  <a:latin typeface="+mn-lt"/>
                  <a:ea typeface="宋体" pitchFamily="2" charset="-122"/>
                  <a:cs typeface="+mn-cs"/>
                </a:rPr>
                <a:t>Cobar</a:t>
              </a:r>
              <a:r>
                <a:rPr lang="zh-CN" altLang="en-US" dirty="0">
                  <a:latin typeface="+mn-lt"/>
                  <a:ea typeface="宋体" pitchFamily="2" charset="-122"/>
                  <a:cs typeface="+mn-cs"/>
                </a:rPr>
                <a:t>集群</a:t>
              </a:r>
              <a:r>
                <a:rPr lang="en-US" altLang="zh-CN" dirty="0">
                  <a:latin typeface="+mn-lt"/>
                  <a:ea typeface="宋体" pitchFamily="2" charset="-122"/>
                  <a:cs typeface="+mn-cs"/>
                </a:rPr>
                <a:t>1</a:t>
              </a:r>
              <a:endParaRPr lang="zh-CN" altLang="en-US" dirty="0">
                <a:latin typeface="+mn-lt"/>
                <a:ea typeface="宋体" pitchFamily="2" charset="-122"/>
                <a:cs typeface="+mn-cs"/>
              </a:endParaRPr>
            </a:p>
          </p:txBody>
        </p:sp>
        <p:sp>
          <p:nvSpPr>
            <p:cNvPr id="50" name="Rectangle 3"/>
            <p:cNvSpPr>
              <a:spLocks noChangeArrowheads="1"/>
            </p:cNvSpPr>
            <p:nvPr/>
          </p:nvSpPr>
          <p:spPr bwMode="auto">
            <a:xfrm>
              <a:off x="2184775" y="2356093"/>
              <a:ext cx="665808" cy="45659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dirty="0">
                  <a:latin typeface="+mn-lt"/>
                  <a:ea typeface="宋体" pitchFamily="2" charset="-122"/>
                  <a:cs typeface="+mn-cs"/>
                </a:rPr>
                <a:t> </a:t>
              </a:r>
              <a:r>
                <a:rPr lang="zh-CN" altLang="en-US" dirty="0">
                  <a:latin typeface="+mn-lt"/>
                  <a:ea typeface="宋体" pitchFamily="2" charset="-122"/>
                  <a:cs typeface="+mn-cs"/>
                </a:rPr>
                <a:t>应用</a:t>
              </a:r>
              <a:r>
                <a:rPr lang="en-US" altLang="zh-CN" dirty="0">
                  <a:latin typeface="+mn-lt"/>
                  <a:ea typeface="宋体" pitchFamily="2" charset="-122"/>
                  <a:cs typeface="+mn-cs"/>
                </a:rPr>
                <a:t>1</a:t>
              </a:r>
              <a:endParaRPr lang="zh-CN" altLang="en-US" dirty="0">
                <a:latin typeface="+mn-lt"/>
                <a:ea typeface="宋体" pitchFamily="2" charset="-122"/>
                <a:cs typeface="+mn-cs"/>
              </a:endParaRPr>
            </a:p>
          </p:txBody>
        </p:sp>
        <p:sp>
          <p:nvSpPr>
            <p:cNvPr id="51" name="Rectangle 3"/>
            <p:cNvSpPr>
              <a:spLocks noChangeArrowheads="1"/>
            </p:cNvSpPr>
            <p:nvPr/>
          </p:nvSpPr>
          <p:spPr bwMode="auto">
            <a:xfrm>
              <a:off x="2371341" y="4945404"/>
              <a:ext cx="1295468" cy="456593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dirty="0" err="1">
                  <a:latin typeface="+mn-lt"/>
                  <a:ea typeface="宋体" pitchFamily="2" charset="-122"/>
                  <a:cs typeface="+mn-cs"/>
                </a:rPr>
                <a:t>mysql</a:t>
              </a:r>
              <a:r>
                <a:rPr lang="zh-CN" altLang="en-US" dirty="0">
                  <a:latin typeface="+mn-lt"/>
                  <a:ea typeface="宋体" pitchFamily="2" charset="-122"/>
                  <a:cs typeface="+mn-cs"/>
                </a:rPr>
                <a:t>集群</a:t>
              </a:r>
            </a:p>
          </p:txBody>
        </p:sp>
        <p:sp>
          <p:nvSpPr>
            <p:cNvPr id="52" name="Rectangle 3"/>
            <p:cNvSpPr>
              <a:spLocks noChangeArrowheads="1"/>
            </p:cNvSpPr>
            <p:nvPr/>
          </p:nvSpPr>
          <p:spPr bwMode="auto">
            <a:xfrm>
              <a:off x="3342651" y="2367763"/>
              <a:ext cx="647150" cy="466805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dirty="0">
                  <a:latin typeface="+mn-lt"/>
                  <a:ea typeface="宋体" pitchFamily="2" charset="-122"/>
                  <a:cs typeface="+mn-cs"/>
                </a:rPr>
                <a:t>应用</a:t>
              </a:r>
              <a:r>
                <a:rPr lang="en-US" altLang="zh-CN" dirty="0">
                  <a:latin typeface="+mn-lt"/>
                  <a:ea typeface="宋体" pitchFamily="2" charset="-122"/>
                  <a:cs typeface="+mn-cs"/>
                </a:rPr>
                <a:t>2</a:t>
              </a:r>
              <a:endParaRPr lang="zh-CN" altLang="en-US" dirty="0">
                <a:latin typeface="+mn-lt"/>
                <a:ea typeface="宋体" pitchFamily="2" charset="-122"/>
                <a:cs typeface="+mn-cs"/>
              </a:endParaRPr>
            </a:p>
          </p:txBody>
        </p:sp>
        <p:cxnSp>
          <p:nvCxnSpPr>
            <p:cNvPr id="53" name="直接箭头连接符 52"/>
            <p:cNvCxnSpPr>
              <a:stCxn id="50" idx="2"/>
            </p:cNvCxnSpPr>
            <p:nvPr/>
          </p:nvCxnSpPr>
          <p:spPr>
            <a:xfrm>
              <a:off x="2517096" y="2812687"/>
              <a:ext cx="200558" cy="666656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箭头连接符 53"/>
            <p:cNvCxnSpPr>
              <a:stCxn id="52" idx="2"/>
            </p:cNvCxnSpPr>
            <p:nvPr/>
          </p:nvCxnSpPr>
          <p:spPr>
            <a:xfrm flipH="1">
              <a:off x="3348481" y="2834568"/>
              <a:ext cx="317162" cy="633105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箭头连接符 54"/>
            <p:cNvCxnSpPr>
              <a:stCxn id="49" idx="2"/>
              <a:endCxn id="51" idx="0"/>
            </p:cNvCxnSpPr>
            <p:nvPr/>
          </p:nvCxnSpPr>
          <p:spPr>
            <a:xfrm>
              <a:off x="3019658" y="3949066"/>
              <a:ext cx="0" cy="996338"/>
            </a:xfrm>
            <a:prstGeom prst="straightConnector1">
              <a:avLst/>
            </a:prstGeom>
            <a:ln w="19050">
              <a:solidFill>
                <a:srgbClr val="FF0000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Rectangle 3"/>
            <p:cNvSpPr>
              <a:spLocks noChangeArrowheads="1"/>
            </p:cNvSpPr>
            <p:nvPr/>
          </p:nvSpPr>
          <p:spPr bwMode="auto">
            <a:xfrm>
              <a:off x="406569" y="2936682"/>
              <a:ext cx="1619625" cy="45659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9050">
              <a:solidFill>
                <a:srgbClr val="FF0000"/>
              </a:solidFill>
              <a:prstDash val="sysDash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>
                  <a:latin typeface="Calibri" pitchFamily="34" charset="0"/>
                  <a:ea typeface="宋体" pitchFamily="2" charset="-122"/>
                  <a:cs typeface="+mn-cs"/>
                </a:rPr>
                <a:t>Cobar-manager</a:t>
              </a:r>
            </a:p>
          </p:txBody>
        </p:sp>
        <p:cxnSp>
          <p:nvCxnSpPr>
            <p:cNvPr id="57" name="直接箭头连接符 56"/>
            <p:cNvCxnSpPr>
              <a:stCxn id="56" idx="2"/>
              <a:endCxn id="49" idx="1"/>
            </p:cNvCxnSpPr>
            <p:nvPr/>
          </p:nvCxnSpPr>
          <p:spPr>
            <a:xfrm>
              <a:off x="1216964" y="3393276"/>
              <a:ext cx="1154377" cy="326764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2276" name="TextBox 16"/>
          <p:cNvSpPr txBox="1">
            <a:spLocks noChangeArrowheads="1"/>
          </p:cNvSpPr>
          <p:nvPr/>
        </p:nvSpPr>
        <p:spPr bwMode="auto">
          <a:xfrm>
            <a:off x="3208338" y="3536950"/>
            <a:ext cx="4603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>
                <a:latin typeface="Calibri" pitchFamily="34" charset="0"/>
                <a:ea typeface="宋体" charset="-122"/>
              </a:rPr>
              <a:t> </a:t>
            </a:r>
            <a:r>
              <a:rPr lang="en-US" altLang="zh-CN">
                <a:solidFill>
                  <a:srgbClr val="FF0000"/>
                </a:solidFill>
                <a:latin typeface="Calibri" pitchFamily="34" charset="0"/>
                <a:ea typeface="宋体" charset="-122"/>
              </a:rPr>
              <a:t>S1</a:t>
            </a:r>
          </a:p>
        </p:txBody>
      </p:sp>
      <p:sp>
        <p:nvSpPr>
          <p:cNvPr id="182277" name="TextBox 17"/>
          <p:cNvSpPr txBox="1">
            <a:spLocks noChangeArrowheads="1"/>
          </p:cNvSpPr>
          <p:nvPr/>
        </p:nvSpPr>
        <p:spPr bwMode="auto">
          <a:xfrm>
            <a:off x="3976688" y="3536950"/>
            <a:ext cx="4603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  <a:latin typeface="Calibri" pitchFamily="34" charset="0"/>
                <a:ea typeface="宋体" charset="-122"/>
              </a:rPr>
              <a:t> S2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7175" y="5229225"/>
            <a:ext cx="8886825" cy="1317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3298" name="标题 1"/>
          <p:cNvSpPr>
            <a:spLocks noGrp="1"/>
          </p:cNvSpPr>
          <p:nvPr>
            <p:ph type="title" idx="4294967295"/>
          </p:nvPr>
        </p:nvSpPr>
        <p:spPr>
          <a:xfrm>
            <a:off x="107950" y="0"/>
            <a:ext cx="8229600" cy="692150"/>
          </a:xfrm>
        </p:spPr>
        <p:txBody>
          <a:bodyPr/>
          <a:lstStyle/>
          <a:p>
            <a:pPr eaLnBrk="1" hangingPunct="1"/>
            <a:r>
              <a:rPr lang="en-US" altLang="zh-CN" sz="4000" smtClean="0"/>
              <a:t>Cobar-manager</a:t>
            </a:r>
          </a:p>
        </p:txBody>
      </p:sp>
      <p:pic>
        <p:nvPicPr>
          <p:cNvPr id="3" name="内容占位符 2"/>
          <p:cNvPicPr>
            <a:picLocks noGrp="1" noChangeAspect="1"/>
          </p:cNvPicPr>
          <p:nvPr>
            <p:ph idx="4294967295"/>
          </p:nvPr>
        </p:nvPicPr>
        <p:blipFill>
          <a:blip r:embed="rId3"/>
          <a:srcRect/>
          <a:stretch>
            <a:fillRect/>
          </a:stretch>
        </p:blipFill>
        <p:spPr>
          <a:xfrm>
            <a:off x="0" y="692150"/>
            <a:ext cx="9137650" cy="4278313"/>
          </a:xfr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1" name="标题 1"/>
          <p:cNvSpPr>
            <a:spLocks noGrp="1"/>
          </p:cNvSpPr>
          <p:nvPr>
            <p:ph type="title" idx="4294967295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 algn="l" eaLnBrk="1" hangingPunct="1"/>
            <a:r>
              <a:rPr lang="en-US" altLang="zh-CN" sz="3600" smtClean="0"/>
              <a:t>Cobar</a:t>
            </a:r>
            <a:r>
              <a:rPr lang="zh-CN" altLang="en-US" sz="3600" smtClean="0"/>
              <a:t>实例应用举例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产品运行</a:t>
            </a:r>
            <a:r>
              <a:rPr lang="en-US" altLang="zh-CN" smtClean="0"/>
              <a:t>3</a:t>
            </a:r>
            <a:r>
              <a:rPr lang="zh-CN" altLang="en-US" smtClean="0"/>
              <a:t>年以上</a:t>
            </a:r>
          </a:p>
          <a:p>
            <a:pPr eaLnBrk="1" hangingPunct="1"/>
            <a:r>
              <a:rPr lang="en-US" altLang="zh-CN" b="1" smtClean="0"/>
              <a:t>3000+</a:t>
            </a:r>
            <a:r>
              <a:rPr lang="zh-CN" altLang="en-US" smtClean="0"/>
              <a:t>个</a:t>
            </a:r>
            <a:r>
              <a:rPr lang="en-US" altLang="zh-CN" smtClean="0"/>
              <a:t>MySQL</a:t>
            </a:r>
            <a:r>
              <a:rPr lang="zh-CN" altLang="en-US" smtClean="0"/>
              <a:t>数据库的</a:t>
            </a:r>
            <a:r>
              <a:rPr lang="en-US" altLang="zh-CN" smtClean="0"/>
              <a:t>schema</a:t>
            </a:r>
          </a:p>
          <a:p>
            <a:pPr eaLnBrk="1" hangingPunct="1"/>
            <a:r>
              <a:rPr lang="zh-CN" altLang="en-US" smtClean="0"/>
              <a:t>每天处理近</a:t>
            </a:r>
            <a:r>
              <a:rPr lang="en-US" altLang="zh-CN" b="1" smtClean="0"/>
              <a:t>50</a:t>
            </a:r>
            <a:r>
              <a:rPr lang="zh-CN" altLang="en-US" b="1" smtClean="0"/>
              <a:t>亿</a:t>
            </a:r>
            <a:r>
              <a:rPr lang="zh-CN" altLang="en-US" smtClean="0"/>
              <a:t>次的</a:t>
            </a:r>
            <a:r>
              <a:rPr lang="en-US" altLang="zh-CN" smtClean="0"/>
              <a:t>SQL</a:t>
            </a:r>
            <a:r>
              <a:rPr lang="zh-CN" altLang="en-US" smtClean="0"/>
              <a:t>执行</a:t>
            </a:r>
          </a:p>
          <a:p>
            <a:pPr eaLnBrk="1" hangingPunct="1"/>
            <a:r>
              <a:rPr lang="zh-CN" altLang="en-US" smtClean="0"/>
              <a:t>实际部署规模</a:t>
            </a:r>
          </a:p>
          <a:p>
            <a:pPr lvl="1" eaLnBrk="1" hangingPunct="1"/>
            <a:r>
              <a:rPr lang="en-US" altLang="zh-CN" sz="2000" smtClean="0"/>
              <a:t>6</a:t>
            </a:r>
            <a:r>
              <a:rPr lang="zh-CN" altLang="en-US" sz="2000" smtClean="0"/>
              <a:t>个机房，</a:t>
            </a:r>
            <a:r>
              <a:rPr lang="en-US" altLang="zh-CN" sz="2000" smtClean="0"/>
              <a:t>8</a:t>
            </a:r>
            <a:r>
              <a:rPr lang="zh-CN" altLang="en-US" sz="2000" smtClean="0"/>
              <a:t>个集群</a:t>
            </a:r>
          </a:p>
          <a:p>
            <a:pPr lvl="1" eaLnBrk="1" hangingPunct="1"/>
            <a:r>
              <a:rPr lang="zh-CN" altLang="en-US" sz="2000" smtClean="0"/>
              <a:t>每个集群</a:t>
            </a:r>
            <a:r>
              <a:rPr lang="en-US" altLang="zh-CN" sz="2000" smtClean="0"/>
              <a:t>2~4</a:t>
            </a:r>
            <a:r>
              <a:rPr lang="zh-CN" altLang="en-US" sz="2000" smtClean="0"/>
              <a:t>台机器</a:t>
            </a:r>
          </a:p>
          <a:p>
            <a:pPr lvl="1" eaLnBrk="1" hangingPunct="1"/>
            <a:r>
              <a:rPr lang="en-US" altLang="zh-CN" sz="2000" smtClean="0"/>
              <a:t>300+</a:t>
            </a:r>
            <a:r>
              <a:rPr lang="zh-CN" altLang="en-US" sz="2000" smtClean="0"/>
              <a:t>应用，包括中文站</a:t>
            </a:r>
            <a:r>
              <a:rPr lang="en-US" altLang="zh-CN" sz="2000" smtClean="0"/>
              <a:t>offer</a:t>
            </a:r>
            <a:r>
              <a:rPr lang="zh-CN" altLang="en-US" sz="2000" smtClean="0"/>
              <a:t>，国际站产品等</a:t>
            </a:r>
          </a:p>
          <a:p>
            <a:pPr lvl="1" eaLnBrk="1" hangingPunct="1"/>
            <a:r>
              <a:rPr lang="en-US" altLang="zh-CN" sz="2000" smtClean="0"/>
              <a:t>3000+schema</a:t>
            </a:r>
          </a:p>
          <a:p>
            <a:pPr eaLnBrk="1" hangingPunct="1"/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5" name="标题 1"/>
          <p:cNvSpPr>
            <a:spLocks noGrp="1"/>
          </p:cNvSpPr>
          <p:nvPr>
            <p:ph type="title" idx="4294967295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 algn="l" eaLnBrk="1" hangingPunct="1"/>
            <a:r>
              <a:rPr lang="en-US" altLang="zh-CN" sz="3600" smtClean="0"/>
              <a:t>Cobar</a:t>
            </a:r>
            <a:r>
              <a:rPr lang="zh-CN" altLang="en-US" sz="3600" smtClean="0"/>
              <a:t>实例应用举例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稳定性</a:t>
            </a:r>
          </a:p>
          <a:p>
            <a:pPr marL="457200" lvl="1" indent="0" eaLnBrk="1" hangingPunct="1">
              <a:buFontTx/>
              <a:buNone/>
            </a:pPr>
            <a:r>
              <a:rPr lang="en-US" altLang="zh-CN" sz="1800" smtClean="0"/>
              <a:t>(</a:t>
            </a:r>
            <a:r>
              <a:rPr lang="zh-CN" altLang="en-US" sz="1800" smtClean="0"/>
              <a:t>最长</a:t>
            </a:r>
            <a:r>
              <a:rPr lang="en-US" altLang="zh-CN" sz="1800" smtClean="0"/>
              <a:t>400+ </a:t>
            </a:r>
            <a:r>
              <a:rPr lang="zh-CN" altLang="en-US" sz="1800" smtClean="0"/>
              <a:t>天不重启</a:t>
            </a:r>
            <a:r>
              <a:rPr lang="en-US" altLang="zh-CN" sz="1800" smtClean="0"/>
              <a:t>)</a:t>
            </a:r>
          </a:p>
          <a:p>
            <a:pPr eaLnBrk="1" hangingPunct="1">
              <a:buFontTx/>
              <a:buNone/>
            </a:pPr>
            <a:endParaRPr lang="en-US" altLang="zh-CN" smtClean="0"/>
          </a:p>
          <a:p>
            <a:pPr eaLnBrk="1" hangingPunct="1"/>
            <a:r>
              <a:rPr lang="zh-CN" altLang="en-US" smtClean="0"/>
              <a:t>高可用性</a:t>
            </a:r>
          </a:p>
          <a:p>
            <a:pPr eaLnBrk="1" hangingPunct="1"/>
            <a:endParaRPr lang="zh-CN" altLang="en-US" smtClean="0"/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/>
            <a:endParaRPr lang="zh-CN" altLang="en-US" smtClean="0"/>
          </a:p>
          <a:p>
            <a:pPr eaLnBrk="1" hangingPunct="1"/>
            <a:endParaRPr lang="en-US" altLang="zh-CN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4663" y="1989138"/>
            <a:ext cx="2133600" cy="828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00113" y="3860800"/>
            <a:ext cx="1914525" cy="207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633788" y="3860800"/>
            <a:ext cx="4343400" cy="84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69" name="标题 1"/>
          <p:cNvSpPr>
            <a:spLocks noGrp="1"/>
          </p:cNvSpPr>
          <p:nvPr>
            <p:ph type="title" idx="4294967295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 algn="l" eaLnBrk="1" hangingPunct="1"/>
            <a:r>
              <a:rPr lang="en-US" altLang="zh-CN" sz="3600" smtClean="0"/>
              <a:t>Cobar</a:t>
            </a:r>
            <a:r>
              <a:rPr lang="zh-CN" altLang="en-US" sz="3600" smtClean="0"/>
              <a:t>实例应用举例</a:t>
            </a:r>
          </a:p>
        </p:txBody>
      </p:sp>
      <p:pic>
        <p:nvPicPr>
          <p:cNvPr id="186370" name="图片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3850" y="1931988"/>
            <a:ext cx="3887788" cy="2724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6371" name="内容占位符 2"/>
          <p:cNvSpPr>
            <a:spLocks noGrp="1"/>
          </p:cNvSpPr>
          <p:nvPr>
            <p:ph idx="4294967295"/>
          </p:nvPr>
        </p:nvSpPr>
        <p:spPr>
          <a:xfrm>
            <a:off x="323850" y="1125538"/>
            <a:ext cx="8229600" cy="4525962"/>
          </a:xfrm>
        </p:spPr>
        <p:txBody>
          <a:bodyPr/>
          <a:lstStyle/>
          <a:p>
            <a:pPr eaLnBrk="1" hangingPunct="1"/>
            <a:r>
              <a:rPr lang="zh-CN" altLang="en-US" smtClean="0"/>
              <a:t>性能测试</a:t>
            </a:r>
          </a:p>
        </p:txBody>
      </p:sp>
      <p:pic>
        <p:nvPicPr>
          <p:cNvPr id="186372" name="图片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03763" y="1931988"/>
            <a:ext cx="3913187" cy="2724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393" name="Picture 4"/>
          <p:cNvPicPr>
            <a:picLocks noGrp="1" noChangeAspect="1" noChangeArrowheads="1"/>
          </p:cNvPicPr>
          <p:nvPr>
            <p:ph idx="4294967295"/>
          </p:nvPr>
        </p:nvPicPr>
        <p:blipFill>
          <a:blip r:embed="rId2"/>
          <a:srcRect/>
          <a:stretch>
            <a:fillRect/>
          </a:stretch>
        </p:blipFill>
        <p:spPr>
          <a:xfrm>
            <a:off x="61913" y="1301750"/>
            <a:ext cx="6813550" cy="4795838"/>
          </a:xfrm>
        </p:spPr>
      </p:pic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417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8418" name="Rectangle 3"/>
          <p:cNvSpPr>
            <a:spLocks noGrp="1" noChangeArrowheads="1"/>
          </p:cNvSpPr>
          <p:nvPr>
            <p:ph type="title"/>
          </p:nvPr>
        </p:nvSpPr>
        <p:spPr>
          <a:xfrm>
            <a:off x="1447800" y="76200"/>
            <a:ext cx="7696200" cy="1066800"/>
          </a:xfrm>
        </p:spPr>
        <p:txBody>
          <a:bodyPr/>
          <a:lstStyle/>
          <a:p>
            <a:pPr algn="l" eaLnBrk="1" hangingPunct="1"/>
            <a:r>
              <a:rPr lang="zh-CN" altLang="en-US" sz="4000" b="1" smtClean="0">
                <a:solidFill>
                  <a:schemeClr val="bg1"/>
                </a:solidFill>
                <a:ea typeface="微软雅黑"/>
                <a:cs typeface="微软雅黑"/>
              </a:rPr>
              <a:t>大纲</a:t>
            </a:r>
          </a:p>
        </p:txBody>
      </p:sp>
      <p:sp>
        <p:nvSpPr>
          <p:cNvPr id="188419" name="TextBox 7"/>
          <p:cNvSpPr txBox="1">
            <a:spLocks noChangeArrowheads="1"/>
          </p:cNvSpPr>
          <p:nvPr/>
        </p:nvSpPr>
        <p:spPr bwMode="auto">
          <a:xfrm>
            <a:off x="533400" y="1447800"/>
            <a:ext cx="7772400" cy="460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>
              <a:buFont typeface="Wingdings" pitchFamily="2" charset="2"/>
              <a:buChar char="n"/>
            </a:pPr>
            <a:r>
              <a:rPr lang="zh-CN" altLang="en-US" sz="3200">
                <a:solidFill>
                  <a:schemeClr val="tx2"/>
                </a:solidFill>
                <a:latin typeface="微软雅黑"/>
                <a:sym typeface="Helvetica Neue"/>
              </a:rPr>
              <a:t>中间件引入</a:t>
            </a:r>
          </a:p>
          <a:p>
            <a:pPr marL="457200" indent="-457200">
              <a:buFont typeface="Wingdings" pitchFamily="2" charset="2"/>
              <a:buChar char="n"/>
            </a:pPr>
            <a:r>
              <a:rPr lang="en-US" altLang="zh-CN" sz="3200">
                <a:latin typeface="微软雅黑"/>
                <a:sym typeface="Helvetica Neue"/>
              </a:rPr>
              <a:t>Cobar</a:t>
            </a:r>
            <a:r>
              <a:rPr lang="zh-CN" altLang="en-US" sz="3200">
                <a:latin typeface="微软雅黑"/>
                <a:sym typeface="Helvetica Neue"/>
              </a:rPr>
              <a:t>策略</a:t>
            </a:r>
          </a:p>
          <a:p>
            <a:pPr marL="914400" lvl="1" indent="-457200">
              <a:buFont typeface="Wingdings" pitchFamily="2" charset="2"/>
              <a:buChar char="n"/>
            </a:pPr>
            <a:r>
              <a:rPr lang="zh-CN" altLang="en-US" sz="2800">
                <a:solidFill>
                  <a:schemeClr val="tx2"/>
                </a:solidFill>
                <a:latin typeface="宋体" charset="-122"/>
                <a:ea typeface="宋体" charset="-122"/>
                <a:sym typeface="Helvetica Neue"/>
              </a:rPr>
              <a:t>水平拆分与数据分布</a:t>
            </a:r>
          </a:p>
          <a:p>
            <a:pPr marL="914400" lvl="1" indent="-457200">
              <a:buFont typeface="Wingdings" pitchFamily="2" charset="2"/>
              <a:buChar char="n"/>
            </a:pPr>
            <a:r>
              <a:rPr lang="zh-CN" altLang="en-US" sz="2800">
                <a:solidFill>
                  <a:schemeClr val="tx2"/>
                </a:solidFill>
                <a:latin typeface="宋体" charset="-122"/>
                <a:ea typeface="宋体" charset="-122"/>
                <a:sym typeface="Helvetica Neue"/>
              </a:rPr>
              <a:t>几种</a:t>
            </a:r>
            <a:r>
              <a:rPr lang="en-US" altLang="zh-CN" sz="2800">
                <a:solidFill>
                  <a:schemeClr val="tx2"/>
                </a:solidFill>
                <a:latin typeface="宋体" charset="-122"/>
                <a:ea typeface="宋体" charset="-122"/>
                <a:sym typeface="Helvetica Neue"/>
              </a:rPr>
              <a:t>SQL</a:t>
            </a:r>
            <a:r>
              <a:rPr lang="zh-CN" altLang="en-US" sz="2800">
                <a:solidFill>
                  <a:schemeClr val="tx2"/>
                </a:solidFill>
                <a:latin typeface="宋体" charset="-122"/>
                <a:ea typeface="宋体" charset="-122"/>
                <a:sym typeface="Helvetica Neue"/>
              </a:rPr>
              <a:t>的实现策略</a:t>
            </a:r>
          </a:p>
          <a:p>
            <a:pPr marL="914400" lvl="1" indent="-457200">
              <a:buFont typeface="Wingdings" pitchFamily="2" charset="2"/>
              <a:buChar char="n"/>
            </a:pPr>
            <a:r>
              <a:rPr lang="zh-CN" altLang="en-US" sz="2800">
                <a:solidFill>
                  <a:schemeClr val="tx2"/>
                </a:solidFill>
                <a:latin typeface="宋体" charset="-122"/>
                <a:ea typeface="宋体" charset="-122"/>
                <a:sym typeface="Helvetica Neue"/>
              </a:rPr>
              <a:t>事务策略</a:t>
            </a:r>
          </a:p>
          <a:p>
            <a:pPr marL="457200" indent="-457200">
              <a:buFont typeface="Wingdings" pitchFamily="2" charset="2"/>
              <a:buChar char="n"/>
            </a:pPr>
            <a:r>
              <a:rPr lang="zh-CN" altLang="en-US" sz="3200">
                <a:solidFill>
                  <a:schemeClr val="tx2"/>
                </a:solidFill>
                <a:latin typeface="微软雅黑"/>
                <a:sym typeface="Helvetica Neue"/>
              </a:rPr>
              <a:t>系统实现</a:t>
            </a:r>
          </a:p>
          <a:p>
            <a:pPr marL="914400" lvl="1" indent="-457200">
              <a:buFont typeface="Wingdings" pitchFamily="2" charset="2"/>
              <a:buChar char="n"/>
            </a:pPr>
            <a:r>
              <a:rPr lang="en-US" altLang="zh-CN" sz="2800">
                <a:solidFill>
                  <a:schemeClr val="tx2"/>
                </a:solidFill>
                <a:latin typeface="宋体" charset="-122"/>
                <a:ea typeface="宋体" charset="-122"/>
                <a:sym typeface="Helvetica Neue"/>
              </a:rPr>
              <a:t>MySQL</a:t>
            </a:r>
            <a:r>
              <a:rPr lang="zh-CN" altLang="en-US" sz="2800">
                <a:solidFill>
                  <a:schemeClr val="tx2"/>
                </a:solidFill>
                <a:latin typeface="宋体" charset="-122"/>
                <a:ea typeface="宋体" charset="-122"/>
                <a:sym typeface="Helvetica Neue"/>
              </a:rPr>
              <a:t>协议 通信 解析 后端连接</a:t>
            </a:r>
            <a:endParaRPr lang="zh-CN" altLang="en-US" sz="2800">
              <a:solidFill>
                <a:srgbClr val="FF0000"/>
              </a:solidFill>
              <a:latin typeface="宋体" charset="-122"/>
              <a:ea typeface="宋体" charset="-122"/>
              <a:sym typeface="Helvetica Neue"/>
            </a:endParaRPr>
          </a:p>
          <a:p>
            <a:pPr marL="457200" indent="-457200">
              <a:buFont typeface="Wingdings" pitchFamily="2" charset="2"/>
              <a:buChar char="n"/>
            </a:pPr>
            <a:r>
              <a:rPr lang="zh-CN" altLang="en-US" sz="3200">
                <a:latin typeface="微软雅黑"/>
                <a:sym typeface="Helvetica Neue"/>
              </a:rPr>
              <a:t>实施应用</a:t>
            </a:r>
          </a:p>
          <a:p>
            <a:pPr marL="914400" lvl="1" indent="-457200">
              <a:buFont typeface="Wingdings" pitchFamily="2" charset="2"/>
              <a:buChar char="n"/>
            </a:pPr>
            <a:r>
              <a:rPr lang="zh-CN" altLang="en-US" sz="2800">
                <a:latin typeface="宋体" charset="-122"/>
                <a:ea typeface="宋体" charset="-122"/>
                <a:sym typeface="Helvetica Neue"/>
              </a:rPr>
              <a:t>数据迁移</a:t>
            </a:r>
          </a:p>
          <a:p>
            <a:pPr marL="914400" lvl="1" indent="-457200">
              <a:buFont typeface="Wingdings" pitchFamily="2" charset="2"/>
              <a:buChar char="n"/>
            </a:pPr>
            <a:r>
              <a:rPr lang="zh-CN" altLang="en-US" sz="2800">
                <a:latin typeface="宋体" charset="-122"/>
                <a:ea typeface="宋体" charset="-122"/>
                <a:sym typeface="Helvetica Neue"/>
              </a:rPr>
              <a:t>部署运维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441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9442" name="Rectangle 3"/>
          <p:cNvSpPr>
            <a:spLocks noGrp="1" noChangeArrowheads="1"/>
          </p:cNvSpPr>
          <p:nvPr>
            <p:ph type="title"/>
          </p:nvPr>
        </p:nvSpPr>
        <p:spPr>
          <a:xfrm>
            <a:off x="1447800" y="76200"/>
            <a:ext cx="7696200" cy="1066800"/>
          </a:xfrm>
        </p:spPr>
        <p:txBody>
          <a:bodyPr/>
          <a:lstStyle/>
          <a:p>
            <a:pPr algn="l" eaLnBrk="1" hangingPunct="1"/>
            <a:r>
              <a:rPr lang="zh-CN" altLang="en-US" sz="3600" b="1" smtClean="0">
                <a:solidFill>
                  <a:schemeClr val="bg1"/>
                </a:solidFill>
                <a:ea typeface="微软雅黑"/>
                <a:cs typeface="微软雅黑"/>
              </a:rPr>
              <a:t>华东架构师大会组委会添加信息</a:t>
            </a:r>
          </a:p>
        </p:txBody>
      </p:sp>
      <p:sp>
        <p:nvSpPr>
          <p:cNvPr id="189443" name="Rectangle 5"/>
          <p:cNvSpPr>
            <a:spLocks/>
          </p:cNvSpPr>
          <p:nvPr/>
        </p:nvSpPr>
        <p:spPr bwMode="auto">
          <a:xfrm>
            <a:off x="0" y="1558925"/>
            <a:ext cx="4837113" cy="2632075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u"/>
            </a:pPr>
            <a:r>
              <a:rPr lang="zh-CN" altLang="en-US" sz="2200">
                <a:solidFill>
                  <a:schemeClr val="tx2"/>
                </a:solidFill>
                <a:latin typeface="宋体" charset="-122"/>
                <a:ea typeface="宋体" charset="-122"/>
                <a:sym typeface="Helvetica Neue"/>
              </a:rPr>
              <a:t> </a:t>
            </a:r>
            <a:r>
              <a:rPr lang="en-US" altLang="zh-CN" sz="2200">
                <a:solidFill>
                  <a:schemeClr val="tx2"/>
                </a:solidFill>
                <a:latin typeface="宋体" charset="-122"/>
                <a:ea typeface="宋体" charset="-122"/>
                <a:sym typeface="Helvetica Neue"/>
              </a:rPr>
              <a:t>GTI And Virident</a:t>
            </a:r>
          </a:p>
          <a:p>
            <a:pPr>
              <a:lnSpc>
                <a:spcPct val="150000"/>
              </a:lnSpc>
              <a:buFont typeface="Wingdings" pitchFamily="2" charset="2"/>
              <a:buChar char="u"/>
            </a:pPr>
            <a:r>
              <a:rPr lang="en-US" altLang="zh-CN" sz="2200">
                <a:solidFill>
                  <a:schemeClr val="tx2"/>
                </a:solidFill>
                <a:latin typeface="宋体" charset="-122"/>
                <a:ea typeface="宋体" charset="-122"/>
                <a:sym typeface="Helvetica Neue"/>
              </a:rPr>
              <a:t> </a:t>
            </a:r>
            <a:r>
              <a:rPr lang="zh-CN" altLang="en-US" sz="2200">
                <a:solidFill>
                  <a:schemeClr val="tx2"/>
                </a:solidFill>
                <a:latin typeface="宋体" charset="-122"/>
                <a:ea typeface="宋体" charset="-122"/>
                <a:sym typeface="Helvetica Neue"/>
              </a:rPr>
              <a:t>世纪互联</a:t>
            </a:r>
            <a:endParaRPr lang="en-US" altLang="zh-CN" sz="2200">
              <a:solidFill>
                <a:schemeClr val="tx2"/>
              </a:solidFill>
              <a:latin typeface="宋体" charset="-122"/>
              <a:ea typeface="宋体" charset="-122"/>
              <a:sym typeface="Helvetica Neue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u"/>
            </a:pPr>
            <a:r>
              <a:rPr lang="en-US" altLang="zh-CN" sz="2200">
                <a:solidFill>
                  <a:schemeClr val="tx2"/>
                </a:solidFill>
                <a:latin typeface="宋体" charset="-122"/>
                <a:ea typeface="宋体" charset="-122"/>
                <a:sym typeface="Helvetica Neue"/>
              </a:rPr>
              <a:t> AdMaster</a:t>
            </a:r>
            <a:r>
              <a:rPr lang="zh-CN" altLang="en-US" sz="2200">
                <a:solidFill>
                  <a:schemeClr val="tx2"/>
                </a:solidFill>
                <a:latin typeface="宋体" charset="-122"/>
                <a:ea typeface="宋体" charset="-122"/>
                <a:sym typeface="Helvetica Neue"/>
              </a:rPr>
              <a:t>的创始人洪倍</a:t>
            </a:r>
            <a:endParaRPr lang="en-US" altLang="zh-CN" sz="2200">
              <a:solidFill>
                <a:schemeClr val="tx2"/>
              </a:solidFill>
              <a:latin typeface="宋体" charset="-122"/>
              <a:ea typeface="宋体" charset="-122"/>
              <a:sym typeface="Helvetica Neue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u"/>
            </a:pPr>
            <a:r>
              <a:rPr lang="en-US" altLang="zh-CN" sz="2200">
                <a:solidFill>
                  <a:schemeClr val="tx2"/>
                </a:solidFill>
                <a:latin typeface="宋体" charset="-122"/>
                <a:ea typeface="宋体" charset="-122"/>
                <a:sym typeface="Helvetica Neue"/>
              </a:rPr>
              <a:t> </a:t>
            </a:r>
            <a:r>
              <a:rPr lang="zh-CN" altLang="en-US" sz="2200">
                <a:solidFill>
                  <a:schemeClr val="tx2"/>
                </a:solidFill>
                <a:latin typeface="宋体" charset="-122"/>
                <a:ea typeface="宋体" charset="-122"/>
                <a:sym typeface="Helvetica Neue"/>
              </a:rPr>
              <a:t>联想员工李鹏程</a:t>
            </a:r>
            <a:endParaRPr lang="en-US" altLang="zh-CN" sz="2200">
              <a:solidFill>
                <a:schemeClr val="tx2"/>
              </a:solidFill>
              <a:latin typeface="宋体" charset="-122"/>
              <a:ea typeface="宋体" charset="-122"/>
              <a:sym typeface="Helvetica Neue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u"/>
            </a:pPr>
            <a:r>
              <a:rPr lang="en-US" altLang="zh-CN" sz="2200">
                <a:solidFill>
                  <a:schemeClr val="tx2"/>
                </a:solidFill>
                <a:latin typeface="宋体" charset="-122"/>
                <a:ea typeface="宋体" charset="-122"/>
                <a:sym typeface="Helvetica Neue"/>
              </a:rPr>
              <a:t> </a:t>
            </a:r>
            <a:r>
              <a:rPr lang="zh-CN" altLang="en-US" sz="2200">
                <a:solidFill>
                  <a:schemeClr val="tx2"/>
                </a:solidFill>
                <a:latin typeface="宋体" charset="-122"/>
                <a:ea typeface="宋体" charset="-122"/>
                <a:sym typeface="Helvetica Neue"/>
              </a:rPr>
              <a:t>中国（上海）创业者公共实训基地</a:t>
            </a:r>
            <a:endParaRPr lang="en-US" altLang="zh-CN" sz="2200">
              <a:solidFill>
                <a:schemeClr val="tx2"/>
              </a:solidFill>
              <a:latin typeface="宋体" charset="-122"/>
              <a:ea typeface="宋体" charset="-122"/>
              <a:sym typeface="Helvetica Neue"/>
            </a:endParaRPr>
          </a:p>
        </p:txBody>
      </p:sp>
      <p:sp>
        <p:nvSpPr>
          <p:cNvPr id="189444" name="Rectangle 5"/>
          <p:cNvSpPr>
            <a:spLocks/>
          </p:cNvSpPr>
          <p:nvPr/>
        </p:nvSpPr>
        <p:spPr bwMode="auto">
          <a:xfrm>
            <a:off x="0" y="1143000"/>
            <a:ext cx="6956425" cy="461963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chemeClr val="tx2"/>
                </a:solidFill>
                <a:latin typeface="宋体" charset="-122"/>
                <a:ea typeface="宋体" charset="-122"/>
                <a:sym typeface="Helvetica Neue"/>
              </a:rPr>
              <a:t>2012</a:t>
            </a:r>
            <a:r>
              <a:rPr lang="zh-CN" altLang="en-US" sz="2400">
                <a:solidFill>
                  <a:schemeClr val="tx2"/>
                </a:solidFill>
                <a:latin typeface="宋体" charset="-122"/>
                <a:ea typeface="宋体" charset="-122"/>
                <a:sym typeface="Helvetica Neue"/>
              </a:rPr>
              <a:t>华东架构师大会感谢的协办单位和捐助个人：</a:t>
            </a:r>
            <a:endParaRPr lang="en-US" altLang="zh-CN" sz="2400">
              <a:solidFill>
                <a:schemeClr val="tx2"/>
              </a:solidFill>
              <a:latin typeface="宋体" charset="-122"/>
              <a:ea typeface="宋体" charset="-122"/>
              <a:sym typeface="Helvetica Neue"/>
            </a:endParaRPr>
          </a:p>
        </p:txBody>
      </p:sp>
      <p:sp>
        <p:nvSpPr>
          <p:cNvPr id="189445" name="Rectangle 5"/>
          <p:cNvSpPr>
            <a:spLocks/>
          </p:cNvSpPr>
          <p:nvPr/>
        </p:nvSpPr>
        <p:spPr bwMode="auto">
          <a:xfrm>
            <a:off x="0" y="4229100"/>
            <a:ext cx="8991600" cy="2632075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>
                <a:solidFill>
                  <a:schemeClr val="tx2"/>
                </a:solidFill>
                <a:latin typeface="宋体" charset="-122"/>
                <a:ea typeface="宋体" charset="-122"/>
                <a:sym typeface="Helvetica Neue"/>
              </a:rPr>
              <a:t>预告信息：</a:t>
            </a:r>
            <a:endParaRPr lang="en-US" altLang="zh-CN" sz="2200" b="1">
              <a:solidFill>
                <a:schemeClr val="tx2"/>
              </a:solidFill>
              <a:latin typeface="宋体" charset="-122"/>
              <a:ea typeface="宋体" charset="-122"/>
              <a:sym typeface="Helvetica Neue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u"/>
            </a:pPr>
            <a:r>
              <a:rPr lang="en-US" altLang="zh-CN" sz="2200">
                <a:solidFill>
                  <a:schemeClr val="tx2"/>
                </a:solidFill>
                <a:latin typeface="宋体" charset="-122"/>
                <a:ea typeface="宋体" charset="-122"/>
                <a:sym typeface="Helvetica Neue"/>
              </a:rPr>
              <a:t> 2013</a:t>
            </a:r>
            <a:r>
              <a:rPr lang="zh-CN" altLang="en-US" sz="2200">
                <a:solidFill>
                  <a:schemeClr val="tx2"/>
                </a:solidFill>
                <a:latin typeface="宋体" charset="-122"/>
                <a:ea typeface="宋体" charset="-122"/>
                <a:sym typeface="Helvetica Neue"/>
              </a:rPr>
              <a:t>年</a:t>
            </a:r>
            <a:r>
              <a:rPr lang="en-US" altLang="zh-CN" sz="2200">
                <a:solidFill>
                  <a:schemeClr val="tx2"/>
                </a:solidFill>
                <a:latin typeface="宋体" charset="-122"/>
                <a:ea typeface="宋体" charset="-122"/>
                <a:sym typeface="Helvetica Neue"/>
              </a:rPr>
              <a:t>5</a:t>
            </a:r>
            <a:r>
              <a:rPr lang="zh-CN" altLang="en-US" sz="2200">
                <a:solidFill>
                  <a:schemeClr val="tx2"/>
                </a:solidFill>
                <a:latin typeface="宋体" charset="-122"/>
                <a:ea typeface="宋体" charset="-122"/>
                <a:sym typeface="Helvetica Neue"/>
              </a:rPr>
              <a:t>月</a:t>
            </a:r>
            <a:r>
              <a:rPr lang="en-US" altLang="zh-CN" sz="2200">
                <a:solidFill>
                  <a:schemeClr val="tx2"/>
                </a:solidFill>
                <a:latin typeface="宋体" charset="-122"/>
                <a:ea typeface="宋体" charset="-122"/>
                <a:sym typeface="Helvetica Neue"/>
              </a:rPr>
              <a:t>18</a:t>
            </a:r>
            <a:r>
              <a:rPr lang="zh-CN" altLang="en-US" sz="2200">
                <a:solidFill>
                  <a:schemeClr val="tx2"/>
                </a:solidFill>
                <a:latin typeface="宋体" charset="-122"/>
                <a:ea typeface="宋体" charset="-122"/>
                <a:sym typeface="Helvetica Neue"/>
              </a:rPr>
              <a:t>日，将于上海举办</a:t>
            </a:r>
            <a:r>
              <a:rPr lang="en-US" altLang="zh-CN" sz="2200">
                <a:solidFill>
                  <a:schemeClr val="tx2"/>
                </a:solidFill>
                <a:latin typeface="宋体" charset="-122"/>
                <a:ea typeface="宋体" charset="-122"/>
                <a:sym typeface="Helvetica Neue"/>
              </a:rPr>
              <a:t>2013</a:t>
            </a:r>
            <a:r>
              <a:rPr lang="zh-CN" altLang="en-US" sz="2200">
                <a:solidFill>
                  <a:schemeClr val="tx2"/>
                </a:solidFill>
                <a:latin typeface="宋体" charset="-122"/>
                <a:ea typeface="宋体" charset="-122"/>
                <a:sym typeface="Helvetica Neue"/>
              </a:rPr>
              <a:t>华东数据库技术大会</a:t>
            </a:r>
            <a:endParaRPr lang="en-US" altLang="zh-CN" sz="2200">
              <a:solidFill>
                <a:schemeClr val="tx2"/>
              </a:solidFill>
              <a:latin typeface="宋体" charset="-122"/>
              <a:ea typeface="宋体" charset="-122"/>
              <a:sym typeface="Helvetica Neue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u"/>
            </a:pPr>
            <a:r>
              <a:rPr lang="en-US" altLang="zh-CN" sz="2200">
                <a:solidFill>
                  <a:schemeClr val="tx2"/>
                </a:solidFill>
                <a:latin typeface="宋体" charset="-122"/>
                <a:ea typeface="宋体" charset="-122"/>
                <a:sym typeface="Helvetica Neue"/>
              </a:rPr>
              <a:t> </a:t>
            </a:r>
            <a:r>
              <a:rPr lang="zh-CN" altLang="en-US" sz="2200">
                <a:solidFill>
                  <a:schemeClr val="tx2"/>
                </a:solidFill>
                <a:latin typeface="宋体" charset="-122"/>
                <a:ea typeface="宋体" charset="-122"/>
                <a:sym typeface="Helvetica Neue"/>
              </a:rPr>
              <a:t>人数规模：</a:t>
            </a:r>
            <a:r>
              <a:rPr lang="en-US" altLang="zh-CN" sz="2200">
                <a:solidFill>
                  <a:schemeClr val="tx2"/>
                </a:solidFill>
                <a:latin typeface="宋体" charset="-122"/>
                <a:ea typeface="宋体" charset="-122"/>
                <a:sym typeface="Helvetica Neue"/>
              </a:rPr>
              <a:t>500</a:t>
            </a:r>
            <a:r>
              <a:rPr lang="zh-CN" altLang="en-US" sz="2200">
                <a:solidFill>
                  <a:schemeClr val="tx2"/>
                </a:solidFill>
                <a:latin typeface="宋体" charset="-122"/>
                <a:ea typeface="宋体" charset="-122"/>
                <a:sym typeface="Helvetica Neue"/>
              </a:rPr>
              <a:t>人</a:t>
            </a:r>
            <a:endParaRPr lang="en-US" altLang="zh-CN" sz="2200">
              <a:solidFill>
                <a:schemeClr val="tx2"/>
              </a:solidFill>
              <a:latin typeface="宋体" charset="-122"/>
              <a:ea typeface="宋体" charset="-122"/>
              <a:sym typeface="Helvetica Neue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u"/>
            </a:pPr>
            <a:r>
              <a:rPr lang="en-US" altLang="zh-CN" sz="2200">
                <a:solidFill>
                  <a:schemeClr val="tx2"/>
                </a:solidFill>
                <a:latin typeface="宋体" charset="-122"/>
                <a:ea typeface="宋体" charset="-122"/>
                <a:sym typeface="Helvetica Neue"/>
              </a:rPr>
              <a:t> </a:t>
            </a:r>
            <a:r>
              <a:rPr lang="zh-CN" altLang="en-US" sz="2200">
                <a:solidFill>
                  <a:schemeClr val="tx2"/>
                </a:solidFill>
                <a:latin typeface="宋体" charset="-122"/>
                <a:ea typeface="宋体" charset="-122"/>
                <a:sym typeface="Helvetica Neue"/>
              </a:rPr>
              <a:t>会务合作，联系人：金官丁，联系电话：</a:t>
            </a:r>
            <a:r>
              <a:rPr lang="en-US" altLang="zh-CN" sz="2200">
                <a:solidFill>
                  <a:schemeClr val="tx2"/>
                </a:solidFill>
                <a:latin typeface="宋体" charset="-122"/>
                <a:ea typeface="宋体" charset="-122"/>
                <a:sym typeface="Helvetica Neue"/>
              </a:rPr>
              <a:t>136 6166 8096</a:t>
            </a:r>
            <a:r>
              <a:rPr lang="zh-CN" altLang="en-US" sz="2200">
                <a:solidFill>
                  <a:schemeClr val="tx2"/>
                </a:solidFill>
                <a:latin typeface="宋体" charset="-122"/>
                <a:ea typeface="宋体" charset="-122"/>
                <a:sym typeface="Helvetica Neue"/>
              </a:rPr>
              <a:t>，</a:t>
            </a:r>
            <a:endParaRPr lang="en-US" altLang="zh-CN" sz="2200">
              <a:solidFill>
                <a:schemeClr val="tx2"/>
              </a:solidFill>
              <a:latin typeface="宋体" charset="-122"/>
              <a:ea typeface="宋体" charset="-122"/>
              <a:sym typeface="Helvetica Neue"/>
            </a:endParaRPr>
          </a:p>
          <a:p>
            <a:pPr>
              <a:lnSpc>
                <a:spcPct val="150000"/>
              </a:lnSpc>
            </a:pPr>
            <a:r>
              <a:rPr lang="en-US" altLang="zh-CN" sz="2200">
                <a:solidFill>
                  <a:schemeClr val="tx2"/>
                </a:solidFill>
                <a:latin typeface="宋体" charset="-122"/>
                <a:ea typeface="宋体" charset="-122"/>
                <a:sym typeface="Helvetica Neue"/>
              </a:rPr>
              <a:t>   </a:t>
            </a:r>
            <a:r>
              <a:rPr lang="zh-CN" altLang="en-US" sz="2200">
                <a:solidFill>
                  <a:schemeClr val="tx2"/>
                </a:solidFill>
                <a:latin typeface="宋体" charset="-122"/>
                <a:ea typeface="宋体" charset="-122"/>
                <a:sym typeface="Helvetica Neue"/>
              </a:rPr>
              <a:t>邮箱地址：</a:t>
            </a:r>
            <a:r>
              <a:rPr lang="en-US" altLang="zh-CN" sz="2200">
                <a:solidFill>
                  <a:schemeClr val="tx2"/>
                </a:solidFill>
                <a:latin typeface="宋体" charset="-122"/>
                <a:ea typeface="宋体" charset="-122"/>
                <a:sym typeface="Helvetica Neue"/>
                <a:hlinkClick r:id="rId3"/>
              </a:rPr>
              <a:t>mysqlops@sina.com</a:t>
            </a:r>
            <a:r>
              <a:rPr lang="zh-CN" altLang="en-US" sz="2200">
                <a:solidFill>
                  <a:schemeClr val="tx2"/>
                </a:solidFill>
                <a:latin typeface="宋体" charset="-122"/>
                <a:ea typeface="宋体" charset="-122"/>
                <a:sym typeface="Helvetica Neue"/>
              </a:rPr>
              <a:t>，新浪微博：</a:t>
            </a:r>
            <a:r>
              <a:rPr lang="en-US" altLang="zh-CN" sz="2200">
                <a:solidFill>
                  <a:schemeClr val="tx2"/>
                </a:solidFill>
                <a:latin typeface="宋体" charset="-122"/>
                <a:ea typeface="宋体" charset="-122"/>
                <a:sym typeface="Helvetica Neue"/>
              </a:rPr>
              <a:t>@mysqlops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46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0466" name="Rectangle 3"/>
          <p:cNvSpPr>
            <a:spLocks noGrp="1" noChangeArrowheads="1"/>
          </p:cNvSpPr>
          <p:nvPr>
            <p:ph type="title"/>
          </p:nvPr>
        </p:nvSpPr>
        <p:spPr>
          <a:xfrm>
            <a:off x="1447800" y="76200"/>
            <a:ext cx="7696200" cy="1066800"/>
          </a:xfrm>
        </p:spPr>
        <p:txBody>
          <a:bodyPr/>
          <a:lstStyle/>
          <a:p>
            <a:pPr algn="l" eaLnBrk="1" hangingPunct="1"/>
            <a:r>
              <a:rPr lang="zh-CN" altLang="en-US" sz="4000" b="1" smtClean="0">
                <a:solidFill>
                  <a:schemeClr val="bg1"/>
                </a:solidFill>
                <a:ea typeface="微软雅黑"/>
                <a:cs typeface="微软雅黑"/>
              </a:rPr>
              <a:t>联系我们</a:t>
            </a:r>
          </a:p>
        </p:txBody>
      </p:sp>
      <p:sp>
        <p:nvSpPr>
          <p:cNvPr id="190467" name="Rectangle 5"/>
          <p:cNvSpPr>
            <a:spLocks/>
          </p:cNvSpPr>
          <p:nvPr/>
        </p:nvSpPr>
        <p:spPr bwMode="auto">
          <a:xfrm>
            <a:off x="152400" y="1703388"/>
            <a:ext cx="7943850" cy="1554162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>
                <a:solidFill>
                  <a:srgbClr val="C0C0C0"/>
                </a:solidFill>
                <a:latin typeface="Garamond" pitchFamily="18" charset="0"/>
              </a:rPr>
              <a:t>http://code.alibabatech.com/wiki/display/cobar</a:t>
            </a:r>
          </a:p>
          <a:p>
            <a:r>
              <a:rPr lang="en-US" altLang="zh-CN" sz="3200" b="1">
                <a:solidFill>
                  <a:srgbClr val="FF0000"/>
                </a:solidFill>
                <a:latin typeface="Courier New" pitchFamily="49" charset="0"/>
              </a:rPr>
              <a:t>http://weibo.com/alicobar</a:t>
            </a:r>
          </a:p>
          <a:p>
            <a:r>
              <a:rPr lang="en-US" altLang="zh-CN" sz="3200">
                <a:solidFill>
                  <a:srgbClr val="C0C0C0"/>
                </a:solidFill>
                <a:latin typeface="Garamond" pitchFamily="18" charset="0"/>
              </a:rPr>
              <a:t>https://groups.google.com/group/ali-cobar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微软雅黑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微软雅黑" pitchFamily="34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5898</TotalTime>
  <Words>8006</Words>
  <Application>Microsoft PowerPoint</Application>
  <PresentationFormat>全屏显示(4:3)</PresentationFormat>
  <Paragraphs>3619</Paragraphs>
  <Slides>163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演示文稿设计模板</vt:lpstr>
      </vt:variant>
      <vt:variant>
        <vt:i4>1</vt:i4>
      </vt:variant>
      <vt:variant>
        <vt:lpstr>幻灯片标题</vt:lpstr>
      </vt:variant>
      <vt:variant>
        <vt:i4>163</vt:i4>
      </vt:variant>
    </vt:vector>
  </HeadingPairs>
  <TitlesOfParts>
    <vt:vector size="177" baseType="lpstr">
      <vt:lpstr>Arial</vt:lpstr>
      <vt:lpstr>微软雅黑</vt:lpstr>
      <vt:lpstr>宋体</vt:lpstr>
      <vt:lpstr>Times New Roman</vt:lpstr>
      <vt:lpstr>Helvetica Neue</vt:lpstr>
      <vt:lpstr>Wingdings</vt:lpstr>
      <vt:lpstr>Courier New</vt:lpstr>
      <vt:lpstr>Consolas</vt:lpstr>
      <vt:lpstr>幼圆</vt:lpstr>
      <vt:lpstr>Comic Sans MS</vt:lpstr>
      <vt:lpstr>楷体</vt:lpstr>
      <vt:lpstr>Calibri</vt:lpstr>
      <vt:lpstr>Garamond</vt:lpstr>
      <vt:lpstr>默认设计模板</vt:lpstr>
      <vt:lpstr>阿里巴巴分布式数据库 </vt:lpstr>
      <vt:lpstr>分布式数据库中间件</vt:lpstr>
      <vt:lpstr>分布式数据库中间件</vt:lpstr>
      <vt:lpstr>分布式数据库中间件</vt:lpstr>
      <vt:lpstr>分布式数据库中间件</vt:lpstr>
      <vt:lpstr>分布式数据库中间件</vt:lpstr>
      <vt:lpstr>大纲</vt:lpstr>
      <vt:lpstr>Cobar之前</vt:lpstr>
      <vt:lpstr>单点：MySQL集群替换Oracle</vt:lpstr>
      <vt:lpstr>Cobar引入 水平拆分</vt:lpstr>
      <vt:lpstr>幻灯片 11</vt:lpstr>
      <vt:lpstr>Cobar引入 连接复用</vt:lpstr>
      <vt:lpstr>Cobar引入</vt:lpstr>
      <vt:lpstr>Cobar引入 failover</vt:lpstr>
      <vt:lpstr>Cobar引入 failover</vt:lpstr>
      <vt:lpstr>大纲</vt:lpstr>
      <vt:lpstr>幻灯片 17</vt:lpstr>
      <vt:lpstr>水平拆分</vt:lpstr>
      <vt:lpstr>水平拆分</vt:lpstr>
      <vt:lpstr>水平拆分</vt:lpstr>
      <vt:lpstr>水平拆分</vt:lpstr>
      <vt:lpstr>路由算法</vt:lpstr>
      <vt:lpstr>路由算法</vt:lpstr>
      <vt:lpstr>路由算法</vt:lpstr>
      <vt:lpstr>路由算法</vt:lpstr>
      <vt:lpstr>路由算法</vt:lpstr>
      <vt:lpstr>路由算法——扩容</vt:lpstr>
      <vt:lpstr>路由算法——扩容</vt:lpstr>
      <vt:lpstr>路由算法——非均匀分布</vt:lpstr>
      <vt:lpstr>拆分表的数据访问——SQL转发</vt:lpstr>
      <vt:lpstr>拆分表的数据访问——SQL转发</vt:lpstr>
      <vt:lpstr>拆分表的数据访问——SQL转发</vt:lpstr>
      <vt:lpstr>拆分表的数据访问——SQL转发</vt:lpstr>
      <vt:lpstr>拆分表的数据访问——结果返回</vt:lpstr>
      <vt:lpstr>多维水平拆分</vt:lpstr>
      <vt:lpstr>多维水平拆分</vt:lpstr>
      <vt:lpstr>幻灯片 37</vt:lpstr>
      <vt:lpstr>幻灯片 38</vt:lpstr>
      <vt:lpstr>幻灯片 39</vt:lpstr>
      <vt:lpstr>幻灯片 40</vt:lpstr>
      <vt:lpstr>Cobar的策略</vt:lpstr>
      <vt:lpstr>JOIN有限的处理</vt:lpstr>
      <vt:lpstr>迭代查询</vt:lpstr>
      <vt:lpstr>跨库索引</vt:lpstr>
      <vt:lpstr>跨库索引</vt:lpstr>
      <vt:lpstr>跨库索引</vt:lpstr>
      <vt:lpstr>跨库索引</vt:lpstr>
      <vt:lpstr>跨库索引</vt:lpstr>
      <vt:lpstr>跨库索引</vt:lpstr>
      <vt:lpstr>跨库索引</vt:lpstr>
      <vt:lpstr>跨库索引</vt:lpstr>
      <vt:lpstr>Order By/Limit</vt:lpstr>
      <vt:lpstr>Order By/Limit</vt:lpstr>
      <vt:lpstr>Order By/Limit</vt:lpstr>
      <vt:lpstr>Order By/Limit</vt:lpstr>
      <vt:lpstr>Order By/Limit</vt:lpstr>
      <vt:lpstr>Order By/Limit</vt:lpstr>
      <vt:lpstr>Order By/Limit</vt:lpstr>
      <vt:lpstr>Order By/Limit</vt:lpstr>
      <vt:lpstr>Order By/Limit</vt:lpstr>
      <vt:lpstr>Order By/Limit 方案总结</vt:lpstr>
      <vt:lpstr>Order By / Limit 优化</vt:lpstr>
      <vt:lpstr>幻灯片 63</vt:lpstr>
      <vt:lpstr>幻灯片 64</vt:lpstr>
      <vt:lpstr>幻灯片 65</vt:lpstr>
      <vt:lpstr>幻灯片 66</vt:lpstr>
      <vt:lpstr>幻灯片 67</vt:lpstr>
      <vt:lpstr>幻灯片 68</vt:lpstr>
      <vt:lpstr>幻灯片 69</vt:lpstr>
      <vt:lpstr>幻灯片 70</vt:lpstr>
      <vt:lpstr>幻灯片 71</vt:lpstr>
      <vt:lpstr>幻灯片 72</vt:lpstr>
      <vt:lpstr>幻灯片 73</vt:lpstr>
      <vt:lpstr>幻灯片 74</vt:lpstr>
      <vt:lpstr>Order By / Limit 再优化</vt:lpstr>
      <vt:lpstr>Group By</vt:lpstr>
      <vt:lpstr>Group By</vt:lpstr>
      <vt:lpstr>Group By</vt:lpstr>
      <vt:lpstr>Group By</vt:lpstr>
      <vt:lpstr>Group By</vt:lpstr>
      <vt:lpstr>Group By</vt:lpstr>
      <vt:lpstr>Group By</vt:lpstr>
      <vt:lpstr>SQL执行策略总结</vt:lpstr>
      <vt:lpstr>Cobar 事务支持</vt:lpstr>
      <vt:lpstr>Cobar 1.2 事务支持</vt:lpstr>
      <vt:lpstr>Cobar 1.2 事务支持</vt:lpstr>
      <vt:lpstr>Cobar 事务支持</vt:lpstr>
      <vt:lpstr>大纲</vt:lpstr>
      <vt:lpstr>逻辑层次 —— 接口同MySQL</vt:lpstr>
      <vt:lpstr>Cobar结构</vt:lpstr>
      <vt:lpstr>Cobar结构</vt:lpstr>
      <vt:lpstr>JDBC和Server的通信协议</vt:lpstr>
      <vt:lpstr>JDBC和Server的通信协议</vt:lpstr>
      <vt:lpstr>JDBC和Server的通信协议</vt:lpstr>
      <vt:lpstr>JDBC和Server的通信协议</vt:lpstr>
      <vt:lpstr>JDBC和Server的通信协议</vt:lpstr>
      <vt:lpstr>JDBC和Server的通信协议</vt:lpstr>
      <vt:lpstr>JDBC和Server的通信协议</vt:lpstr>
      <vt:lpstr>Cobar结构</vt:lpstr>
      <vt:lpstr>Cobar 通信层</vt:lpstr>
      <vt:lpstr>Cobar 通信层</vt:lpstr>
      <vt:lpstr>Cobar 通信层</vt:lpstr>
      <vt:lpstr>Cobar 通信层</vt:lpstr>
      <vt:lpstr>Cobar结构</vt:lpstr>
      <vt:lpstr>幻灯片 105</vt:lpstr>
      <vt:lpstr>架构演变</vt:lpstr>
      <vt:lpstr>架构调整</vt:lpstr>
      <vt:lpstr>功能对比</vt:lpstr>
      <vt:lpstr>MySQL 5.5 语法结构</vt:lpstr>
      <vt:lpstr>基本元素</vt:lpstr>
      <vt:lpstr>基本元素 - Literal</vt:lpstr>
      <vt:lpstr>MySQL 5.5 语法结构</vt:lpstr>
      <vt:lpstr>语法元素 – Table References</vt:lpstr>
      <vt:lpstr>MySQL不支持的MySQL语法</vt:lpstr>
      <vt:lpstr>MySQL不支持的MySQL语法</vt:lpstr>
      <vt:lpstr>MySQL不支持的MySQL语法</vt:lpstr>
      <vt:lpstr>MySQL不支持的MySQL语法</vt:lpstr>
      <vt:lpstr>MySQL不支持的MySQL语法</vt:lpstr>
      <vt:lpstr>MySQL不支持的MySQL语法</vt:lpstr>
      <vt:lpstr>MySQL不支持的MySQL语法</vt:lpstr>
      <vt:lpstr>Table References的表达式特性</vt:lpstr>
      <vt:lpstr>MySQL 5.5 语法结构</vt:lpstr>
      <vt:lpstr>表达式</vt:lpstr>
      <vt:lpstr>幻灯片 124</vt:lpstr>
      <vt:lpstr>性能对比</vt:lpstr>
      <vt:lpstr>GC对比</vt:lpstr>
      <vt:lpstr>Cobar结构</vt:lpstr>
      <vt:lpstr>后台数据访问逻辑层次</vt:lpstr>
      <vt:lpstr>基于MySQL协议</vt:lpstr>
      <vt:lpstr>基于MySQL协议</vt:lpstr>
      <vt:lpstr>后台数据访问逻辑层次</vt:lpstr>
      <vt:lpstr>后台数据访问逻辑层次</vt:lpstr>
      <vt:lpstr>后台数据访问逻辑层次</vt:lpstr>
      <vt:lpstr>后台数据访问逻辑层次</vt:lpstr>
      <vt:lpstr>灵活的层间对应关系</vt:lpstr>
      <vt:lpstr>大纲</vt:lpstr>
      <vt:lpstr>数据迁移</vt:lpstr>
      <vt:lpstr>迁移步骤</vt:lpstr>
      <vt:lpstr>全量dump</vt:lpstr>
      <vt:lpstr>全量dump</vt:lpstr>
      <vt:lpstr>全量dump</vt:lpstr>
      <vt:lpstr>增量dump</vt:lpstr>
      <vt:lpstr>路由规则切换</vt:lpstr>
      <vt:lpstr>清理</vt:lpstr>
      <vt:lpstr>大纲</vt:lpstr>
      <vt:lpstr>Cobar  典型的部署方式</vt:lpstr>
      <vt:lpstr>Cobar-1.0.x 部署方式</vt:lpstr>
      <vt:lpstr>Cobar-1.0.x 使用</vt:lpstr>
      <vt:lpstr>Cobar-1.0.x 使用</vt:lpstr>
      <vt:lpstr>Cobar-1.0.x 使用</vt:lpstr>
      <vt:lpstr>Cobar-1.2.x 部署方式</vt:lpstr>
      <vt:lpstr>Cobar-1.2.x 使用</vt:lpstr>
      <vt:lpstr>Cobar-1.2.x</vt:lpstr>
      <vt:lpstr>Cobar-1.2.x</vt:lpstr>
      <vt:lpstr>Cobar-1.2.x</vt:lpstr>
      <vt:lpstr>Cobar-manager</vt:lpstr>
      <vt:lpstr>Cobar实例应用举例</vt:lpstr>
      <vt:lpstr>Cobar实例应用举例</vt:lpstr>
      <vt:lpstr>Cobar实例应用举例</vt:lpstr>
      <vt:lpstr>幻灯片 160</vt:lpstr>
      <vt:lpstr>大纲</vt:lpstr>
      <vt:lpstr>华东架构师大会组委会添加信息</vt:lpstr>
      <vt:lpstr>联系我们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shuo.qius</dc:creator>
  <cp:lastModifiedBy>liulaoshi</cp:lastModifiedBy>
  <cp:revision>2256</cp:revision>
  <cp:lastPrinted>1601-01-01T00:00:00Z</cp:lastPrinted>
  <dcterms:created xsi:type="dcterms:W3CDTF">2011-09-12T05:13:31Z</dcterms:created>
  <dcterms:modified xsi:type="dcterms:W3CDTF">2012-11-25T08:51:00Z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